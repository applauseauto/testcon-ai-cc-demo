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1"/>
    <p:sldMasterId id="2147483694" r:id="rId2"/>
    <p:sldMasterId id="2147483695" r:id="rId3"/>
    <p:sldMasterId id="2147483696" r:id="rId4"/>
    <p:sldMasterId id="2147483697" r:id="rId5"/>
    <p:sldMasterId id="2147483698" r:id="rId6"/>
    <p:sldMasterId id="2147483699" r:id="rId7"/>
  </p:sldMasterIdLst>
  <p:notesMasterIdLst>
    <p:notesMasterId r:id="rId72"/>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319" r:id="rId32"/>
    <p:sldId id="280" r:id="rId33"/>
    <p:sldId id="281" r:id="rId34"/>
    <p:sldId id="282" r:id="rId35"/>
    <p:sldId id="320" r:id="rId96"/>
    <p:sldId id="283" r:id="rId36"/>
    <p:sldId id="284" r:id="rId37"/>
    <p:sldId id="285" r:id="rId38"/>
    <p:sldId id="286" r:id="rId39"/>
    <p:sldId id="287" r:id="rId40"/>
    <p:sldId id="288" r:id="rId41"/>
    <p:sldId id="289" r:id="rId42"/>
  </p:sldIdLst>
  <p:sldSz cx="9144000" cy="5143500" type="screen16x9"/>
  <p:notesSz cx="6858000" cy="9144000"/>
  <p:embeddedFontLst>
    <p:embeddedFont>
      <p:font typeface="Century Schoolbook" panose="02040604050505020304" pitchFamily="18" charset="0"/>
      <p:regular r:id="rId73"/>
      <p:bold r:id="rId74"/>
      <p:italic r:id="rId75"/>
      <p:boldItalic r:id="rId76"/>
    </p:embeddedFont>
    <p:embeddedFont>
      <p:font typeface="JetBrains Mono" panose="02000009000000000000" pitchFamily="49" charset="0"/>
      <p:regular r:id="rId77"/>
      <p:bold r:id="rId78"/>
      <p:italic r:id="rId79"/>
      <p:boldItalic r:id="rId80"/>
    </p:embeddedFont>
    <p:embeddedFont>
      <p:font typeface="Plus Jakarta Sans" pitchFamily="2" charset="77"/>
      <p:regular r:id="rId81"/>
      <p:bold r:id="rId82"/>
      <p:italic r:id="rId83"/>
      <p:boldItalic r:id="rId84"/>
    </p:embeddedFont>
    <p:embeddedFont>
      <p:font typeface="Roboto Mono" pitchFamily="49" charset="0"/>
      <p:regular r:id="rId85"/>
      <p:bold r:id="rId86"/>
      <p:italic r:id="rId87"/>
      <p:boldItalic r:id="rId88"/>
    </p:embeddedFont>
    <p:embeddedFont>
      <p:font typeface="Trebuchet MS" panose="020B0703020202090204" pitchFamily="34" charset="0"/>
      <p:regular r:id="rId89"/>
      <p:bold r:id="rId90"/>
      <p:italic r:id="rId9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C03104-100C-49BF-B374-E93E6443F6DD}">
  <a:tblStyle styleId="{74C03104-100C-49BF-B374-E93E6443F6D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A3C3F3A-E42E-47DF-8AB9-76ACEF74EC1F}"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0"/>
  </p:normalViewPr>
  <p:slideViewPr>
    <p:cSldViewPr snapToGrid="0">
      <p:cViewPr varScale="1">
        <p:scale>
          <a:sx n="156" d="100"/>
          <a:sy n="156" d="100"/>
        </p:scale>
        <p:origin x="552"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72" Type="http://schemas.openxmlformats.org/officeDocument/2006/relationships/notesMaster" Target="notesMasters/notesMaster1.xml"/><Relationship Id="rId73" Type="http://schemas.openxmlformats.org/officeDocument/2006/relationships/font" Target="fonts/font1.fntdata"/><Relationship Id="rId74" Type="http://schemas.openxmlformats.org/officeDocument/2006/relationships/font" Target="fonts/font2.fntdata"/><Relationship Id="rId75" Type="http://schemas.openxmlformats.org/officeDocument/2006/relationships/font" Target="fonts/font3.fntdata"/><Relationship Id="rId76" Type="http://schemas.openxmlformats.org/officeDocument/2006/relationships/font" Target="fonts/font4.fntdata"/><Relationship Id="rId77" Type="http://schemas.openxmlformats.org/officeDocument/2006/relationships/font" Target="fonts/font5.fntdata"/><Relationship Id="rId78" Type="http://schemas.openxmlformats.org/officeDocument/2006/relationships/font" Target="fonts/font6.fntdata"/><Relationship Id="rId79" Type="http://schemas.openxmlformats.org/officeDocument/2006/relationships/font" Target="fonts/font7.fntdata"/><Relationship Id="rId80" Type="http://schemas.openxmlformats.org/officeDocument/2006/relationships/font" Target="fonts/font8.fntdata"/><Relationship Id="rId81" Type="http://schemas.openxmlformats.org/officeDocument/2006/relationships/font" Target="fonts/font9.fntdata"/><Relationship Id="rId82" Type="http://schemas.openxmlformats.org/officeDocument/2006/relationships/font" Target="fonts/font10.fntdata"/><Relationship Id="rId83" Type="http://schemas.openxmlformats.org/officeDocument/2006/relationships/font" Target="fonts/font11.fntdata"/><Relationship Id="rId84" Type="http://schemas.openxmlformats.org/officeDocument/2006/relationships/font" Target="fonts/font12.fntdata"/><Relationship Id="rId85" Type="http://schemas.openxmlformats.org/officeDocument/2006/relationships/font" Target="fonts/font13.fntdata"/><Relationship Id="rId86" Type="http://schemas.openxmlformats.org/officeDocument/2006/relationships/font" Target="fonts/font14.fntdata"/><Relationship Id="rId87" Type="http://schemas.openxmlformats.org/officeDocument/2006/relationships/font" Target="fonts/font15.fntdata"/><Relationship Id="rId88" Type="http://schemas.openxmlformats.org/officeDocument/2006/relationships/font" Target="fonts/font16.fntdata"/><Relationship Id="rId89" Type="http://schemas.openxmlformats.org/officeDocument/2006/relationships/font" Target="fonts/font17.fntdata"/><Relationship Id="rId90" Type="http://schemas.openxmlformats.org/officeDocument/2006/relationships/font" Target="fonts/font18.fntdata"/><Relationship Id="rId91" Type="http://schemas.openxmlformats.org/officeDocument/2006/relationships/font" Target="fonts/font19.fntdata"/><Relationship Id="rId92" Type="http://schemas.openxmlformats.org/officeDocument/2006/relationships/presProps" Target="presProps.xml"/><Relationship Id="rId93" Type="http://schemas.openxmlformats.org/officeDocument/2006/relationships/viewProps" Target="viewProps.xml"/><Relationship Id="rId94" Type="http://schemas.openxmlformats.org/officeDocument/2006/relationships/theme" Target="theme/theme1.xml"/><Relationship Id="rId95" Type="http://schemas.openxmlformats.org/officeDocument/2006/relationships/tableStyles" Target="tableStyles.xml"/><Relationship Id="rId9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h35953e9de3707d69_3_6: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h35953e9de3707d69_3_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27" name="Google Shape;227;h35953e9de3707d69_3_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h7ee05df5ac386ef9_1_6: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h7ee05df5ac386ef9_1_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Quick intros, 30 seconds each. Adonis: automation practice and the book. Taras: builds AI-first test frameworks day to day, and built Clappy. Then one line on Applause and its crowd.</a:t>
            </a:r>
            <a:endParaRPr/>
          </a:p>
        </p:txBody>
      </p:sp>
      <p:sp>
        <p:nvSpPr>
          <p:cNvPr id="238" name="Google Shape;238;h7ee05df5ac386ef9_1_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h7ee05df5ac386ef9_1_36: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h7ee05df5ac386ef9_1_3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Audience moment. Ask the room: who is Claude named after? Let them shout guesses and wait a beat before you click. If nobody gets it, give the hint: 1948, the year a paper started the information age.</a:t>
            </a:r>
            <a:endParaRPr/>
          </a:p>
        </p:txBody>
      </p:sp>
      <p:sp>
        <p:nvSpPr>
          <p:cNvPr id="262" name="Google Shape;262;h7ee05df5ac386ef9_1_3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h7ee05df5ac386ef9_1_44: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0" name="Google Shape;270;h7ee05df5ac386ef9_1_44: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Icebreaker, about 40 seconds. Yes, Claude Shannon. Three things about him. One: in 1948 he founded information theory, the maths behind every bit you have ever sent. Two: he rode a unicycle through the corridors of Bell Labs, juggling. Three: he kept a machine on his desk, the Ultimate Machine, which his colleague Marvin Minsky came up with. You flip the switch on, the lid opens, a hand comes out and switches it off. Every single time. Pause. As testers, we finally have it: the first 100 percent reproducible bug. Then pivot: his serious question is ours today, how do you get a clean signal through a noisy channel?</a:t>
            </a:r>
            <a:endParaRPr/>
          </a:p>
          <a:p>
            <a:pPr marL="0" marR="0" lvl="0" indent="0" algn="l" rtl="0">
              <a:lnSpc>
                <a:spcPct val="100000"/>
              </a:lnSpc>
              <a:spcBef>
                <a:spcPts val="0"/>
              </a:spcBef>
              <a:spcAft>
                <a:spcPts val="0"/>
              </a:spcAft>
              <a:buSzPts val="1100"/>
              <a:buNone/>
            </a:pPr>
            <a:r>
              <a:rPr lang="en-GB" sz="1200">
                <a:solidFill>
                  <a:schemeClr val="dk1"/>
                </a:solidFill>
                <a:latin typeface="Arial"/>
                <a:ea typeface="Arial"/>
                <a:cs typeface="Arial"/>
                <a:sym typeface="Arial"/>
              </a:rPr>
              <a:t>Before we meet the tool, a word about its name. Claude is named after Claude Shannon. Honest caveat: Anthropic never made a big official statement, but the New York Times reported it as an homage, and for a QA talk it is a perfect name. In 1948 Shannon wrote A Mathematical Theory of Communication and founded information theory. His core problem: how do you get a clean signal through a noisy channel, and correct the errors the noise introduces? Hold that phrase. A flaky test is a noisy channel. Under the noise is one real signal, does the software work, and recovering it is the whole job. Shannon's answer was not to shout louder or re-run until it looked right. It was to add structure that catches and corrects the errors. That is this entire talk. The AI we are about to use is fast, and on its own it is noisy: it bluffs. So we give it Shannon's trick: real docs instead of guesses, rules it has to follow, a human on the last mile. We take a noisy channel and make it trustworthy. The tool is named after the man who proved that was possible. Let us use it properly.</a:t>
            </a:r>
            <a:endParaRPr/>
          </a:p>
        </p:txBody>
      </p:sp>
      <p:sp>
        <p:nvSpPr>
          <p:cNvPr id="271" name="Google Shape;271;h7ee05df5ac386ef9_1_44: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h7ee05df5ac386ef9_1_61: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8" name="Google Shape;288;h7ee05df5ac386ef9_1_61: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289" name="Google Shape;289;h7ee05df5ac386ef9_1_61: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h7ee05df5ac386ef9_1_115: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3" name="Google Shape;343;h7ee05df5ac386ef9_1_115: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On screen we cut it to the essentials; the full detail: Company login means AWS IAM, Google Cloud IAM or Entra ID, no personal API keys. Your data: on Bedrock only AWS sees it, Anthropic has no access. One bill: on your AWS, Google Cloud or Azure invoice, split by team. Your region: you choose it, and every call is logged. Same Claude Code, one setting: CLAUDE_CODE_USE_BEDROCK=1 (or _VERTEX, _FOUNDRY). Caveat to say out loud: some features stay Anthropic-only, e.g. web search on Bedrock.</a:t>
            </a:r>
            <a:endParaRPr/>
          </a:p>
          <a:p>
            <a:pPr marL="457200" lvl="0" indent="-298450" algn="l" rtl="0">
              <a:lnSpc>
                <a:spcPct val="100000"/>
              </a:lnSpc>
              <a:spcBef>
                <a:spcPts val="0"/>
              </a:spcBef>
              <a:spcAft>
                <a:spcPts val="0"/>
              </a:spcAft>
              <a:buSzPts val="1100"/>
              <a:buChar char="●"/>
            </a:pPr>
            <a:r>
              <a:rPr lang="en-GB" sz="1100"/>
              <a:t>Windows: PowerShell installer; or npm install -g @anthropic-ai/claude-code. Who sees your data: Bedrock, only AWS (AWS docs: model providers have no access to prompts and completions). Google Cloud: run by Google. Foundry: run by Anthropic. None of them train on it. The region has to be configured, it is not automatic. Trade-off: some features are Anthropic-only (web search on Bedrock, fast mode, cloud sessions) and the newest models can arrive later. Permission modes: Shift+Tab cycles ask-before-every-change, accept edits, and plan mode (it only proposes, you approve).</a:t>
            </a:r>
            <a:endParaRPr/>
          </a:p>
        </p:txBody>
      </p:sp>
      <p:sp>
        <p:nvSpPr>
          <p:cNvPr id="344" name="Google Shape;344;h7ee05df5ac386ef9_1_115: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h7ee05df5ac386ef9_1_150: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h7ee05df5ac386ef9_1_150: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380" name="Google Shape;380;h7ee05df5ac386ef9_1_150: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7</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h7ee05df5ac386ef9_1_208: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8" name="Google Shape;438;h7ee05df5ac386ef9_1_208: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Tools in full: caveman gives terse replies and fewer tokens; caveman-compress shrinks CLAUDE.md. Context7 serves current library docs, so you get correct Playwright/Appium syntax for your version. Serena finds code by symbol instead of reading whole files. Repomix packs a repo into one AI-friendly file with token counts.</a:t>
            </a:r>
            <a:endParaRPr/>
          </a:p>
          <a:p>
            <a:pPr marL="0" lvl="0" indent="0" algn="l" rtl="0">
              <a:lnSpc>
                <a:spcPct val="105000"/>
              </a:lnSpc>
              <a:spcBef>
                <a:spcPts val="0"/>
              </a:spcBef>
              <a:spcAft>
                <a:spcPts val="0"/>
              </a:spcAft>
              <a:buClr>
                <a:srgbClr val="E6B15E"/>
              </a:buClr>
              <a:buSzPts val="900"/>
              <a:buFont typeface="Calibri"/>
              <a:buNone/>
            </a:pPr>
            <a:r>
              <a:rPr lang="en-GB" sz="900" b="1">
                <a:solidFill>
                  <a:schemeClr val="dk1"/>
                </a:solidFill>
                <a:latin typeface="Calibri"/>
                <a:ea typeface="Calibri"/>
                <a:cs typeface="Calibri"/>
                <a:sym typeface="Calibri"/>
              </a:rPr>
              <a:t>For QA: </a:t>
            </a:r>
            <a:r>
              <a:rPr lang="en-GB" sz="900">
                <a:solidFill>
                  <a:schemeClr val="dk1"/>
                </a:solidFill>
                <a:latin typeface="Calibri"/>
                <a:ea typeface="Calibri"/>
                <a:cs typeface="Calibri"/>
                <a:sym typeface="Calibri"/>
              </a:rPr>
              <a:t>a 5,000-line test log pasted into chat eats your context, filter it first, or let a subagent read it.</a:t>
            </a:r>
            <a:endParaRPr sz="1200">
              <a:solidFill>
                <a:schemeClr val="dk1"/>
              </a:solidFill>
              <a:latin typeface="Arial"/>
              <a:ea typeface="Arial"/>
              <a:cs typeface="Arial"/>
              <a:sym typeface="Arial"/>
            </a:endParaRPr>
          </a:p>
        </p:txBody>
      </p:sp>
      <p:sp>
        <p:nvSpPr>
          <p:cNvPr id="439" name="Google Shape;439;h7ee05df5ac386ef9_1_208: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8</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h7ee05df5ac386ef9_1_242: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3" name="Google Shape;473;h7ee05df5ac386ef9_1_24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Tools in full: claude-mem is a searchable history of past sessions; it remembers last week's flaky-test causes, and we use it daily. mem0 is a long-term memory layer for agents: known defects, test-data rules, also for your own QA agents. basic-memory keeps notes as plain Markdown you can review and version next to the test repo. (Repomix moved to the Context slide only.)</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474" name="Google Shape;474;h7ee05df5ac386ef9_1_24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9</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h7ee05df5ac386ef9_1_3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6" name="Google Shape;506;h7ee05df5ac386ef9_1_3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h7ee05df5ac386ef9_1_418: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6" name="Google Shape;576;h7ee05df5ac386ef9_1_418: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CLI vs MCP in full: use a CLI or script when the job is deterministic (run tests, lint, parse logs), when it must run the same way in CI, when a good CLI already exists (gh, aws, playwright-cli), and when the output is big, so filter it before Claude reads it. Use MCP when the agent needs live state across steps such as a browser session, when the work is exploratory and the next step depends on what it sees, when it is a hosted service with login (OAuth) like Jira or test management, and when there is no shell, as in chat apps and IDE panels.</a:t>
            </a:r>
            <a:endParaRPr/>
          </a:p>
          <a:p>
            <a:pPr marL="0" lvl="0" indent="0" algn="l" rtl="0">
              <a:lnSpc>
                <a:spcPct val="100000"/>
              </a:lnSpc>
              <a:spcBef>
                <a:spcPts val="0"/>
              </a:spcBef>
              <a:spcAft>
                <a:spcPts val="0"/>
              </a:spcAft>
              <a:buSzPts val="1100"/>
              <a:buNone/>
            </a:pPr>
            <a:r>
              <a:rPr lang="en-GB" sz="1100"/>
              <a:t>Token cost, MCP vs CLI: on the same browser task, Microsoft's benchmark (as reported by TestDino) measured roughly 114,000 tokens with Playwright MCP and about 27,000 with Playwright CLI, about 4x fewer. Why: MCP loads all its tool definitions up front and sends the page's accessibility snapshot back into the context after every action. The CLI (@playwright/cli, separate repo microsoft/playwright-cli) writes snapshots to files on disk, and Claude reads only what it needs. Microsoft's Playwright MCP README now says coding agents increasingly favour CLI plus skills; MCP stays useful for agents with no shell and long exploratory loops. Your numbers depend on the pages and the length of the session.</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577" name="Google Shape;577;h7ee05df5ac386ef9_1_418: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11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h7ee05df5ac386ef9_1_474: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3" name="Google Shape;633;h7ee05df5ac386ef9_1_474: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634" name="Google Shape;634;h7ee05df5ac386ef9_1_474: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12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h7ee05df5ac386ef9_1_500: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0" name="Google Shape;660;h7ee05df5ac386ef9_1_500: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Remember Shannon: you don't fix a noisy channel by re-running until it looks right, you add structure. Two best practices do that for Claude Code. One: ground it in your docs, so it reads instead of guesses. Two: give it rules it has to follow. Neither is a new building block; both are built from the blocks we just saw.</a:t>
            </a:r>
            <a:endParaRPr/>
          </a:p>
        </p:txBody>
      </p:sp>
      <p:sp>
        <p:nvSpPr>
          <p:cNvPr id="661" name="Google Shape;661;h7ee05df5ac386ef9_1_500: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13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h7ee05df5ac386ef9_1_506: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7" name="Google Shape;667;h7ee05df5ac386ef9_1_50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Voice-over, what RAG is: a generic AI guesses how your app works; RAG reads your Jira tickets and API specs first. Retrieve the right passages, augment the prompt with them, then generate a grounded answer or fix instead of a generic guess.</a:t>
            </a:r>
            <a:endParaRPr/>
          </a:p>
          <a:p>
            <a:pPr marL="0" lvl="0" indent="0" algn="l" rtl="0">
              <a:lnSpc>
                <a:spcPct val="100000"/>
              </a:lnSpc>
              <a:spcBef>
                <a:spcPts val="0"/>
              </a:spcBef>
              <a:spcAft>
                <a:spcPts val="0"/>
              </a:spcAft>
              <a:buSzPts val="1100"/>
              <a:buNone/>
            </a:pPr>
            <a:r>
              <a:rPr lang="en-GB" sz="1100"/>
              <a:t>Indexing happens once per project, not on every question. One: export your docs into a folder. Two: chunking. We split each doc into passages of a few hundred tokens, with a little overlap, so a fact like "up to 8 s at peak" is never cut in half. Chunk too big and the search gets vague; too small and you lose context. Three: embedding. A small model, all-MiniLM-L6-v2 in our demo, running locally and free, turns each chunk into 384 numbers. Chunks that mean similar things end up close together in that space. Four: store the vectors in Chroma, and build a BM25 keyword index over the same chunks.</a:t>
            </a:r>
            <a:endParaRPr/>
          </a:p>
          <a:p>
            <a:pPr marL="0" lvl="0" indent="0" algn="l" rtl="0">
              <a:lnSpc>
                <a:spcPct val="100000"/>
              </a:lnSpc>
              <a:spcBef>
                <a:spcPts val="0"/>
              </a:spcBef>
              <a:spcAft>
                <a:spcPts val="0"/>
              </a:spcAft>
              <a:buSzPts val="1100"/>
              <a:buNone/>
            </a:pPr>
            <a:r>
              <a:rPr lang="en-GB" sz="1100"/>
              <a:t>Worked example of one chunk, from our payment runbook: "Payment confirms asynchronously: usually 1-3 s, up to 8 s at peak. Tests must wait for the status confirmed, not a fixed time."</a:t>
            </a:r>
            <a:endParaRPr/>
          </a:p>
          <a:p>
            <a:pPr marL="0" lvl="0" indent="0" algn="l" rtl="0">
              <a:lnSpc>
                <a:spcPct val="100000"/>
              </a:lnSpc>
              <a:spcBef>
                <a:spcPts val="0"/>
              </a:spcBef>
              <a:spcAft>
                <a:spcPts val="0"/>
              </a:spcAft>
              <a:buSzPts val="1100"/>
              <a:buNone/>
            </a:pPr>
            <a:r>
              <a:rPr lang="en-GB" sz="1100"/>
              <a:t>Every time Claude calls search_docs, two searches run. BM25 is classic keyword ranking: it rewards chunks that contain the query words, gives rare words like a ticket ID more weight than common ones, and normalises for chunk length. It is unbeatable for exact strings: QA-1432, an error code, a data-testid. Embeddings search by meaning: the question is turned into a vector with the same model, and we take the nearest chunks by cosine similarity. "Why is checkout slow?" finds the runbook line about 8 s at peak even though the words differ. Hybrid search merges both rankings, for example with reciprocal rank fusion, and hands the top few chunks plus their source file names to Claude. That is why our fix could name the doc it used.</a:t>
            </a:r>
            <a:endParaRPr/>
          </a:p>
          <a:p>
            <a:pPr marL="0" lvl="0" indent="0" algn="l" rtl="0">
              <a:lnSpc>
                <a:spcPct val="100000"/>
              </a:lnSpc>
              <a:spcBef>
                <a:spcPts val="0"/>
              </a:spcBef>
              <a:spcAft>
                <a:spcPts val="0"/>
              </a:spcAft>
              <a:buSzPts val="1100"/>
              <a:buNone/>
            </a:pPr>
            <a:r>
              <a:rPr lang="en-GB" sz="1100"/>
              <a:t>Set it up once per project, five things in the test repo: corpus/ for your doc exports; npm run chroma starts Chroma, a free open-source search database (Docker); npm run index splits your docs and stores them; .mcp.json adds the search_docs tool to Claude Code; CLAUDE.md says call search_docs before fixing a test. Our demo's tools, and alternatives: Chroma (vector store; or pgvector, Qdrant, OpenSearch); all-MiniLM-L6-v2 embeddings via Transformers.js, local and free (or OpenAI, Voyage, Bedrock Titan); BM25 for exact words (or Elasticsearch/OpenSearch); a 40-line MCP server built with the MCP SDK. Commands in the demo repo: npm run chroma, npm run index; .mcp.json entry 'team-knowledge' runs mcp/rag-server.js.</a:t>
            </a:r>
            <a:endParaRPr/>
          </a:p>
        </p:txBody>
      </p:sp>
      <p:sp>
        <p:nvSpPr>
          <p:cNvPr id="668" name="Google Shape;668;h7ee05df5ac386ef9_1_50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14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h7ee05df5ac386ef9_1_5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1" name="Google Shape;711;h7ee05df5ac386ef9_1_5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h7ee05df5ac386ef9_1_585: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8" name="Google Shape;748;h7ee05df5ac386ef9_1_585: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On screen we only introduce it; the next four slides take one rule each. What it fixes: AI assumes silently, overcomplicates, edits what it should not, and says done without proof. What you get on a real project: Think first, it states its assumptions and asks instead of guessing. Keep it simple, the minimum code, no extra helpers, retries or options. Touch only the task, small diffs, one test fix does not rewrite the framework. Prove it, it shows how it checked: passed 30/30, not just done.</a:t>
            </a:r>
            <a:endParaRPr/>
          </a:p>
          <a:p>
            <a:pPr marL="457200" lvl="0" indent="-298450" algn="l" rtl="0">
              <a:lnSpc>
                <a:spcPct val="100000"/>
              </a:lnSpc>
              <a:spcBef>
                <a:spcPts val="0"/>
              </a:spcBef>
              <a:spcAft>
                <a:spcPts val="0"/>
              </a:spcAft>
              <a:buSzPts val="1100"/>
              <a:buChar char="●"/>
            </a:pPr>
            <a:r>
              <a:rPr lang="en-GB" sz="1100"/>
              <a:t>What it is: github.com/multica-ai/andrej-karpathy-skills (moved from forrestchang/andrej-karpathy-skills; the README's install commands still use the old name, GitHub redirects). A single CLAUDE.md-style rule file, community-written, derived from Andrej Karpathy's post on LLM coding pitfalls: models make wrong assumptions and run with them, overcomplicate code, and change code they don't understand as side effects. Install as a plugin (two commands on the slide), or per project: append its CLAUDE.md to yours. Use it by name in a prompt ('follow /karpathy-guidelines') or keep it on for every task. Real run on our flaky test with no team docs: plain prompt silently picked a 10 s timeout; with the skill, one changed line, proved 30/30, and 'I don't know how fast your CI is'. Next: the checkout fix, rule by rule.</a:t>
            </a:r>
            <a:endParaRPr/>
          </a:p>
        </p:txBody>
      </p:sp>
      <p:sp>
        <p:nvSpPr>
          <p:cNvPr id="749" name="Google Shape;749;h7ee05df5ac386ef9_1_585: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16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h7ee05df5ac386ef9_1_615: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9" name="Google Shape;779;h7ee05df5ac386ef9_1_615: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Rule 1, think first. The most common failure: the model makes an assumption and runs with it, blindfolded. On our flaky checkout test with no team docs, the plain prompt measured the local shop and silently set a 10 second timeout. It fails the day the gateway takes 12. With the guideline on, Claude changed one line and said out loud: I don't know how fast your CI is. That sentence is the win. A stated assumption is something your docs, or you, can correct.</a:t>
            </a:r>
            <a:endParaRPr/>
          </a:p>
        </p:txBody>
      </p:sp>
      <p:sp>
        <p:nvSpPr>
          <p:cNvPr id="780" name="Google Shape;780;h7ee05df5ac386ef9_1_615: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17</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h7ee05df5ac386ef9_1_634: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9" name="Google Shape;799;h7ee05df5ac386ef9_1_634: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Rule 2, keep it simple. Left alone, an AI will happily build a Rube Goldberg machine: a retry helper, a fixed sleep, a config option, a polling utility. Every one of them is code your team now has to maintain, and every one hides the real problem. The checkout test needed one thing: wait for the status that says confirmed. Ask yourself: would a senior tester call this overcomplicated? If yes, simplify.</a:t>
            </a:r>
            <a:endParaRPr/>
          </a:p>
        </p:txBody>
      </p:sp>
      <p:sp>
        <p:nvSpPr>
          <p:cNvPr id="800" name="Google Shape;800;h7ee05df5ac386ef9_1_634: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18</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h7ee05df5ac386ef9_1_653: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9" name="Google Shape;819;h7ee05df5ac386ef9_1_653: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Rule 3, surgical changes. You ask for one flaky test to be fixed, and you get a refactor: renamed locators, a new utils file, the API client tidied up. Each change might even look reasonable, but now your reviewer has to check many changes instead of one, and something unrelated breaks next week. The rule: every changed line should trace directly back to the request. On our project: one test changed, same locators, nothing else touched.</a:t>
            </a:r>
            <a:endParaRPr/>
          </a:p>
        </p:txBody>
      </p:sp>
      <p:sp>
        <p:nvSpPr>
          <p:cNvPr id="820" name="Google Shape;820;h7ee05df5ac386ef9_1_653: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19</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h7ee05df5ac386ef9_1_672: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9" name="Google Shape;839;h7ee05df5ac386ef9_1_67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Rule 4, goal-driven execution. The most dangerous word an AI says is done. For testers this one should feel familiar: no evidence, no pass. Turn the task into a verifiable goal before Claude starts: the checkout test passes 30 runs in a row. Then ask it to show you the run, not tell you about it. With the guideline on, Claude reported passed 30 out of 30 with repeat-each. That is a claim you can check.</a:t>
            </a:r>
            <a:endParaRPr/>
          </a:p>
        </p:txBody>
      </p:sp>
      <p:sp>
        <p:nvSpPr>
          <p:cNvPr id="840" name="Google Shape;840;h7ee05df5ac386ef9_1_67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h7ee05df5ac386ef9_1_691: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9" name="Google Shape;859;h7ee05df5ac386ef9_1_691: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860" name="Google Shape;860;h7ee05df5ac386ef9_1_691: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h7ee05df5ac386ef9_1_697: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h7ee05df5ac386ef9_1_697: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867" name="Google Shape;867;h7ee05df5ac386ef9_1_697: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h7ee05df5ac386ef9_1_732: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2" name="Google Shape;902;h7ee05df5ac386ef9_1_73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272B4"/>
              </a:buClr>
              <a:buSzPts val="1100"/>
              <a:buFont typeface="Century Schoolbook"/>
              <a:buNone/>
            </a:pPr>
            <a:r>
              <a:rPr lang="en-GB" sz="1100" i="1">
                <a:solidFill>
                  <a:srgbClr val="0272B4"/>
                </a:solidFill>
                <a:latin typeface="Century Schoolbook"/>
                <a:ea typeface="Century Schoolbook"/>
                <a:cs typeface="Century Schoolbook"/>
                <a:sym typeface="Century Schoolbook"/>
              </a:rPr>
              <a:t>Why first: every tester's Claude now starts with the same rules, skills and tools.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endParaRPr sz="1200">
              <a:solidFill>
                <a:schemeClr val="dk1"/>
              </a:solidFill>
            </a:endParaRPr>
          </a:p>
        </p:txBody>
      </p:sp>
      <p:sp>
        <p:nvSpPr>
          <p:cNvPr id="903" name="Google Shape;903;h7ee05df5ac386ef9_1_73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h7ee05df5ac386ef9_1_769: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0" name="Google Shape;940;h7ee05df5ac386ef9_1_769: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r>
              <a:t>Real runs (18 October) in a copy of the repo with only the tests, the page object and test data: no CLAUDE.md, no docs, no search_docs. A (plain prompt) and B (/karpathy-guidelines) made the same change: removed the 2 s sleep from pay() and replaced the one-time read with expect(checkout.paymentStatus).toHaveText(checkoutTexts.paymentDone), which retries for Playwright's default 5 s. Both pass 20/20 on normal days and fail when the gateway takes 8 s (busy hours in the runbook). The difference is the answer: A said 'Fixed' based on local runs; B named the risk ('only about 1.5 s of slack… if CI is much slower it could still time out… I haven't seen CI timings. Say if you want it.'). Rule 1, think first, made Claude ask; the docs answer. Code and reports: demo-solutions/no-docs/.</a:t>
            </a:r>
          </a:p>
        </p:txBody>
      </p:sp>
      <p:sp>
        <p:nvSpPr>
          <p:cNvPr id="941" name="Google Shape;941;h7ee05df5ac386ef9_1_769: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bridge between slide 24 and the skill. Karpathy's rules alone only made Claude admit it didn't know (slide 24). We add one more layer: our team's knowledge. /fix-flaky follows the four rules, step one searches our docs through MCP (the RAG from Part 1), and it watches the page in a real browser with Playwright MCP. Rules say how to work; the docs say what's true; the browser shows what really happens. Read more (scan the QR codes): 1 Karpathy's original notes on X, 2 the skill file on GitHub, 3 a Medium article on why it took off, 4 dev.to (AWS): the most popular AI coding skills.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h7ee05df5ac386ef9_1_796: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8" name="Google Shape;968;h7ee05df5ac386ef9_1_79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GB" sz="1100"/>
              <a:t>The real skill file lists six steps; they map onto the four rules: reproduce + watch with Playwright MCP + search_docs (think first), wait for the real event and never touch a timeout (simple), keep getByRole/getByTestId (surgical), --repeat-each=10 and report the sources (prove it). Skills combine: '/api-tests the payment API, and follow /karpathy-guidelines' wrote 6 API tests, each linked to the spec section, and refused to invent an undocumented state.</a:t>
            </a:r>
            <a:endParaRPr/>
          </a:p>
        </p:txBody>
      </p:sp>
      <p:sp>
        <p:nvSpPr>
          <p:cNvPr id="969" name="Google Shape;969;h7ee05df5ac386ef9_1_79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h7ee05df5ac386ef9_1_827: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0" name="Google Shape;1000;h7ee05df5ac386ef9_1_827: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001" name="Google Shape;1001;h7ee05df5ac386ef9_1_827: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27</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h7ee05df5ac386ef9_1_860: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4" name="Google Shape;1034;h7ee05df5ac386ef9_1_860: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r>
              <a:t>Real run C (18 October): /fix-flaky in the real repo (CLAUDE.md, search_docs, Playwright MCP). Before: the original test failed 15 times in 40 runs (about 4 in 10). Claude's run: 10/10, 3/3 at 7.5 s; re-checked 20/20, 3/3 at 8 s, 2/2 at 12 s.</a:t>
            </a:r>
          </a:p>
          <a:p>
            <a:r>
              <a:t>Before: pay() clicked Pay, waited for the POST (202 = accepted, not paid), slept 2 s; the test read the status text once.</a:t>
            </a:r>
          </a:p>
          <a:p>
            <a:r>
              <a:t>After, in the page object: pay() starts listening for the status reply whose body says "confirmed", clicks Pay, and waits for it (const confirmed = this.page.waitForResponse(res =&gt; /\/api\/payment\/[^/]+\/status$/.test(res.url()) &amp;&amp; (await res.json()).status === 'confirmed'); click; await confirmed). In the test: await expect(checkout.paymentStatus).toHaveText(checkoutTexts.paymentDone) keeps re-reading the element until it says Done., because the page updates the text just after the reply arrives. Plus a check of the Payment confirmed box. Full files: demo-solutions/fix-flaky/.</a:t>
            </a:r>
          </a:p>
        </p:txBody>
      </p:sp>
      <p:sp>
        <p:nvSpPr>
          <p:cNvPr id="1035" name="Google Shape;1035;h7ee05df5ac386ef9_1_860: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28</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h7ee05df5ac386ef9_1_927: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2" name="Google Shape;1102;h7ee05df5ac386ef9_1_927: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103" name="Google Shape;1103;h7ee05df5ac386ef9_1_927: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29</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h7ee05df5ac386ef9_1_933: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9" name="Google Shape;1109;h7ee05df5ac386ef9_1_933: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GB" sz="1100"/>
              <a:t>Bridge from Part 2: you just fixed one test with Claude Code. Your team has hundreds, written by different people in different styles. Turning them into one framework by hand takes weeks. That's what Clappy does. Point at the logo: you'll see it in the left panel of our test platform in a minute.</a:t>
            </a:r>
            <a:endParaRPr/>
          </a:p>
        </p:txBody>
      </p:sp>
      <p:sp>
        <p:nvSpPr>
          <p:cNvPr id="1110" name="Google Shape;1110;h7ee05df5ac386ef9_1_933: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30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h7ee05df5ac386ef9_1_945: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2" name="Google Shape;1122;h7ee05df5ac386ef9_1_945: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GB" sz="1100"/>
              <a:t>Real tests from our demo on saucedemo.com (Sauce Labs' public demo shop). Anna, Ben and Chris each log in with the same three locators (username, password, Login button); Anna and Chris both click the same Add to cart button. Written separately, each test carries its own copy. Clappy builds one page object: the login is defined once and all three tests call it. Why not the alternatives: a recorder gives a flat script with locators copied into every test; AI writing tests ad hoc gives working code in whatever style, not your framework; low-code platforms lock you into their format. Clappy writes standard Playwright inside your team's own skeleton.</a:t>
            </a:r>
            <a:endParaRPr/>
          </a:p>
        </p:txBody>
      </p:sp>
      <p:sp>
        <p:nvSpPr>
          <p:cNvPr id="1123" name="Google Shape;1123;h7ee05df5ac386ef9_1_945: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31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h7ee05df5ac386ef9_1_994: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2" name="Google Shape;1172;h7ee05df5ac386ef9_1_994: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GB" sz="1100"/>
              <a:t>Six steps, left to right. The skeleton is your team's framework template; Clappy copies only the files the tests need. Page objects: steps are grouped by screen, every element is defined once, and parts used on 2+ pages by 2+ tests become components. The type check runs before anything is handed over. Same SDK in four places: in our test platform with one click, inside Claude Code as an MCP server, in CI with the CLI, or as a library in your own tools.</a:t>
            </a:r>
            <a:endParaRPr/>
          </a:p>
        </p:txBody>
      </p:sp>
      <p:sp>
        <p:nvSpPr>
          <p:cNvPr id="1173" name="Google Shape;1173;h7ee05df5ac386ef9_1_994: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32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h7ee05df5ac386ef9_1_1030: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9" name="Google Shape;1209;h7ee05df5ac386ef9_1_1030: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GB" sz="1100"/>
              <a:t>Clicks (project 'Swag Labs' is ready; generation needs no Pairing app):</a:t>
            </a:r>
            <a:endParaRPr/>
          </a:p>
          <a:p>
            <a:pPr marL="457200" lvl="0" indent="-298450" algn="l" rtl="0">
              <a:lnSpc>
                <a:spcPct val="100000"/>
              </a:lnSpc>
              <a:spcBef>
                <a:spcPts val="0"/>
              </a:spcBef>
              <a:spcAft>
                <a:spcPts val="0"/>
              </a:spcAft>
              <a:buSzPts val="1100"/>
              <a:buChar char="●"/>
            </a:pPr>
            <a:r>
              <a:rPr lang="en-GB" sz="1100"/>
              <a:t>1. AI Automation tab: three flows by Anna, Ben and Chris, all on https://www.saucedemo.com.</a:t>
            </a:r>
            <a:endParaRPr/>
          </a:p>
          <a:p>
            <a:pPr marL="457200" lvl="0" indent="-298450" algn="l" rtl="0">
              <a:lnSpc>
                <a:spcPct val="100000"/>
              </a:lnSpc>
              <a:spcBef>
                <a:spcPts val="0"/>
              </a:spcBef>
              <a:spcAft>
                <a:spcPts val="0"/>
              </a:spcAft>
              <a:buSzPts val="1100"/>
              <a:buChar char="●"/>
            </a:pPr>
            <a:r>
              <a:rPr lang="en-GB" sz="1100"/>
              <a:t>2. TAF Code tab, click Generate TAF. About a minute; talk over the progress bar.</a:t>
            </a:r>
            <a:endParaRPr/>
          </a:p>
          <a:p>
            <a:pPr marL="457200" lvl="0" indent="-298450" algn="l" rtl="0">
              <a:lnSpc>
                <a:spcPct val="100000"/>
              </a:lnSpc>
              <a:spcBef>
                <a:spcPts val="0"/>
              </a:spcBef>
              <a:spcAft>
                <a:spcPts val="0"/>
              </a:spcAft>
              <a:buSzPts val="1100"/>
              <a:buChar char="●"/>
            </a:pPr>
            <a:r>
              <a:rPr lang="en-GB" sz="1100"/>
              <a:t>3. The report: 'Type check passed', '15 elements, 15 methods, 15 new'. Open the page object: the login fields and the Login button, each defined once; open Ben's spec: it calls the same login methods.</a:t>
            </a:r>
            <a:endParaRPr/>
          </a:p>
          <a:p>
            <a:pPr marL="457200" lvl="0" indent="-298450" algn="l" rtl="0">
              <a:lnSpc>
                <a:spcPct val="100000"/>
              </a:lnSpc>
              <a:spcBef>
                <a:spcPts val="0"/>
              </a:spcBef>
              <a:spcAft>
                <a:spcPts val="0"/>
              </a:spcAft>
              <a:buSzPts val="1100"/>
              <a:buChar char="●"/>
            </a:pPr>
            <a:r>
              <a:rPr lang="en-GB" sz="1100"/>
              <a:t>4. Sync to GitHub: about 10 s, click 'View pull request'.</a:t>
            </a:r>
            <a:endParaRPr/>
          </a:p>
          <a:p>
            <a:pPr marL="457200" lvl="0" indent="-298450" algn="l" rtl="0">
              <a:lnSpc>
                <a:spcPct val="100000"/>
              </a:lnSpc>
              <a:spcBef>
                <a:spcPts val="0"/>
              </a:spcBef>
              <a:spcAft>
                <a:spcPts val="0"/>
              </a:spcAft>
              <a:buSzPts val="1100"/>
              <a:buChar char="●"/>
            </a:pPr>
            <a:r>
              <a:rPr lang="en-GB" sz="1100"/>
              <a:t>Rehearsal (local copy): generate 63 s, 35 files, type check passed; the generated framework passed 3/3 and 30/30 against the live site.</a:t>
            </a:r>
            <a:endParaRPr/>
          </a:p>
        </p:txBody>
      </p:sp>
      <p:sp>
        <p:nvSpPr>
          <p:cNvPr id="1210" name="Google Shape;1210;h7ee05df5ac386ef9_1_1030: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33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h7ee05df5ac386ef9_1_1052: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2" name="Google Shape;1232;h7ee05df5ac386ef9_1_105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100"/>
              <a:t>If you remember three things. One: ground it in your docs. Without them Claude guessed 10 seconds; with the runbook it waited for the confirmed message. Two: write the rules down once, as a team skill, so every tester gets the same quality from one command. Three: keep a human on the last mile. Rules and fixes go through pull requests, and you ask for evidence, 20 out of 20, not done. Back to where we started: speed is easy, reliability is the real challenge.</a:t>
            </a:r>
            <a:endParaRPr/>
          </a:p>
          <a:p>
            <a:pPr marL="0" lvl="0" indent="0" algn="l" rtl="0">
              <a:lnSpc>
                <a:spcPct val="100000"/>
              </a:lnSpc>
              <a:spcBef>
                <a:spcPts val="0"/>
              </a:spcBef>
              <a:spcAft>
                <a:spcPts val="0"/>
              </a:spcAft>
              <a:buSzPts val="1100"/>
              <a:buNone/>
            </a:pPr>
            <a:r>
              <a:rPr lang="en-GB" sz="1100"/>
              <a:t>Previous slide, your first week: .</a:t>
            </a:r>
            <a:endParaRPr/>
          </a:p>
        </p:txBody>
      </p:sp>
      <p:sp>
        <p:nvSpPr>
          <p:cNvPr id="1233" name="Google Shape;1233;h7ee05df5ac386ef9_1_105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34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h7ee05df5ac386ef9_1_1073: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4" name="Google Shape;1254;h7ee05df5ac386ef9_1_1073: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1255" name="Google Shape;1255;h7ee05df5ac386ef9_1_1073: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GB" sz="1800" b="0" i="0" u="none" strike="noStrike" cap="none">
                <a:solidFill>
                  <a:schemeClr val="dk1"/>
                </a:solidFill>
                <a:latin typeface="Arial"/>
                <a:ea typeface="Arial"/>
                <a:cs typeface="Arial"/>
                <a:sym typeface="Arial"/>
              </a:rPr>
              <a:t>35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conclusion of Part 2, from the three real runs (18 October) on the same flaky test. 1) Just a prompt, no docs: removed the 2 s sleep, Playwright's 5 s retry, said 'Fixed'; fails when payment takes 8 s. 2) Same + /karpathy-guidelines: identical code, but it warned: 'only about 1.5 s of slack… I haven't seen CI timings'; still fails at 8 s. 3) /fix-flaky = the four rules + search_docs (RAG) + Playwright MCP: waited for the 'confirmed' status reply inside the page object, test in the team's style; 20/20, 3/3 at 8 s, 2/2 at 12 s. Say: the message isn't the code, it's what you give Claude: rules, your knowledge, and one skill everyone uses.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LAIN">
  <p:cSld name="PLAIN">
    <p:bg>
      <p:bgPr>
        <a:solidFill>
          <a:srgbClr val="000000"/>
        </a:solidFill>
        <a:effectLst/>
      </p:bgPr>
    </p:bg>
    <p:spTree>
      <p:nvGrpSpPr>
        <p:cNvPr id="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p:cSld name="CONTENT">
    <p:bg>
      <p:bgPr>
        <a:solidFill>
          <a:srgbClr val="000000"/>
        </a:solidFill>
        <a:effectLst/>
      </p:bgPr>
    </p:bg>
    <p:spTree>
      <p:nvGrpSpPr>
        <p:cNvPr id="1" name="Shape 52"/>
        <p:cNvGrpSpPr/>
        <p:nvPr/>
      </p:nvGrpSpPr>
      <p:grpSpPr>
        <a:xfrm>
          <a:off x="0" y="0"/>
          <a:ext cx="0" cy="0"/>
          <a:chOff x="0" y="0"/>
          <a:chExt cx="0" cy="0"/>
        </a:xfrm>
      </p:grpSpPr>
      <p:sp>
        <p:nvSpPr>
          <p:cNvPr id="53" name="Google Shape;53;p15"/>
          <p:cNvSpPr txBox="1">
            <a:spLocks noGrp="1"/>
          </p:cNvSpPr>
          <p:nvPr>
            <p:ph type="body" idx="1"/>
          </p:nvPr>
        </p:nvSpPr>
        <p:spPr>
          <a:xfrm>
            <a:off x="493776" y="233172"/>
            <a:ext cx="8161020" cy="205740"/>
          </a:xfrm>
          <a:prstGeom prst="rect">
            <a:avLst/>
          </a:prstGeom>
          <a:noFill/>
          <a:ln>
            <a:noFill/>
          </a:ln>
        </p:spPr>
        <p:txBody>
          <a:bodyPr spcFirstLastPara="1" wrap="square" lIns="68575" tIns="34275" rIns="68575" bIns="34275" anchor="t" anchorCtr="0">
            <a:noAutofit/>
          </a:bodyPr>
          <a:lstStyle>
            <a:lvl1pPr marL="457200" marR="0" lvl="0" indent="-228600" algn="l" rtl="0">
              <a:spcBef>
                <a:spcPts val="200"/>
              </a:spcBef>
              <a:spcAft>
                <a:spcPts val="0"/>
              </a:spcAft>
              <a:buClr>
                <a:srgbClr val="0272B4"/>
              </a:buClr>
              <a:buSzPts val="800"/>
              <a:buFont typeface="Arial"/>
              <a:buNone/>
              <a:defRPr sz="800" b="1" i="0" u="none" strike="noStrike" cap="none">
                <a:solidFill>
                  <a:srgbClr val="0272B4"/>
                </a:solidFill>
                <a:latin typeface="Calibri"/>
                <a:ea typeface="Calibri"/>
                <a:cs typeface="Calibri"/>
                <a:sym typeface="Calibri"/>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4" name="Google Shape;54;p15"/>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Clr>
                <a:srgbClr val="EAF1F6"/>
              </a:buClr>
              <a:buSzPts val="1900"/>
              <a:buFont typeface="Century Schoolbook"/>
              <a:buNone/>
              <a:defRPr sz="1900" b="1" i="0" u="none" strike="noStrike" cap="none">
                <a:solidFill>
                  <a:srgbClr val="EAF1F6"/>
                </a:solidFill>
                <a:latin typeface="Century Schoolbook"/>
                <a:ea typeface="Century Schoolbook"/>
                <a:cs typeface="Century Schoolbook"/>
                <a:sym typeface="Century Schoolboo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5"/>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LAIN">
  <p:cSld name="PLAIN">
    <p:bg>
      <p:bgPr>
        <a:solidFill>
          <a:srgbClr val="000000"/>
        </a:solidFill>
        <a:effectLst/>
      </p:bgPr>
    </p:bg>
    <p:spTree>
      <p:nvGrpSpPr>
        <p:cNvPr id="1" name="Shape 57"/>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p:cSld name="CONTENT">
    <p:bg>
      <p:bgPr>
        <a:solidFill>
          <a:srgbClr val="000000"/>
        </a:solidFill>
        <a:effectLst/>
      </p:bgPr>
    </p:bg>
    <p:spTree>
      <p:nvGrpSpPr>
        <p:cNvPr id="1" name="Shape 58"/>
        <p:cNvGrpSpPr/>
        <p:nvPr/>
      </p:nvGrpSpPr>
      <p:grpSpPr>
        <a:xfrm>
          <a:off x="0" y="0"/>
          <a:ext cx="0" cy="0"/>
          <a:chOff x="0" y="0"/>
          <a:chExt cx="0" cy="0"/>
        </a:xfrm>
      </p:grpSpPr>
      <p:sp>
        <p:nvSpPr>
          <p:cNvPr id="59" name="Google Shape;59;p19"/>
          <p:cNvSpPr txBox="1">
            <a:spLocks noGrp="1"/>
          </p:cNvSpPr>
          <p:nvPr>
            <p:ph type="body" idx="1"/>
          </p:nvPr>
        </p:nvSpPr>
        <p:spPr>
          <a:xfrm>
            <a:off x="493776" y="233172"/>
            <a:ext cx="8161020" cy="20574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200"/>
              </a:spcBef>
              <a:spcAft>
                <a:spcPts val="0"/>
              </a:spcAft>
              <a:buClr>
                <a:srgbClr val="0272B4"/>
              </a:buClr>
              <a:buSzPts val="800"/>
              <a:buFont typeface="Arial"/>
              <a:buNone/>
              <a:defRPr sz="800" b="1" i="0" u="none" strike="noStrike" cap="none">
                <a:solidFill>
                  <a:srgbClr val="0272B4"/>
                </a:solidFill>
                <a:latin typeface="Calibri"/>
                <a:ea typeface="Calibri"/>
                <a:cs typeface="Calibri"/>
                <a:sym typeface="Calibri"/>
              </a:defRPr>
            </a:lvl1pPr>
            <a:lvl2pPr marL="914400" marR="0" lvl="1" indent="-361950" algn="l" rtl="0">
              <a:lnSpc>
                <a:spcPct val="100000"/>
              </a:lnSpc>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0" name="Google Shape;60;p19"/>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EAF1F6"/>
              </a:buClr>
              <a:buSzPts val="1900"/>
              <a:buFont typeface="Century Schoolbook"/>
              <a:buNone/>
              <a:defRPr sz="1900" b="1" i="0" u="none" strike="noStrike" cap="none">
                <a:solidFill>
                  <a:srgbClr val="EAF1F6"/>
                </a:solidFill>
                <a:latin typeface="Century Schoolbook"/>
                <a:ea typeface="Century Schoolbook"/>
                <a:cs typeface="Century Schoolbook"/>
                <a:sym typeface="Century Schoolbook"/>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22"/>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0" name="Google Shape;70;p22"/>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1" name="Google Shape;71;p22"/>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2"/>
        <p:cNvGrpSpPr/>
        <p:nvPr/>
      </p:nvGrpSpPr>
      <p:grpSpPr>
        <a:xfrm>
          <a:off x="0" y="0"/>
          <a:ext cx="0" cy="0"/>
          <a:chOff x="0" y="0"/>
          <a:chExt cx="0" cy="0"/>
        </a:xfrm>
      </p:grpSpPr>
      <p:sp>
        <p:nvSpPr>
          <p:cNvPr id="73" name="Google Shape;73;p23"/>
          <p:cNvSpPr txBox="1">
            <a:spLocks noGrp="1"/>
          </p:cNvSpPr>
          <p:nvPr>
            <p:ph type="ctrTitle"/>
          </p:nvPr>
        </p:nvSpPr>
        <p:spPr>
          <a:xfrm>
            <a:off x="514350" y="1597819"/>
            <a:ext cx="5829300" cy="1102519"/>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4" name="Google Shape;74;p23"/>
          <p:cNvSpPr txBox="1">
            <a:spLocks noGrp="1"/>
          </p:cNvSpPr>
          <p:nvPr>
            <p:ph type="subTitle" idx="1"/>
          </p:nvPr>
        </p:nvSpPr>
        <p:spPr>
          <a:xfrm>
            <a:off x="1028700" y="2914650"/>
            <a:ext cx="4800600" cy="1314450"/>
          </a:xfrm>
          <a:prstGeom prst="rect">
            <a:avLst/>
          </a:prstGeom>
          <a:noFill/>
          <a:ln>
            <a:noFill/>
          </a:ln>
        </p:spPr>
        <p:txBody>
          <a:bodyPr spcFirstLastPara="1" wrap="square" lIns="68575" tIns="34275" rIns="68575" bIns="34275" anchor="t" anchorCtr="0">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75" name="Google Shape;75;p23"/>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6" name="Google Shape;76;p23"/>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7" name="Google Shape;77;p23"/>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0" name="Google Shape;80;p24"/>
          <p:cNvSpPr txBox="1">
            <a:spLocks noGrp="1"/>
          </p:cNvSpPr>
          <p:nvPr>
            <p:ph type="body" idx="1"/>
          </p:nvPr>
        </p:nvSpPr>
        <p:spPr>
          <a:xfrm>
            <a:off x="342900" y="1200150"/>
            <a:ext cx="6172200" cy="3394472"/>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81" name="Google Shape;81;p24"/>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2" name="Google Shape;82;p24"/>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3" name="Google Shape;83;p24"/>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4"/>
        <p:cNvGrpSpPr/>
        <p:nvPr/>
      </p:nvGrpSpPr>
      <p:grpSpPr>
        <a:xfrm>
          <a:off x="0" y="0"/>
          <a:ext cx="0" cy="0"/>
          <a:chOff x="0" y="0"/>
          <a:chExt cx="0" cy="0"/>
        </a:xfrm>
      </p:grpSpPr>
      <p:sp>
        <p:nvSpPr>
          <p:cNvPr id="85" name="Google Shape;85;p25"/>
          <p:cNvSpPr txBox="1">
            <a:spLocks noGrp="1"/>
          </p:cNvSpPr>
          <p:nvPr>
            <p:ph type="title"/>
          </p:nvPr>
        </p:nvSpPr>
        <p:spPr>
          <a:xfrm>
            <a:off x="541735" y="3305175"/>
            <a:ext cx="5829300" cy="1021556"/>
          </a:xfrm>
          <a:prstGeom prst="rect">
            <a:avLst/>
          </a:prstGeom>
          <a:noFill/>
          <a:ln>
            <a:noFill/>
          </a:ln>
        </p:spPr>
        <p:txBody>
          <a:bodyPr spcFirstLastPara="1" wrap="square" lIns="68575" tIns="34275" rIns="68575" bIns="34275" anchor="t" anchorCtr="0">
            <a:normAutofit/>
          </a:bodyPr>
          <a:lstStyle>
            <a:lvl1pPr lvl="0" algn="l">
              <a:spcBef>
                <a:spcPts val="0"/>
              </a:spcBef>
              <a:spcAft>
                <a:spcPts val="0"/>
              </a:spcAft>
              <a:buClr>
                <a:schemeClr val="dk1"/>
              </a:buClr>
              <a:buSzPts val="3000"/>
              <a:buFont typeface="Calibri"/>
              <a:buNone/>
              <a:defRPr sz="3000" b="1"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6" name="Google Shape;86;p25"/>
          <p:cNvSpPr txBox="1">
            <a:spLocks noGrp="1"/>
          </p:cNvSpPr>
          <p:nvPr>
            <p:ph type="body" idx="1"/>
          </p:nvPr>
        </p:nvSpPr>
        <p:spPr>
          <a:xfrm>
            <a:off x="541735" y="2180035"/>
            <a:ext cx="5829300" cy="1125140"/>
          </a:xfrm>
          <a:prstGeom prst="rect">
            <a:avLst/>
          </a:prstGeom>
          <a:noFill/>
          <a:ln>
            <a:noFill/>
          </a:ln>
        </p:spPr>
        <p:txBody>
          <a:bodyPr spcFirstLastPara="1" wrap="square" lIns="68575" tIns="34275" rIns="68575" bIns="34275"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300"/>
              </a:spcBef>
              <a:spcAft>
                <a:spcPts val="0"/>
              </a:spcAft>
              <a:buClr>
                <a:srgbClr val="888888"/>
              </a:buClr>
              <a:buSzPts val="1400"/>
              <a:buNone/>
              <a:defRPr sz="1400">
                <a:solidFill>
                  <a:srgbClr val="888888"/>
                </a:solidFill>
              </a:defRPr>
            </a:lvl2pPr>
            <a:lvl3pPr marL="1371600" lvl="2" indent="-228600" algn="l">
              <a:spcBef>
                <a:spcPts val="200"/>
              </a:spcBef>
              <a:spcAft>
                <a:spcPts val="0"/>
              </a:spcAft>
              <a:buClr>
                <a:srgbClr val="888888"/>
              </a:buClr>
              <a:buSzPts val="1200"/>
              <a:buNone/>
              <a:defRPr sz="1200">
                <a:solidFill>
                  <a:srgbClr val="888888"/>
                </a:solidFill>
              </a:defRPr>
            </a:lvl3pPr>
            <a:lvl4pPr marL="1828800" lvl="3" indent="-228600" algn="l">
              <a:spcBef>
                <a:spcPts val="200"/>
              </a:spcBef>
              <a:spcAft>
                <a:spcPts val="0"/>
              </a:spcAft>
              <a:buClr>
                <a:srgbClr val="888888"/>
              </a:buClr>
              <a:buSzPts val="1100"/>
              <a:buNone/>
              <a:defRPr sz="1100">
                <a:solidFill>
                  <a:srgbClr val="888888"/>
                </a:solidFill>
              </a:defRPr>
            </a:lvl4pPr>
            <a:lvl5pPr marL="2286000" lvl="4" indent="-228600" algn="l">
              <a:spcBef>
                <a:spcPts val="200"/>
              </a:spcBef>
              <a:spcAft>
                <a:spcPts val="0"/>
              </a:spcAft>
              <a:buClr>
                <a:srgbClr val="888888"/>
              </a:buClr>
              <a:buSzPts val="1100"/>
              <a:buNone/>
              <a:defRPr sz="1100">
                <a:solidFill>
                  <a:srgbClr val="888888"/>
                </a:solidFill>
              </a:defRPr>
            </a:lvl5pPr>
            <a:lvl6pPr marL="2743200" lvl="5" indent="-228600" algn="l">
              <a:spcBef>
                <a:spcPts val="200"/>
              </a:spcBef>
              <a:spcAft>
                <a:spcPts val="0"/>
              </a:spcAft>
              <a:buClr>
                <a:srgbClr val="888888"/>
              </a:buClr>
              <a:buSzPts val="1100"/>
              <a:buNone/>
              <a:defRPr sz="1100">
                <a:solidFill>
                  <a:srgbClr val="888888"/>
                </a:solidFill>
              </a:defRPr>
            </a:lvl6pPr>
            <a:lvl7pPr marL="3200400" lvl="6" indent="-228600" algn="l">
              <a:spcBef>
                <a:spcPts val="200"/>
              </a:spcBef>
              <a:spcAft>
                <a:spcPts val="0"/>
              </a:spcAft>
              <a:buClr>
                <a:srgbClr val="888888"/>
              </a:buClr>
              <a:buSzPts val="1100"/>
              <a:buNone/>
              <a:defRPr sz="1100">
                <a:solidFill>
                  <a:srgbClr val="888888"/>
                </a:solidFill>
              </a:defRPr>
            </a:lvl7pPr>
            <a:lvl8pPr marL="3657600" lvl="7" indent="-228600" algn="l">
              <a:spcBef>
                <a:spcPts val="200"/>
              </a:spcBef>
              <a:spcAft>
                <a:spcPts val="0"/>
              </a:spcAft>
              <a:buClr>
                <a:srgbClr val="888888"/>
              </a:buClr>
              <a:buSzPts val="1100"/>
              <a:buNone/>
              <a:defRPr sz="1100">
                <a:solidFill>
                  <a:srgbClr val="888888"/>
                </a:solidFill>
              </a:defRPr>
            </a:lvl8pPr>
            <a:lvl9pPr marL="4114800" lvl="8" indent="-228600" algn="l">
              <a:spcBef>
                <a:spcPts val="200"/>
              </a:spcBef>
              <a:spcAft>
                <a:spcPts val="0"/>
              </a:spcAft>
              <a:buClr>
                <a:srgbClr val="888888"/>
              </a:buClr>
              <a:buSzPts val="1100"/>
              <a:buNone/>
              <a:defRPr sz="1100">
                <a:solidFill>
                  <a:srgbClr val="888888"/>
                </a:solidFill>
              </a:defRPr>
            </a:lvl9pPr>
          </a:lstStyle>
          <a:p>
            <a:endParaRPr/>
          </a:p>
        </p:txBody>
      </p:sp>
      <p:sp>
        <p:nvSpPr>
          <p:cNvPr id="87" name="Google Shape;87;p25"/>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25"/>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25"/>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0"/>
        <p:cNvGrpSpPr/>
        <p:nvPr/>
      </p:nvGrpSpPr>
      <p:grpSpPr>
        <a:xfrm>
          <a:off x="0" y="0"/>
          <a:ext cx="0" cy="0"/>
          <a:chOff x="0" y="0"/>
          <a:chExt cx="0" cy="0"/>
        </a:xfrm>
      </p:grpSpPr>
      <p:sp>
        <p:nvSpPr>
          <p:cNvPr id="91" name="Google Shape;91;p26"/>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26"/>
          <p:cNvSpPr txBox="1">
            <a:spLocks noGrp="1"/>
          </p:cNvSpPr>
          <p:nvPr>
            <p:ph type="body" idx="1"/>
          </p:nvPr>
        </p:nvSpPr>
        <p:spPr>
          <a:xfrm>
            <a:off x="342900" y="1200150"/>
            <a:ext cx="3028950" cy="3394472"/>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93" name="Google Shape;93;p26"/>
          <p:cNvSpPr txBox="1">
            <a:spLocks noGrp="1"/>
          </p:cNvSpPr>
          <p:nvPr>
            <p:ph type="body" idx="2"/>
          </p:nvPr>
        </p:nvSpPr>
        <p:spPr>
          <a:xfrm>
            <a:off x="3486150" y="1200150"/>
            <a:ext cx="3028950" cy="3394472"/>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94" name="Google Shape;94;p26"/>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5" name="Google Shape;95;p26"/>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6" name="Google Shape;96;p26"/>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7"/>
        <p:cNvGrpSpPr/>
        <p:nvPr/>
      </p:nvGrpSpPr>
      <p:grpSpPr>
        <a:xfrm>
          <a:off x="0" y="0"/>
          <a:ext cx="0" cy="0"/>
          <a:chOff x="0" y="0"/>
          <a:chExt cx="0" cy="0"/>
        </a:xfrm>
      </p:grpSpPr>
      <p:sp>
        <p:nvSpPr>
          <p:cNvPr id="98" name="Google Shape;98;p27"/>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9" name="Google Shape;99;p27"/>
          <p:cNvSpPr txBox="1">
            <a:spLocks noGrp="1"/>
          </p:cNvSpPr>
          <p:nvPr>
            <p:ph type="body" idx="1"/>
          </p:nvPr>
        </p:nvSpPr>
        <p:spPr>
          <a:xfrm>
            <a:off x="342900" y="1151335"/>
            <a:ext cx="3030141" cy="479822"/>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100" name="Google Shape;100;p27"/>
          <p:cNvSpPr txBox="1">
            <a:spLocks noGrp="1"/>
          </p:cNvSpPr>
          <p:nvPr>
            <p:ph type="body" idx="2"/>
          </p:nvPr>
        </p:nvSpPr>
        <p:spPr>
          <a:xfrm>
            <a:off x="342900" y="1631156"/>
            <a:ext cx="3030141" cy="2963466"/>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101" name="Google Shape;101;p27"/>
          <p:cNvSpPr txBox="1">
            <a:spLocks noGrp="1"/>
          </p:cNvSpPr>
          <p:nvPr>
            <p:ph type="body" idx="3"/>
          </p:nvPr>
        </p:nvSpPr>
        <p:spPr>
          <a:xfrm>
            <a:off x="3483769" y="1151335"/>
            <a:ext cx="3031331" cy="479822"/>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102" name="Google Shape;102;p27"/>
          <p:cNvSpPr txBox="1">
            <a:spLocks noGrp="1"/>
          </p:cNvSpPr>
          <p:nvPr>
            <p:ph type="body" idx="4"/>
          </p:nvPr>
        </p:nvSpPr>
        <p:spPr>
          <a:xfrm>
            <a:off x="3483769" y="1631156"/>
            <a:ext cx="3031331" cy="2963466"/>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103" name="Google Shape;103;p27"/>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7"/>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7"/>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p28"/>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8"/>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8"/>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8"/>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1"/>
        <p:cNvGrpSpPr/>
        <p:nvPr/>
      </p:nvGrpSpPr>
      <p:grpSpPr>
        <a:xfrm>
          <a:off x="0" y="0"/>
          <a:ext cx="0" cy="0"/>
          <a:chOff x="0" y="0"/>
          <a:chExt cx="0" cy="0"/>
        </a:xfrm>
      </p:grpSpPr>
      <p:sp>
        <p:nvSpPr>
          <p:cNvPr id="112" name="Google Shape;112;p29"/>
          <p:cNvSpPr txBox="1">
            <a:spLocks noGrp="1"/>
          </p:cNvSpPr>
          <p:nvPr>
            <p:ph type="title"/>
          </p:nvPr>
        </p:nvSpPr>
        <p:spPr>
          <a:xfrm>
            <a:off x="342900" y="204788"/>
            <a:ext cx="2256235" cy="871538"/>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9"/>
          <p:cNvSpPr txBox="1">
            <a:spLocks noGrp="1"/>
          </p:cNvSpPr>
          <p:nvPr>
            <p:ph type="body" idx="1"/>
          </p:nvPr>
        </p:nvSpPr>
        <p:spPr>
          <a:xfrm>
            <a:off x="2681287" y="204788"/>
            <a:ext cx="3833813" cy="4389835"/>
          </a:xfrm>
          <a:prstGeom prst="rect">
            <a:avLst/>
          </a:prstGeom>
          <a:noFill/>
          <a:ln>
            <a:noFill/>
          </a:ln>
        </p:spPr>
        <p:txBody>
          <a:bodyPr spcFirstLastPara="1" wrap="square" lIns="68575" tIns="34275" rIns="68575" bIns="34275" anchor="t" anchorCtr="0">
            <a:normAutofit/>
          </a:bodyPr>
          <a:lstStyle>
            <a:lvl1pPr marL="457200" lvl="0" indent="-381000" algn="l">
              <a:spcBef>
                <a:spcPts val="500"/>
              </a:spcBef>
              <a:spcAft>
                <a:spcPts val="0"/>
              </a:spcAft>
              <a:buClr>
                <a:schemeClr val="dk1"/>
              </a:buClr>
              <a:buSzPts val="2400"/>
              <a:buChar char="•"/>
              <a:defRPr sz="2400"/>
            </a:lvl1pPr>
            <a:lvl2pPr marL="914400" lvl="1" indent="-361950" algn="l">
              <a:spcBef>
                <a:spcPts val="400"/>
              </a:spcBef>
              <a:spcAft>
                <a:spcPts val="0"/>
              </a:spcAft>
              <a:buClr>
                <a:schemeClr val="dk1"/>
              </a:buClr>
              <a:buSzPts val="2100"/>
              <a:buChar char="–"/>
              <a:defRPr sz="2100"/>
            </a:lvl2pPr>
            <a:lvl3pPr marL="1371600" lvl="2" indent="-342900" algn="l">
              <a:spcBef>
                <a:spcPts val="40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114" name="Google Shape;114;p29"/>
          <p:cNvSpPr txBox="1">
            <a:spLocks noGrp="1"/>
          </p:cNvSpPr>
          <p:nvPr>
            <p:ph type="body" idx="2"/>
          </p:nvPr>
        </p:nvSpPr>
        <p:spPr>
          <a:xfrm>
            <a:off x="342900" y="1076325"/>
            <a:ext cx="2256235" cy="3518297"/>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15" name="Google Shape;115;p29"/>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29"/>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9"/>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8"/>
        <p:cNvGrpSpPr/>
        <p:nvPr/>
      </p:nvGrpSpPr>
      <p:grpSpPr>
        <a:xfrm>
          <a:off x="0" y="0"/>
          <a:ext cx="0" cy="0"/>
          <a:chOff x="0" y="0"/>
          <a:chExt cx="0" cy="0"/>
        </a:xfrm>
      </p:grpSpPr>
      <p:sp>
        <p:nvSpPr>
          <p:cNvPr id="119" name="Google Shape;119;p30"/>
          <p:cNvSpPr txBox="1">
            <a:spLocks noGrp="1"/>
          </p:cNvSpPr>
          <p:nvPr>
            <p:ph type="title"/>
          </p:nvPr>
        </p:nvSpPr>
        <p:spPr>
          <a:xfrm>
            <a:off x="1344216" y="3600450"/>
            <a:ext cx="4114800" cy="425054"/>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30"/>
          <p:cNvSpPr>
            <a:spLocks noGrp="1"/>
          </p:cNvSpPr>
          <p:nvPr>
            <p:ph type="pic" idx="2"/>
          </p:nvPr>
        </p:nvSpPr>
        <p:spPr>
          <a:xfrm>
            <a:off x="1344216" y="459581"/>
            <a:ext cx="4114800" cy="3086100"/>
          </a:xfrm>
          <a:prstGeom prst="rect">
            <a:avLst/>
          </a:prstGeom>
          <a:noFill/>
          <a:ln>
            <a:noFill/>
          </a:ln>
        </p:spPr>
      </p:sp>
      <p:sp>
        <p:nvSpPr>
          <p:cNvPr id="121" name="Google Shape;121;p30"/>
          <p:cNvSpPr txBox="1">
            <a:spLocks noGrp="1"/>
          </p:cNvSpPr>
          <p:nvPr>
            <p:ph type="body" idx="1"/>
          </p:nvPr>
        </p:nvSpPr>
        <p:spPr>
          <a:xfrm>
            <a:off x="1344216" y="4025503"/>
            <a:ext cx="4114800" cy="603647"/>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22" name="Google Shape;122;p30"/>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30"/>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30"/>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31"/>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31"/>
          <p:cNvSpPr txBox="1">
            <a:spLocks noGrp="1"/>
          </p:cNvSpPr>
          <p:nvPr>
            <p:ph type="body" idx="1"/>
          </p:nvPr>
        </p:nvSpPr>
        <p:spPr>
          <a:xfrm rot="5400000">
            <a:off x="1731764" y="-188714"/>
            <a:ext cx="3394472" cy="61722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28" name="Google Shape;128;p31"/>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31"/>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31"/>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1"/>
        <p:cNvGrpSpPr/>
        <p:nvPr/>
      </p:nvGrpSpPr>
      <p:grpSpPr>
        <a:xfrm>
          <a:off x="0" y="0"/>
          <a:ext cx="0" cy="0"/>
          <a:chOff x="0" y="0"/>
          <a:chExt cx="0" cy="0"/>
        </a:xfrm>
      </p:grpSpPr>
      <p:sp>
        <p:nvSpPr>
          <p:cNvPr id="132" name="Google Shape;132;p32"/>
          <p:cNvSpPr txBox="1">
            <a:spLocks noGrp="1"/>
          </p:cNvSpPr>
          <p:nvPr>
            <p:ph type="title"/>
          </p:nvPr>
        </p:nvSpPr>
        <p:spPr>
          <a:xfrm rot="5400000">
            <a:off x="3549253" y="1628775"/>
            <a:ext cx="4388644" cy="15430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3" name="Google Shape;133;p32"/>
          <p:cNvSpPr txBox="1">
            <a:spLocks noGrp="1"/>
          </p:cNvSpPr>
          <p:nvPr>
            <p:ph type="body" idx="1"/>
          </p:nvPr>
        </p:nvSpPr>
        <p:spPr>
          <a:xfrm rot="5400000">
            <a:off x="406003" y="142875"/>
            <a:ext cx="4388644" cy="451485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34" name="Google Shape;134;p32"/>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32"/>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32"/>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p:cSld name="CONTENT">
    <p:bg>
      <p:bgPr>
        <a:solidFill>
          <a:srgbClr val="000000"/>
        </a:solidFill>
        <a:effectLst/>
      </p:bgPr>
    </p:bg>
    <p:spTree>
      <p:nvGrpSpPr>
        <p:cNvPr id="1" name="Shape 138"/>
        <p:cNvGrpSpPr/>
        <p:nvPr/>
      </p:nvGrpSpPr>
      <p:grpSpPr>
        <a:xfrm>
          <a:off x="0" y="0"/>
          <a:ext cx="0" cy="0"/>
          <a:chOff x="0" y="0"/>
          <a:chExt cx="0" cy="0"/>
        </a:xfrm>
      </p:grpSpPr>
      <p:sp>
        <p:nvSpPr>
          <p:cNvPr id="139" name="Google Shape;139;p34"/>
          <p:cNvSpPr txBox="1">
            <a:spLocks noGrp="1"/>
          </p:cNvSpPr>
          <p:nvPr>
            <p:ph type="body" idx="1"/>
          </p:nvPr>
        </p:nvSpPr>
        <p:spPr>
          <a:xfrm>
            <a:off x="493776" y="233172"/>
            <a:ext cx="8161020" cy="20574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200"/>
              </a:spcBef>
              <a:spcAft>
                <a:spcPts val="0"/>
              </a:spcAft>
              <a:buClr>
                <a:srgbClr val="0272B4"/>
              </a:buClr>
              <a:buSzPts val="800"/>
              <a:buFont typeface="Calibri"/>
              <a:buNone/>
              <a:defRPr sz="800" b="1" i="0" u="none" strike="noStrike" cap="none">
                <a:solidFill>
                  <a:srgbClr val="0272B4"/>
                </a:solidFill>
                <a:latin typeface="Calibri"/>
                <a:ea typeface="Calibri"/>
                <a:cs typeface="Calibri"/>
                <a:sym typeface="Calibri"/>
              </a:defRPr>
            </a:lvl1pPr>
            <a:lvl2pPr marL="914400" marR="0" lvl="1" indent="-361950" algn="l" rtl="0">
              <a:lnSpc>
                <a:spcPct val="100000"/>
              </a:lnSpc>
              <a:spcBef>
                <a:spcPts val="400"/>
              </a:spcBef>
              <a:spcAft>
                <a:spcPts val="0"/>
              </a:spcAft>
              <a:buClr>
                <a:schemeClr val="dk1"/>
              </a:buClr>
              <a:buSzPts val="2100"/>
              <a:buFont typeface="Calibri"/>
              <a:buChar char="–"/>
              <a:defRPr sz="21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40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4pPr>
            <a:lvl5pPr marL="2286000" marR="0" lvl="4"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5pPr>
            <a:lvl6pPr marL="2743200" marR="0" lvl="5"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6pPr>
            <a:lvl7pPr marL="3200400" marR="0" lvl="6"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7pPr>
            <a:lvl8pPr marL="3657600" marR="0" lvl="7"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8pPr>
            <a:lvl9pPr marL="4114800" marR="0" lvl="8"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9pPr>
          </a:lstStyle>
          <a:p>
            <a:endParaRPr/>
          </a:p>
        </p:txBody>
      </p:sp>
      <p:sp>
        <p:nvSpPr>
          <p:cNvPr id="140" name="Google Shape;140;p34"/>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EAF1F7"/>
              </a:buClr>
              <a:buSzPts val="1900"/>
              <a:buFont typeface="Century Schoolbook"/>
              <a:buNone/>
              <a:defRPr sz="1900" b="1" i="0" u="none" strike="noStrike" cap="none">
                <a:solidFill>
                  <a:srgbClr val="EAF1F7"/>
                </a:solidFill>
                <a:latin typeface="Century Schoolbook"/>
                <a:ea typeface="Century Schoolbook"/>
                <a:cs typeface="Century Schoolbook"/>
                <a:sym typeface="Century Schoolbook"/>
              </a:defRPr>
            </a:lvl1pPr>
            <a:lvl2pPr marR="0" lvl="1"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41"/>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LAIN">
  <p:cSld name="PLAIN">
    <p:bg>
      <p:bgPr>
        <a:solidFill>
          <a:srgbClr val="000000"/>
        </a:solidFill>
        <a:effectLst/>
      </p:bgPr>
    </p:bg>
    <p:spTree>
      <p:nvGrpSpPr>
        <p:cNvPr id="1" name="Shape 14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LAIN">
  <p:cSld name="PLAIN">
    <p:bg>
      <p:bgPr>
        <a:solidFill>
          <a:srgbClr val="000000"/>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NTENT">
  <p:cSld name="CONTENT">
    <p:bg>
      <p:bgPr>
        <a:solidFill>
          <a:srgbClr val="000000"/>
        </a:solidFill>
        <a:effectLst/>
      </p:bgPr>
    </p:bg>
    <p:spTree>
      <p:nvGrpSpPr>
        <p:cNvPr id="1" name="Shape 145"/>
        <p:cNvGrpSpPr/>
        <p:nvPr/>
      </p:nvGrpSpPr>
      <p:grpSpPr>
        <a:xfrm>
          <a:off x="0" y="0"/>
          <a:ext cx="0" cy="0"/>
          <a:chOff x="0" y="0"/>
          <a:chExt cx="0" cy="0"/>
        </a:xfrm>
      </p:grpSpPr>
      <p:sp>
        <p:nvSpPr>
          <p:cNvPr id="146" name="Google Shape;146;p39"/>
          <p:cNvSpPr txBox="1">
            <a:spLocks noGrp="1"/>
          </p:cNvSpPr>
          <p:nvPr>
            <p:ph type="body" idx="1"/>
          </p:nvPr>
        </p:nvSpPr>
        <p:spPr>
          <a:xfrm>
            <a:off x="493776" y="233172"/>
            <a:ext cx="8161020" cy="20574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200"/>
              </a:spcBef>
              <a:spcAft>
                <a:spcPts val="0"/>
              </a:spcAft>
              <a:buClr>
                <a:srgbClr val="0272B4"/>
              </a:buClr>
              <a:buSzPts val="800"/>
              <a:buFont typeface="Calibri"/>
              <a:buNone/>
              <a:defRPr sz="800" b="1" i="0" u="none" strike="noStrike" cap="none">
                <a:solidFill>
                  <a:srgbClr val="0272B4"/>
                </a:solidFill>
                <a:latin typeface="Calibri"/>
                <a:ea typeface="Calibri"/>
                <a:cs typeface="Calibri"/>
                <a:sym typeface="Calibri"/>
              </a:defRPr>
            </a:lvl1pPr>
            <a:lvl2pPr marL="914400" marR="0" lvl="1" indent="-361950" algn="l" rtl="0">
              <a:lnSpc>
                <a:spcPct val="100000"/>
              </a:lnSpc>
              <a:spcBef>
                <a:spcPts val="400"/>
              </a:spcBef>
              <a:spcAft>
                <a:spcPts val="0"/>
              </a:spcAft>
              <a:buClr>
                <a:schemeClr val="dk1"/>
              </a:buClr>
              <a:buSzPts val="2100"/>
              <a:buFont typeface="Calibri"/>
              <a:buChar char="–"/>
              <a:defRPr sz="21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40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4pPr>
            <a:lvl5pPr marL="2286000" marR="0" lvl="4"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5pPr>
            <a:lvl6pPr marL="2743200" marR="0" lvl="5"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6pPr>
            <a:lvl7pPr marL="3200400" marR="0" lvl="6"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7pPr>
            <a:lvl8pPr marL="3657600" marR="0" lvl="7"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8pPr>
            <a:lvl9pPr marL="4114800" marR="0" lvl="8"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9pPr>
          </a:lstStyle>
          <a:p>
            <a:endParaRPr/>
          </a:p>
        </p:txBody>
      </p:sp>
      <p:sp>
        <p:nvSpPr>
          <p:cNvPr id="147" name="Google Shape;147;p39"/>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EAF1F7"/>
              </a:buClr>
              <a:buSzPts val="1900"/>
              <a:buFont typeface="Century Schoolbook"/>
              <a:buNone/>
              <a:defRPr sz="1900" b="1" i="0" u="none" strike="noStrike" cap="none">
                <a:solidFill>
                  <a:srgbClr val="EAF1F7"/>
                </a:solidFill>
                <a:latin typeface="Century Schoolbook"/>
                <a:ea typeface="Century Schoolbook"/>
                <a:cs typeface="Century Schoolbook"/>
                <a:sym typeface="Century Schoolbook"/>
              </a:defRPr>
            </a:lvl1pPr>
            <a:lvl2pPr marR="0" lvl="1"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5"/>
        <p:cNvGrpSpPr/>
        <p:nvPr/>
      </p:nvGrpSpPr>
      <p:grpSpPr>
        <a:xfrm>
          <a:off x="0" y="0"/>
          <a:ext cx="0" cy="0"/>
          <a:chOff x="0" y="0"/>
          <a:chExt cx="0" cy="0"/>
        </a:xfrm>
      </p:grpSpPr>
      <p:sp>
        <p:nvSpPr>
          <p:cNvPr id="156" name="Google Shape;156;p42"/>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7" name="Google Shape;157;p42"/>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8" name="Google Shape;158;p42"/>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9"/>
        <p:cNvGrpSpPr/>
        <p:nvPr/>
      </p:nvGrpSpPr>
      <p:grpSpPr>
        <a:xfrm>
          <a:off x="0" y="0"/>
          <a:ext cx="0" cy="0"/>
          <a:chOff x="0" y="0"/>
          <a:chExt cx="0" cy="0"/>
        </a:xfrm>
      </p:grpSpPr>
      <p:sp>
        <p:nvSpPr>
          <p:cNvPr id="160" name="Google Shape;160;p43"/>
          <p:cNvSpPr txBox="1">
            <a:spLocks noGrp="1"/>
          </p:cNvSpPr>
          <p:nvPr>
            <p:ph type="ctrTitle"/>
          </p:nvPr>
        </p:nvSpPr>
        <p:spPr>
          <a:xfrm>
            <a:off x="514350" y="1597819"/>
            <a:ext cx="5829300" cy="1102519"/>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1" name="Google Shape;161;p43"/>
          <p:cNvSpPr txBox="1">
            <a:spLocks noGrp="1"/>
          </p:cNvSpPr>
          <p:nvPr>
            <p:ph type="subTitle" idx="1"/>
          </p:nvPr>
        </p:nvSpPr>
        <p:spPr>
          <a:xfrm>
            <a:off x="1028700" y="2914650"/>
            <a:ext cx="4800600" cy="1314450"/>
          </a:xfrm>
          <a:prstGeom prst="rect">
            <a:avLst/>
          </a:prstGeom>
          <a:noFill/>
          <a:ln>
            <a:noFill/>
          </a:ln>
        </p:spPr>
        <p:txBody>
          <a:bodyPr spcFirstLastPara="1" wrap="square" lIns="68575" tIns="34275" rIns="68575" bIns="34275" anchor="t" anchorCtr="0">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sp>
        <p:nvSpPr>
          <p:cNvPr id="162" name="Google Shape;162;p43"/>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3" name="Google Shape;163;p43"/>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4" name="Google Shape;164;p43"/>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5"/>
        <p:cNvGrpSpPr/>
        <p:nvPr/>
      </p:nvGrpSpPr>
      <p:grpSpPr>
        <a:xfrm>
          <a:off x="0" y="0"/>
          <a:ext cx="0" cy="0"/>
          <a:chOff x="0" y="0"/>
          <a:chExt cx="0" cy="0"/>
        </a:xfrm>
      </p:grpSpPr>
      <p:sp>
        <p:nvSpPr>
          <p:cNvPr id="166" name="Google Shape;166;p44"/>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7" name="Google Shape;167;p44"/>
          <p:cNvSpPr txBox="1">
            <a:spLocks noGrp="1"/>
          </p:cNvSpPr>
          <p:nvPr>
            <p:ph type="body" idx="1"/>
          </p:nvPr>
        </p:nvSpPr>
        <p:spPr>
          <a:xfrm>
            <a:off x="342900" y="1200150"/>
            <a:ext cx="6172200" cy="3394472"/>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68" name="Google Shape;168;p44"/>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9" name="Google Shape;169;p44"/>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44"/>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1"/>
        <p:cNvGrpSpPr/>
        <p:nvPr/>
      </p:nvGrpSpPr>
      <p:grpSpPr>
        <a:xfrm>
          <a:off x="0" y="0"/>
          <a:ext cx="0" cy="0"/>
          <a:chOff x="0" y="0"/>
          <a:chExt cx="0" cy="0"/>
        </a:xfrm>
      </p:grpSpPr>
      <p:sp>
        <p:nvSpPr>
          <p:cNvPr id="172" name="Google Shape;172;p45"/>
          <p:cNvSpPr txBox="1">
            <a:spLocks noGrp="1"/>
          </p:cNvSpPr>
          <p:nvPr>
            <p:ph type="title"/>
          </p:nvPr>
        </p:nvSpPr>
        <p:spPr>
          <a:xfrm>
            <a:off x="541735" y="3305175"/>
            <a:ext cx="5829300" cy="1021556"/>
          </a:xfrm>
          <a:prstGeom prst="rect">
            <a:avLst/>
          </a:prstGeom>
          <a:noFill/>
          <a:ln>
            <a:noFill/>
          </a:ln>
        </p:spPr>
        <p:txBody>
          <a:bodyPr spcFirstLastPara="1" wrap="square" lIns="68575" tIns="34275" rIns="68575" bIns="34275" anchor="t" anchorCtr="0">
            <a:normAutofit/>
          </a:bodyPr>
          <a:lstStyle>
            <a:lvl1pPr lvl="0" algn="l">
              <a:lnSpc>
                <a:spcPct val="100000"/>
              </a:lnSpc>
              <a:spcBef>
                <a:spcPts val="0"/>
              </a:spcBef>
              <a:spcAft>
                <a:spcPts val="0"/>
              </a:spcAft>
              <a:buClr>
                <a:schemeClr val="dk1"/>
              </a:buClr>
              <a:buSzPts val="3000"/>
              <a:buFont typeface="Calibri"/>
              <a:buNone/>
              <a:defRPr sz="3000" b="1"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3" name="Google Shape;173;p45"/>
          <p:cNvSpPr txBox="1">
            <a:spLocks noGrp="1"/>
          </p:cNvSpPr>
          <p:nvPr>
            <p:ph type="body" idx="1"/>
          </p:nvPr>
        </p:nvSpPr>
        <p:spPr>
          <a:xfrm>
            <a:off x="541735" y="2180035"/>
            <a:ext cx="5829300" cy="1125140"/>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300"/>
              </a:spcBef>
              <a:spcAft>
                <a:spcPts val="0"/>
              </a:spcAft>
              <a:buClr>
                <a:srgbClr val="888888"/>
              </a:buClr>
              <a:buSzPts val="1500"/>
              <a:buNone/>
              <a:defRPr sz="1500">
                <a:solidFill>
                  <a:srgbClr val="888888"/>
                </a:solidFill>
              </a:defRPr>
            </a:lvl1pPr>
            <a:lvl2pPr marL="914400" lvl="1" indent="-228600" algn="l">
              <a:lnSpc>
                <a:spcPct val="100000"/>
              </a:lnSpc>
              <a:spcBef>
                <a:spcPts val="300"/>
              </a:spcBef>
              <a:spcAft>
                <a:spcPts val="0"/>
              </a:spcAft>
              <a:buClr>
                <a:srgbClr val="888888"/>
              </a:buClr>
              <a:buSzPts val="1400"/>
              <a:buNone/>
              <a:defRPr sz="1400">
                <a:solidFill>
                  <a:srgbClr val="888888"/>
                </a:solidFill>
              </a:defRPr>
            </a:lvl2pPr>
            <a:lvl3pPr marL="1371600" lvl="2" indent="-228600" algn="l">
              <a:lnSpc>
                <a:spcPct val="100000"/>
              </a:lnSpc>
              <a:spcBef>
                <a:spcPts val="200"/>
              </a:spcBef>
              <a:spcAft>
                <a:spcPts val="0"/>
              </a:spcAft>
              <a:buClr>
                <a:srgbClr val="888888"/>
              </a:buClr>
              <a:buSzPts val="1200"/>
              <a:buNone/>
              <a:defRPr sz="1200">
                <a:solidFill>
                  <a:srgbClr val="888888"/>
                </a:solidFill>
              </a:defRPr>
            </a:lvl3pPr>
            <a:lvl4pPr marL="1828800" lvl="3" indent="-228600" algn="l">
              <a:lnSpc>
                <a:spcPct val="100000"/>
              </a:lnSpc>
              <a:spcBef>
                <a:spcPts val="200"/>
              </a:spcBef>
              <a:spcAft>
                <a:spcPts val="0"/>
              </a:spcAft>
              <a:buClr>
                <a:srgbClr val="888888"/>
              </a:buClr>
              <a:buSzPts val="1100"/>
              <a:buNone/>
              <a:defRPr sz="1100">
                <a:solidFill>
                  <a:srgbClr val="888888"/>
                </a:solidFill>
              </a:defRPr>
            </a:lvl4pPr>
            <a:lvl5pPr marL="2286000" lvl="4" indent="-228600" algn="l">
              <a:lnSpc>
                <a:spcPct val="100000"/>
              </a:lnSpc>
              <a:spcBef>
                <a:spcPts val="200"/>
              </a:spcBef>
              <a:spcAft>
                <a:spcPts val="0"/>
              </a:spcAft>
              <a:buClr>
                <a:srgbClr val="888888"/>
              </a:buClr>
              <a:buSzPts val="1100"/>
              <a:buNone/>
              <a:defRPr sz="1100">
                <a:solidFill>
                  <a:srgbClr val="888888"/>
                </a:solidFill>
              </a:defRPr>
            </a:lvl5pPr>
            <a:lvl6pPr marL="2743200" lvl="5" indent="-228600" algn="l">
              <a:lnSpc>
                <a:spcPct val="100000"/>
              </a:lnSpc>
              <a:spcBef>
                <a:spcPts val="200"/>
              </a:spcBef>
              <a:spcAft>
                <a:spcPts val="0"/>
              </a:spcAft>
              <a:buClr>
                <a:srgbClr val="888888"/>
              </a:buClr>
              <a:buSzPts val="1100"/>
              <a:buNone/>
              <a:defRPr sz="1100">
                <a:solidFill>
                  <a:srgbClr val="888888"/>
                </a:solidFill>
              </a:defRPr>
            </a:lvl6pPr>
            <a:lvl7pPr marL="3200400" lvl="6" indent="-228600" algn="l">
              <a:lnSpc>
                <a:spcPct val="100000"/>
              </a:lnSpc>
              <a:spcBef>
                <a:spcPts val="200"/>
              </a:spcBef>
              <a:spcAft>
                <a:spcPts val="0"/>
              </a:spcAft>
              <a:buClr>
                <a:srgbClr val="888888"/>
              </a:buClr>
              <a:buSzPts val="1100"/>
              <a:buNone/>
              <a:defRPr sz="1100">
                <a:solidFill>
                  <a:srgbClr val="888888"/>
                </a:solidFill>
              </a:defRPr>
            </a:lvl7pPr>
            <a:lvl8pPr marL="3657600" lvl="7" indent="-228600" algn="l">
              <a:lnSpc>
                <a:spcPct val="100000"/>
              </a:lnSpc>
              <a:spcBef>
                <a:spcPts val="200"/>
              </a:spcBef>
              <a:spcAft>
                <a:spcPts val="0"/>
              </a:spcAft>
              <a:buClr>
                <a:srgbClr val="888888"/>
              </a:buClr>
              <a:buSzPts val="1100"/>
              <a:buNone/>
              <a:defRPr sz="1100">
                <a:solidFill>
                  <a:srgbClr val="888888"/>
                </a:solidFill>
              </a:defRPr>
            </a:lvl8pPr>
            <a:lvl9pPr marL="4114800" lvl="8" indent="-228600" algn="l">
              <a:lnSpc>
                <a:spcPct val="100000"/>
              </a:lnSpc>
              <a:spcBef>
                <a:spcPts val="200"/>
              </a:spcBef>
              <a:spcAft>
                <a:spcPts val="0"/>
              </a:spcAft>
              <a:buClr>
                <a:srgbClr val="888888"/>
              </a:buClr>
              <a:buSzPts val="1100"/>
              <a:buNone/>
              <a:defRPr sz="1100">
                <a:solidFill>
                  <a:srgbClr val="888888"/>
                </a:solidFill>
              </a:defRPr>
            </a:lvl9pPr>
          </a:lstStyle>
          <a:p>
            <a:endParaRPr/>
          </a:p>
        </p:txBody>
      </p:sp>
      <p:sp>
        <p:nvSpPr>
          <p:cNvPr id="174" name="Google Shape;174;p45"/>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5" name="Google Shape;175;p45"/>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6" name="Google Shape;176;p45"/>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7"/>
        <p:cNvGrpSpPr/>
        <p:nvPr/>
      </p:nvGrpSpPr>
      <p:grpSpPr>
        <a:xfrm>
          <a:off x="0" y="0"/>
          <a:ext cx="0" cy="0"/>
          <a:chOff x="0" y="0"/>
          <a:chExt cx="0" cy="0"/>
        </a:xfrm>
      </p:grpSpPr>
      <p:sp>
        <p:nvSpPr>
          <p:cNvPr id="178" name="Google Shape;178;p46"/>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9" name="Google Shape;179;p46"/>
          <p:cNvSpPr txBox="1">
            <a:spLocks noGrp="1"/>
          </p:cNvSpPr>
          <p:nvPr>
            <p:ph type="body" idx="1"/>
          </p:nvPr>
        </p:nvSpPr>
        <p:spPr>
          <a:xfrm>
            <a:off x="342900" y="1200150"/>
            <a:ext cx="3028950" cy="3394472"/>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400"/>
              </a:spcBef>
              <a:spcAft>
                <a:spcPts val="0"/>
              </a:spcAft>
              <a:buClr>
                <a:schemeClr val="dk1"/>
              </a:buClr>
              <a:buSzPts val="2100"/>
              <a:buChar char="•"/>
              <a:defRPr sz="2100"/>
            </a:lvl1pPr>
            <a:lvl2pPr marL="914400" lvl="1" indent="-342900" algn="l">
              <a:lnSpc>
                <a:spcPct val="100000"/>
              </a:lnSpc>
              <a:spcBef>
                <a:spcPts val="40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
              <a:defRPr sz="15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a:endParaRPr/>
          </a:p>
        </p:txBody>
      </p:sp>
      <p:sp>
        <p:nvSpPr>
          <p:cNvPr id="180" name="Google Shape;180;p46"/>
          <p:cNvSpPr txBox="1">
            <a:spLocks noGrp="1"/>
          </p:cNvSpPr>
          <p:nvPr>
            <p:ph type="body" idx="2"/>
          </p:nvPr>
        </p:nvSpPr>
        <p:spPr>
          <a:xfrm>
            <a:off x="3486150" y="1200150"/>
            <a:ext cx="3028950" cy="3394472"/>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400"/>
              </a:spcBef>
              <a:spcAft>
                <a:spcPts val="0"/>
              </a:spcAft>
              <a:buClr>
                <a:schemeClr val="dk1"/>
              </a:buClr>
              <a:buSzPts val="2100"/>
              <a:buChar char="•"/>
              <a:defRPr sz="2100"/>
            </a:lvl1pPr>
            <a:lvl2pPr marL="914400" lvl="1" indent="-342900" algn="l">
              <a:lnSpc>
                <a:spcPct val="100000"/>
              </a:lnSpc>
              <a:spcBef>
                <a:spcPts val="40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
              <a:defRPr sz="15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a:endParaRPr/>
          </a:p>
        </p:txBody>
      </p:sp>
      <p:sp>
        <p:nvSpPr>
          <p:cNvPr id="181" name="Google Shape;181;p46"/>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2" name="Google Shape;182;p46"/>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3" name="Google Shape;183;p46"/>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4"/>
        <p:cNvGrpSpPr/>
        <p:nvPr/>
      </p:nvGrpSpPr>
      <p:grpSpPr>
        <a:xfrm>
          <a:off x="0" y="0"/>
          <a:ext cx="0" cy="0"/>
          <a:chOff x="0" y="0"/>
          <a:chExt cx="0" cy="0"/>
        </a:xfrm>
      </p:grpSpPr>
      <p:sp>
        <p:nvSpPr>
          <p:cNvPr id="185" name="Google Shape;185;p47"/>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6" name="Google Shape;186;p47"/>
          <p:cNvSpPr txBox="1">
            <a:spLocks noGrp="1"/>
          </p:cNvSpPr>
          <p:nvPr>
            <p:ph type="body" idx="1"/>
          </p:nvPr>
        </p:nvSpPr>
        <p:spPr>
          <a:xfrm>
            <a:off x="342900" y="1151335"/>
            <a:ext cx="3030141" cy="479822"/>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400"/>
              </a:spcBef>
              <a:spcAft>
                <a:spcPts val="0"/>
              </a:spcAft>
              <a:buClr>
                <a:schemeClr val="dk1"/>
              </a:buClr>
              <a:buSzPts val="1800"/>
              <a:buNone/>
              <a:defRPr sz="1800" b="1"/>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300"/>
              </a:spcBef>
              <a:spcAft>
                <a:spcPts val="0"/>
              </a:spcAft>
              <a:buClr>
                <a:schemeClr val="dk1"/>
              </a:buClr>
              <a:buSzPts val="1400"/>
              <a:buNone/>
              <a:defRPr sz="1400" b="1"/>
            </a:lvl3pPr>
            <a:lvl4pPr marL="1828800" lvl="3" indent="-228600" algn="l">
              <a:lnSpc>
                <a:spcPct val="100000"/>
              </a:lnSpc>
              <a:spcBef>
                <a:spcPts val="200"/>
              </a:spcBef>
              <a:spcAft>
                <a:spcPts val="0"/>
              </a:spcAft>
              <a:buClr>
                <a:schemeClr val="dk1"/>
              </a:buClr>
              <a:buSzPts val="1200"/>
              <a:buNone/>
              <a:defRPr sz="1200" b="1"/>
            </a:lvl4pPr>
            <a:lvl5pPr marL="2286000" lvl="4" indent="-228600" algn="l">
              <a:lnSpc>
                <a:spcPct val="100000"/>
              </a:lnSpc>
              <a:spcBef>
                <a:spcPts val="2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187" name="Google Shape;187;p47"/>
          <p:cNvSpPr txBox="1">
            <a:spLocks noGrp="1"/>
          </p:cNvSpPr>
          <p:nvPr>
            <p:ph type="body" idx="2"/>
          </p:nvPr>
        </p:nvSpPr>
        <p:spPr>
          <a:xfrm>
            <a:off x="342900" y="1631156"/>
            <a:ext cx="3030141" cy="2963466"/>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7500" algn="l">
              <a:lnSpc>
                <a:spcPct val="100000"/>
              </a:lnSpc>
              <a:spcBef>
                <a:spcPts val="300"/>
              </a:spcBef>
              <a:spcAft>
                <a:spcPts val="0"/>
              </a:spcAft>
              <a:buClr>
                <a:schemeClr val="dk1"/>
              </a:buClr>
              <a:buSzPts val="1400"/>
              <a:buChar char="•"/>
              <a:defRPr sz="1400"/>
            </a:lvl3pPr>
            <a:lvl4pPr marL="1828800" lvl="3" indent="-304800" algn="l">
              <a:lnSpc>
                <a:spcPct val="100000"/>
              </a:lnSpc>
              <a:spcBef>
                <a:spcPts val="200"/>
              </a:spcBef>
              <a:spcAft>
                <a:spcPts val="0"/>
              </a:spcAft>
              <a:buClr>
                <a:schemeClr val="dk1"/>
              </a:buClr>
              <a:buSzPts val="1200"/>
              <a:buChar char="–"/>
              <a:defRPr sz="1200"/>
            </a:lvl4pPr>
            <a:lvl5pPr marL="2286000" lvl="4" indent="-304800" algn="l">
              <a:lnSpc>
                <a:spcPct val="100000"/>
              </a:lnSpc>
              <a:spcBef>
                <a:spcPts val="200"/>
              </a:spcBef>
              <a:spcAft>
                <a:spcPts val="0"/>
              </a:spcAft>
              <a:buClr>
                <a:schemeClr val="dk1"/>
              </a:buClr>
              <a:buSzPts val="1200"/>
              <a:buChar char="»"/>
              <a:defRPr sz="1200"/>
            </a:lvl5pPr>
            <a:lvl6pPr marL="2743200" lvl="5" indent="-304800" algn="l">
              <a:lnSpc>
                <a:spcPct val="100000"/>
              </a:lnSpc>
              <a:spcBef>
                <a:spcPts val="200"/>
              </a:spcBef>
              <a:spcAft>
                <a:spcPts val="0"/>
              </a:spcAft>
              <a:buClr>
                <a:schemeClr val="dk1"/>
              </a:buClr>
              <a:buSzPts val="1200"/>
              <a:buChar char="•"/>
              <a:defRPr sz="1200"/>
            </a:lvl6pPr>
            <a:lvl7pPr marL="3200400" lvl="6" indent="-304800" algn="l">
              <a:lnSpc>
                <a:spcPct val="100000"/>
              </a:lnSpc>
              <a:spcBef>
                <a:spcPts val="200"/>
              </a:spcBef>
              <a:spcAft>
                <a:spcPts val="0"/>
              </a:spcAft>
              <a:buClr>
                <a:schemeClr val="dk1"/>
              </a:buClr>
              <a:buSzPts val="1200"/>
              <a:buChar char="•"/>
              <a:defRPr sz="1200"/>
            </a:lvl7pPr>
            <a:lvl8pPr marL="3657600" lvl="7" indent="-304800" algn="l">
              <a:lnSpc>
                <a:spcPct val="100000"/>
              </a:lnSpc>
              <a:spcBef>
                <a:spcPts val="200"/>
              </a:spcBef>
              <a:spcAft>
                <a:spcPts val="0"/>
              </a:spcAft>
              <a:buClr>
                <a:schemeClr val="dk1"/>
              </a:buClr>
              <a:buSzPts val="1200"/>
              <a:buChar char="•"/>
              <a:defRPr sz="1200"/>
            </a:lvl8pPr>
            <a:lvl9pPr marL="4114800" lvl="8" indent="-304800" algn="l">
              <a:lnSpc>
                <a:spcPct val="100000"/>
              </a:lnSpc>
              <a:spcBef>
                <a:spcPts val="200"/>
              </a:spcBef>
              <a:spcAft>
                <a:spcPts val="0"/>
              </a:spcAft>
              <a:buClr>
                <a:schemeClr val="dk1"/>
              </a:buClr>
              <a:buSzPts val="1200"/>
              <a:buChar char="•"/>
              <a:defRPr sz="1200"/>
            </a:lvl9pPr>
          </a:lstStyle>
          <a:p>
            <a:endParaRPr/>
          </a:p>
        </p:txBody>
      </p:sp>
      <p:sp>
        <p:nvSpPr>
          <p:cNvPr id="188" name="Google Shape;188;p47"/>
          <p:cNvSpPr txBox="1">
            <a:spLocks noGrp="1"/>
          </p:cNvSpPr>
          <p:nvPr>
            <p:ph type="body" idx="3"/>
          </p:nvPr>
        </p:nvSpPr>
        <p:spPr>
          <a:xfrm>
            <a:off x="3483769" y="1151335"/>
            <a:ext cx="3031331" cy="479822"/>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400"/>
              </a:spcBef>
              <a:spcAft>
                <a:spcPts val="0"/>
              </a:spcAft>
              <a:buClr>
                <a:schemeClr val="dk1"/>
              </a:buClr>
              <a:buSzPts val="1800"/>
              <a:buNone/>
              <a:defRPr sz="1800" b="1"/>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300"/>
              </a:spcBef>
              <a:spcAft>
                <a:spcPts val="0"/>
              </a:spcAft>
              <a:buClr>
                <a:schemeClr val="dk1"/>
              </a:buClr>
              <a:buSzPts val="1400"/>
              <a:buNone/>
              <a:defRPr sz="1400" b="1"/>
            </a:lvl3pPr>
            <a:lvl4pPr marL="1828800" lvl="3" indent="-228600" algn="l">
              <a:lnSpc>
                <a:spcPct val="100000"/>
              </a:lnSpc>
              <a:spcBef>
                <a:spcPts val="200"/>
              </a:spcBef>
              <a:spcAft>
                <a:spcPts val="0"/>
              </a:spcAft>
              <a:buClr>
                <a:schemeClr val="dk1"/>
              </a:buClr>
              <a:buSzPts val="1200"/>
              <a:buNone/>
              <a:defRPr sz="1200" b="1"/>
            </a:lvl4pPr>
            <a:lvl5pPr marL="2286000" lvl="4" indent="-228600" algn="l">
              <a:lnSpc>
                <a:spcPct val="100000"/>
              </a:lnSpc>
              <a:spcBef>
                <a:spcPts val="2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189" name="Google Shape;189;p47"/>
          <p:cNvSpPr txBox="1">
            <a:spLocks noGrp="1"/>
          </p:cNvSpPr>
          <p:nvPr>
            <p:ph type="body" idx="4"/>
          </p:nvPr>
        </p:nvSpPr>
        <p:spPr>
          <a:xfrm>
            <a:off x="3483769" y="1631156"/>
            <a:ext cx="3031331" cy="2963466"/>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7500" algn="l">
              <a:lnSpc>
                <a:spcPct val="100000"/>
              </a:lnSpc>
              <a:spcBef>
                <a:spcPts val="300"/>
              </a:spcBef>
              <a:spcAft>
                <a:spcPts val="0"/>
              </a:spcAft>
              <a:buClr>
                <a:schemeClr val="dk1"/>
              </a:buClr>
              <a:buSzPts val="1400"/>
              <a:buChar char="•"/>
              <a:defRPr sz="1400"/>
            </a:lvl3pPr>
            <a:lvl4pPr marL="1828800" lvl="3" indent="-304800" algn="l">
              <a:lnSpc>
                <a:spcPct val="100000"/>
              </a:lnSpc>
              <a:spcBef>
                <a:spcPts val="200"/>
              </a:spcBef>
              <a:spcAft>
                <a:spcPts val="0"/>
              </a:spcAft>
              <a:buClr>
                <a:schemeClr val="dk1"/>
              </a:buClr>
              <a:buSzPts val="1200"/>
              <a:buChar char="–"/>
              <a:defRPr sz="1200"/>
            </a:lvl4pPr>
            <a:lvl5pPr marL="2286000" lvl="4" indent="-304800" algn="l">
              <a:lnSpc>
                <a:spcPct val="100000"/>
              </a:lnSpc>
              <a:spcBef>
                <a:spcPts val="200"/>
              </a:spcBef>
              <a:spcAft>
                <a:spcPts val="0"/>
              </a:spcAft>
              <a:buClr>
                <a:schemeClr val="dk1"/>
              </a:buClr>
              <a:buSzPts val="1200"/>
              <a:buChar char="»"/>
              <a:defRPr sz="1200"/>
            </a:lvl5pPr>
            <a:lvl6pPr marL="2743200" lvl="5" indent="-304800" algn="l">
              <a:lnSpc>
                <a:spcPct val="100000"/>
              </a:lnSpc>
              <a:spcBef>
                <a:spcPts val="200"/>
              </a:spcBef>
              <a:spcAft>
                <a:spcPts val="0"/>
              </a:spcAft>
              <a:buClr>
                <a:schemeClr val="dk1"/>
              </a:buClr>
              <a:buSzPts val="1200"/>
              <a:buChar char="•"/>
              <a:defRPr sz="1200"/>
            </a:lvl6pPr>
            <a:lvl7pPr marL="3200400" lvl="6" indent="-304800" algn="l">
              <a:lnSpc>
                <a:spcPct val="100000"/>
              </a:lnSpc>
              <a:spcBef>
                <a:spcPts val="200"/>
              </a:spcBef>
              <a:spcAft>
                <a:spcPts val="0"/>
              </a:spcAft>
              <a:buClr>
                <a:schemeClr val="dk1"/>
              </a:buClr>
              <a:buSzPts val="1200"/>
              <a:buChar char="•"/>
              <a:defRPr sz="1200"/>
            </a:lvl7pPr>
            <a:lvl8pPr marL="3657600" lvl="7" indent="-304800" algn="l">
              <a:lnSpc>
                <a:spcPct val="100000"/>
              </a:lnSpc>
              <a:spcBef>
                <a:spcPts val="200"/>
              </a:spcBef>
              <a:spcAft>
                <a:spcPts val="0"/>
              </a:spcAft>
              <a:buClr>
                <a:schemeClr val="dk1"/>
              </a:buClr>
              <a:buSzPts val="1200"/>
              <a:buChar char="•"/>
              <a:defRPr sz="1200"/>
            </a:lvl8pPr>
            <a:lvl9pPr marL="4114800" lvl="8" indent="-304800" algn="l">
              <a:lnSpc>
                <a:spcPct val="100000"/>
              </a:lnSpc>
              <a:spcBef>
                <a:spcPts val="200"/>
              </a:spcBef>
              <a:spcAft>
                <a:spcPts val="0"/>
              </a:spcAft>
              <a:buClr>
                <a:schemeClr val="dk1"/>
              </a:buClr>
              <a:buSzPts val="1200"/>
              <a:buChar char="•"/>
              <a:defRPr sz="1200"/>
            </a:lvl9pPr>
          </a:lstStyle>
          <a:p>
            <a:endParaRPr/>
          </a:p>
        </p:txBody>
      </p:sp>
      <p:sp>
        <p:nvSpPr>
          <p:cNvPr id="190" name="Google Shape;190;p47"/>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1" name="Google Shape;191;p47"/>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2" name="Google Shape;192;p47"/>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3"/>
        <p:cNvGrpSpPr/>
        <p:nvPr/>
      </p:nvGrpSpPr>
      <p:grpSpPr>
        <a:xfrm>
          <a:off x="0" y="0"/>
          <a:ext cx="0" cy="0"/>
          <a:chOff x="0" y="0"/>
          <a:chExt cx="0" cy="0"/>
        </a:xfrm>
      </p:grpSpPr>
      <p:sp>
        <p:nvSpPr>
          <p:cNvPr id="194" name="Google Shape;194;p48"/>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5" name="Google Shape;195;p48"/>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6" name="Google Shape;196;p48"/>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7" name="Google Shape;197;p48"/>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98"/>
        <p:cNvGrpSpPr/>
        <p:nvPr/>
      </p:nvGrpSpPr>
      <p:grpSpPr>
        <a:xfrm>
          <a:off x="0" y="0"/>
          <a:ext cx="0" cy="0"/>
          <a:chOff x="0" y="0"/>
          <a:chExt cx="0" cy="0"/>
        </a:xfrm>
      </p:grpSpPr>
      <p:sp>
        <p:nvSpPr>
          <p:cNvPr id="199" name="Google Shape;199;p49"/>
          <p:cNvSpPr txBox="1">
            <a:spLocks noGrp="1"/>
          </p:cNvSpPr>
          <p:nvPr>
            <p:ph type="title"/>
          </p:nvPr>
        </p:nvSpPr>
        <p:spPr>
          <a:xfrm>
            <a:off x="342900" y="204788"/>
            <a:ext cx="2256235" cy="871538"/>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1500"/>
              <a:buFont typeface="Calibri"/>
              <a:buNone/>
              <a:defRPr sz="15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0" name="Google Shape;200;p49"/>
          <p:cNvSpPr txBox="1">
            <a:spLocks noGrp="1"/>
          </p:cNvSpPr>
          <p:nvPr>
            <p:ph type="body" idx="1"/>
          </p:nvPr>
        </p:nvSpPr>
        <p:spPr>
          <a:xfrm>
            <a:off x="2681287" y="204788"/>
            <a:ext cx="3833813" cy="4389835"/>
          </a:xfrm>
          <a:prstGeom prst="rect">
            <a:avLst/>
          </a:prstGeom>
          <a:noFill/>
          <a:ln>
            <a:noFill/>
          </a:ln>
        </p:spPr>
        <p:txBody>
          <a:bodyPr spcFirstLastPara="1" wrap="square" lIns="68575" tIns="34275" rIns="68575" bIns="34275" anchor="t" anchorCtr="0">
            <a:normAutofit/>
          </a:bodyPr>
          <a:lstStyle>
            <a:lvl1pPr marL="457200" lvl="0" indent="-381000" algn="l">
              <a:lnSpc>
                <a:spcPct val="100000"/>
              </a:lnSpc>
              <a:spcBef>
                <a:spcPts val="500"/>
              </a:spcBef>
              <a:spcAft>
                <a:spcPts val="0"/>
              </a:spcAft>
              <a:buClr>
                <a:schemeClr val="dk1"/>
              </a:buClr>
              <a:buSzPts val="2400"/>
              <a:buChar char="•"/>
              <a:defRPr sz="2400"/>
            </a:lvl1pPr>
            <a:lvl2pPr marL="914400" lvl="1" indent="-361950" algn="l">
              <a:lnSpc>
                <a:spcPct val="100000"/>
              </a:lnSpc>
              <a:spcBef>
                <a:spcPts val="400"/>
              </a:spcBef>
              <a:spcAft>
                <a:spcPts val="0"/>
              </a:spcAft>
              <a:buClr>
                <a:schemeClr val="dk1"/>
              </a:buClr>
              <a:buSzPts val="2100"/>
              <a:buChar char="–"/>
              <a:defRPr sz="2100"/>
            </a:lvl2pPr>
            <a:lvl3pPr marL="1371600" lvl="2" indent="-342900" algn="l">
              <a:lnSpc>
                <a:spcPct val="100000"/>
              </a:lnSpc>
              <a:spcBef>
                <a:spcPts val="400"/>
              </a:spcBef>
              <a:spcAft>
                <a:spcPts val="0"/>
              </a:spcAft>
              <a:buClr>
                <a:schemeClr val="dk1"/>
              </a:buClr>
              <a:buSzPts val="1800"/>
              <a:buChar char="•"/>
              <a:defRPr sz="1800"/>
            </a:lvl3pPr>
            <a:lvl4pPr marL="1828800" lvl="3" indent="-323850" algn="l">
              <a:lnSpc>
                <a:spcPct val="100000"/>
              </a:lnSpc>
              <a:spcBef>
                <a:spcPts val="300"/>
              </a:spcBef>
              <a:spcAft>
                <a:spcPts val="0"/>
              </a:spcAft>
              <a:buClr>
                <a:schemeClr val="dk1"/>
              </a:buClr>
              <a:buSzPts val="1500"/>
              <a:buChar char="–"/>
              <a:defRPr sz="1500"/>
            </a:lvl4pPr>
            <a:lvl5pPr marL="2286000" lvl="4" indent="-323850" algn="l">
              <a:lnSpc>
                <a:spcPct val="100000"/>
              </a:lnSpc>
              <a:spcBef>
                <a:spcPts val="300"/>
              </a:spcBef>
              <a:spcAft>
                <a:spcPts val="0"/>
              </a:spcAft>
              <a:buClr>
                <a:schemeClr val="dk1"/>
              </a:buClr>
              <a:buSzPts val="1500"/>
              <a:buChar char="»"/>
              <a:defRPr sz="1500"/>
            </a:lvl5pPr>
            <a:lvl6pPr marL="2743200" lvl="5" indent="-323850" algn="l">
              <a:lnSpc>
                <a:spcPct val="100000"/>
              </a:lnSpc>
              <a:spcBef>
                <a:spcPts val="300"/>
              </a:spcBef>
              <a:spcAft>
                <a:spcPts val="0"/>
              </a:spcAft>
              <a:buClr>
                <a:schemeClr val="dk1"/>
              </a:buClr>
              <a:buSzPts val="1500"/>
              <a:buChar char="•"/>
              <a:defRPr sz="1500"/>
            </a:lvl6pPr>
            <a:lvl7pPr marL="3200400" lvl="6" indent="-323850" algn="l">
              <a:lnSpc>
                <a:spcPct val="100000"/>
              </a:lnSpc>
              <a:spcBef>
                <a:spcPts val="300"/>
              </a:spcBef>
              <a:spcAft>
                <a:spcPts val="0"/>
              </a:spcAft>
              <a:buClr>
                <a:schemeClr val="dk1"/>
              </a:buClr>
              <a:buSzPts val="1500"/>
              <a:buChar char="•"/>
              <a:defRPr sz="1500"/>
            </a:lvl7pPr>
            <a:lvl8pPr marL="3657600" lvl="7" indent="-323850" algn="l">
              <a:lnSpc>
                <a:spcPct val="100000"/>
              </a:lnSpc>
              <a:spcBef>
                <a:spcPts val="300"/>
              </a:spcBef>
              <a:spcAft>
                <a:spcPts val="0"/>
              </a:spcAft>
              <a:buClr>
                <a:schemeClr val="dk1"/>
              </a:buClr>
              <a:buSzPts val="1500"/>
              <a:buChar char="•"/>
              <a:defRPr sz="1500"/>
            </a:lvl8pPr>
            <a:lvl9pPr marL="4114800" lvl="8" indent="-323850" algn="l">
              <a:lnSpc>
                <a:spcPct val="100000"/>
              </a:lnSpc>
              <a:spcBef>
                <a:spcPts val="300"/>
              </a:spcBef>
              <a:spcAft>
                <a:spcPts val="0"/>
              </a:spcAft>
              <a:buClr>
                <a:schemeClr val="dk1"/>
              </a:buClr>
              <a:buSzPts val="1500"/>
              <a:buChar char="•"/>
              <a:defRPr sz="1500"/>
            </a:lvl9pPr>
          </a:lstStyle>
          <a:p>
            <a:endParaRPr/>
          </a:p>
        </p:txBody>
      </p:sp>
      <p:sp>
        <p:nvSpPr>
          <p:cNvPr id="201" name="Google Shape;201;p49"/>
          <p:cNvSpPr txBox="1">
            <a:spLocks noGrp="1"/>
          </p:cNvSpPr>
          <p:nvPr>
            <p:ph type="body" idx="2"/>
          </p:nvPr>
        </p:nvSpPr>
        <p:spPr>
          <a:xfrm>
            <a:off x="342900" y="1076325"/>
            <a:ext cx="2256235" cy="3518297"/>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200"/>
              </a:spcBef>
              <a:spcAft>
                <a:spcPts val="0"/>
              </a:spcAft>
              <a:buClr>
                <a:schemeClr val="dk1"/>
              </a:buClr>
              <a:buSzPts val="1100"/>
              <a:buNone/>
              <a:defRPr sz="1100"/>
            </a:lvl1pPr>
            <a:lvl2pPr marL="914400" lvl="1" indent="-228600" algn="l">
              <a:lnSpc>
                <a:spcPct val="100000"/>
              </a:lnSpc>
              <a:spcBef>
                <a:spcPts val="200"/>
              </a:spcBef>
              <a:spcAft>
                <a:spcPts val="0"/>
              </a:spcAft>
              <a:buClr>
                <a:schemeClr val="dk1"/>
              </a:buClr>
              <a:buSzPts val="900"/>
              <a:buNone/>
              <a:defRPr sz="900"/>
            </a:lvl2pPr>
            <a:lvl3pPr marL="1371600" lvl="2" indent="-228600" algn="l">
              <a:lnSpc>
                <a:spcPct val="100000"/>
              </a:lnSpc>
              <a:spcBef>
                <a:spcPts val="200"/>
              </a:spcBef>
              <a:spcAft>
                <a:spcPts val="0"/>
              </a:spcAft>
              <a:buClr>
                <a:schemeClr val="dk1"/>
              </a:buClr>
              <a:buSzPts val="800"/>
              <a:buNone/>
              <a:defRPr sz="800"/>
            </a:lvl3pPr>
            <a:lvl4pPr marL="1828800" lvl="3" indent="-228600" algn="l">
              <a:lnSpc>
                <a:spcPct val="100000"/>
              </a:lnSpc>
              <a:spcBef>
                <a:spcPts val="100"/>
              </a:spcBef>
              <a:spcAft>
                <a:spcPts val="0"/>
              </a:spcAft>
              <a:buClr>
                <a:schemeClr val="dk1"/>
              </a:buClr>
              <a:buSzPts val="700"/>
              <a:buNone/>
              <a:defRPr sz="700"/>
            </a:lvl4pPr>
            <a:lvl5pPr marL="2286000" lvl="4" indent="-228600" algn="l">
              <a:lnSpc>
                <a:spcPct val="100000"/>
              </a:lnSpc>
              <a:spcBef>
                <a:spcPts val="1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202" name="Google Shape;202;p49"/>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3" name="Google Shape;203;p49"/>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4" name="Google Shape;204;p49"/>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05"/>
        <p:cNvGrpSpPr/>
        <p:nvPr/>
      </p:nvGrpSpPr>
      <p:grpSpPr>
        <a:xfrm>
          <a:off x="0" y="0"/>
          <a:ext cx="0" cy="0"/>
          <a:chOff x="0" y="0"/>
          <a:chExt cx="0" cy="0"/>
        </a:xfrm>
      </p:grpSpPr>
      <p:sp>
        <p:nvSpPr>
          <p:cNvPr id="206" name="Google Shape;206;p50"/>
          <p:cNvSpPr txBox="1">
            <a:spLocks noGrp="1"/>
          </p:cNvSpPr>
          <p:nvPr>
            <p:ph type="title"/>
          </p:nvPr>
        </p:nvSpPr>
        <p:spPr>
          <a:xfrm>
            <a:off x="1344216" y="3600450"/>
            <a:ext cx="4114800" cy="425054"/>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1500"/>
              <a:buFont typeface="Calibri"/>
              <a:buNone/>
              <a:defRPr sz="15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7" name="Google Shape;207;p50"/>
          <p:cNvSpPr>
            <a:spLocks noGrp="1"/>
          </p:cNvSpPr>
          <p:nvPr>
            <p:ph type="pic" idx="2"/>
          </p:nvPr>
        </p:nvSpPr>
        <p:spPr>
          <a:xfrm>
            <a:off x="1344216" y="459581"/>
            <a:ext cx="4114800" cy="3086100"/>
          </a:xfrm>
          <a:prstGeom prst="rect">
            <a:avLst/>
          </a:prstGeom>
          <a:noFill/>
          <a:ln>
            <a:noFill/>
          </a:ln>
        </p:spPr>
      </p:sp>
      <p:sp>
        <p:nvSpPr>
          <p:cNvPr id="208" name="Google Shape;208;p50"/>
          <p:cNvSpPr txBox="1">
            <a:spLocks noGrp="1"/>
          </p:cNvSpPr>
          <p:nvPr>
            <p:ph type="body" idx="1"/>
          </p:nvPr>
        </p:nvSpPr>
        <p:spPr>
          <a:xfrm>
            <a:off x="1344216" y="4025503"/>
            <a:ext cx="4114800" cy="603647"/>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200"/>
              </a:spcBef>
              <a:spcAft>
                <a:spcPts val="0"/>
              </a:spcAft>
              <a:buClr>
                <a:schemeClr val="dk1"/>
              </a:buClr>
              <a:buSzPts val="1100"/>
              <a:buNone/>
              <a:defRPr sz="1100"/>
            </a:lvl1pPr>
            <a:lvl2pPr marL="914400" lvl="1" indent="-228600" algn="l">
              <a:lnSpc>
                <a:spcPct val="100000"/>
              </a:lnSpc>
              <a:spcBef>
                <a:spcPts val="200"/>
              </a:spcBef>
              <a:spcAft>
                <a:spcPts val="0"/>
              </a:spcAft>
              <a:buClr>
                <a:schemeClr val="dk1"/>
              </a:buClr>
              <a:buSzPts val="900"/>
              <a:buNone/>
              <a:defRPr sz="900"/>
            </a:lvl2pPr>
            <a:lvl3pPr marL="1371600" lvl="2" indent="-228600" algn="l">
              <a:lnSpc>
                <a:spcPct val="100000"/>
              </a:lnSpc>
              <a:spcBef>
                <a:spcPts val="200"/>
              </a:spcBef>
              <a:spcAft>
                <a:spcPts val="0"/>
              </a:spcAft>
              <a:buClr>
                <a:schemeClr val="dk1"/>
              </a:buClr>
              <a:buSzPts val="800"/>
              <a:buNone/>
              <a:defRPr sz="800"/>
            </a:lvl3pPr>
            <a:lvl4pPr marL="1828800" lvl="3" indent="-228600" algn="l">
              <a:lnSpc>
                <a:spcPct val="100000"/>
              </a:lnSpc>
              <a:spcBef>
                <a:spcPts val="100"/>
              </a:spcBef>
              <a:spcAft>
                <a:spcPts val="0"/>
              </a:spcAft>
              <a:buClr>
                <a:schemeClr val="dk1"/>
              </a:buClr>
              <a:buSzPts val="700"/>
              <a:buNone/>
              <a:defRPr sz="700"/>
            </a:lvl4pPr>
            <a:lvl5pPr marL="2286000" lvl="4" indent="-228600" algn="l">
              <a:lnSpc>
                <a:spcPct val="100000"/>
              </a:lnSpc>
              <a:spcBef>
                <a:spcPts val="1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209" name="Google Shape;209;p50"/>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0" name="Google Shape;210;p50"/>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1" name="Google Shape;211;p50"/>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2"/>
        <p:cNvGrpSpPr/>
        <p:nvPr/>
      </p:nvGrpSpPr>
      <p:grpSpPr>
        <a:xfrm>
          <a:off x="0" y="0"/>
          <a:ext cx="0" cy="0"/>
          <a:chOff x="0" y="0"/>
          <a:chExt cx="0" cy="0"/>
        </a:xfrm>
      </p:grpSpPr>
      <p:sp>
        <p:nvSpPr>
          <p:cNvPr id="213" name="Google Shape;213;p51"/>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4" name="Google Shape;214;p51"/>
          <p:cNvSpPr txBox="1">
            <a:spLocks noGrp="1"/>
          </p:cNvSpPr>
          <p:nvPr>
            <p:ph type="body" idx="1"/>
          </p:nvPr>
        </p:nvSpPr>
        <p:spPr>
          <a:xfrm rot="5400000">
            <a:off x="1731764" y="-188714"/>
            <a:ext cx="3394472" cy="6172200"/>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215" name="Google Shape;215;p51"/>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6" name="Google Shape;216;p51"/>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7" name="Google Shape;217;p51"/>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18"/>
        <p:cNvGrpSpPr/>
        <p:nvPr/>
      </p:nvGrpSpPr>
      <p:grpSpPr>
        <a:xfrm>
          <a:off x="0" y="0"/>
          <a:ext cx="0" cy="0"/>
          <a:chOff x="0" y="0"/>
          <a:chExt cx="0" cy="0"/>
        </a:xfrm>
      </p:grpSpPr>
      <p:sp>
        <p:nvSpPr>
          <p:cNvPr id="219" name="Google Shape;219;p52"/>
          <p:cNvSpPr txBox="1">
            <a:spLocks noGrp="1"/>
          </p:cNvSpPr>
          <p:nvPr>
            <p:ph type="title"/>
          </p:nvPr>
        </p:nvSpPr>
        <p:spPr>
          <a:xfrm rot="5400000">
            <a:off x="3549253" y="1628775"/>
            <a:ext cx="4388644" cy="15430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0" name="Google Shape;220;p52"/>
          <p:cNvSpPr txBox="1">
            <a:spLocks noGrp="1"/>
          </p:cNvSpPr>
          <p:nvPr>
            <p:ph type="body" idx="1"/>
          </p:nvPr>
        </p:nvSpPr>
        <p:spPr>
          <a:xfrm rot="5400000">
            <a:off x="406003" y="142875"/>
            <a:ext cx="4388644" cy="4514850"/>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221" name="Google Shape;221;p52"/>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2" name="Google Shape;222;p52"/>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3" name="Google Shape;223;p52"/>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21"/>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marR="0" lvl="0" algn="ctr" rtl="0">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4" name="Google Shape;64;p21"/>
          <p:cNvSpPr txBox="1">
            <a:spLocks noGrp="1"/>
          </p:cNvSpPr>
          <p:nvPr>
            <p:ph type="body" idx="1"/>
          </p:nvPr>
        </p:nvSpPr>
        <p:spPr>
          <a:xfrm>
            <a:off x="342900" y="1200150"/>
            <a:ext cx="6172200" cy="3394472"/>
          </a:xfrm>
          <a:prstGeom prst="rect">
            <a:avLst/>
          </a:prstGeom>
          <a:noFill/>
          <a:ln>
            <a:noFill/>
          </a:ln>
        </p:spPr>
        <p:txBody>
          <a:bodyPr spcFirstLastPara="1" wrap="square" lIns="68575" tIns="34275" rIns="68575" bIns="34275" anchor="t" anchorCtr="0">
            <a:normAutofit/>
          </a:bodyPr>
          <a:lstStyle>
            <a:lvl1pPr marL="457200" marR="0" lvl="0" indent="-381000" algn="l" rtl="0">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5" name="Google Shape;65;p21"/>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6" name="Google Shape;66;p21"/>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7" name="Google Shape;67;p21"/>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 id="2147483680" r:id="rId2"/>
    <p:sldLayoutId id="214748368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9"/>
        <p:cNvGrpSpPr/>
        <p:nvPr/>
      </p:nvGrpSpPr>
      <p:grpSpPr>
        <a:xfrm>
          <a:off x="0" y="0"/>
          <a:ext cx="0" cy="0"/>
          <a:chOff x="0" y="0"/>
          <a:chExt cx="0" cy="0"/>
        </a:xfrm>
      </p:grpSpPr>
      <p:sp>
        <p:nvSpPr>
          <p:cNvPr id="150" name="Google Shape;150;p41"/>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marR="0" lvl="0" algn="ctr" rtl="0">
              <a:lnSpc>
                <a:spcPct val="10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Calibri"/>
              <a:buNone/>
              <a:defRPr sz="1400" b="0" i="0" u="none" strike="noStrike" cap="none">
                <a:solidFill>
                  <a:srgbClr val="000000"/>
                </a:solidFill>
                <a:latin typeface="Calibri"/>
                <a:ea typeface="Calibri"/>
                <a:cs typeface="Calibri"/>
                <a:sym typeface="Calibri"/>
              </a:defRPr>
            </a:lvl9pPr>
          </a:lstStyle>
          <a:p>
            <a:endParaRPr/>
          </a:p>
        </p:txBody>
      </p:sp>
      <p:sp>
        <p:nvSpPr>
          <p:cNvPr id="151" name="Google Shape;151;p41"/>
          <p:cNvSpPr txBox="1">
            <a:spLocks noGrp="1"/>
          </p:cNvSpPr>
          <p:nvPr>
            <p:ph type="body" idx="1"/>
          </p:nvPr>
        </p:nvSpPr>
        <p:spPr>
          <a:xfrm>
            <a:off x="342900" y="1200150"/>
            <a:ext cx="6172200" cy="3394472"/>
          </a:xfrm>
          <a:prstGeom prst="rect">
            <a:avLst/>
          </a:prstGeom>
          <a:noFill/>
          <a:ln>
            <a:noFill/>
          </a:ln>
        </p:spPr>
        <p:txBody>
          <a:bodyPr spcFirstLastPara="1" wrap="square" lIns="68575" tIns="34275" rIns="68575" bIns="34275" anchor="t" anchorCtr="0">
            <a:normAutofit/>
          </a:bodyPr>
          <a:lstStyle>
            <a:lvl1pPr marL="457200" marR="0" lvl="0" indent="-381000" algn="l" rtl="0">
              <a:lnSpc>
                <a:spcPct val="100000"/>
              </a:lnSpc>
              <a:spcBef>
                <a:spcPts val="500"/>
              </a:spcBef>
              <a:spcAft>
                <a:spcPts val="0"/>
              </a:spcAft>
              <a:buClr>
                <a:schemeClr val="dk1"/>
              </a:buClr>
              <a:buSzPts val="2400"/>
              <a:buFont typeface="Calibri"/>
              <a:buChar char="•"/>
              <a:defRPr sz="2400" b="0" i="0" u="none" strike="noStrike" cap="none">
                <a:solidFill>
                  <a:schemeClr val="dk1"/>
                </a:solidFill>
                <a:latin typeface="Calibri"/>
                <a:ea typeface="Calibri"/>
                <a:cs typeface="Calibri"/>
                <a:sym typeface="Calibri"/>
              </a:defRPr>
            </a:lvl1pPr>
            <a:lvl2pPr marL="914400" marR="0" lvl="1" indent="-361950" algn="l" rtl="0">
              <a:lnSpc>
                <a:spcPct val="100000"/>
              </a:lnSpc>
              <a:spcBef>
                <a:spcPts val="400"/>
              </a:spcBef>
              <a:spcAft>
                <a:spcPts val="0"/>
              </a:spcAft>
              <a:buClr>
                <a:schemeClr val="dk1"/>
              </a:buClr>
              <a:buSzPts val="2100"/>
              <a:buFont typeface="Calibri"/>
              <a:buChar char="–"/>
              <a:defRPr sz="21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40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4pPr>
            <a:lvl5pPr marL="2286000" marR="0" lvl="4"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5pPr>
            <a:lvl6pPr marL="2743200" marR="0" lvl="5"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6pPr>
            <a:lvl7pPr marL="3200400" marR="0" lvl="6"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7pPr>
            <a:lvl8pPr marL="3657600" marR="0" lvl="7"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8pPr>
            <a:lvl9pPr marL="4114800" marR="0" lvl="8" indent="-323850" algn="l" rtl="0">
              <a:lnSpc>
                <a:spcPct val="100000"/>
              </a:lnSpc>
              <a:spcBef>
                <a:spcPts val="300"/>
              </a:spcBef>
              <a:spcAft>
                <a:spcPts val="0"/>
              </a:spcAft>
              <a:buClr>
                <a:schemeClr val="dk1"/>
              </a:buClr>
              <a:buSzPts val="1500"/>
              <a:buFont typeface="Calibri"/>
              <a:buChar char="•"/>
              <a:defRPr sz="1500" b="0" i="0" u="none" strike="noStrike" cap="none">
                <a:solidFill>
                  <a:schemeClr val="dk1"/>
                </a:solidFill>
                <a:latin typeface="Calibri"/>
                <a:ea typeface="Calibri"/>
                <a:cs typeface="Calibri"/>
                <a:sym typeface="Calibri"/>
              </a:defRPr>
            </a:lvl9pPr>
          </a:lstStyle>
          <a:p>
            <a:endParaRPr/>
          </a:p>
        </p:txBody>
      </p:sp>
      <p:sp>
        <p:nvSpPr>
          <p:cNvPr id="152" name="Google Shape;152;p41"/>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53" name="Google Shape;153;p41"/>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54" name="Google Shape;154;p41"/>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image" Target="../media/image3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 Id="rId3" Type="http://schemas.openxmlformats.org/officeDocument/2006/relationships/image" Target="../media/image3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Relationship Id="rId3" Type="http://schemas.openxmlformats.org/officeDocument/2006/relationships/image" Target="../media/image5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xml"/><Relationship Id="rId3" Type="http://schemas.openxmlformats.org/officeDocument/2006/relationships/image" Target="../media/image5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Relationship Id="rId3" Type="http://schemas.openxmlformats.org/officeDocument/2006/relationships/image" Target="../media/image5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9.xml"/><Relationship Id="rId3" Type="http://schemas.openxmlformats.org/officeDocument/2006/relationships/image" Target="../media/image5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0.xml"/><Relationship Id="rId3" Type="http://schemas.openxmlformats.org/officeDocument/2006/relationships/image" Target="../media/image5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2.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7.xml"/><Relationship Id="rId3" Type="http://schemas.openxmlformats.org/officeDocument/2006/relationships/image" Target="../media/image4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 Id="rId3" Type="http://schemas.openxmlformats.org/officeDocument/2006/relationships/image" Target="../media/image69.png"/><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1.xml"/><Relationship Id="rId3" Type="http://schemas.openxmlformats.org/officeDocument/2006/relationships/image" Target="../media/image7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3.xml"/><Relationship Id="rId3" Type="http://schemas.openxmlformats.org/officeDocument/2006/relationships/image" Target="../media/image72.png"/><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5.xml"/><Relationship Id="rId3" Type="http://schemas.openxmlformats.org/officeDocument/2006/relationships/image" Target="../media/image73.png"/><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53" descr="/home/claude/work/assets/clappy_claude_wave.png"/>
          <p:cNvPicPr preferRelativeResize="0"/>
          <p:nvPr/>
        </p:nvPicPr>
        <p:blipFill rotWithShape="1">
          <a:blip r:embed="rId3">
            <a:alphaModFix/>
          </a:blip>
          <a:srcRect/>
          <a:stretch/>
        </p:blipFill>
        <p:spPr>
          <a:xfrm>
            <a:off x="6309360" y="1611630"/>
            <a:ext cx="2125980" cy="2338578"/>
          </a:xfrm>
          <a:prstGeom prst="rect">
            <a:avLst/>
          </a:prstGeom>
          <a:noFill/>
          <a:ln>
            <a:noFill/>
          </a:ln>
        </p:spPr>
      </p:pic>
      <p:sp>
        <p:nvSpPr>
          <p:cNvPr id="230" name="Google Shape;230;p53"/>
          <p:cNvSpPr txBox="1"/>
          <p:nvPr/>
        </p:nvSpPr>
        <p:spPr>
          <a:xfrm>
            <a:off x="548640" y="1200150"/>
            <a:ext cx="5554980" cy="13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6"/>
              </a:buClr>
              <a:buSzPts val="3800"/>
              <a:buFont typeface="Century Schoolbook"/>
              <a:buNone/>
            </a:pPr>
            <a:r>
              <a:rPr lang="en-GB" sz="3800" b="1">
                <a:solidFill>
                  <a:srgbClr val="EAF1F6"/>
                </a:solidFill>
                <a:latin typeface="Century Schoolbook"/>
                <a:ea typeface="Century Schoolbook"/>
                <a:cs typeface="Century Schoolbook"/>
                <a:sym typeface="Century Schoolbook"/>
              </a:rPr>
              <a:t>A Tester's Guide to</a:t>
            </a:r>
            <a:endParaRPr sz="38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EAF1F6"/>
              </a:buClr>
              <a:buSzPts val="3800"/>
              <a:buFont typeface="Century Schoolbook"/>
              <a:buNone/>
            </a:pPr>
            <a:r>
              <a:rPr lang="en-GB" sz="3800" b="1">
                <a:solidFill>
                  <a:srgbClr val="EAF1F6"/>
                </a:solidFill>
                <a:latin typeface="Century Schoolbook"/>
                <a:ea typeface="Century Schoolbook"/>
                <a:cs typeface="Century Schoolbook"/>
                <a:sym typeface="Century Schoolbook"/>
              </a:rPr>
              <a:t>Claude Code</a:t>
            </a:r>
            <a:endParaRPr sz="3800">
              <a:solidFill>
                <a:schemeClr val="dk1"/>
              </a:solidFill>
              <a:latin typeface="Calibri"/>
              <a:ea typeface="Calibri"/>
              <a:cs typeface="Calibri"/>
              <a:sym typeface="Calibri"/>
            </a:endParaRPr>
          </a:p>
        </p:txBody>
      </p:sp>
      <p:sp>
        <p:nvSpPr>
          <p:cNvPr id="231" name="Google Shape;231;p53"/>
          <p:cNvSpPr txBox="1"/>
          <p:nvPr/>
        </p:nvSpPr>
        <p:spPr>
          <a:xfrm>
            <a:off x="562356" y="2537460"/>
            <a:ext cx="54864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272B4"/>
              </a:buClr>
              <a:buSzPts val="1700"/>
              <a:buFont typeface="Century Schoolbook"/>
              <a:buNone/>
            </a:pPr>
            <a:r>
              <a:rPr lang="en-GB" sz="1700" i="1">
                <a:solidFill>
                  <a:srgbClr val="0272B4"/>
                </a:solidFill>
                <a:latin typeface="Century Schoolbook"/>
                <a:ea typeface="Century Schoolbook"/>
                <a:cs typeface="Century Schoolbook"/>
                <a:sym typeface="Century Schoolbook"/>
              </a:rPr>
              <a:t>From Setup to Scripting</a:t>
            </a:r>
            <a:endParaRPr sz="1700">
              <a:solidFill>
                <a:schemeClr val="dk1"/>
              </a:solidFill>
              <a:latin typeface="Calibri"/>
              <a:ea typeface="Calibri"/>
              <a:cs typeface="Calibri"/>
              <a:sym typeface="Calibri"/>
            </a:endParaRPr>
          </a:p>
        </p:txBody>
      </p:sp>
      <p:cxnSp>
        <p:nvCxnSpPr>
          <p:cNvPr id="232" name="Google Shape;232;p53"/>
          <p:cNvCxnSpPr/>
          <p:nvPr/>
        </p:nvCxnSpPr>
        <p:spPr>
          <a:xfrm>
            <a:off x="562356" y="3909060"/>
            <a:ext cx="4526280" cy="0"/>
          </a:xfrm>
          <a:prstGeom prst="straightConnector1">
            <a:avLst/>
          </a:prstGeom>
          <a:noFill/>
          <a:ln w="19050" cap="flat" cmpd="sng">
            <a:solidFill>
              <a:srgbClr val="243240"/>
            </a:solidFill>
            <a:prstDash val="solid"/>
            <a:round/>
            <a:headEnd type="none" w="sm" len="sm"/>
            <a:tailEnd type="none" w="sm" len="sm"/>
          </a:ln>
        </p:spPr>
      </p:cxnSp>
      <p:sp>
        <p:nvSpPr>
          <p:cNvPr id="233" name="Google Shape;233;p53"/>
          <p:cNvSpPr txBox="1"/>
          <p:nvPr/>
        </p:nvSpPr>
        <p:spPr>
          <a:xfrm>
            <a:off x="562356" y="4046220"/>
            <a:ext cx="7543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AF1F6"/>
              </a:buClr>
              <a:buSzPts val="1100"/>
              <a:buFont typeface="Calibri"/>
              <a:buNone/>
            </a:pPr>
            <a:r>
              <a:rPr lang="en-GB" sz="1100" b="1">
                <a:solidFill>
                  <a:srgbClr val="EAF1F6"/>
                </a:solidFill>
                <a:latin typeface="Calibri"/>
                <a:ea typeface="Calibri"/>
                <a:cs typeface="Calibri"/>
                <a:sym typeface="Calibri"/>
              </a:rPr>
              <a:t>Adonis Celestine</a:t>
            </a:r>
            <a:r>
              <a:rPr lang="en-GB" sz="1100">
                <a:solidFill>
                  <a:srgbClr val="8FA0AE"/>
                </a:solidFill>
                <a:latin typeface="Calibri"/>
                <a:ea typeface="Calibri"/>
                <a:cs typeface="Calibri"/>
                <a:sym typeface="Calibri"/>
              </a:rPr>
              <a:t>   Senior Director, Global Automation Practice Lead, Applause</a:t>
            </a:r>
            <a:endParaRPr sz="1100">
              <a:solidFill>
                <a:schemeClr val="dk1"/>
              </a:solidFill>
              <a:latin typeface="Calibri"/>
              <a:ea typeface="Calibri"/>
              <a:cs typeface="Calibri"/>
              <a:sym typeface="Calibri"/>
            </a:endParaRPr>
          </a:p>
        </p:txBody>
      </p:sp>
      <p:sp>
        <p:nvSpPr>
          <p:cNvPr id="234" name="Google Shape;234;p53"/>
          <p:cNvSpPr txBox="1"/>
          <p:nvPr/>
        </p:nvSpPr>
        <p:spPr>
          <a:xfrm>
            <a:off x="562356" y="4354830"/>
            <a:ext cx="7543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AF1F6"/>
              </a:buClr>
              <a:buSzPts val="1100"/>
              <a:buFont typeface="Calibri"/>
              <a:buNone/>
            </a:pPr>
            <a:r>
              <a:rPr lang="en-GB" sz="1100" b="1">
                <a:solidFill>
                  <a:srgbClr val="EAF1F6"/>
                </a:solidFill>
                <a:latin typeface="Calibri"/>
                <a:ea typeface="Calibri"/>
                <a:cs typeface="Calibri"/>
                <a:sym typeface="Calibri"/>
              </a:rPr>
              <a:t>Taras Lytvyn</a:t>
            </a:r>
            <a:r>
              <a:rPr lang="en-GB" sz="1100">
                <a:solidFill>
                  <a:srgbClr val="8FA0AE"/>
                </a:solidFill>
                <a:latin typeface="Calibri"/>
                <a:ea typeface="Calibri"/>
                <a:cs typeface="Calibri"/>
                <a:sym typeface="Calibri"/>
              </a:rPr>
              <a:t>   AI-first Test Automation Architect, Lead SDET, Applause</a:t>
            </a:r>
            <a:endParaRPr sz="11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9"/>
        <p:cNvGrpSpPr/>
        <p:nvPr/>
      </p:nvGrpSpPr>
      <p:grpSpPr>
        <a:xfrm>
          <a:off x="0" y="0"/>
          <a:ext cx="0" cy="0"/>
          <a:chOff x="0" y="0"/>
          <a:chExt cx="0" cy="0"/>
        </a:xfrm>
      </p:grpSpPr>
      <p:sp>
        <p:nvSpPr>
          <p:cNvPr id="240" name="Google Shape;240;p54"/>
          <p:cNvSpPr txBox="1"/>
          <p:nvPr/>
        </p:nvSpPr>
        <p:spPr>
          <a:xfrm>
            <a:off x="493776" y="457200"/>
            <a:ext cx="502920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4FB0EA"/>
                </a:solidFill>
                <a:latin typeface="Calibri"/>
                <a:ea typeface="Calibri"/>
                <a:cs typeface="Calibri"/>
                <a:sym typeface="Calibri"/>
              </a:rPr>
              <a:t>YOUR SPEAKERS</a:t>
            </a:r>
            <a:endParaRPr/>
          </a:p>
        </p:txBody>
      </p:sp>
      <p:pic>
        <p:nvPicPr>
          <p:cNvPr id="241" name="Google Shape;241;p54" descr="Portrait of Adonis Celestine"/>
          <p:cNvPicPr preferRelativeResize="0"/>
          <p:nvPr/>
        </p:nvPicPr>
        <p:blipFill rotWithShape="1">
          <a:blip r:embed="rId3">
            <a:alphaModFix/>
          </a:blip>
          <a:srcRect/>
          <a:stretch/>
        </p:blipFill>
        <p:spPr>
          <a:xfrm>
            <a:off x="571500" y="1188720"/>
            <a:ext cx="1783080" cy="1783080"/>
          </a:xfrm>
          <a:prstGeom prst="ellipse">
            <a:avLst/>
          </a:prstGeom>
          <a:noFill/>
          <a:ln w="38100" cap="flat" cmpd="sng">
            <a:solidFill>
              <a:srgbClr val="0272B4"/>
            </a:solidFill>
            <a:prstDash val="solid"/>
            <a:round/>
            <a:headEnd type="none" w="sm" len="sm"/>
            <a:tailEnd type="none" w="sm" len="sm"/>
          </a:ln>
        </p:spPr>
      </p:pic>
      <p:sp>
        <p:nvSpPr>
          <p:cNvPr id="242" name="Google Shape;242;p54"/>
          <p:cNvSpPr txBox="1"/>
          <p:nvPr/>
        </p:nvSpPr>
        <p:spPr>
          <a:xfrm>
            <a:off x="137160" y="3154680"/>
            <a:ext cx="2651760" cy="4023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GB" sz="2000" b="1" i="0" u="none" strike="noStrike" cap="none">
                <a:solidFill>
                  <a:srgbClr val="7FC6F3"/>
                </a:solidFill>
                <a:latin typeface="Century Schoolbook"/>
                <a:ea typeface="Century Schoolbook"/>
                <a:cs typeface="Century Schoolbook"/>
                <a:sym typeface="Century Schoolbook"/>
              </a:rPr>
              <a:t>Adonis Celestine</a:t>
            </a:r>
            <a:endParaRPr/>
          </a:p>
        </p:txBody>
      </p:sp>
      <p:sp>
        <p:nvSpPr>
          <p:cNvPr id="243" name="Google Shape;243;p54"/>
          <p:cNvSpPr txBox="1"/>
          <p:nvPr/>
        </p:nvSpPr>
        <p:spPr>
          <a:xfrm>
            <a:off x="137160" y="3575304"/>
            <a:ext cx="2651760" cy="5486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Author, International Speaker</a:t>
            </a:r>
            <a:endParaRPr/>
          </a:p>
          <a:p>
            <a:pPr marL="0" marR="0" lvl="0" indent="0" algn="ctr"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Global Head of Automation</a:t>
            </a:r>
            <a:endParaRPr/>
          </a:p>
        </p:txBody>
      </p:sp>
      <p:pic>
        <p:nvPicPr>
          <p:cNvPr id="244" name="Google Shape;244;p54" descr="Portrait of Taras Lytvyn"/>
          <p:cNvPicPr preferRelativeResize="0"/>
          <p:nvPr/>
        </p:nvPicPr>
        <p:blipFill rotWithShape="1">
          <a:blip r:embed="rId4">
            <a:alphaModFix/>
          </a:blip>
          <a:srcRect/>
          <a:stretch/>
        </p:blipFill>
        <p:spPr>
          <a:xfrm>
            <a:off x="3268980" y="1188720"/>
            <a:ext cx="1783080" cy="1783080"/>
          </a:xfrm>
          <a:prstGeom prst="ellipse">
            <a:avLst/>
          </a:prstGeom>
          <a:noFill/>
          <a:ln w="38100" cap="flat" cmpd="sng">
            <a:solidFill>
              <a:srgbClr val="0272B4"/>
            </a:solidFill>
            <a:prstDash val="solid"/>
            <a:round/>
            <a:headEnd type="none" w="sm" len="sm"/>
            <a:tailEnd type="none" w="sm" len="sm"/>
          </a:ln>
        </p:spPr>
      </p:pic>
      <p:sp>
        <p:nvSpPr>
          <p:cNvPr id="245" name="Google Shape;245;p54"/>
          <p:cNvSpPr txBox="1"/>
          <p:nvPr/>
        </p:nvSpPr>
        <p:spPr>
          <a:xfrm>
            <a:off x="2834640" y="3154680"/>
            <a:ext cx="2651760" cy="4023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GB" sz="2000" b="1" i="0" u="none" strike="noStrike" cap="none">
                <a:solidFill>
                  <a:srgbClr val="7FC6F3"/>
                </a:solidFill>
                <a:latin typeface="Century Schoolbook"/>
                <a:ea typeface="Century Schoolbook"/>
                <a:cs typeface="Century Schoolbook"/>
                <a:sym typeface="Century Schoolbook"/>
              </a:rPr>
              <a:t>Taras Lytvyn</a:t>
            </a:r>
            <a:endParaRPr/>
          </a:p>
        </p:txBody>
      </p:sp>
      <p:sp>
        <p:nvSpPr>
          <p:cNvPr id="246" name="Google Shape;246;p54"/>
          <p:cNvSpPr txBox="1"/>
          <p:nvPr/>
        </p:nvSpPr>
        <p:spPr>
          <a:xfrm>
            <a:off x="2834640" y="3575304"/>
            <a:ext cx="2651760" cy="5486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AI-first Test Automation Architect</a:t>
            </a:r>
            <a:endParaRPr/>
          </a:p>
          <a:p>
            <a:pPr marL="0" marR="0" lvl="0" indent="0" algn="ctr"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Lead SDET</a:t>
            </a:r>
            <a:endParaRPr/>
          </a:p>
        </p:txBody>
      </p:sp>
      <p:pic>
        <p:nvPicPr>
          <p:cNvPr id="247" name="Google Shape;247;p54" descr="Applause"/>
          <p:cNvPicPr preferRelativeResize="0"/>
          <p:nvPr/>
        </p:nvPicPr>
        <p:blipFill rotWithShape="1">
          <a:blip r:embed="rId5">
            <a:alphaModFix/>
          </a:blip>
          <a:srcRect/>
          <a:stretch/>
        </p:blipFill>
        <p:spPr>
          <a:xfrm>
            <a:off x="6039612" y="566928"/>
            <a:ext cx="2286000" cy="373224"/>
          </a:xfrm>
          <a:prstGeom prst="rect">
            <a:avLst/>
          </a:prstGeom>
          <a:noFill/>
          <a:ln>
            <a:noFill/>
          </a:ln>
        </p:spPr>
      </p:pic>
      <p:sp>
        <p:nvSpPr>
          <p:cNvPr id="248" name="Google Shape;248;p54"/>
          <p:cNvSpPr/>
          <p:nvPr/>
        </p:nvSpPr>
        <p:spPr>
          <a:xfrm>
            <a:off x="5715000" y="1143000"/>
            <a:ext cx="2935224" cy="3246120"/>
          </a:xfrm>
          <a:prstGeom prst="roundRect">
            <a:avLst>
              <a:gd name="adj" fmla="val 6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54"/>
          <p:cNvSpPr txBox="1"/>
          <p:nvPr/>
        </p:nvSpPr>
        <p:spPr>
          <a:xfrm>
            <a:off x="5971032" y="1325880"/>
            <a:ext cx="1188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GB" sz="2600" b="1" i="0" u="none" strike="noStrike" cap="none">
                <a:solidFill>
                  <a:srgbClr val="FFFFFF"/>
                </a:solidFill>
                <a:latin typeface="Calibri"/>
                <a:ea typeface="Calibri"/>
                <a:cs typeface="Calibri"/>
                <a:sym typeface="Calibri"/>
              </a:rPr>
              <a:t>1.5M+</a:t>
            </a:r>
            <a:endParaRPr/>
          </a:p>
        </p:txBody>
      </p:sp>
      <p:sp>
        <p:nvSpPr>
          <p:cNvPr id="250" name="Google Shape;250;p54"/>
          <p:cNvSpPr txBox="1"/>
          <p:nvPr/>
        </p:nvSpPr>
        <p:spPr>
          <a:xfrm>
            <a:off x="7196328" y="1380744"/>
            <a:ext cx="1335024"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QA community</a:t>
            </a:r>
            <a:endParaRPr/>
          </a:p>
        </p:txBody>
      </p:sp>
      <p:sp>
        <p:nvSpPr>
          <p:cNvPr id="251" name="Google Shape;251;p54"/>
          <p:cNvSpPr txBox="1"/>
          <p:nvPr/>
        </p:nvSpPr>
        <p:spPr>
          <a:xfrm>
            <a:off x="5971032" y="1901952"/>
            <a:ext cx="1188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GB" sz="2600" b="1" i="0" u="none" strike="noStrike" cap="none">
                <a:solidFill>
                  <a:srgbClr val="FFFFFF"/>
                </a:solidFill>
                <a:latin typeface="Calibri"/>
                <a:ea typeface="Calibri"/>
                <a:cs typeface="Calibri"/>
                <a:sym typeface="Calibri"/>
              </a:rPr>
              <a:t>200+</a:t>
            </a:r>
            <a:endParaRPr/>
          </a:p>
        </p:txBody>
      </p:sp>
      <p:sp>
        <p:nvSpPr>
          <p:cNvPr id="252" name="Google Shape;252;p54"/>
          <p:cNvSpPr txBox="1"/>
          <p:nvPr/>
        </p:nvSpPr>
        <p:spPr>
          <a:xfrm>
            <a:off x="7196328" y="1956816"/>
            <a:ext cx="1335024"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Countries &amp; territories</a:t>
            </a:r>
            <a:endParaRPr/>
          </a:p>
        </p:txBody>
      </p:sp>
      <p:sp>
        <p:nvSpPr>
          <p:cNvPr id="253" name="Google Shape;253;p54"/>
          <p:cNvSpPr txBox="1"/>
          <p:nvPr/>
        </p:nvSpPr>
        <p:spPr>
          <a:xfrm>
            <a:off x="5971032" y="2478024"/>
            <a:ext cx="1188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GB" sz="2600" b="1" i="0" u="none" strike="noStrike" cap="none">
                <a:solidFill>
                  <a:srgbClr val="FFFFFF"/>
                </a:solidFill>
                <a:latin typeface="Calibri"/>
                <a:ea typeface="Calibri"/>
                <a:cs typeface="Calibri"/>
                <a:sym typeface="Calibri"/>
              </a:rPr>
              <a:t>150+</a:t>
            </a:r>
            <a:endParaRPr/>
          </a:p>
        </p:txBody>
      </p:sp>
      <p:sp>
        <p:nvSpPr>
          <p:cNvPr id="254" name="Google Shape;254;p54"/>
          <p:cNvSpPr txBox="1"/>
          <p:nvPr/>
        </p:nvSpPr>
        <p:spPr>
          <a:xfrm>
            <a:off x="7196328" y="2532888"/>
            <a:ext cx="1335024"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Languages</a:t>
            </a:r>
            <a:endParaRPr/>
          </a:p>
        </p:txBody>
      </p:sp>
      <p:sp>
        <p:nvSpPr>
          <p:cNvPr id="255" name="Google Shape;255;p54"/>
          <p:cNvSpPr txBox="1"/>
          <p:nvPr/>
        </p:nvSpPr>
        <p:spPr>
          <a:xfrm>
            <a:off x="5971032" y="3054096"/>
            <a:ext cx="1188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GB" sz="2600" b="1" i="0" u="none" strike="noStrike" cap="none">
                <a:solidFill>
                  <a:srgbClr val="FFFFFF"/>
                </a:solidFill>
                <a:latin typeface="Calibri"/>
                <a:ea typeface="Calibri"/>
                <a:cs typeface="Calibri"/>
                <a:sym typeface="Calibri"/>
              </a:rPr>
              <a:t>10M+</a:t>
            </a:r>
            <a:endParaRPr/>
          </a:p>
        </p:txBody>
      </p:sp>
      <p:sp>
        <p:nvSpPr>
          <p:cNvPr id="256" name="Google Shape;256;p54"/>
          <p:cNvSpPr txBox="1"/>
          <p:nvPr/>
        </p:nvSpPr>
        <p:spPr>
          <a:xfrm>
            <a:off x="7196328" y="3108960"/>
            <a:ext cx="1335024"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Devices worldwide</a:t>
            </a:r>
            <a:endParaRPr/>
          </a:p>
        </p:txBody>
      </p:sp>
      <p:sp>
        <p:nvSpPr>
          <p:cNvPr id="257" name="Google Shape;257;p54"/>
          <p:cNvSpPr txBox="1"/>
          <p:nvPr/>
        </p:nvSpPr>
        <p:spPr>
          <a:xfrm>
            <a:off x="5971032" y="3630168"/>
            <a:ext cx="1188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GB" sz="2600" b="1" i="0" u="none" strike="noStrike" cap="none">
                <a:solidFill>
                  <a:srgbClr val="FFFFFF"/>
                </a:solidFill>
                <a:latin typeface="Calibri"/>
                <a:ea typeface="Calibri"/>
                <a:cs typeface="Calibri"/>
                <a:sym typeface="Calibri"/>
              </a:rPr>
              <a:t>200K+</a:t>
            </a:r>
            <a:endParaRPr/>
          </a:p>
        </p:txBody>
      </p:sp>
      <p:sp>
        <p:nvSpPr>
          <p:cNvPr id="258" name="Google Shape;258;p54"/>
          <p:cNvSpPr txBox="1"/>
          <p:nvPr/>
        </p:nvSpPr>
        <p:spPr>
          <a:xfrm>
            <a:off x="7196328" y="3685032"/>
            <a:ext cx="1335024"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Bugs found a year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3"/>
        <p:cNvGrpSpPr/>
        <p:nvPr/>
      </p:nvGrpSpPr>
      <p:grpSpPr>
        <a:xfrm>
          <a:off x="0" y="0"/>
          <a:ext cx="0" cy="0"/>
          <a:chOff x="0" y="0"/>
          <a:chExt cx="0" cy="0"/>
        </a:xfrm>
      </p:grpSpPr>
      <p:sp>
        <p:nvSpPr>
          <p:cNvPr id="264" name="Google Shape;264;p55"/>
          <p:cNvSpPr txBox="1"/>
          <p:nvPr/>
        </p:nvSpPr>
        <p:spPr>
          <a:xfrm>
            <a:off x="457200" y="1097280"/>
            <a:ext cx="8229600" cy="21945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4FB0EA"/>
                </a:solidFill>
                <a:latin typeface="Calibri"/>
                <a:ea typeface="Calibri"/>
                <a:cs typeface="Calibri"/>
                <a:sym typeface="Calibri"/>
              </a:rPr>
              <a:t>QUICK QUESTION</a:t>
            </a:r>
            <a:endParaRPr/>
          </a:p>
        </p:txBody>
      </p:sp>
      <p:sp>
        <p:nvSpPr>
          <p:cNvPr id="265" name="Google Shape;265;p55"/>
          <p:cNvSpPr txBox="1"/>
          <p:nvPr/>
        </p:nvSpPr>
        <p:spPr>
          <a:xfrm>
            <a:off x="457200" y="1417320"/>
            <a:ext cx="8229600" cy="8229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en-GB" sz="4000" b="1" i="0" u="none" strike="noStrike" cap="none">
                <a:solidFill>
                  <a:srgbClr val="FFFFFF"/>
                </a:solidFill>
                <a:latin typeface="Century Schoolbook"/>
                <a:ea typeface="Century Schoolbook"/>
                <a:cs typeface="Century Schoolbook"/>
                <a:sym typeface="Century Schoolbook"/>
              </a:rPr>
              <a:t>Who is Claude named after?</a:t>
            </a:r>
            <a:endParaRPr/>
          </a:p>
        </p:txBody>
      </p:sp>
      <p:pic>
        <p:nvPicPr>
          <p:cNvPr id="266" name="Google Shape;266;p55" descr="Clappy the robot holding a magnifying glass"/>
          <p:cNvPicPr preferRelativeResize="0"/>
          <p:nvPr/>
        </p:nvPicPr>
        <p:blipFill rotWithShape="1">
          <a:blip r:embed="rId3">
            <a:alphaModFix/>
          </a:blip>
          <a:srcRect/>
          <a:stretch/>
        </p:blipFill>
        <p:spPr>
          <a:xfrm>
            <a:off x="3909060" y="2468880"/>
            <a:ext cx="1325880" cy="1458468"/>
          </a:xfrm>
          <a:prstGeom prst="rect">
            <a:avLst/>
          </a:prstGeom>
          <a:noFill/>
          <a:ln>
            <a:noFill/>
          </a:ln>
        </p:spPr>
      </p:pic>
      <p:sp>
        <p:nvSpPr>
          <p:cNvPr id="267" name="Google Shape;267;p55"/>
          <p:cNvSpPr txBox="1"/>
          <p:nvPr/>
        </p:nvSpPr>
        <p:spPr>
          <a:xfrm>
            <a:off x="457200" y="4114800"/>
            <a:ext cx="8229600" cy="2743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93A9C0"/>
                </a:solidFill>
                <a:latin typeface="Calibri"/>
                <a:ea typeface="Calibri"/>
                <a:cs typeface="Calibri"/>
                <a:sym typeface="Calibri"/>
              </a:rPr>
              <a:t>Hint: 1948</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72"/>
        <p:cNvGrpSpPr/>
        <p:nvPr/>
      </p:nvGrpSpPr>
      <p:grpSpPr>
        <a:xfrm>
          <a:off x="0" y="0"/>
          <a:ext cx="0" cy="0"/>
          <a:chOff x="0" y="0"/>
          <a:chExt cx="0" cy="0"/>
        </a:xfrm>
      </p:grpSpPr>
      <p:pic>
        <p:nvPicPr>
          <p:cNvPr id="273" name="Google Shape;273;p56" descr="Black-and-white portrait of Claude Shannon"/>
          <p:cNvPicPr preferRelativeResize="0"/>
          <p:nvPr/>
        </p:nvPicPr>
        <p:blipFill rotWithShape="1">
          <a:blip r:embed="rId3">
            <a:alphaModFix/>
          </a:blip>
          <a:srcRect/>
          <a:stretch/>
        </p:blipFill>
        <p:spPr>
          <a:xfrm>
            <a:off x="0" y="0"/>
            <a:ext cx="3906456" cy="5143500"/>
          </a:xfrm>
          <a:prstGeom prst="rect">
            <a:avLst/>
          </a:prstGeom>
          <a:noFill/>
          <a:ln>
            <a:noFill/>
          </a:ln>
        </p:spPr>
      </p:pic>
      <p:sp>
        <p:nvSpPr>
          <p:cNvPr id="274" name="Google Shape;274;p56"/>
          <p:cNvSpPr txBox="1"/>
          <p:nvPr/>
        </p:nvSpPr>
        <p:spPr>
          <a:xfrm>
            <a:off x="4317936" y="411480"/>
            <a:ext cx="4368864"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4FB0EA"/>
                </a:solidFill>
                <a:latin typeface="Calibri"/>
                <a:ea typeface="Calibri"/>
                <a:cs typeface="Calibri"/>
                <a:sym typeface="Calibri"/>
              </a:rPr>
              <a:t>CLAUDE SHANNON  ·  1916–2001</a:t>
            </a:r>
            <a:endParaRPr/>
          </a:p>
        </p:txBody>
      </p:sp>
      <p:sp>
        <p:nvSpPr>
          <p:cNvPr id="275" name="Google Shape;275;p56"/>
          <p:cNvSpPr/>
          <p:nvPr/>
        </p:nvSpPr>
        <p:spPr>
          <a:xfrm>
            <a:off x="4317936" y="795528"/>
            <a:ext cx="274320" cy="274320"/>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FFFFFF"/>
                </a:solidFill>
                <a:latin typeface="Calibri"/>
                <a:ea typeface="Calibri"/>
                <a:cs typeface="Calibri"/>
                <a:sym typeface="Calibri"/>
              </a:rPr>
              <a:t>1</a:t>
            </a:r>
            <a:endParaRPr/>
          </a:p>
        </p:txBody>
      </p:sp>
      <p:sp>
        <p:nvSpPr>
          <p:cNvPr id="276" name="Google Shape;276;p56"/>
          <p:cNvSpPr txBox="1"/>
          <p:nvPr/>
        </p:nvSpPr>
        <p:spPr>
          <a:xfrm>
            <a:off x="4701984" y="749808"/>
            <a:ext cx="3984816"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Calibri"/>
                <a:ea typeface="Calibri"/>
                <a:cs typeface="Calibri"/>
                <a:sym typeface="Calibri"/>
              </a:rPr>
              <a:t>Founded information theory in 1948.</a:t>
            </a:r>
            <a:endParaRPr/>
          </a:p>
        </p:txBody>
      </p:sp>
      <p:sp>
        <p:nvSpPr>
          <p:cNvPr id="277" name="Google Shape;277;p56"/>
          <p:cNvSpPr/>
          <p:nvPr/>
        </p:nvSpPr>
        <p:spPr>
          <a:xfrm>
            <a:off x="4317936" y="1271016"/>
            <a:ext cx="274320" cy="274320"/>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FFFFFF"/>
                </a:solidFill>
                <a:latin typeface="Calibri"/>
                <a:ea typeface="Calibri"/>
                <a:cs typeface="Calibri"/>
                <a:sym typeface="Calibri"/>
              </a:rPr>
              <a:t>2</a:t>
            </a:r>
            <a:endParaRPr/>
          </a:p>
        </p:txBody>
      </p:sp>
      <p:sp>
        <p:nvSpPr>
          <p:cNvPr id="278" name="Google Shape;278;p56"/>
          <p:cNvSpPr txBox="1"/>
          <p:nvPr/>
        </p:nvSpPr>
        <p:spPr>
          <a:xfrm>
            <a:off x="4701984" y="1225296"/>
            <a:ext cx="3984816"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Calibri"/>
                <a:ea typeface="Calibri"/>
                <a:cs typeface="Calibri"/>
                <a:sym typeface="Calibri"/>
              </a:rPr>
              <a:t>Rode a unicycle down the Bell Labs corridors. While juggling.</a:t>
            </a:r>
            <a:endParaRPr/>
          </a:p>
        </p:txBody>
      </p:sp>
      <p:sp>
        <p:nvSpPr>
          <p:cNvPr id="279" name="Google Shape;279;p56"/>
          <p:cNvSpPr/>
          <p:nvPr/>
        </p:nvSpPr>
        <p:spPr>
          <a:xfrm>
            <a:off x="4317936" y="1746504"/>
            <a:ext cx="274320" cy="274320"/>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FFFFFF"/>
                </a:solidFill>
                <a:latin typeface="Calibri"/>
                <a:ea typeface="Calibri"/>
                <a:cs typeface="Calibri"/>
                <a:sym typeface="Calibri"/>
              </a:rPr>
              <a:t>3</a:t>
            </a:r>
            <a:endParaRPr/>
          </a:p>
        </p:txBody>
      </p:sp>
      <p:sp>
        <p:nvSpPr>
          <p:cNvPr id="280" name="Google Shape;280;p56"/>
          <p:cNvSpPr txBox="1"/>
          <p:nvPr/>
        </p:nvSpPr>
        <p:spPr>
          <a:xfrm>
            <a:off x="4701984" y="1700784"/>
            <a:ext cx="3984816"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7FC6F3"/>
                </a:solidFill>
                <a:latin typeface="Calibri"/>
                <a:ea typeface="Calibri"/>
                <a:cs typeface="Calibri"/>
                <a:sym typeface="Calibri"/>
              </a:rPr>
              <a:t>Kept a machine on his desk whose only job was to switch itself off.</a:t>
            </a:r>
            <a:endParaRPr/>
          </a:p>
        </p:txBody>
      </p:sp>
      <p:sp>
        <p:nvSpPr>
          <p:cNvPr id="281" name="Google Shape;281;p56"/>
          <p:cNvSpPr/>
          <p:nvPr/>
        </p:nvSpPr>
        <p:spPr>
          <a:xfrm>
            <a:off x="4317936" y="2240280"/>
            <a:ext cx="4368864" cy="2057400"/>
          </a:xfrm>
          <a:prstGeom prst="roundRect">
            <a:avLst>
              <a:gd name="adj" fmla="val 5000"/>
            </a:avLst>
          </a:prstGeom>
          <a:solidFill>
            <a:srgbClr val="000000"/>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2" name="Google Shape;282;p56" descr="Chalk sketch of the Ultimate Machine: a hand comes out of a box and flips its own switch off."/>
          <p:cNvPicPr preferRelativeResize="0"/>
          <p:nvPr/>
        </p:nvPicPr>
        <p:blipFill rotWithShape="1">
          <a:blip r:embed="rId4">
            <a:alphaModFix/>
          </a:blip>
          <a:srcRect/>
          <a:stretch/>
        </p:blipFill>
        <p:spPr>
          <a:xfrm>
            <a:off x="4427664" y="2719178"/>
            <a:ext cx="1965960" cy="1099605"/>
          </a:xfrm>
          <a:prstGeom prst="rect">
            <a:avLst/>
          </a:prstGeom>
          <a:noFill/>
          <a:ln>
            <a:noFill/>
          </a:ln>
        </p:spPr>
      </p:pic>
      <p:sp>
        <p:nvSpPr>
          <p:cNvPr id="283" name="Google Shape;283;p56"/>
          <p:cNvSpPr txBox="1"/>
          <p:nvPr/>
        </p:nvSpPr>
        <p:spPr>
          <a:xfrm>
            <a:off x="6530784" y="2468880"/>
            <a:ext cx="2018856" cy="868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FFFFFF"/>
                </a:solidFill>
                <a:latin typeface="Calibri"/>
                <a:ea typeface="Calibri"/>
                <a:cs typeface="Calibri"/>
                <a:sym typeface="Calibri"/>
              </a:rPr>
              <a:t>Switch it on.</a:t>
            </a:r>
            <a:endParaRPr/>
          </a:p>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FFFFFF"/>
                </a:solidFill>
                <a:latin typeface="Calibri"/>
                <a:ea typeface="Calibri"/>
                <a:cs typeface="Calibri"/>
                <a:sym typeface="Calibri"/>
              </a:rPr>
              <a:t>It switches itself off.</a:t>
            </a:r>
            <a:endParaRPr/>
          </a:p>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93A9C0"/>
                </a:solidFill>
                <a:latin typeface="Calibri"/>
                <a:ea typeface="Calibri"/>
                <a:cs typeface="Calibri"/>
                <a:sym typeface="Calibri"/>
              </a:rPr>
              <a:t>Every single time.</a:t>
            </a:r>
            <a:endParaRPr/>
          </a:p>
        </p:txBody>
      </p:sp>
      <p:sp>
        <p:nvSpPr>
          <p:cNvPr id="284" name="Google Shape;284;p56"/>
          <p:cNvSpPr txBox="1"/>
          <p:nvPr/>
        </p:nvSpPr>
        <p:spPr>
          <a:xfrm>
            <a:off x="6530784" y="3383280"/>
            <a:ext cx="2018856"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GB" sz="1700" b="1" i="1" u="none" strike="noStrike" cap="none">
                <a:solidFill>
                  <a:srgbClr val="7FC6F3"/>
                </a:solidFill>
                <a:latin typeface="Century Schoolbook"/>
                <a:ea typeface="Century Schoolbook"/>
                <a:cs typeface="Century Schoolbook"/>
                <a:sym typeface="Century Schoolbook"/>
              </a:rPr>
              <a:t>The first 100% reproducible bug.</a:t>
            </a:r>
            <a:endParaRPr/>
          </a:p>
        </p:txBody>
      </p:sp>
      <p:sp>
        <p:nvSpPr>
          <p:cNvPr id="285" name="Google Shape;285;p56"/>
          <p:cNvSpPr txBox="1"/>
          <p:nvPr/>
        </p:nvSpPr>
        <p:spPr>
          <a:xfrm>
            <a:off x="4317936" y="4434840"/>
            <a:ext cx="4368864"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EAF1F7"/>
                </a:solidFill>
                <a:latin typeface="Calibri"/>
                <a:ea typeface="Calibri"/>
                <a:cs typeface="Calibri"/>
                <a:sym typeface="Calibri"/>
              </a:rPr>
              <a:t>Today: getting a clean signal out of a noisy AI.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90"/>
        <p:cNvGrpSpPr/>
        <p:nvPr/>
      </p:nvGrpSpPr>
      <p:grpSpPr>
        <a:xfrm>
          <a:off x="0" y="0"/>
          <a:ext cx="0" cy="0"/>
          <a:chOff x="0" y="0"/>
          <a:chExt cx="0" cy="0"/>
        </a:xfrm>
      </p:grpSpPr>
      <p:sp>
        <p:nvSpPr>
          <p:cNvPr id="291" name="Google Shape;291;p57"/>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Why we chose Claude Code for test automation</a:t>
            </a:r>
            <a:endParaRPr sz="1200" b="0">
              <a:solidFill>
                <a:schemeClr val="dk1"/>
              </a:solidFill>
              <a:latin typeface="Calibri"/>
              <a:ea typeface="Calibri"/>
              <a:cs typeface="Calibri"/>
              <a:sym typeface="Calibri"/>
            </a:endParaRPr>
          </a:p>
          <a:p>
            <a:pPr marL="0" lvl="0" indent="0" algn="l" rtl="0">
              <a:lnSpc>
                <a:spcPct val="100000"/>
              </a:lnSpc>
              <a:spcBef>
                <a:spcPts val="0"/>
              </a:spcBef>
              <a:spcAft>
                <a:spcPts val="0"/>
              </a:spcAft>
              <a:buClr>
                <a:srgbClr val="EAF1F7"/>
              </a:buClr>
              <a:buSzPts val="1900"/>
              <a:buFont typeface="Century Schoolbook"/>
              <a:buNone/>
            </a:pPr>
            <a:endParaRPr/>
          </a:p>
        </p:txBody>
      </p:sp>
      <p:grpSp>
        <p:nvGrpSpPr>
          <p:cNvPr id="292" name="Google Shape;292;p57"/>
          <p:cNvGrpSpPr/>
          <p:nvPr/>
        </p:nvGrpSpPr>
        <p:grpSpPr>
          <a:xfrm>
            <a:off x="400050" y="1234151"/>
            <a:ext cx="8743969" cy="2950500"/>
            <a:chOff x="400050" y="1014413"/>
            <a:chExt cx="8743969" cy="2950500"/>
          </a:xfrm>
        </p:grpSpPr>
        <p:sp>
          <p:nvSpPr>
            <p:cNvPr id="293" name="Google Shape;293;p57"/>
            <p:cNvSpPr/>
            <p:nvPr/>
          </p:nvSpPr>
          <p:spPr>
            <a:xfrm>
              <a:off x="400050" y="1014413"/>
              <a:ext cx="4086300" cy="2950500"/>
            </a:xfrm>
            <a:prstGeom prst="roundRect">
              <a:avLst>
                <a:gd name="adj" fmla="val 3389"/>
              </a:avLst>
            </a:prstGeom>
            <a:solidFill>
              <a:srgbClr val="000000"/>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94" name="Google Shape;294;p57"/>
            <p:cNvSpPr/>
            <p:nvPr/>
          </p:nvSpPr>
          <p:spPr>
            <a:xfrm>
              <a:off x="4657725" y="1014413"/>
              <a:ext cx="4086300" cy="2950500"/>
            </a:xfrm>
            <a:prstGeom prst="roundRect">
              <a:avLst>
                <a:gd name="adj" fmla="val 3389"/>
              </a:avLst>
            </a:prstGeom>
            <a:solidFill>
              <a:srgbClr val="000000"/>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95" name="Google Shape;295;p57"/>
            <p:cNvSpPr/>
            <p:nvPr/>
          </p:nvSpPr>
          <p:spPr>
            <a:xfrm>
              <a:off x="578644" y="2019895"/>
              <a:ext cx="3729000" cy="114300"/>
            </a:xfrm>
            <a:prstGeom prst="roundRect">
              <a:avLst>
                <a:gd name="adj" fmla="val 50000"/>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96" name="Google Shape;296;p57"/>
            <p:cNvSpPr/>
            <p:nvPr/>
          </p:nvSpPr>
          <p:spPr>
            <a:xfrm>
              <a:off x="578644" y="2575322"/>
              <a:ext cx="3729000" cy="114300"/>
            </a:xfrm>
            <a:prstGeom prst="roundRect">
              <a:avLst>
                <a:gd name="adj" fmla="val 50000"/>
              </a:avLst>
            </a:prstGeom>
            <a:solidFill>
              <a:srgbClr val="0A131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97" name="Google Shape;297;p57"/>
            <p:cNvSpPr/>
            <p:nvPr/>
          </p:nvSpPr>
          <p:spPr>
            <a:xfrm>
              <a:off x="578644" y="3130748"/>
              <a:ext cx="3729000" cy="114300"/>
            </a:xfrm>
            <a:prstGeom prst="roundRect">
              <a:avLst>
                <a:gd name="adj" fmla="val 50000"/>
              </a:avLst>
            </a:prstGeom>
            <a:solidFill>
              <a:srgbClr val="0A131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98" name="Google Shape;298;p57"/>
            <p:cNvSpPr/>
            <p:nvPr/>
          </p:nvSpPr>
          <p:spPr>
            <a:xfrm>
              <a:off x="578644" y="3686175"/>
              <a:ext cx="3729000" cy="114300"/>
            </a:xfrm>
            <a:prstGeom prst="roundRect">
              <a:avLst>
                <a:gd name="adj" fmla="val 50000"/>
              </a:avLst>
            </a:prstGeom>
            <a:solidFill>
              <a:srgbClr val="0A131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99" name="Google Shape;299;p57"/>
            <p:cNvSpPr/>
            <p:nvPr/>
          </p:nvSpPr>
          <p:spPr>
            <a:xfrm>
              <a:off x="4836319" y="2019895"/>
              <a:ext cx="3729000" cy="114300"/>
            </a:xfrm>
            <a:prstGeom prst="roundRect">
              <a:avLst>
                <a:gd name="adj" fmla="val 50000"/>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0" name="Google Shape;300;p57"/>
            <p:cNvSpPr/>
            <p:nvPr/>
          </p:nvSpPr>
          <p:spPr>
            <a:xfrm>
              <a:off x="4836319" y="2575322"/>
              <a:ext cx="3729000" cy="114300"/>
            </a:xfrm>
            <a:prstGeom prst="roundRect">
              <a:avLst>
                <a:gd name="adj" fmla="val 50000"/>
              </a:avLst>
            </a:prstGeom>
            <a:solidFill>
              <a:srgbClr val="0A131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1" name="Google Shape;301;p57"/>
            <p:cNvSpPr/>
            <p:nvPr/>
          </p:nvSpPr>
          <p:spPr>
            <a:xfrm>
              <a:off x="4836319" y="3130748"/>
              <a:ext cx="3729000" cy="114300"/>
            </a:xfrm>
            <a:prstGeom prst="roundRect">
              <a:avLst>
                <a:gd name="adj" fmla="val 50000"/>
              </a:avLst>
            </a:prstGeom>
            <a:solidFill>
              <a:srgbClr val="0A131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2" name="Google Shape;302;p57"/>
            <p:cNvSpPr/>
            <p:nvPr/>
          </p:nvSpPr>
          <p:spPr>
            <a:xfrm>
              <a:off x="4836319" y="3686175"/>
              <a:ext cx="3729000" cy="114300"/>
            </a:xfrm>
            <a:prstGeom prst="roundRect">
              <a:avLst>
                <a:gd name="adj" fmla="val 50000"/>
              </a:avLst>
            </a:prstGeom>
            <a:solidFill>
              <a:srgbClr val="0A131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3" name="Google Shape;303;p57"/>
            <p:cNvSpPr/>
            <p:nvPr/>
          </p:nvSpPr>
          <p:spPr>
            <a:xfrm>
              <a:off x="585788" y="2027039"/>
              <a:ext cx="3001500" cy="99900"/>
            </a:xfrm>
            <a:prstGeom prst="roundRect">
              <a:avLst>
                <a:gd name="adj" fmla="val 50000"/>
              </a:avLst>
            </a:prstGeom>
            <a:solidFill>
              <a:srgbClr val="1E90D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4" name="Google Shape;304;p57"/>
            <p:cNvSpPr/>
            <p:nvPr/>
          </p:nvSpPr>
          <p:spPr>
            <a:xfrm>
              <a:off x="578644" y="2575322"/>
              <a:ext cx="2938500" cy="114300"/>
            </a:xfrm>
            <a:prstGeom prst="roundRect">
              <a:avLst>
                <a:gd name="adj" fmla="val 50000"/>
              </a:avLst>
            </a:prstGeom>
            <a:solidFill>
              <a:srgbClr val="4FB0E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5" name="Google Shape;305;p57"/>
            <p:cNvSpPr/>
            <p:nvPr/>
          </p:nvSpPr>
          <p:spPr>
            <a:xfrm>
              <a:off x="578644" y="3130748"/>
              <a:ext cx="2621400" cy="114300"/>
            </a:xfrm>
            <a:prstGeom prst="roundRect">
              <a:avLst>
                <a:gd name="adj" fmla="val 50000"/>
              </a:avLst>
            </a:prstGeom>
            <a:solidFill>
              <a:srgbClr val="93A9C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6" name="Google Shape;306;p57"/>
            <p:cNvSpPr/>
            <p:nvPr/>
          </p:nvSpPr>
          <p:spPr>
            <a:xfrm>
              <a:off x="578644" y="3686175"/>
              <a:ext cx="2256000" cy="114300"/>
            </a:xfrm>
            <a:prstGeom prst="roundRect">
              <a:avLst>
                <a:gd name="adj" fmla="val 50000"/>
              </a:avLst>
            </a:prstGeom>
            <a:solidFill>
              <a:srgbClr val="3A5A7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7" name="Google Shape;307;p57"/>
            <p:cNvSpPr/>
            <p:nvPr/>
          </p:nvSpPr>
          <p:spPr>
            <a:xfrm>
              <a:off x="4843463" y="2027039"/>
              <a:ext cx="3714900" cy="99900"/>
            </a:xfrm>
            <a:prstGeom prst="roundRect">
              <a:avLst>
                <a:gd name="adj" fmla="val 50000"/>
              </a:avLst>
            </a:prstGeom>
            <a:solidFill>
              <a:srgbClr val="1E90D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8" name="Google Shape;308;p57"/>
            <p:cNvSpPr/>
            <p:nvPr/>
          </p:nvSpPr>
          <p:spPr>
            <a:xfrm>
              <a:off x="4836319" y="2575322"/>
              <a:ext cx="3729000" cy="114300"/>
            </a:xfrm>
            <a:prstGeom prst="roundRect">
              <a:avLst>
                <a:gd name="adj" fmla="val 50000"/>
              </a:avLst>
            </a:prstGeom>
            <a:solidFill>
              <a:srgbClr val="4FB0E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9" name="Google Shape;309;p57"/>
            <p:cNvSpPr/>
            <p:nvPr/>
          </p:nvSpPr>
          <p:spPr>
            <a:xfrm>
              <a:off x="4836319" y="3130748"/>
              <a:ext cx="745800" cy="114300"/>
            </a:xfrm>
            <a:prstGeom prst="roundRect">
              <a:avLst>
                <a:gd name="adj" fmla="val 50000"/>
              </a:avLst>
            </a:prstGeom>
            <a:solidFill>
              <a:srgbClr val="93A9C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10" name="Google Shape;310;p57"/>
            <p:cNvSpPr/>
            <p:nvPr/>
          </p:nvSpPr>
          <p:spPr>
            <a:xfrm>
              <a:off x="4836319" y="3686175"/>
              <a:ext cx="477300" cy="114300"/>
            </a:xfrm>
            <a:prstGeom prst="roundRect">
              <a:avLst>
                <a:gd name="adj" fmla="val 50000"/>
              </a:avLst>
            </a:prstGeom>
            <a:solidFill>
              <a:srgbClr val="3A5A7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311" name="Google Shape;311;p57" descr="image.png"/>
            <p:cNvPicPr preferRelativeResize="0"/>
            <p:nvPr/>
          </p:nvPicPr>
          <p:blipFill rotWithShape="1">
            <a:blip r:embed="rId3">
              <a:alphaModFix/>
            </a:blip>
            <a:srcRect/>
            <a:stretch/>
          </p:blipFill>
          <p:spPr>
            <a:xfrm>
              <a:off x="578644" y="1844873"/>
              <a:ext cx="114300" cy="100013"/>
            </a:xfrm>
            <a:prstGeom prst="rect">
              <a:avLst/>
            </a:prstGeom>
            <a:noFill/>
            <a:ln>
              <a:noFill/>
            </a:ln>
          </p:spPr>
        </p:pic>
        <p:pic>
          <p:nvPicPr>
            <p:cNvPr id="312" name="Google Shape;312;p57" descr="image.png"/>
            <p:cNvPicPr preferRelativeResize="0"/>
            <p:nvPr/>
          </p:nvPicPr>
          <p:blipFill rotWithShape="1">
            <a:blip r:embed="rId4">
              <a:alphaModFix/>
            </a:blip>
            <a:srcRect/>
            <a:stretch/>
          </p:blipFill>
          <p:spPr>
            <a:xfrm>
              <a:off x="578644" y="2400300"/>
              <a:ext cx="92869" cy="100013"/>
            </a:xfrm>
            <a:prstGeom prst="rect">
              <a:avLst/>
            </a:prstGeom>
            <a:noFill/>
            <a:ln>
              <a:noFill/>
            </a:ln>
          </p:spPr>
        </p:pic>
        <p:pic>
          <p:nvPicPr>
            <p:cNvPr id="313" name="Google Shape;313;p57" descr="image.png"/>
            <p:cNvPicPr preferRelativeResize="0"/>
            <p:nvPr/>
          </p:nvPicPr>
          <p:blipFill rotWithShape="1">
            <a:blip r:embed="rId5">
              <a:alphaModFix/>
            </a:blip>
            <a:srcRect/>
            <a:stretch/>
          </p:blipFill>
          <p:spPr>
            <a:xfrm>
              <a:off x="578644" y="2955726"/>
              <a:ext cx="128588" cy="100013"/>
            </a:xfrm>
            <a:prstGeom prst="rect">
              <a:avLst/>
            </a:prstGeom>
            <a:noFill/>
            <a:ln>
              <a:noFill/>
            </a:ln>
          </p:spPr>
        </p:pic>
        <p:pic>
          <p:nvPicPr>
            <p:cNvPr id="314" name="Google Shape;314;p57" descr="image.png"/>
            <p:cNvPicPr preferRelativeResize="0"/>
            <p:nvPr/>
          </p:nvPicPr>
          <p:blipFill rotWithShape="1">
            <a:blip r:embed="rId6">
              <a:alphaModFix/>
            </a:blip>
            <a:srcRect/>
            <a:stretch/>
          </p:blipFill>
          <p:spPr>
            <a:xfrm>
              <a:off x="578644" y="3511153"/>
              <a:ext cx="100013" cy="100013"/>
            </a:xfrm>
            <a:prstGeom prst="rect">
              <a:avLst/>
            </a:prstGeom>
            <a:noFill/>
            <a:ln>
              <a:noFill/>
            </a:ln>
          </p:spPr>
        </p:pic>
        <p:pic>
          <p:nvPicPr>
            <p:cNvPr id="315" name="Google Shape;315;p57" descr="image.png"/>
            <p:cNvPicPr preferRelativeResize="0"/>
            <p:nvPr/>
          </p:nvPicPr>
          <p:blipFill rotWithShape="1">
            <a:blip r:embed="rId7">
              <a:alphaModFix/>
            </a:blip>
            <a:srcRect/>
            <a:stretch/>
          </p:blipFill>
          <p:spPr>
            <a:xfrm>
              <a:off x="4836319" y="1844873"/>
              <a:ext cx="100013" cy="100013"/>
            </a:xfrm>
            <a:prstGeom prst="rect">
              <a:avLst/>
            </a:prstGeom>
            <a:noFill/>
            <a:ln>
              <a:noFill/>
            </a:ln>
          </p:spPr>
        </p:pic>
        <p:pic>
          <p:nvPicPr>
            <p:cNvPr id="316" name="Google Shape;316;p57" descr="image.png"/>
            <p:cNvPicPr preferRelativeResize="0"/>
            <p:nvPr/>
          </p:nvPicPr>
          <p:blipFill rotWithShape="1">
            <a:blip r:embed="rId4">
              <a:alphaModFix/>
            </a:blip>
            <a:srcRect/>
            <a:stretch/>
          </p:blipFill>
          <p:spPr>
            <a:xfrm>
              <a:off x="4836319" y="2400300"/>
              <a:ext cx="92869" cy="100013"/>
            </a:xfrm>
            <a:prstGeom prst="rect">
              <a:avLst/>
            </a:prstGeom>
            <a:noFill/>
            <a:ln>
              <a:noFill/>
            </a:ln>
          </p:spPr>
        </p:pic>
        <p:pic>
          <p:nvPicPr>
            <p:cNvPr id="317" name="Google Shape;317;p57" descr="image.png"/>
            <p:cNvPicPr preferRelativeResize="0"/>
            <p:nvPr/>
          </p:nvPicPr>
          <p:blipFill rotWithShape="1">
            <a:blip r:embed="rId5">
              <a:alphaModFix/>
            </a:blip>
            <a:srcRect/>
            <a:stretch/>
          </p:blipFill>
          <p:spPr>
            <a:xfrm>
              <a:off x="4836319" y="2955726"/>
              <a:ext cx="128588" cy="100013"/>
            </a:xfrm>
            <a:prstGeom prst="rect">
              <a:avLst/>
            </a:prstGeom>
            <a:noFill/>
            <a:ln>
              <a:noFill/>
            </a:ln>
          </p:spPr>
        </p:pic>
        <p:pic>
          <p:nvPicPr>
            <p:cNvPr id="318" name="Google Shape;318;p57" descr="image.png"/>
            <p:cNvPicPr preferRelativeResize="0"/>
            <p:nvPr/>
          </p:nvPicPr>
          <p:blipFill rotWithShape="1">
            <a:blip r:embed="rId6">
              <a:alphaModFix/>
            </a:blip>
            <a:srcRect/>
            <a:stretch/>
          </p:blipFill>
          <p:spPr>
            <a:xfrm>
              <a:off x="4836319" y="3511153"/>
              <a:ext cx="100013" cy="100013"/>
            </a:xfrm>
            <a:prstGeom prst="rect">
              <a:avLst/>
            </a:prstGeom>
            <a:noFill/>
            <a:ln>
              <a:noFill/>
            </a:ln>
          </p:spPr>
        </p:pic>
        <p:sp>
          <p:nvSpPr>
            <p:cNvPr id="319" name="Google Shape;319;p57"/>
            <p:cNvSpPr txBox="1"/>
            <p:nvPr/>
          </p:nvSpPr>
          <p:spPr>
            <a:xfrm>
              <a:off x="578644" y="1421606"/>
              <a:ext cx="46614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6F89A6"/>
                  </a:solidFill>
                  <a:latin typeface="Calibri"/>
                  <a:ea typeface="Calibri"/>
                  <a:cs typeface="Calibri"/>
                  <a:sym typeface="Calibri"/>
                </a:rPr>
                <a:t>Real-world GitHub issue resolution without regression</a:t>
              </a:r>
              <a:endParaRPr sz="1100" b="0" i="0" u="none" strike="noStrike" cap="none">
                <a:solidFill>
                  <a:srgbClr val="000000"/>
                </a:solidFill>
                <a:latin typeface="Arial"/>
                <a:ea typeface="Arial"/>
                <a:cs typeface="Arial"/>
                <a:sym typeface="Arial"/>
              </a:endParaRPr>
            </a:p>
          </p:txBody>
        </p:sp>
        <p:sp>
          <p:nvSpPr>
            <p:cNvPr id="320" name="Google Shape;320;p57"/>
            <p:cNvSpPr txBox="1"/>
            <p:nvPr/>
          </p:nvSpPr>
          <p:spPr>
            <a:xfrm>
              <a:off x="4836319" y="1421606"/>
              <a:ext cx="43077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6F89A6"/>
                  </a:solidFill>
                  <a:latin typeface="Calibri"/>
                  <a:ea typeface="Calibri"/>
                  <a:cs typeface="Calibri"/>
                  <a:sym typeface="Calibri"/>
                </a:rPr>
                <a:t>Total repository &amp; test log working memory per session</a:t>
              </a:r>
              <a:endParaRPr sz="1100" b="0" i="0" u="none" strike="noStrike" cap="none">
                <a:solidFill>
                  <a:srgbClr val="000000"/>
                </a:solidFill>
                <a:latin typeface="Arial"/>
                <a:ea typeface="Arial"/>
                <a:cs typeface="Arial"/>
                <a:sym typeface="Arial"/>
              </a:endParaRPr>
            </a:p>
          </p:txBody>
        </p:sp>
        <p:sp>
          <p:nvSpPr>
            <p:cNvPr id="321" name="Google Shape;321;p57"/>
            <p:cNvSpPr txBox="1"/>
            <p:nvPr/>
          </p:nvSpPr>
          <p:spPr>
            <a:xfrm>
              <a:off x="578644" y="1178719"/>
              <a:ext cx="2053500" cy="184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SWE-bench Verified</a:t>
              </a:r>
              <a:endParaRPr sz="1100" b="0" i="0" u="none" strike="noStrike" cap="none">
                <a:solidFill>
                  <a:srgbClr val="000000"/>
                </a:solidFill>
                <a:latin typeface="Arial"/>
                <a:ea typeface="Arial"/>
                <a:cs typeface="Arial"/>
                <a:sym typeface="Arial"/>
              </a:endParaRPr>
            </a:p>
          </p:txBody>
        </p:sp>
        <p:sp>
          <p:nvSpPr>
            <p:cNvPr id="322" name="Google Shape;322;p57"/>
            <p:cNvSpPr txBox="1"/>
            <p:nvPr/>
          </p:nvSpPr>
          <p:spPr>
            <a:xfrm>
              <a:off x="3393281" y="1250156"/>
              <a:ext cx="11430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9FD4F7"/>
                  </a:solidFill>
                  <a:latin typeface="Courier New"/>
                  <a:ea typeface="Courier New"/>
                  <a:cs typeface="Courier New"/>
                  <a:sym typeface="Courier New"/>
                </a:rPr>
                <a:t>ISSUE SOLVE RATE</a:t>
              </a:r>
              <a:endParaRPr sz="1100" b="0" i="0" u="none" strike="noStrike" cap="none">
                <a:solidFill>
                  <a:srgbClr val="000000"/>
                </a:solidFill>
                <a:latin typeface="Arial"/>
                <a:ea typeface="Arial"/>
                <a:cs typeface="Arial"/>
                <a:sym typeface="Arial"/>
              </a:endParaRPr>
            </a:p>
          </p:txBody>
        </p:sp>
        <p:sp>
          <p:nvSpPr>
            <p:cNvPr id="323" name="Google Shape;323;p57"/>
            <p:cNvSpPr txBox="1"/>
            <p:nvPr/>
          </p:nvSpPr>
          <p:spPr>
            <a:xfrm>
              <a:off x="3914775" y="1812726"/>
              <a:ext cx="6072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ourier New"/>
                  <a:ea typeface="Courier New"/>
                  <a:cs typeface="Courier New"/>
                  <a:sym typeface="Courier New"/>
                </a:rPr>
                <a:t>80.8%</a:t>
              </a:r>
              <a:endParaRPr sz="1100" b="0" i="0" u="none" strike="noStrike" cap="none">
                <a:solidFill>
                  <a:srgbClr val="000000"/>
                </a:solidFill>
                <a:latin typeface="Arial"/>
                <a:ea typeface="Arial"/>
                <a:cs typeface="Arial"/>
                <a:sym typeface="Arial"/>
              </a:endParaRPr>
            </a:p>
          </p:txBody>
        </p:sp>
        <p:sp>
          <p:nvSpPr>
            <p:cNvPr id="324" name="Google Shape;324;p57"/>
            <p:cNvSpPr txBox="1"/>
            <p:nvPr/>
          </p:nvSpPr>
          <p:spPr>
            <a:xfrm>
              <a:off x="3914775" y="2368153"/>
              <a:ext cx="6072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E2E8F0"/>
                  </a:solidFill>
                  <a:latin typeface="Courier New"/>
                  <a:ea typeface="Courier New"/>
                  <a:cs typeface="Courier New"/>
                  <a:sym typeface="Courier New"/>
                </a:rPr>
                <a:t>78.8%</a:t>
              </a:r>
              <a:endParaRPr sz="1100" b="0" i="0" u="none" strike="noStrike" cap="none">
                <a:solidFill>
                  <a:srgbClr val="000000"/>
                </a:solidFill>
                <a:latin typeface="Arial"/>
                <a:ea typeface="Arial"/>
                <a:cs typeface="Arial"/>
                <a:sym typeface="Arial"/>
              </a:endParaRPr>
            </a:p>
          </p:txBody>
        </p:sp>
        <p:sp>
          <p:nvSpPr>
            <p:cNvPr id="325" name="Google Shape;325;p57"/>
            <p:cNvSpPr txBox="1"/>
            <p:nvPr/>
          </p:nvSpPr>
          <p:spPr>
            <a:xfrm>
              <a:off x="3914775" y="2923580"/>
              <a:ext cx="6072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C9D6E4"/>
                  </a:solidFill>
                  <a:latin typeface="Courier New"/>
                  <a:ea typeface="Courier New"/>
                  <a:cs typeface="Courier New"/>
                  <a:sym typeface="Courier New"/>
                </a:rPr>
                <a:t>70.3%</a:t>
              </a:r>
              <a:endParaRPr sz="1100" b="0" i="0" u="none" strike="noStrike" cap="none">
                <a:solidFill>
                  <a:srgbClr val="000000"/>
                </a:solidFill>
                <a:latin typeface="Arial"/>
                <a:ea typeface="Arial"/>
                <a:cs typeface="Arial"/>
                <a:sym typeface="Arial"/>
              </a:endParaRPr>
            </a:p>
          </p:txBody>
        </p:sp>
        <p:sp>
          <p:nvSpPr>
            <p:cNvPr id="326" name="Google Shape;326;p57"/>
            <p:cNvSpPr txBox="1"/>
            <p:nvPr/>
          </p:nvSpPr>
          <p:spPr>
            <a:xfrm>
              <a:off x="3914775" y="3479006"/>
              <a:ext cx="6072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93A9C0"/>
                  </a:solidFill>
                  <a:latin typeface="Courier New"/>
                  <a:ea typeface="Courier New"/>
                  <a:cs typeface="Courier New"/>
                  <a:sym typeface="Courier New"/>
                </a:rPr>
                <a:t>60.5%</a:t>
              </a:r>
              <a:endParaRPr sz="1100" b="0" i="0" u="none" strike="noStrike" cap="none">
                <a:solidFill>
                  <a:srgbClr val="000000"/>
                </a:solidFill>
                <a:latin typeface="Arial"/>
                <a:ea typeface="Arial"/>
                <a:cs typeface="Arial"/>
                <a:sym typeface="Arial"/>
              </a:endParaRPr>
            </a:p>
          </p:txBody>
        </p:sp>
        <p:sp>
          <p:nvSpPr>
            <p:cNvPr id="327" name="Google Shape;327;p57"/>
            <p:cNvSpPr txBox="1"/>
            <p:nvPr/>
          </p:nvSpPr>
          <p:spPr>
            <a:xfrm>
              <a:off x="4836319" y="1178719"/>
              <a:ext cx="1631400" cy="184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Context Horizon</a:t>
              </a:r>
              <a:endParaRPr sz="1100" b="0" i="0" u="none" strike="noStrike" cap="none">
                <a:solidFill>
                  <a:srgbClr val="000000"/>
                </a:solidFill>
                <a:latin typeface="Arial"/>
                <a:ea typeface="Arial"/>
                <a:cs typeface="Arial"/>
                <a:sym typeface="Arial"/>
              </a:endParaRPr>
            </a:p>
          </p:txBody>
        </p:sp>
        <p:sp>
          <p:nvSpPr>
            <p:cNvPr id="328" name="Google Shape;328;p57"/>
            <p:cNvSpPr txBox="1"/>
            <p:nvPr/>
          </p:nvSpPr>
          <p:spPr>
            <a:xfrm>
              <a:off x="7765256" y="1250156"/>
              <a:ext cx="1014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9FD4F7"/>
                  </a:solidFill>
                  <a:latin typeface="Courier New"/>
                  <a:ea typeface="Courier New"/>
                  <a:cs typeface="Courier New"/>
                  <a:sym typeface="Courier New"/>
                </a:rPr>
                <a:t>TOKEN CAPACITY</a:t>
              </a:r>
              <a:endParaRPr sz="1100" b="0" i="0" u="none" strike="noStrike" cap="none">
                <a:solidFill>
                  <a:srgbClr val="000000"/>
                </a:solidFill>
                <a:latin typeface="Arial"/>
                <a:ea typeface="Arial"/>
                <a:cs typeface="Arial"/>
                <a:sym typeface="Arial"/>
              </a:endParaRPr>
            </a:p>
          </p:txBody>
        </p:sp>
        <p:sp>
          <p:nvSpPr>
            <p:cNvPr id="329" name="Google Shape;329;p57"/>
            <p:cNvSpPr txBox="1"/>
            <p:nvPr/>
          </p:nvSpPr>
          <p:spPr>
            <a:xfrm>
              <a:off x="7858125" y="1812726"/>
              <a:ext cx="9216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ourier New"/>
                  <a:ea typeface="Courier New"/>
                  <a:cs typeface="Courier New"/>
                  <a:sym typeface="Courier New"/>
                </a:rPr>
                <a:t>1,000,000</a:t>
              </a:r>
              <a:endParaRPr sz="1100" b="0" i="0" u="none" strike="noStrike" cap="none">
                <a:solidFill>
                  <a:srgbClr val="000000"/>
                </a:solidFill>
                <a:latin typeface="Arial"/>
                <a:ea typeface="Arial"/>
                <a:cs typeface="Arial"/>
                <a:sym typeface="Arial"/>
              </a:endParaRPr>
            </a:p>
          </p:txBody>
        </p:sp>
        <p:sp>
          <p:nvSpPr>
            <p:cNvPr id="330" name="Google Shape;330;p57"/>
            <p:cNvSpPr txBox="1"/>
            <p:nvPr/>
          </p:nvSpPr>
          <p:spPr>
            <a:xfrm>
              <a:off x="7858125" y="2368153"/>
              <a:ext cx="9216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E2E8F0"/>
                  </a:solidFill>
                  <a:latin typeface="Courier New"/>
                  <a:ea typeface="Courier New"/>
                  <a:cs typeface="Courier New"/>
                  <a:sym typeface="Courier New"/>
                </a:rPr>
                <a:t>1,000,000</a:t>
              </a:r>
              <a:endParaRPr sz="1100" b="0" i="0" u="none" strike="noStrike" cap="none">
                <a:solidFill>
                  <a:srgbClr val="000000"/>
                </a:solidFill>
                <a:latin typeface="Arial"/>
                <a:ea typeface="Arial"/>
                <a:cs typeface="Arial"/>
                <a:sym typeface="Arial"/>
              </a:endParaRPr>
            </a:p>
          </p:txBody>
        </p:sp>
        <p:sp>
          <p:nvSpPr>
            <p:cNvPr id="331" name="Google Shape;331;p57"/>
            <p:cNvSpPr txBox="1"/>
            <p:nvPr/>
          </p:nvSpPr>
          <p:spPr>
            <a:xfrm>
              <a:off x="8015288" y="2923580"/>
              <a:ext cx="764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C9D6E4"/>
                  </a:solidFill>
                  <a:latin typeface="Courier New"/>
                  <a:ea typeface="Courier New"/>
                  <a:cs typeface="Courier New"/>
                  <a:sym typeface="Courier New"/>
                </a:rPr>
                <a:t>200,000</a:t>
              </a:r>
              <a:endParaRPr sz="1100" b="0" i="0" u="none" strike="noStrike" cap="none">
                <a:solidFill>
                  <a:srgbClr val="000000"/>
                </a:solidFill>
                <a:latin typeface="Arial"/>
                <a:ea typeface="Arial"/>
                <a:cs typeface="Arial"/>
                <a:sym typeface="Arial"/>
              </a:endParaRPr>
            </a:p>
          </p:txBody>
        </p:sp>
        <p:sp>
          <p:nvSpPr>
            <p:cNvPr id="332" name="Google Shape;332;p57"/>
            <p:cNvSpPr txBox="1"/>
            <p:nvPr/>
          </p:nvSpPr>
          <p:spPr>
            <a:xfrm>
              <a:off x="8015288" y="3479006"/>
              <a:ext cx="764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93A9C0"/>
                  </a:solidFill>
                  <a:latin typeface="Courier New"/>
                  <a:ea typeface="Courier New"/>
                  <a:cs typeface="Courier New"/>
                  <a:sym typeface="Courier New"/>
                </a:rPr>
                <a:t>128,000</a:t>
              </a:r>
              <a:endParaRPr sz="1100" b="0" i="0" u="none" strike="noStrike" cap="none">
                <a:solidFill>
                  <a:srgbClr val="000000"/>
                </a:solidFill>
                <a:latin typeface="Arial"/>
                <a:ea typeface="Arial"/>
                <a:cs typeface="Arial"/>
                <a:sym typeface="Arial"/>
              </a:endParaRPr>
            </a:p>
          </p:txBody>
        </p:sp>
        <p:sp>
          <p:nvSpPr>
            <p:cNvPr id="333" name="Google Shape;333;p57"/>
            <p:cNvSpPr txBox="1"/>
            <p:nvPr/>
          </p:nvSpPr>
          <p:spPr>
            <a:xfrm>
              <a:off x="750094" y="1819870"/>
              <a:ext cx="9357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Claude Code</a:t>
              </a:r>
              <a:endParaRPr sz="1100" b="0" i="0" u="none" strike="noStrike" cap="none">
                <a:solidFill>
                  <a:srgbClr val="000000"/>
                </a:solidFill>
                <a:latin typeface="Arial"/>
                <a:ea typeface="Arial"/>
                <a:cs typeface="Arial"/>
                <a:sym typeface="Arial"/>
              </a:endParaRPr>
            </a:p>
          </p:txBody>
        </p:sp>
        <p:sp>
          <p:nvSpPr>
            <p:cNvPr id="334" name="Google Shape;334;p57"/>
            <p:cNvSpPr txBox="1"/>
            <p:nvPr/>
          </p:nvSpPr>
          <p:spPr>
            <a:xfrm>
              <a:off x="728663" y="2375297"/>
              <a:ext cx="16074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E2E8F0"/>
                  </a:solidFill>
                  <a:latin typeface="Calibri"/>
                  <a:ea typeface="Calibri"/>
                  <a:cs typeface="Calibri"/>
                  <a:sym typeface="Calibri"/>
                </a:rPr>
                <a:t>Gemini CLI / Antigravity</a:t>
              </a:r>
              <a:endParaRPr sz="1100" b="0" i="0" u="none" strike="noStrike" cap="none">
                <a:solidFill>
                  <a:srgbClr val="000000"/>
                </a:solidFill>
                <a:latin typeface="Arial"/>
                <a:ea typeface="Arial"/>
                <a:cs typeface="Arial"/>
                <a:sym typeface="Arial"/>
              </a:endParaRPr>
            </a:p>
          </p:txBody>
        </p:sp>
        <p:sp>
          <p:nvSpPr>
            <p:cNvPr id="335" name="Google Shape;335;p57"/>
            <p:cNvSpPr txBox="1"/>
            <p:nvPr/>
          </p:nvSpPr>
          <p:spPr>
            <a:xfrm>
              <a:off x="764381" y="2930723"/>
              <a:ext cx="10287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C9D6E4"/>
                  </a:solidFill>
                  <a:latin typeface="Calibri"/>
                  <a:ea typeface="Calibri"/>
                  <a:cs typeface="Calibri"/>
                  <a:sym typeface="Calibri"/>
                </a:rPr>
                <a:t>OpenAI Codex</a:t>
              </a:r>
              <a:endParaRPr sz="1100" b="0" i="0" u="none" strike="noStrike" cap="none">
                <a:solidFill>
                  <a:srgbClr val="000000"/>
                </a:solidFill>
                <a:latin typeface="Arial"/>
                <a:ea typeface="Arial"/>
                <a:cs typeface="Arial"/>
                <a:sym typeface="Arial"/>
              </a:endParaRPr>
            </a:p>
          </p:txBody>
        </p:sp>
        <p:sp>
          <p:nvSpPr>
            <p:cNvPr id="336" name="Google Shape;336;p57"/>
            <p:cNvSpPr txBox="1"/>
            <p:nvPr/>
          </p:nvSpPr>
          <p:spPr>
            <a:xfrm>
              <a:off x="735806" y="3486150"/>
              <a:ext cx="10359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93A9C0"/>
                  </a:solidFill>
                  <a:latin typeface="Calibri"/>
                  <a:ea typeface="Calibri"/>
                  <a:cs typeface="Calibri"/>
                  <a:sym typeface="Calibri"/>
                </a:rPr>
                <a:t>GitHub Copilot</a:t>
              </a:r>
              <a:endParaRPr sz="1100" b="0" i="0" u="none" strike="noStrike" cap="none">
                <a:solidFill>
                  <a:srgbClr val="000000"/>
                </a:solidFill>
                <a:latin typeface="Arial"/>
                <a:ea typeface="Arial"/>
                <a:cs typeface="Arial"/>
                <a:sym typeface="Arial"/>
              </a:endParaRPr>
            </a:p>
          </p:txBody>
        </p:sp>
        <p:sp>
          <p:nvSpPr>
            <p:cNvPr id="337" name="Google Shape;337;p57"/>
            <p:cNvSpPr txBox="1"/>
            <p:nvPr/>
          </p:nvSpPr>
          <p:spPr>
            <a:xfrm>
              <a:off x="4993481" y="1819870"/>
              <a:ext cx="9357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Claude Code</a:t>
              </a:r>
              <a:endParaRPr sz="1100" b="0" i="0" u="none" strike="noStrike" cap="none">
                <a:solidFill>
                  <a:srgbClr val="000000"/>
                </a:solidFill>
                <a:latin typeface="Arial"/>
                <a:ea typeface="Arial"/>
                <a:cs typeface="Arial"/>
                <a:sym typeface="Arial"/>
              </a:endParaRPr>
            </a:p>
          </p:txBody>
        </p:sp>
        <p:sp>
          <p:nvSpPr>
            <p:cNvPr id="338" name="Google Shape;338;p57"/>
            <p:cNvSpPr txBox="1"/>
            <p:nvPr/>
          </p:nvSpPr>
          <p:spPr>
            <a:xfrm>
              <a:off x="4986338" y="2375297"/>
              <a:ext cx="16074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E2E8F0"/>
                  </a:solidFill>
                  <a:latin typeface="Calibri"/>
                  <a:ea typeface="Calibri"/>
                  <a:cs typeface="Calibri"/>
                  <a:sym typeface="Calibri"/>
                </a:rPr>
                <a:t>Gemini CLI / Antigravity</a:t>
              </a:r>
              <a:endParaRPr sz="1100" b="0" i="0" u="none" strike="noStrike" cap="none">
                <a:solidFill>
                  <a:srgbClr val="000000"/>
                </a:solidFill>
                <a:latin typeface="Arial"/>
                <a:ea typeface="Arial"/>
                <a:cs typeface="Arial"/>
                <a:sym typeface="Arial"/>
              </a:endParaRPr>
            </a:p>
          </p:txBody>
        </p:sp>
        <p:sp>
          <p:nvSpPr>
            <p:cNvPr id="339" name="Google Shape;339;p57"/>
            <p:cNvSpPr txBox="1"/>
            <p:nvPr/>
          </p:nvSpPr>
          <p:spPr>
            <a:xfrm>
              <a:off x="5022056" y="2930723"/>
              <a:ext cx="10287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C9D6E4"/>
                  </a:solidFill>
                  <a:latin typeface="Calibri"/>
                  <a:ea typeface="Calibri"/>
                  <a:cs typeface="Calibri"/>
                  <a:sym typeface="Calibri"/>
                </a:rPr>
                <a:t>OpenAI Codex</a:t>
              </a:r>
              <a:endParaRPr sz="1100" b="0" i="0" u="none" strike="noStrike" cap="none">
                <a:solidFill>
                  <a:srgbClr val="000000"/>
                </a:solidFill>
                <a:latin typeface="Arial"/>
                <a:ea typeface="Arial"/>
                <a:cs typeface="Arial"/>
                <a:sym typeface="Arial"/>
              </a:endParaRPr>
            </a:p>
          </p:txBody>
        </p:sp>
        <p:sp>
          <p:nvSpPr>
            <p:cNvPr id="340" name="Google Shape;340;p57"/>
            <p:cNvSpPr txBox="1"/>
            <p:nvPr/>
          </p:nvSpPr>
          <p:spPr>
            <a:xfrm>
              <a:off x="4993481" y="3486150"/>
              <a:ext cx="10359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93A9C0"/>
                  </a:solidFill>
                  <a:latin typeface="Calibri"/>
                  <a:ea typeface="Calibri"/>
                  <a:cs typeface="Calibri"/>
                  <a:sym typeface="Calibri"/>
                </a:rPr>
                <a:t>GitHub Copilot</a:t>
              </a:r>
              <a:endParaRPr sz="1100" b="0" i="0" u="none" strike="noStrike" cap="non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45"/>
        <p:cNvGrpSpPr/>
        <p:nvPr/>
      </p:nvGrpSpPr>
      <p:grpSpPr>
        <a:xfrm>
          <a:off x="0" y="0"/>
          <a:ext cx="0" cy="0"/>
          <a:chOff x="0" y="0"/>
          <a:chExt cx="0" cy="0"/>
        </a:xfrm>
      </p:grpSpPr>
      <p:sp>
        <p:nvSpPr>
          <p:cNvPr id="346" name="Google Shape;346;p58"/>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Three commands. Your own cloud.</a:t>
            </a:r>
            <a:endParaRPr/>
          </a:p>
        </p:txBody>
      </p:sp>
      <p:sp>
        <p:nvSpPr>
          <p:cNvPr id="347" name="Google Shape;347;p58"/>
          <p:cNvSpPr txBox="1"/>
          <p:nvPr/>
        </p:nvSpPr>
        <p:spPr>
          <a:xfrm>
            <a:off x="493776" y="1024128"/>
            <a:ext cx="416052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4FB0EA"/>
                </a:solidFill>
                <a:latin typeface="Calibri"/>
                <a:ea typeface="Calibri"/>
                <a:cs typeface="Calibri"/>
                <a:sym typeface="Calibri"/>
              </a:rPr>
              <a:t>1</a:t>
            </a:r>
            <a:r>
              <a:rPr lang="en-GB" sz="1050" b="1" i="0" u="none" strike="noStrike" cap="none">
                <a:solidFill>
                  <a:srgbClr val="4FB0EA"/>
                </a:solidFill>
                <a:latin typeface="Calibri"/>
                <a:ea typeface="Calibri"/>
                <a:cs typeface="Calibri"/>
                <a:sym typeface="Calibri"/>
              </a:rPr>
              <a:t>   INSTALL, IN YOUR TEST REPO</a:t>
            </a:r>
            <a:endParaRPr/>
          </a:p>
        </p:txBody>
      </p:sp>
      <p:sp>
        <p:nvSpPr>
          <p:cNvPr id="348" name="Google Shape;348;p58"/>
          <p:cNvSpPr/>
          <p:nvPr/>
        </p:nvSpPr>
        <p:spPr>
          <a:xfrm>
            <a:off x="493776" y="1335024"/>
            <a:ext cx="4160520" cy="2615184"/>
          </a:xfrm>
          <a:prstGeom prst="roundRect">
            <a:avLst>
              <a:gd name="adj" fmla="val 5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8"/>
          <p:cNvSpPr/>
          <p:nvPr/>
        </p:nvSpPr>
        <p:spPr>
          <a:xfrm>
            <a:off x="676656" y="1490472"/>
            <a:ext cx="91440" cy="91440"/>
          </a:xfrm>
          <a:prstGeom prst="ellipse">
            <a:avLst/>
          </a:prstGeom>
          <a:solidFill>
            <a:srgbClr val="FF5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8"/>
          <p:cNvSpPr/>
          <p:nvPr/>
        </p:nvSpPr>
        <p:spPr>
          <a:xfrm>
            <a:off x="832104" y="1490472"/>
            <a:ext cx="91440" cy="91440"/>
          </a:xfrm>
          <a:prstGeom prst="ellipse">
            <a:avLst/>
          </a:prstGeom>
          <a:solidFill>
            <a:srgbClr val="FEB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8"/>
          <p:cNvSpPr/>
          <p:nvPr/>
        </p:nvSpPr>
        <p:spPr>
          <a:xfrm>
            <a:off x="987552" y="1490472"/>
            <a:ext cx="91440" cy="91440"/>
          </a:xfrm>
          <a:prstGeom prst="ellipse">
            <a:avLst/>
          </a:prstGeom>
          <a:solidFill>
            <a:srgbClr val="28C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8"/>
          <p:cNvSpPr txBox="1"/>
          <p:nvPr/>
        </p:nvSpPr>
        <p:spPr>
          <a:xfrm>
            <a:off x="1225296" y="1426464"/>
            <a:ext cx="2697480" cy="21945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GB" sz="950" b="0" i="0" u="none" strike="noStrike" cap="none">
                <a:solidFill>
                  <a:srgbClr val="93A9C0"/>
                </a:solidFill>
                <a:latin typeface="Courier New"/>
                <a:ea typeface="Courier New"/>
                <a:cs typeface="Courier New"/>
                <a:sym typeface="Courier New"/>
              </a:rPr>
              <a:t>your-test-repo</a:t>
            </a:r>
            <a:endParaRPr/>
          </a:p>
        </p:txBody>
      </p:sp>
      <p:sp>
        <p:nvSpPr>
          <p:cNvPr id="353" name="Google Shape;353;p58"/>
          <p:cNvSpPr/>
          <p:nvPr/>
        </p:nvSpPr>
        <p:spPr>
          <a:xfrm>
            <a:off x="493776" y="1737360"/>
            <a:ext cx="4160520" cy="9144"/>
          </a:xfrm>
          <a:prstGeom prst="rect">
            <a:avLst/>
          </a:prstGeom>
          <a:solidFill>
            <a:srgbClr val="1E3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8"/>
          <p:cNvSpPr txBox="1"/>
          <p:nvPr/>
        </p:nvSpPr>
        <p:spPr>
          <a:xfrm>
            <a:off x="694944" y="1901952"/>
            <a:ext cx="3831336" cy="19293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ourier New"/>
                <a:ea typeface="Courier New"/>
                <a:cs typeface="Courier New"/>
                <a:sym typeface="Courier New"/>
              </a:rPr>
              <a:t># install (macOS, Linux)</a:t>
            </a:r>
            <a:endParaRPr/>
          </a:p>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ourier New"/>
                <a:ea typeface="Courier New"/>
                <a:cs typeface="Courier New"/>
                <a:sym typeface="Courier New"/>
              </a:rPr>
              <a:t>$ </a:t>
            </a:r>
            <a:r>
              <a:rPr lang="en-GB" sz="980" b="1" i="0" u="none" strike="noStrike" cap="none">
                <a:solidFill>
                  <a:srgbClr val="FFFFFF"/>
                </a:solidFill>
                <a:latin typeface="Courier New"/>
                <a:ea typeface="Courier New"/>
                <a:cs typeface="Courier New"/>
                <a:sym typeface="Courier New"/>
              </a:rPr>
              <a:t>curl -fsSL https://claude.ai/install.sh | bash</a:t>
            </a:r>
            <a:endParaRPr/>
          </a:p>
          <a:p>
            <a:pPr marL="0" marR="0" lvl="0" indent="0" algn="l" rtl="0">
              <a:lnSpc>
                <a:spcPct val="100000"/>
              </a:lnSpc>
              <a:spcBef>
                <a:spcPts val="2100"/>
              </a:spcBef>
              <a:spcAft>
                <a:spcPts val="0"/>
              </a:spcAft>
              <a:buClr>
                <a:srgbClr val="000000"/>
              </a:buClr>
              <a:buSzPts val="1050"/>
              <a:buFont typeface="Arial"/>
              <a:buNone/>
            </a:pPr>
            <a:r>
              <a:rPr lang="en-GB" sz="1050" b="0" i="0" u="none" strike="noStrike" cap="none">
                <a:solidFill>
                  <a:srgbClr val="93A9C0"/>
                </a:solidFill>
                <a:latin typeface="Courier New"/>
                <a:ea typeface="Courier New"/>
                <a:cs typeface="Courier New"/>
                <a:sym typeface="Courier New"/>
              </a:rPr>
              <a:t># start a session</a:t>
            </a:r>
            <a:endParaRPr/>
          </a:p>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ourier New"/>
                <a:ea typeface="Courier New"/>
                <a:cs typeface="Courier New"/>
                <a:sym typeface="Courier New"/>
              </a:rPr>
              <a:t>$ </a:t>
            </a:r>
            <a:r>
              <a:rPr lang="en-GB" sz="1600" b="1" i="0" u="none" strike="noStrike" cap="none">
                <a:solidFill>
                  <a:srgbClr val="FFFFFF"/>
                </a:solidFill>
                <a:latin typeface="Courier New"/>
                <a:ea typeface="Courier New"/>
                <a:cs typeface="Courier New"/>
                <a:sym typeface="Courier New"/>
              </a:rPr>
              <a:t>claude</a:t>
            </a:r>
            <a:endParaRPr/>
          </a:p>
          <a:p>
            <a:pPr marL="0" marR="0" lvl="0" indent="0" algn="l" rtl="0">
              <a:lnSpc>
                <a:spcPct val="100000"/>
              </a:lnSpc>
              <a:spcBef>
                <a:spcPts val="2100"/>
              </a:spcBef>
              <a:spcAft>
                <a:spcPts val="0"/>
              </a:spcAft>
              <a:buClr>
                <a:srgbClr val="000000"/>
              </a:buClr>
              <a:buSzPts val="1050"/>
              <a:buFont typeface="Arial"/>
              <a:buNone/>
            </a:pPr>
            <a:r>
              <a:rPr lang="en-GB" sz="1050" b="0" i="0" u="none" strike="noStrike" cap="none">
                <a:solidFill>
                  <a:srgbClr val="93A9C0"/>
                </a:solidFill>
                <a:latin typeface="Courier New"/>
                <a:ea typeface="Courier New"/>
                <a:cs typeface="Courier New"/>
                <a:sym typeface="Courier New"/>
              </a:rPr>
              <a:t># writes a first CLAUDE.md</a:t>
            </a:r>
            <a:endParaRPr/>
          </a:p>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ourier New"/>
                <a:ea typeface="Courier New"/>
                <a:cs typeface="Courier New"/>
                <a:sym typeface="Courier New"/>
              </a:rPr>
              <a:t>&gt; </a:t>
            </a:r>
            <a:r>
              <a:rPr lang="en-GB" sz="1600" b="1" i="0" u="none" strike="noStrike" cap="none">
                <a:solidFill>
                  <a:srgbClr val="FFFFFF"/>
                </a:solidFill>
                <a:latin typeface="Courier New"/>
                <a:ea typeface="Courier New"/>
                <a:cs typeface="Courier New"/>
                <a:sym typeface="Courier New"/>
              </a:rPr>
              <a:t>/init</a:t>
            </a:r>
            <a:endParaRPr/>
          </a:p>
        </p:txBody>
      </p:sp>
      <p:sp>
        <p:nvSpPr>
          <p:cNvPr id="355" name="Google Shape;355;p58"/>
          <p:cNvSpPr txBox="1"/>
          <p:nvPr/>
        </p:nvSpPr>
        <p:spPr>
          <a:xfrm>
            <a:off x="4892040" y="1024128"/>
            <a:ext cx="375818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4FB0EA"/>
                </a:solidFill>
                <a:latin typeface="Calibri"/>
                <a:ea typeface="Calibri"/>
                <a:cs typeface="Calibri"/>
                <a:sym typeface="Calibri"/>
              </a:rPr>
              <a:t>2</a:t>
            </a:r>
            <a:r>
              <a:rPr lang="en-GB" sz="1050" b="1" i="0" u="none" strike="noStrike" cap="none">
                <a:solidFill>
                  <a:srgbClr val="4FB0EA"/>
                </a:solidFill>
                <a:latin typeface="Calibri"/>
                <a:ea typeface="Calibri"/>
                <a:cs typeface="Calibri"/>
                <a:sym typeface="Calibri"/>
              </a:rPr>
              <a:t>   WHY COMPANIES RUN IT ON THEIR OWN CLOUD</a:t>
            </a:r>
            <a:endParaRPr/>
          </a:p>
        </p:txBody>
      </p:sp>
      <p:sp>
        <p:nvSpPr>
          <p:cNvPr id="356" name="Google Shape;356;p58"/>
          <p:cNvSpPr/>
          <p:nvPr/>
        </p:nvSpPr>
        <p:spPr>
          <a:xfrm>
            <a:off x="4892040" y="1335024"/>
            <a:ext cx="1805940" cy="1234440"/>
          </a:xfrm>
          <a:prstGeom prst="roundRect">
            <a:avLst>
              <a:gd name="adj" fmla="val 7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8"/>
          <p:cNvSpPr/>
          <p:nvPr/>
        </p:nvSpPr>
        <p:spPr>
          <a:xfrm>
            <a:off x="5056632" y="1517904"/>
            <a:ext cx="347472" cy="347472"/>
          </a:xfrm>
          <a:prstGeom prst="ellipse">
            <a:avLst/>
          </a:prstGeom>
          <a:solidFill>
            <a:srgbClr val="0272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8" name="Google Shape;358;p58" descr="Company login icon"/>
          <p:cNvPicPr preferRelativeResize="0"/>
          <p:nvPr/>
        </p:nvPicPr>
        <p:blipFill rotWithShape="1">
          <a:blip r:embed="rId3">
            <a:alphaModFix/>
          </a:blip>
          <a:srcRect/>
          <a:stretch/>
        </p:blipFill>
        <p:spPr>
          <a:xfrm>
            <a:off x="5138928" y="1600200"/>
            <a:ext cx="182880" cy="182880"/>
          </a:xfrm>
          <a:prstGeom prst="rect">
            <a:avLst/>
          </a:prstGeom>
          <a:noFill/>
          <a:ln>
            <a:noFill/>
          </a:ln>
        </p:spPr>
      </p:pic>
      <p:sp>
        <p:nvSpPr>
          <p:cNvPr id="359" name="Google Shape;359;p58"/>
          <p:cNvSpPr txBox="1"/>
          <p:nvPr/>
        </p:nvSpPr>
        <p:spPr>
          <a:xfrm>
            <a:off x="5495544" y="1536192"/>
            <a:ext cx="1129284" cy="3108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Company login</a:t>
            </a:r>
            <a:endParaRPr/>
          </a:p>
        </p:txBody>
      </p:sp>
      <p:sp>
        <p:nvSpPr>
          <p:cNvPr id="360" name="Google Shape;360;p58"/>
          <p:cNvSpPr txBox="1"/>
          <p:nvPr/>
        </p:nvSpPr>
        <p:spPr>
          <a:xfrm>
            <a:off x="5056632" y="2011680"/>
            <a:ext cx="1513332"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93A9C0"/>
                </a:solidFill>
                <a:latin typeface="Calibri"/>
                <a:ea typeface="Calibri"/>
                <a:cs typeface="Calibri"/>
                <a:sym typeface="Calibri"/>
              </a:rPr>
              <a:t>Cloud IAM or Entra ID. No personal API keys.</a:t>
            </a:r>
            <a:endParaRPr/>
          </a:p>
        </p:txBody>
      </p:sp>
      <p:sp>
        <p:nvSpPr>
          <p:cNvPr id="361" name="Google Shape;361;p58"/>
          <p:cNvSpPr/>
          <p:nvPr/>
        </p:nvSpPr>
        <p:spPr>
          <a:xfrm>
            <a:off x="6844284" y="1335024"/>
            <a:ext cx="1805940" cy="1234440"/>
          </a:xfrm>
          <a:prstGeom prst="roundRect">
            <a:avLst>
              <a:gd name="adj" fmla="val 7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8"/>
          <p:cNvSpPr/>
          <p:nvPr/>
        </p:nvSpPr>
        <p:spPr>
          <a:xfrm>
            <a:off x="7008876" y="1517904"/>
            <a:ext cx="347472" cy="347472"/>
          </a:xfrm>
          <a:prstGeom prst="ellipse">
            <a:avLst/>
          </a:prstGeom>
          <a:solidFill>
            <a:srgbClr val="0272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3" name="Google Shape;363;p58" descr="Your data icon"/>
          <p:cNvPicPr preferRelativeResize="0"/>
          <p:nvPr/>
        </p:nvPicPr>
        <p:blipFill rotWithShape="1">
          <a:blip r:embed="rId4">
            <a:alphaModFix/>
          </a:blip>
          <a:srcRect/>
          <a:stretch/>
        </p:blipFill>
        <p:spPr>
          <a:xfrm>
            <a:off x="7091172" y="1600200"/>
            <a:ext cx="182880" cy="182880"/>
          </a:xfrm>
          <a:prstGeom prst="rect">
            <a:avLst/>
          </a:prstGeom>
          <a:noFill/>
          <a:ln>
            <a:noFill/>
          </a:ln>
        </p:spPr>
      </p:pic>
      <p:sp>
        <p:nvSpPr>
          <p:cNvPr id="364" name="Google Shape;364;p58"/>
          <p:cNvSpPr txBox="1"/>
          <p:nvPr/>
        </p:nvSpPr>
        <p:spPr>
          <a:xfrm>
            <a:off x="7447788" y="1536192"/>
            <a:ext cx="1129284" cy="3108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Your data</a:t>
            </a:r>
            <a:endParaRPr/>
          </a:p>
        </p:txBody>
      </p:sp>
      <p:sp>
        <p:nvSpPr>
          <p:cNvPr id="365" name="Google Shape;365;p58"/>
          <p:cNvSpPr txBox="1"/>
          <p:nvPr/>
        </p:nvSpPr>
        <p:spPr>
          <a:xfrm>
            <a:off x="7008876" y="2011680"/>
            <a:ext cx="1513332"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93A9C0"/>
                </a:solidFill>
                <a:latin typeface="Calibri"/>
                <a:ea typeface="Calibri"/>
                <a:cs typeface="Calibri"/>
                <a:sym typeface="Calibri"/>
              </a:rPr>
              <a:t>On Bedrock only AWS sees it. Not Anthropic.</a:t>
            </a:r>
            <a:endParaRPr/>
          </a:p>
        </p:txBody>
      </p:sp>
      <p:sp>
        <p:nvSpPr>
          <p:cNvPr id="366" name="Google Shape;366;p58"/>
          <p:cNvSpPr/>
          <p:nvPr/>
        </p:nvSpPr>
        <p:spPr>
          <a:xfrm>
            <a:off x="4892040" y="2715768"/>
            <a:ext cx="1805940" cy="1234440"/>
          </a:xfrm>
          <a:prstGeom prst="roundRect">
            <a:avLst>
              <a:gd name="adj" fmla="val 7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8"/>
          <p:cNvSpPr/>
          <p:nvPr/>
        </p:nvSpPr>
        <p:spPr>
          <a:xfrm>
            <a:off x="5056632" y="2898648"/>
            <a:ext cx="347472" cy="347472"/>
          </a:xfrm>
          <a:prstGeom prst="ellipse">
            <a:avLst/>
          </a:prstGeom>
          <a:solidFill>
            <a:srgbClr val="0272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8" name="Google Shape;368;p58" descr="One bill icon"/>
          <p:cNvPicPr preferRelativeResize="0"/>
          <p:nvPr/>
        </p:nvPicPr>
        <p:blipFill rotWithShape="1">
          <a:blip r:embed="rId5">
            <a:alphaModFix/>
          </a:blip>
          <a:srcRect/>
          <a:stretch/>
        </p:blipFill>
        <p:spPr>
          <a:xfrm>
            <a:off x="5138928" y="2980944"/>
            <a:ext cx="182880" cy="182880"/>
          </a:xfrm>
          <a:prstGeom prst="rect">
            <a:avLst/>
          </a:prstGeom>
          <a:noFill/>
          <a:ln>
            <a:noFill/>
          </a:ln>
        </p:spPr>
      </p:pic>
      <p:sp>
        <p:nvSpPr>
          <p:cNvPr id="369" name="Google Shape;369;p58"/>
          <p:cNvSpPr txBox="1"/>
          <p:nvPr/>
        </p:nvSpPr>
        <p:spPr>
          <a:xfrm>
            <a:off x="5495544" y="2916936"/>
            <a:ext cx="1129284" cy="3108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One bill</a:t>
            </a:r>
            <a:endParaRPr/>
          </a:p>
        </p:txBody>
      </p:sp>
      <p:sp>
        <p:nvSpPr>
          <p:cNvPr id="370" name="Google Shape;370;p58"/>
          <p:cNvSpPr txBox="1"/>
          <p:nvPr/>
        </p:nvSpPr>
        <p:spPr>
          <a:xfrm>
            <a:off x="5056632" y="3392424"/>
            <a:ext cx="1513332"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93A9C0"/>
                </a:solidFill>
                <a:latin typeface="Calibri"/>
                <a:ea typeface="Calibri"/>
                <a:cs typeface="Calibri"/>
                <a:sym typeface="Calibri"/>
              </a:rPr>
              <a:t>On your cloud invoice, split by team.</a:t>
            </a:r>
            <a:endParaRPr/>
          </a:p>
        </p:txBody>
      </p:sp>
      <p:sp>
        <p:nvSpPr>
          <p:cNvPr id="371" name="Google Shape;371;p58"/>
          <p:cNvSpPr/>
          <p:nvPr/>
        </p:nvSpPr>
        <p:spPr>
          <a:xfrm>
            <a:off x="6844284" y="2715768"/>
            <a:ext cx="1805940" cy="1234440"/>
          </a:xfrm>
          <a:prstGeom prst="roundRect">
            <a:avLst>
              <a:gd name="adj" fmla="val 7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8"/>
          <p:cNvSpPr/>
          <p:nvPr/>
        </p:nvSpPr>
        <p:spPr>
          <a:xfrm>
            <a:off x="7008876" y="2898648"/>
            <a:ext cx="347472" cy="347472"/>
          </a:xfrm>
          <a:prstGeom prst="ellipse">
            <a:avLst/>
          </a:prstGeom>
          <a:solidFill>
            <a:srgbClr val="0272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3" name="Google Shape;373;p58" descr="Your region icon"/>
          <p:cNvPicPr preferRelativeResize="0"/>
          <p:nvPr/>
        </p:nvPicPr>
        <p:blipFill rotWithShape="1">
          <a:blip r:embed="rId6">
            <a:alphaModFix/>
          </a:blip>
          <a:srcRect/>
          <a:stretch/>
        </p:blipFill>
        <p:spPr>
          <a:xfrm>
            <a:off x="7091172" y="2980944"/>
            <a:ext cx="182880" cy="182880"/>
          </a:xfrm>
          <a:prstGeom prst="rect">
            <a:avLst/>
          </a:prstGeom>
          <a:noFill/>
          <a:ln>
            <a:noFill/>
          </a:ln>
        </p:spPr>
      </p:pic>
      <p:sp>
        <p:nvSpPr>
          <p:cNvPr id="374" name="Google Shape;374;p58"/>
          <p:cNvSpPr txBox="1"/>
          <p:nvPr/>
        </p:nvSpPr>
        <p:spPr>
          <a:xfrm>
            <a:off x="7447788" y="2916936"/>
            <a:ext cx="1129284" cy="3108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Your region</a:t>
            </a:r>
            <a:endParaRPr/>
          </a:p>
        </p:txBody>
      </p:sp>
      <p:sp>
        <p:nvSpPr>
          <p:cNvPr id="375" name="Google Shape;375;p58"/>
          <p:cNvSpPr txBox="1"/>
          <p:nvPr/>
        </p:nvSpPr>
        <p:spPr>
          <a:xfrm>
            <a:off x="7008876" y="3392424"/>
            <a:ext cx="1513332"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93A9C0"/>
                </a:solidFill>
                <a:latin typeface="Calibri"/>
                <a:ea typeface="Calibri"/>
                <a:cs typeface="Calibri"/>
                <a:sym typeface="Calibri"/>
              </a:rPr>
              <a:t>You choose it, and every call is logged.</a:t>
            </a:r>
            <a:endParaRPr/>
          </a:p>
        </p:txBody>
      </p:sp>
      <p:sp>
        <p:nvSpPr>
          <p:cNvPr id="376" name="Google Shape;376;p58"/>
          <p:cNvSpPr/>
          <p:nvPr/>
        </p:nvSpPr>
        <p:spPr>
          <a:xfrm>
            <a:off x="493776" y="4261104"/>
            <a:ext cx="8156448" cy="438912"/>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50"/>
              <a:buFont typeface="Arial"/>
              <a:buNone/>
            </a:pPr>
            <a:r>
              <a:rPr lang="en-GB" sz="1250" b="1" i="0" u="none" strike="noStrike" cap="none">
                <a:solidFill>
                  <a:srgbClr val="EAF1F7"/>
                </a:solidFill>
                <a:latin typeface="Calibri"/>
                <a:ea typeface="Calibri"/>
                <a:cs typeface="Calibri"/>
                <a:sym typeface="Calibri"/>
              </a:rPr>
              <a:t>Same Claude Code, one setting:   </a:t>
            </a:r>
            <a:r>
              <a:rPr lang="en-GB" sz="1350" b="1" i="0" u="none" strike="noStrike" cap="none">
                <a:solidFill>
                  <a:srgbClr val="FFFFFF"/>
                </a:solidFill>
                <a:latin typeface="Courier New"/>
                <a:ea typeface="Courier New"/>
                <a:cs typeface="Courier New"/>
                <a:sym typeface="Courier New"/>
              </a:rPr>
              <a:t>CLAUDE_CODE_USE_BEDROCK=1</a:t>
            </a:r>
            <a:r>
              <a:rPr lang="en-GB" sz="1150" b="0" i="0" u="none" strike="noStrike" cap="none">
                <a:solidFill>
                  <a:srgbClr val="93A9C0"/>
                </a:solidFill>
                <a:latin typeface="Courier New"/>
                <a:ea typeface="Courier New"/>
                <a:cs typeface="Courier New"/>
                <a:sym typeface="Courier New"/>
              </a:rPr>
              <a:t>    or _VERTEX · _FOUNDRY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81"/>
        <p:cNvGrpSpPr/>
        <p:nvPr/>
      </p:nvGrpSpPr>
      <p:grpSpPr>
        <a:xfrm>
          <a:off x="0" y="0"/>
          <a:ext cx="0" cy="0"/>
          <a:chOff x="0" y="0"/>
          <a:chExt cx="0" cy="0"/>
        </a:xfrm>
      </p:grpSpPr>
      <p:pic>
        <p:nvPicPr>
          <p:cNvPr id="382" name="Google Shape;382;p59" descr="/home/claude/work/assets/clappy_claude_magnifier.png"/>
          <p:cNvPicPr preferRelativeResize="0"/>
          <p:nvPr/>
        </p:nvPicPr>
        <p:blipFill rotWithShape="1">
          <a:blip r:embed="rId3">
            <a:alphaModFix/>
          </a:blip>
          <a:srcRect/>
          <a:stretch/>
        </p:blipFill>
        <p:spPr>
          <a:xfrm>
            <a:off x="7559801" y="-26425"/>
            <a:ext cx="1238727" cy="1362575"/>
          </a:xfrm>
          <a:prstGeom prst="rect">
            <a:avLst/>
          </a:prstGeom>
          <a:noFill/>
          <a:ln>
            <a:noFill/>
          </a:ln>
        </p:spPr>
      </p:pic>
      <p:sp>
        <p:nvSpPr>
          <p:cNvPr id="383" name="Google Shape;383;p59"/>
          <p:cNvSpPr/>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EAF1F7"/>
              </a:buClr>
              <a:buSzPts val="1900"/>
              <a:buFont typeface="Century Schoolbook"/>
              <a:buNone/>
            </a:pPr>
            <a:r>
              <a:rPr lang="en-GB" sz="2000" b="1" i="0" u="none" strike="noStrike" cap="none">
                <a:solidFill>
                  <a:srgbClr val="FFFFFF"/>
                </a:solidFill>
                <a:latin typeface="Century Schoolbook"/>
                <a:ea typeface="Century Schoolbook"/>
                <a:cs typeface="Century Schoolbook"/>
                <a:sym typeface="Century Schoolbook"/>
              </a:rPr>
              <a:t>The Foundation &amp; Building blocks </a:t>
            </a:r>
            <a:endParaRPr sz="1900" b="1" i="0" u="none" strike="noStrike" cap="none">
              <a:solidFill>
                <a:srgbClr val="EAF1F7"/>
              </a:solidFill>
              <a:latin typeface="Century Schoolbook"/>
              <a:ea typeface="Century Schoolbook"/>
              <a:cs typeface="Century Schoolbook"/>
              <a:sym typeface="Century Schoolbook"/>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84" name="Google Shape;384;p59"/>
          <p:cNvSpPr/>
          <p:nvPr/>
        </p:nvSpPr>
        <p:spPr>
          <a:xfrm>
            <a:off x="428625" y="3280338"/>
            <a:ext cx="8286900" cy="1485900"/>
          </a:xfrm>
          <a:prstGeom prst="roundRect">
            <a:avLst>
              <a:gd name="adj" fmla="val 8653"/>
            </a:avLst>
          </a:prstGeom>
          <a:solidFill>
            <a:srgbClr val="040E1D"/>
          </a:solidFill>
          <a:ln w="19050"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85" name="Google Shape;385;p59"/>
          <p:cNvSpPr/>
          <p:nvPr/>
        </p:nvSpPr>
        <p:spPr>
          <a:xfrm>
            <a:off x="628650" y="3423213"/>
            <a:ext cx="7886700" cy="2214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86" name="Google Shape;386;p59"/>
          <p:cNvSpPr/>
          <p:nvPr/>
        </p:nvSpPr>
        <p:spPr>
          <a:xfrm>
            <a:off x="428625" y="1336153"/>
            <a:ext cx="1577400" cy="1164300"/>
          </a:xfrm>
          <a:prstGeom prst="roundRect">
            <a:avLst>
              <a:gd name="adj" fmla="val 8588"/>
            </a:avLst>
          </a:prstGeom>
          <a:solidFill>
            <a:srgbClr val="000000"/>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87" name="Google Shape;387;p59"/>
          <p:cNvSpPr/>
          <p:nvPr/>
        </p:nvSpPr>
        <p:spPr>
          <a:xfrm>
            <a:off x="2105955" y="1336153"/>
            <a:ext cx="1577400" cy="1164300"/>
          </a:xfrm>
          <a:prstGeom prst="roundRect">
            <a:avLst>
              <a:gd name="adj" fmla="val 8588"/>
            </a:avLst>
          </a:prstGeom>
          <a:solidFill>
            <a:srgbClr val="000000"/>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88" name="Google Shape;388;p59"/>
          <p:cNvSpPr/>
          <p:nvPr/>
        </p:nvSpPr>
        <p:spPr>
          <a:xfrm>
            <a:off x="3783285" y="1336153"/>
            <a:ext cx="1577400" cy="1164300"/>
          </a:xfrm>
          <a:prstGeom prst="roundRect">
            <a:avLst>
              <a:gd name="adj" fmla="val 8588"/>
            </a:avLst>
          </a:prstGeom>
          <a:solidFill>
            <a:srgbClr val="000000"/>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89" name="Google Shape;389;p59"/>
          <p:cNvSpPr/>
          <p:nvPr/>
        </p:nvSpPr>
        <p:spPr>
          <a:xfrm>
            <a:off x="5460615" y="1336153"/>
            <a:ext cx="1577400" cy="1164300"/>
          </a:xfrm>
          <a:prstGeom prst="roundRect">
            <a:avLst>
              <a:gd name="adj" fmla="val 8588"/>
            </a:avLst>
          </a:prstGeom>
          <a:solidFill>
            <a:srgbClr val="000000"/>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0" name="Google Shape;390;p59"/>
          <p:cNvSpPr/>
          <p:nvPr/>
        </p:nvSpPr>
        <p:spPr>
          <a:xfrm>
            <a:off x="7137945" y="1336153"/>
            <a:ext cx="1577400" cy="1164300"/>
          </a:xfrm>
          <a:prstGeom prst="roundRect">
            <a:avLst>
              <a:gd name="adj" fmla="val 8588"/>
            </a:avLst>
          </a:prstGeom>
          <a:solidFill>
            <a:srgbClr val="000000"/>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1" name="Google Shape;391;p59"/>
          <p:cNvSpPr/>
          <p:nvPr/>
        </p:nvSpPr>
        <p:spPr>
          <a:xfrm>
            <a:off x="428625" y="2915870"/>
            <a:ext cx="2915700" cy="14400"/>
          </a:xfrm>
          <a:prstGeom prst="rect">
            <a:avLst/>
          </a:prstGeom>
          <a:solidFill>
            <a:srgbClr val="1E90D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2" name="Google Shape;392;p59"/>
          <p:cNvSpPr/>
          <p:nvPr/>
        </p:nvSpPr>
        <p:spPr>
          <a:xfrm>
            <a:off x="3458691" y="2812286"/>
            <a:ext cx="2226600" cy="221400"/>
          </a:xfrm>
          <a:prstGeom prst="roundRect">
            <a:avLst>
              <a:gd name="adj" fmla="val 50000"/>
            </a:avLst>
          </a:prstGeom>
          <a:solidFill>
            <a:srgbClr val="081A2F"/>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3" name="Google Shape;393;p59"/>
          <p:cNvSpPr/>
          <p:nvPr/>
        </p:nvSpPr>
        <p:spPr>
          <a:xfrm>
            <a:off x="5799608" y="2915870"/>
            <a:ext cx="2915700" cy="14400"/>
          </a:xfrm>
          <a:prstGeom prst="rect">
            <a:avLst/>
          </a:prstGeom>
          <a:solidFill>
            <a:srgbClr val="1E90D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4" name="Google Shape;394;p59"/>
          <p:cNvSpPr/>
          <p:nvPr/>
        </p:nvSpPr>
        <p:spPr>
          <a:xfrm>
            <a:off x="628650" y="3637525"/>
            <a:ext cx="7886700" cy="7200"/>
          </a:xfrm>
          <a:prstGeom prst="rect">
            <a:avLst/>
          </a:prstGeom>
          <a:solidFill>
            <a:srgbClr val="0A4F8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5" name="Google Shape;395;p59"/>
          <p:cNvSpPr/>
          <p:nvPr/>
        </p:nvSpPr>
        <p:spPr>
          <a:xfrm>
            <a:off x="628650" y="3730394"/>
            <a:ext cx="3871800" cy="735900"/>
          </a:xfrm>
          <a:prstGeom prst="roundRect">
            <a:avLst>
              <a:gd name="adj" fmla="val 13592"/>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6" name="Google Shape;396;p59"/>
          <p:cNvSpPr/>
          <p:nvPr/>
        </p:nvSpPr>
        <p:spPr>
          <a:xfrm>
            <a:off x="4643438" y="3730394"/>
            <a:ext cx="3871800" cy="735900"/>
          </a:xfrm>
          <a:prstGeom prst="roundRect">
            <a:avLst>
              <a:gd name="adj" fmla="val 13592"/>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7" name="Google Shape;397;p59"/>
          <p:cNvSpPr/>
          <p:nvPr/>
        </p:nvSpPr>
        <p:spPr>
          <a:xfrm>
            <a:off x="628650" y="4616219"/>
            <a:ext cx="1943100" cy="35700"/>
          </a:xfrm>
          <a:prstGeom prst="roundRect">
            <a:avLst>
              <a:gd name="adj" fmla="val 40000"/>
            </a:avLst>
          </a:prstGeom>
          <a:solidFill>
            <a:srgbClr val="4FB0E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8" name="Google Shape;398;p59"/>
          <p:cNvSpPr/>
          <p:nvPr/>
        </p:nvSpPr>
        <p:spPr>
          <a:xfrm>
            <a:off x="2628900" y="4616219"/>
            <a:ext cx="3886200" cy="35700"/>
          </a:xfrm>
          <a:prstGeom prst="roundRect">
            <a:avLst>
              <a:gd name="adj" fmla="val 40000"/>
            </a:avLst>
          </a:prstGeom>
          <a:solidFill>
            <a:srgbClr val="0272B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9" name="Google Shape;399;p59"/>
          <p:cNvSpPr/>
          <p:nvPr/>
        </p:nvSpPr>
        <p:spPr>
          <a:xfrm>
            <a:off x="6572250" y="4616219"/>
            <a:ext cx="1943100" cy="35700"/>
          </a:xfrm>
          <a:prstGeom prst="roundRect">
            <a:avLst>
              <a:gd name="adj" fmla="val 40000"/>
            </a:avLst>
          </a:prstGeom>
          <a:solidFill>
            <a:srgbClr val="0272B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00" name="Google Shape;400;p59" descr="image.png"/>
          <p:cNvPicPr preferRelativeResize="0"/>
          <p:nvPr/>
        </p:nvPicPr>
        <p:blipFill rotWithShape="1">
          <a:blip r:embed="rId4">
            <a:alphaModFix/>
          </a:blip>
          <a:srcRect/>
          <a:stretch/>
        </p:blipFill>
        <p:spPr>
          <a:xfrm>
            <a:off x="628650" y="4551925"/>
            <a:ext cx="7886700" cy="100013"/>
          </a:xfrm>
          <a:prstGeom prst="rect">
            <a:avLst/>
          </a:prstGeom>
          <a:noFill/>
          <a:ln>
            <a:noFill/>
          </a:ln>
        </p:spPr>
      </p:pic>
      <p:pic>
        <p:nvPicPr>
          <p:cNvPr id="401" name="Google Shape;401;p59" descr="image.png"/>
          <p:cNvPicPr preferRelativeResize="0"/>
          <p:nvPr/>
        </p:nvPicPr>
        <p:blipFill rotWithShape="1">
          <a:blip r:embed="rId5">
            <a:alphaModFix/>
          </a:blip>
          <a:srcRect/>
          <a:stretch/>
        </p:blipFill>
        <p:spPr>
          <a:xfrm>
            <a:off x="442913" y="1136128"/>
            <a:ext cx="128588" cy="114300"/>
          </a:xfrm>
          <a:prstGeom prst="rect">
            <a:avLst/>
          </a:prstGeom>
          <a:noFill/>
          <a:ln>
            <a:noFill/>
          </a:ln>
        </p:spPr>
      </p:pic>
      <p:pic>
        <p:nvPicPr>
          <p:cNvPr id="402" name="Google Shape;402;p59" descr="image.png"/>
          <p:cNvPicPr preferRelativeResize="0"/>
          <p:nvPr/>
        </p:nvPicPr>
        <p:blipFill rotWithShape="1">
          <a:blip r:embed="rId6">
            <a:alphaModFix/>
          </a:blip>
          <a:srcRect/>
          <a:stretch/>
        </p:blipFill>
        <p:spPr>
          <a:xfrm>
            <a:off x="628650" y="3437500"/>
            <a:ext cx="128588" cy="114300"/>
          </a:xfrm>
          <a:prstGeom prst="rect">
            <a:avLst/>
          </a:prstGeom>
          <a:noFill/>
          <a:ln>
            <a:noFill/>
          </a:ln>
        </p:spPr>
      </p:pic>
      <p:pic>
        <p:nvPicPr>
          <p:cNvPr id="403" name="Google Shape;403;p59" descr="image.png"/>
          <p:cNvPicPr preferRelativeResize="0"/>
          <p:nvPr/>
        </p:nvPicPr>
        <p:blipFill rotWithShape="1">
          <a:blip r:embed="rId7">
            <a:alphaModFix/>
          </a:blip>
          <a:srcRect/>
          <a:stretch/>
        </p:blipFill>
        <p:spPr>
          <a:xfrm>
            <a:off x="3651572" y="2876580"/>
            <a:ext cx="78581" cy="92869"/>
          </a:xfrm>
          <a:prstGeom prst="rect">
            <a:avLst/>
          </a:prstGeom>
          <a:noFill/>
          <a:ln>
            <a:noFill/>
          </a:ln>
        </p:spPr>
      </p:pic>
      <p:pic>
        <p:nvPicPr>
          <p:cNvPr id="404" name="Google Shape;404;p59" descr="image.png"/>
          <p:cNvPicPr preferRelativeResize="0"/>
          <p:nvPr/>
        </p:nvPicPr>
        <p:blipFill rotWithShape="1">
          <a:blip r:embed="rId8">
            <a:alphaModFix/>
          </a:blip>
          <a:srcRect/>
          <a:stretch/>
        </p:blipFill>
        <p:spPr>
          <a:xfrm>
            <a:off x="5413846" y="2876580"/>
            <a:ext cx="78581" cy="92869"/>
          </a:xfrm>
          <a:prstGeom prst="rect">
            <a:avLst/>
          </a:prstGeom>
          <a:noFill/>
          <a:ln>
            <a:noFill/>
          </a:ln>
        </p:spPr>
      </p:pic>
      <p:pic>
        <p:nvPicPr>
          <p:cNvPr id="405" name="Google Shape;405;p59" descr="image.png"/>
          <p:cNvPicPr preferRelativeResize="0"/>
          <p:nvPr/>
        </p:nvPicPr>
        <p:blipFill rotWithShape="1">
          <a:blip r:embed="rId9">
            <a:alphaModFix/>
          </a:blip>
          <a:srcRect/>
          <a:stretch/>
        </p:blipFill>
        <p:spPr>
          <a:xfrm>
            <a:off x="807244" y="3869697"/>
            <a:ext cx="457200" cy="457200"/>
          </a:xfrm>
          <a:prstGeom prst="rect">
            <a:avLst/>
          </a:prstGeom>
          <a:noFill/>
          <a:ln>
            <a:noFill/>
          </a:ln>
        </p:spPr>
      </p:pic>
      <p:pic>
        <p:nvPicPr>
          <p:cNvPr id="406" name="Google Shape;406;p59" descr="image.png"/>
          <p:cNvPicPr preferRelativeResize="0"/>
          <p:nvPr/>
        </p:nvPicPr>
        <p:blipFill rotWithShape="1">
          <a:blip r:embed="rId9">
            <a:alphaModFix/>
          </a:blip>
          <a:srcRect/>
          <a:stretch/>
        </p:blipFill>
        <p:spPr>
          <a:xfrm>
            <a:off x="4822031" y="3869697"/>
            <a:ext cx="457200" cy="457200"/>
          </a:xfrm>
          <a:prstGeom prst="rect">
            <a:avLst/>
          </a:prstGeom>
          <a:noFill/>
          <a:ln>
            <a:noFill/>
          </a:ln>
        </p:spPr>
      </p:pic>
      <p:pic>
        <p:nvPicPr>
          <p:cNvPr id="407" name="Google Shape;407;p59" descr="image.png"/>
          <p:cNvPicPr preferRelativeResize="0"/>
          <p:nvPr/>
        </p:nvPicPr>
        <p:blipFill rotWithShape="1">
          <a:blip r:embed="rId10">
            <a:alphaModFix/>
          </a:blip>
          <a:srcRect/>
          <a:stretch/>
        </p:blipFill>
        <p:spPr>
          <a:xfrm>
            <a:off x="931478" y="1443309"/>
            <a:ext cx="571500" cy="528638"/>
          </a:xfrm>
          <a:prstGeom prst="rect">
            <a:avLst/>
          </a:prstGeom>
          <a:noFill/>
          <a:ln>
            <a:noFill/>
          </a:ln>
        </p:spPr>
      </p:pic>
      <p:pic>
        <p:nvPicPr>
          <p:cNvPr id="408" name="Google Shape;408;p59" descr="image.png"/>
          <p:cNvPicPr preferRelativeResize="0"/>
          <p:nvPr/>
        </p:nvPicPr>
        <p:blipFill rotWithShape="1">
          <a:blip r:embed="rId11">
            <a:alphaModFix/>
          </a:blip>
          <a:srcRect/>
          <a:stretch/>
        </p:blipFill>
        <p:spPr>
          <a:xfrm>
            <a:off x="995771" y="2061243"/>
            <a:ext cx="100013" cy="114300"/>
          </a:xfrm>
          <a:prstGeom prst="rect">
            <a:avLst/>
          </a:prstGeom>
          <a:noFill/>
          <a:ln>
            <a:noFill/>
          </a:ln>
        </p:spPr>
      </p:pic>
      <p:pic>
        <p:nvPicPr>
          <p:cNvPr id="409" name="Google Shape;409;p59" descr="image.png"/>
          <p:cNvPicPr preferRelativeResize="0"/>
          <p:nvPr/>
        </p:nvPicPr>
        <p:blipFill rotWithShape="1">
          <a:blip r:embed="rId12">
            <a:alphaModFix/>
          </a:blip>
          <a:srcRect/>
          <a:stretch/>
        </p:blipFill>
        <p:spPr>
          <a:xfrm>
            <a:off x="2608808" y="1443309"/>
            <a:ext cx="571500" cy="528638"/>
          </a:xfrm>
          <a:prstGeom prst="rect">
            <a:avLst/>
          </a:prstGeom>
          <a:noFill/>
          <a:ln>
            <a:noFill/>
          </a:ln>
        </p:spPr>
      </p:pic>
      <p:pic>
        <p:nvPicPr>
          <p:cNvPr id="410" name="Google Shape;410;p59" descr="image.png"/>
          <p:cNvPicPr preferRelativeResize="0"/>
          <p:nvPr/>
        </p:nvPicPr>
        <p:blipFill rotWithShape="1">
          <a:blip r:embed="rId13">
            <a:alphaModFix/>
          </a:blip>
          <a:srcRect/>
          <a:stretch/>
        </p:blipFill>
        <p:spPr>
          <a:xfrm>
            <a:off x="2455217" y="2061243"/>
            <a:ext cx="142875" cy="114300"/>
          </a:xfrm>
          <a:prstGeom prst="rect">
            <a:avLst/>
          </a:prstGeom>
          <a:noFill/>
          <a:ln>
            <a:noFill/>
          </a:ln>
        </p:spPr>
      </p:pic>
      <p:pic>
        <p:nvPicPr>
          <p:cNvPr id="411" name="Google Shape;411;p59" descr="image.png"/>
          <p:cNvPicPr preferRelativeResize="0"/>
          <p:nvPr/>
        </p:nvPicPr>
        <p:blipFill rotWithShape="1">
          <a:blip r:embed="rId14">
            <a:alphaModFix/>
          </a:blip>
          <a:srcRect/>
          <a:stretch/>
        </p:blipFill>
        <p:spPr>
          <a:xfrm>
            <a:off x="4286138" y="1443309"/>
            <a:ext cx="571500" cy="528638"/>
          </a:xfrm>
          <a:prstGeom prst="rect">
            <a:avLst/>
          </a:prstGeom>
          <a:noFill/>
          <a:ln>
            <a:noFill/>
          </a:ln>
        </p:spPr>
      </p:pic>
      <p:pic>
        <p:nvPicPr>
          <p:cNvPr id="412" name="Google Shape;412;p59" descr="image.png"/>
          <p:cNvPicPr preferRelativeResize="0"/>
          <p:nvPr/>
        </p:nvPicPr>
        <p:blipFill rotWithShape="1">
          <a:blip r:embed="rId15">
            <a:alphaModFix/>
          </a:blip>
          <a:srcRect/>
          <a:stretch/>
        </p:blipFill>
        <p:spPr>
          <a:xfrm>
            <a:off x="4296854" y="2061243"/>
            <a:ext cx="114300" cy="114300"/>
          </a:xfrm>
          <a:prstGeom prst="rect">
            <a:avLst/>
          </a:prstGeom>
          <a:noFill/>
          <a:ln>
            <a:noFill/>
          </a:ln>
        </p:spPr>
      </p:pic>
      <p:pic>
        <p:nvPicPr>
          <p:cNvPr id="413" name="Google Shape;413;p59" descr="image.png"/>
          <p:cNvPicPr preferRelativeResize="0"/>
          <p:nvPr/>
        </p:nvPicPr>
        <p:blipFill rotWithShape="1">
          <a:blip r:embed="rId16">
            <a:alphaModFix/>
          </a:blip>
          <a:srcRect/>
          <a:stretch/>
        </p:blipFill>
        <p:spPr>
          <a:xfrm>
            <a:off x="5963468" y="1443309"/>
            <a:ext cx="571500" cy="528638"/>
          </a:xfrm>
          <a:prstGeom prst="rect">
            <a:avLst/>
          </a:prstGeom>
          <a:noFill/>
          <a:ln>
            <a:noFill/>
          </a:ln>
        </p:spPr>
      </p:pic>
      <p:pic>
        <p:nvPicPr>
          <p:cNvPr id="414" name="Google Shape;414;p59" descr="image.png"/>
          <p:cNvPicPr preferRelativeResize="0"/>
          <p:nvPr/>
        </p:nvPicPr>
        <p:blipFill rotWithShape="1">
          <a:blip r:embed="rId17">
            <a:alphaModFix/>
          </a:blip>
          <a:srcRect/>
          <a:stretch/>
        </p:blipFill>
        <p:spPr>
          <a:xfrm>
            <a:off x="5777731" y="2061243"/>
            <a:ext cx="85725" cy="114300"/>
          </a:xfrm>
          <a:prstGeom prst="rect">
            <a:avLst/>
          </a:prstGeom>
          <a:noFill/>
          <a:ln>
            <a:noFill/>
          </a:ln>
        </p:spPr>
      </p:pic>
      <p:pic>
        <p:nvPicPr>
          <p:cNvPr id="415" name="Google Shape;415;p59" descr="image.png"/>
          <p:cNvPicPr preferRelativeResize="0"/>
          <p:nvPr/>
        </p:nvPicPr>
        <p:blipFill rotWithShape="1">
          <a:blip r:embed="rId18">
            <a:alphaModFix/>
          </a:blip>
          <a:srcRect/>
          <a:stretch/>
        </p:blipFill>
        <p:spPr>
          <a:xfrm>
            <a:off x="7640798" y="1443309"/>
            <a:ext cx="571500" cy="528638"/>
          </a:xfrm>
          <a:prstGeom prst="rect">
            <a:avLst/>
          </a:prstGeom>
          <a:noFill/>
          <a:ln>
            <a:noFill/>
          </a:ln>
        </p:spPr>
      </p:pic>
      <p:pic>
        <p:nvPicPr>
          <p:cNvPr id="416" name="Google Shape;416;p59" descr="image.png"/>
          <p:cNvPicPr preferRelativeResize="0"/>
          <p:nvPr/>
        </p:nvPicPr>
        <p:blipFill rotWithShape="1">
          <a:blip r:embed="rId19">
            <a:alphaModFix/>
          </a:blip>
          <a:srcRect/>
          <a:stretch/>
        </p:blipFill>
        <p:spPr>
          <a:xfrm>
            <a:off x="7612223" y="2061243"/>
            <a:ext cx="142875" cy="114300"/>
          </a:xfrm>
          <a:prstGeom prst="rect">
            <a:avLst/>
          </a:prstGeom>
          <a:noFill/>
          <a:ln>
            <a:noFill/>
          </a:ln>
        </p:spPr>
      </p:pic>
      <p:pic>
        <p:nvPicPr>
          <p:cNvPr id="417" name="Google Shape;417;p59" descr="image.png"/>
          <p:cNvPicPr preferRelativeResize="0"/>
          <p:nvPr/>
        </p:nvPicPr>
        <p:blipFill rotWithShape="1">
          <a:blip r:embed="rId20">
            <a:alphaModFix/>
          </a:blip>
          <a:srcRect/>
          <a:stretch/>
        </p:blipFill>
        <p:spPr>
          <a:xfrm>
            <a:off x="935831" y="3998284"/>
            <a:ext cx="200025" cy="200025"/>
          </a:xfrm>
          <a:prstGeom prst="rect">
            <a:avLst/>
          </a:prstGeom>
          <a:noFill/>
          <a:ln>
            <a:noFill/>
          </a:ln>
        </p:spPr>
      </p:pic>
      <p:pic>
        <p:nvPicPr>
          <p:cNvPr id="418" name="Google Shape;418;p59" descr="image.png"/>
          <p:cNvPicPr preferRelativeResize="0"/>
          <p:nvPr/>
        </p:nvPicPr>
        <p:blipFill rotWithShape="1">
          <a:blip r:embed="rId21">
            <a:alphaModFix/>
          </a:blip>
          <a:srcRect/>
          <a:stretch/>
        </p:blipFill>
        <p:spPr>
          <a:xfrm>
            <a:off x="4961334" y="3998284"/>
            <a:ext cx="178594" cy="200025"/>
          </a:xfrm>
          <a:prstGeom prst="rect">
            <a:avLst/>
          </a:prstGeom>
          <a:noFill/>
          <a:ln>
            <a:noFill/>
          </a:ln>
        </p:spPr>
      </p:pic>
      <p:sp>
        <p:nvSpPr>
          <p:cNvPr id="419" name="Google Shape;419;p59"/>
          <p:cNvSpPr txBox="1"/>
          <p:nvPr/>
        </p:nvSpPr>
        <p:spPr>
          <a:xfrm>
            <a:off x="642938" y="1121840"/>
            <a:ext cx="1486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1" i="0" u="none" strike="noStrike" cap="none">
                <a:solidFill>
                  <a:srgbClr val="4FB0EA"/>
                </a:solidFill>
                <a:latin typeface="Courier New"/>
                <a:ea typeface="Courier New"/>
                <a:cs typeface="Courier New"/>
                <a:sym typeface="Courier New"/>
              </a:rPr>
              <a:t>BUILDING BLOCKS</a:t>
            </a:r>
            <a:endParaRPr sz="1100" b="0" i="0" u="none" strike="noStrike" cap="none">
              <a:solidFill>
                <a:srgbClr val="000000"/>
              </a:solidFill>
              <a:latin typeface="Arial"/>
              <a:ea typeface="Arial"/>
              <a:cs typeface="Arial"/>
              <a:sym typeface="Arial"/>
            </a:endParaRPr>
          </a:p>
        </p:txBody>
      </p:sp>
      <p:sp>
        <p:nvSpPr>
          <p:cNvPr id="420" name="Google Shape;420;p59"/>
          <p:cNvSpPr txBox="1"/>
          <p:nvPr/>
        </p:nvSpPr>
        <p:spPr>
          <a:xfrm>
            <a:off x="828675" y="3423213"/>
            <a:ext cx="13878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1" i="0" u="none" strike="noStrike" cap="none">
                <a:solidFill>
                  <a:srgbClr val="4FB0EA"/>
                </a:solidFill>
                <a:latin typeface="Courier New"/>
                <a:ea typeface="Courier New"/>
                <a:cs typeface="Courier New"/>
                <a:sym typeface="Courier New"/>
              </a:rPr>
              <a:t>THE FOUNDATION</a:t>
            </a:r>
            <a:endParaRPr sz="1100" b="0" i="0" u="none" strike="noStrike" cap="none">
              <a:solidFill>
                <a:srgbClr val="000000"/>
              </a:solidFill>
              <a:latin typeface="Arial"/>
              <a:ea typeface="Arial"/>
              <a:cs typeface="Arial"/>
              <a:sym typeface="Arial"/>
            </a:endParaRPr>
          </a:p>
        </p:txBody>
      </p:sp>
      <p:sp>
        <p:nvSpPr>
          <p:cNvPr id="421" name="Google Shape;421;p59"/>
          <p:cNvSpPr txBox="1"/>
          <p:nvPr/>
        </p:nvSpPr>
        <p:spPr>
          <a:xfrm>
            <a:off x="849437" y="2264840"/>
            <a:ext cx="735600" cy="12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GB" sz="800" b="1" i="0" u="none" strike="noStrike" cap="none">
                <a:solidFill>
                  <a:srgbClr val="9FD4F7"/>
                </a:solidFill>
                <a:latin typeface="Courier New"/>
                <a:ea typeface="Courier New"/>
                <a:cs typeface="Courier New"/>
                <a:sym typeface="Courier New"/>
              </a:rPr>
              <a:t>PLAYBOOK</a:t>
            </a:r>
            <a:endParaRPr sz="1100" b="0" i="0" u="none" strike="noStrike" cap="none">
              <a:solidFill>
                <a:srgbClr val="000000"/>
              </a:solidFill>
              <a:latin typeface="Arial"/>
              <a:ea typeface="Arial"/>
              <a:cs typeface="Arial"/>
              <a:sym typeface="Arial"/>
            </a:endParaRPr>
          </a:p>
        </p:txBody>
      </p:sp>
      <p:sp>
        <p:nvSpPr>
          <p:cNvPr id="422" name="Google Shape;422;p59"/>
          <p:cNvSpPr txBox="1"/>
          <p:nvPr/>
        </p:nvSpPr>
        <p:spPr>
          <a:xfrm>
            <a:off x="2591953" y="2264840"/>
            <a:ext cx="605400" cy="12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GB" sz="800" b="1" i="0" u="none" strike="noStrike" cap="none">
                <a:solidFill>
                  <a:srgbClr val="9FD4F7"/>
                </a:solidFill>
                <a:latin typeface="Courier New"/>
                <a:ea typeface="Courier New"/>
                <a:cs typeface="Courier New"/>
                <a:sym typeface="Courier New"/>
              </a:rPr>
              <a:t>WORKER</a:t>
            </a:r>
            <a:endParaRPr sz="1100" b="0" i="0" u="none" strike="noStrike" cap="none">
              <a:solidFill>
                <a:srgbClr val="000000"/>
              </a:solidFill>
              <a:latin typeface="Arial"/>
              <a:ea typeface="Arial"/>
              <a:cs typeface="Arial"/>
              <a:sym typeface="Arial"/>
            </a:endParaRPr>
          </a:p>
        </p:txBody>
      </p:sp>
      <p:sp>
        <p:nvSpPr>
          <p:cNvPr id="423" name="Google Shape;423;p59"/>
          <p:cNvSpPr txBox="1"/>
          <p:nvPr/>
        </p:nvSpPr>
        <p:spPr>
          <a:xfrm>
            <a:off x="4171503" y="2264840"/>
            <a:ext cx="800700" cy="12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GB" sz="800" b="1" i="0" u="none" strike="noStrike" cap="none">
                <a:solidFill>
                  <a:srgbClr val="9FD4F7"/>
                </a:solidFill>
                <a:latin typeface="Courier New"/>
                <a:ea typeface="Courier New"/>
                <a:cs typeface="Courier New"/>
                <a:sym typeface="Courier New"/>
              </a:rPr>
              <a:t>GUARDRAIL</a:t>
            </a:r>
            <a:endParaRPr sz="1100" b="0" i="0" u="none" strike="noStrike" cap="none">
              <a:solidFill>
                <a:srgbClr val="000000"/>
              </a:solidFill>
              <a:latin typeface="Arial"/>
              <a:ea typeface="Arial"/>
              <a:cs typeface="Arial"/>
              <a:sym typeface="Arial"/>
            </a:endParaRPr>
          </a:p>
        </p:txBody>
      </p:sp>
      <p:sp>
        <p:nvSpPr>
          <p:cNvPr id="424" name="Google Shape;424;p59"/>
          <p:cNvSpPr txBox="1"/>
          <p:nvPr/>
        </p:nvSpPr>
        <p:spPr>
          <a:xfrm>
            <a:off x="5848833" y="2264840"/>
            <a:ext cx="800700" cy="12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GB" sz="800" b="1" i="0" u="none" strike="noStrike" cap="none">
                <a:solidFill>
                  <a:srgbClr val="9FD4F7"/>
                </a:solidFill>
                <a:latin typeface="Courier New"/>
                <a:ea typeface="Courier New"/>
                <a:cs typeface="Courier New"/>
                <a:sym typeface="Courier New"/>
              </a:rPr>
              <a:t>TOOL PLUG</a:t>
            </a:r>
            <a:endParaRPr sz="1100" b="0" i="0" u="none" strike="noStrike" cap="none">
              <a:solidFill>
                <a:srgbClr val="000000"/>
              </a:solidFill>
              <a:latin typeface="Arial"/>
              <a:ea typeface="Arial"/>
              <a:cs typeface="Arial"/>
              <a:sym typeface="Arial"/>
            </a:endParaRPr>
          </a:p>
        </p:txBody>
      </p:sp>
      <p:sp>
        <p:nvSpPr>
          <p:cNvPr id="425" name="Google Shape;425;p59"/>
          <p:cNvSpPr txBox="1"/>
          <p:nvPr/>
        </p:nvSpPr>
        <p:spPr>
          <a:xfrm>
            <a:off x="7623944" y="2264840"/>
            <a:ext cx="605400" cy="12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GB" sz="800" b="1" i="0" u="none" strike="noStrike" cap="none">
                <a:solidFill>
                  <a:srgbClr val="9FD4F7"/>
                </a:solidFill>
                <a:latin typeface="Courier New"/>
                <a:ea typeface="Courier New"/>
                <a:cs typeface="Courier New"/>
                <a:sym typeface="Courier New"/>
              </a:rPr>
              <a:t>BUNDLE</a:t>
            </a:r>
            <a:endParaRPr sz="1100" b="0" i="0" u="none" strike="noStrike" cap="none">
              <a:solidFill>
                <a:srgbClr val="000000"/>
              </a:solidFill>
              <a:latin typeface="Arial"/>
              <a:ea typeface="Arial"/>
              <a:cs typeface="Arial"/>
              <a:sym typeface="Arial"/>
            </a:endParaRPr>
          </a:p>
        </p:txBody>
      </p:sp>
      <p:sp>
        <p:nvSpPr>
          <p:cNvPr id="426" name="Google Shape;426;p59"/>
          <p:cNvSpPr txBox="1"/>
          <p:nvPr/>
        </p:nvSpPr>
        <p:spPr>
          <a:xfrm>
            <a:off x="3815879" y="2862293"/>
            <a:ext cx="18903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E3F2FC"/>
                </a:solidFill>
                <a:latin typeface="Courier New"/>
                <a:ea typeface="Courier New"/>
                <a:cs typeface="Courier New"/>
                <a:sym typeface="Courier New"/>
              </a:rPr>
              <a:t>RESTS UPON FOUNDATION</a:t>
            </a:r>
            <a:endParaRPr sz="1100" b="0" i="0" u="none" strike="noStrike" cap="none">
              <a:solidFill>
                <a:srgbClr val="000000"/>
              </a:solidFill>
              <a:latin typeface="Arial"/>
              <a:ea typeface="Arial"/>
              <a:cs typeface="Arial"/>
              <a:sym typeface="Arial"/>
            </a:endParaRPr>
          </a:p>
        </p:txBody>
      </p:sp>
      <p:sp>
        <p:nvSpPr>
          <p:cNvPr id="427" name="Google Shape;427;p59"/>
          <p:cNvSpPr txBox="1"/>
          <p:nvPr/>
        </p:nvSpPr>
        <p:spPr>
          <a:xfrm>
            <a:off x="1033276" y="2029096"/>
            <a:ext cx="525000" cy="169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8FAFC"/>
                </a:solidFill>
                <a:latin typeface="Calibri"/>
                <a:ea typeface="Calibri"/>
                <a:cs typeface="Calibri"/>
                <a:sym typeface="Calibri"/>
              </a:rPr>
              <a:t>Skill</a:t>
            </a:r>
            <a:endParaRPr sz="1100" b="0" i="0" u="none" strike="noStrike" cap="none">
              <a:solidFill>
                <a:srgbClr val="000000"/>
              </a:solidFill>
              <a:latin typeface="Arial"/>
              <a:ea typeface="Arial"/>
              <a:cs typeface="Arial"/>
              <a:sym typeface="Arial"/>
            </a:endParaRPr>
          </a:p>
        </p:txBody>
      </p:sp>
      <p:sp>
        <p:nvSpPr>
          <p:cNvPr id="428" name="Google Shape;428;p59"/>
          <p:cNvSpPr txBox="1"/>
          <p:nvPr/>
        </p:nvSpPr>
        <p:spPr>
          <a:xfrm>
            <a:off x="2525762" y="2029096"/>
            <a:ext cx="937500" cy="169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8FAFC"/>
                </a:solidFill>
                <a:latin typeface="Calibri"/>
                <a:ea typeface="Calibri"/>
                <a:cs typeface="Calibri"/>
                <a:sym typeface="Calibri"/>
              </a:rPr>
              <a:t>Subagent</a:t>
            </a:r>
            <a:endParaRPr sz="1100" b="0" i="0" u="none" strike="noStrike" cap="none">
              <a:solidFill>
                <a:srgbClr val="000000"/>
              </a:solidFill>
              <a:latin typeface="Arial"/>
              <a:ea typeface="Arial"/>
              <a:cs typeface="Arial"/>
              <a:sym typeface="Arial"/>
            </a:endParaRPr>
          </a:p>
        </p:txBody>
      </p:sp>
      <p:sp>
        <p:nvSpPr>
          <p:cNvPr id="429" name="Google Shape;429;p59"/>
          <p:cNvSpPr txBox="1"/>
          <p:nvPr/>
        </p:nvSpPr>
        <p:spPr>
          <a:xfrm>
            <a:off x="4346324" y="2029096"/>
            <a:ext cx="622500" cy="169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8FAFC"/>
                </a:solidFill>
                <a:latin typeface="Calibri"/>
                <a:ea typeface="Calibri"/>
                <a:cs typeface="Calibri"/>
                <a:sym typeface="Calibri"/>
              </a:rPr>
              <a:t>Hook</a:t>
            </a:r>
            <a:endParaRPr sz="1100" b="0" i="0" u="none" strike="noStrike" cap="none">
              <a:solidFill>
                <a:srgbClr val="000000"/>
              </a:solidFill>
              <a:latin typeface="Arial"/>
              <a:ea typeface="Arial"/>
              <a:cs typeface="Arial"/>
              <a:sym typeface="Arial"/>
            </a:endParaRPr>
          </a:p>
        </p:txBody>
      </p:sp>
      <p:sp>
        <p:nvSpPr>
          <p:cNvPr id="430" name="Google Shape;430;p59"/>
          <p:cNvSpPr txBox="1"/>
          <p:nvPr/>
        </p:nvSpPr>
        <p:spPr>
          <a:xfrm>
            <a:off x="5788089" y="2029096"/>
            <a:ext cx="1065000" cy="169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8FAFC"/>
                </a:solidFill>
                <a:latin typeface="Calibri"/>
                <a:ea typeface="Calibri"/>
                <a:cs typeface="Calibri"/>
                <a:sym typeface="Calibri"/>
              </a:rPr>
              <a:t>MCP Server</a:t>
            </a:r>
            <a:endParaRPr sz="1100" b="0" i="0" u="none" strike="noStrike" cap="none">
              <a:solidFill>
                <a:srgbClr val="000000"/>
              </a:solidFill>
              <a:latin typeface="Arial"/>
              <a:ea typeface="Arial"/>
              <a:cs typeface="Arial"/>
              <a:sym typeface="Arial"/>
            </a:endParaRPr>
          </a:p>
        </p:txBody>
      </p:sp>
      <p:sp>
        <p:nvSpPr>
          <p:cNvPr id="431" name="Google Shape;431;p59"/>
          <p:cNvSpPr txBox="1"/>
          <p:nvPr/>
        </p:nvSpPr>
        <p:spPr>
          <a:xfrm>
            <a:off x="7689019" y="2029096"/>
            <a:ext cx="675000" cy="169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8FAFC"/>
                </a:solidFill>
                <a:latin typeface="Calibri"/>
                <a:ea typeface="Calibri"/>
                <a:cs typeface="Calibri"/>
                <a:sym typeface="Calibri"/>
              </a:rPr>
              <a:t>Plugin</a:t>
            </a:r>
            <a:endParaRPr sz="1100" b="0" i="0" u="none" strike="noStrike" cap="none">
              <a:solidFill>
                <a:srgbClr val="000000"/>
              </a:solidFill>
              <a:latin typeface="Arial"/>
              <a:ea typeface="Arial"/>
              <a:cs typeface="Arial"/>
              <a:sym typeface="Arial"/>
            </a:endParaRPr>
          </a:p>
        </p:txBody>
      </p:sp>
      <p:sp>
        <p:nvSpPr>
          <p:cNvPr id="432" name="Google Shape;432;p59"/>
          <p:cNvSpPr txBox="1"/>
          <p:nvPr/>
        </p:nvSpPr>
        <p:spPr>
          <a:xfrm>
            <a:off x="1407319" y="3866125"/>
            <a:ext cx="1480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Calibri"/>
                <a:ea typeface="Calibri"/>
                <a:cs typeface="Calibri"/>
                <a:sym typeface="Calibri"/>
              </a:rPr>
              <a:t>Context</a:t>
            </a:r>
            <a:endParaRPr sz="1100" b="0" i="0" u="none" strike="noStrike" cap="none">
              <a:solidFill>
                <a:srgbClr val="000000"/>
              </a:solidFill>
              <a:latin typeface="Arial"/>
              <a:ea typeface="Arial"/>
              <a:cs typeface="Arial"/>
              <a:sym typeface="Arial"/>
            </a:endParaRPr>
          </a:p>
        </p:txBody>
      </p:sp>
      <p:sp>
        <p:nvSpPr>
          <p:cNvPr id="433" name="Google Shape;433;p59"/>
          <p:cNvSpPr txBox="1"/>
          <p:nvPr/>
        </p:nvSpPr>
        <p:spPr>
          <a:xfrm>
            <a:off x="1407319" y="4180450"/>
            <a:ext cx="14103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9FD4F7"/>
                </a:solidFill>
                <a:latin typeface="Courier New"/>
                <a:ea typeface="Courier New"/>
                <a:cs typeface="Courier New"/>
                <a:sym typeface="Courier New"/>
              </a:rPr>
              <a:t>WORKING MEMORY</a:t>
            </a:r>
            <a:endParaRPr sz="1100" b="0" i="0" u="none" strike="noStrike" cap="none">
              <a:solidFill>
                <a:srgbClr val="000000"/>
              </a:solidFill>
              <a:latin typeface="Arial"/>
              <a:ea typeface="Arial"/>
              <a:cs typeface="Arial"/>
              <a:sym typeface="Arial"/>
            </a:endParaRPr>
          </a:p>
        </p:txBody>
      </p:sp>
      <p:sp>
        <p:nvSpPr>
          <p:cNvPr id="434" name="Google Shape;434;p59"/>
          <p:cNvSpPr txBox="1"/>
          <p:nvPr/>
        </p:nvSpPr>
        <p:spPr>
          <a:xfrm>
            <a:off x="5422106" y="3866125"/>
            <a:ext cx="16923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Calibri"/>
                <a:ea typeface="Calibri"/>
                <a:cs typeface="Calibri"/>
                <a:sym typeface="Calibri"/>
              </a:rPr>
              <a:t>Memory</a:t>
            </a:r>
            <a:endParaRPr sz="1100" b="0" i="0" u="none" strike="noStrike" cap="none">
              <a:solidFill>
                <a:srgbClr val="000000"/>
              </a:solidFill>
              <a:latin typeface="Arial"/>
              <a:ea typeface="Arial"/>
              <a:cs typeface="Arial"/>
              <a:sym typeface="Arial"/>
            </a:endParaRPr>
          </a:p>
        </p:txBody>
      </p:sp>
      <p:sp>
        <p:nvSpPr>
          <p:cNvPr id="435" name="Google Shape;435;p59"/>
          <p:cNvSpPr txBox="1"/>
          <p:nvPr/>
        </p:nvSpPr>
        <p:spPr>
          <a:xfrm>
            <a:off x="5422106" y="4180450"/>
            <a:ext cx="16116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9FD4F7"/>
                </a:solidFill>
                <a:latin typeface="Courier New"/>
                <a:ea typeface="Courier New"/>
                <a:cs typeface="Courier New"/>
                <a:sym typeface="Courier New"/>
              </a:rPr>
              <a:t>PERSISTENT STATE</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40"/>
        <p:cNvGrpSpPr/>
        <p:nvPr/>
      </p:nvGrpSpPr>
      <p:grpSpPr>
        <a:xfrm>
          <a:off x="0" y="0"/>
          <a:ext cx="0" cy="0"/>
          <a:chOff x="0" y="0"/>
          <a:chExt cx="0" cy="0"/>
        </a:xfrm>
      </p:grpSpPr>
      <p:pic>
        <p:nvPicPr>
          <p:cNvPr id="441" name="Google Shape;441;p60" descr="A cluttered desk covered in papers, notes and screens: a full context window."/>
          <p:cNvPicPr preferRelativeResize="0"/>
          <p:nvPr/>
        </p:nvPicPr>
        <p:blipFill rotWithShape="1">
          <a:blip r:embed="rId3">
            <a:alphaModFix/>
          </a:blip>
          <a:srcRect l="2941" r="2941"/>
          <a:stretch/>
        </p:blipFill>
        <p:spPr>
          <a:xfrm>
            <a:off x="493776" y="630936"/>
            <a:ext cx="3657600" cy="3886200"/>
          </a:xfrm>
          <a:prstGeom prst="roundRect">
            <a:avLst>
              <a:gd name="adj" fmla="val 3000"/>
            </a:avLst>
          </a:prstGeom>
          <a:noFill/>
          <a:ln>
            <a:noFill/>
          </a:ln>
        </p:spPr>
      </p:pic>
      <p:sp>
        <p:nvSpPr>
          <p:cNvPr id="442" name="Google Shape;442;p60"/>
          <p:cNvSpPr txBox="1"/>
          <p:nvPr/>
        </p:nvSpPr>
        <p:spPr>
          <a:xfrm>
            <a:off x="4498848" y="630936"/>
            <a:ext cx="4151376"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alibri"/>
                <a:ea typeface="Calibri"/>
                <a:cs typeface="Calibri"/>
                <a:sym typeface="Calibri"/>
              </a:rPr>
              <a:t>THE FOUNDATION  ·  1 OF 2</a:t>
            </a:r>
            <a:endParaRPr/>
          </a:p>
        </p:txBody>
      </p:sp>
      <p:sp>
        <p:nvSpPr>
          <p:cNvPr id="443" name="Google Shape;443;p60"/>
          <p:cNvSpPr txBox="1">
            <a:spLocks noGrp="1"/>
          </p:cNvSpPr>
          <p:nvPr>
            <p:ph type="title"/>
          </p:nvPr>
        </p:nvSpPr>
        <p:spPr>
          <a:xfrm>
            <a:off x="4498848" y="850392"/>
            <a:ext cx="4151376"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800" b="1">
                <a:solidFill>
                  <a:srgbClr val="FFFFFF"/>
                </a:solidFill>
                <a:latin typeface="Century Schoolbook"/>
                <a:ea typeface="Century Schoolbook"/>
                <a:cs typeface="Century Schoolbook"/>
                <a:sym typeface="Century Schoolbook"/>
              </a:rPr>
              <a:t>Context</a:t>
            </a:r>
            <a:endParaRPr sz="2800"/>
          </a:p>
        </p:txBody>
      </p:sp>
      <p:sp>
        <p:nvSpPr>
          <p:cNvPr id="444" name="Google Shape;444;p60"/>
          <p:cNvSpPr txBox="1"/>
          <p:nvPr/>
        </p:nvSpPr>
        <p:spPr>
          <a:xfrm>
            <a:off x="4498848" y="1344168"/>
            <a:ext cx="415137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250"/>
              <a:buFont typeface="Arial"/>
              <a:buNone/>
            </a:pPr>
            <a:r>
              <a:rPr lang="en-GB" sz="1250" b="0" i="0" u="none" strike="noStrike" cap="none">
                <a:solidFill>
                  <a:srgbClr val="93A9C0"/>
                </a:solidFill>
                <a:latin typeface="Calibri"/>
                <a:ea typeface="Calibri"/>
                <a:cs typeface="Calibri"/>
                <a:sym typeface="Calibri"/>
              </a:rPr>
              <a:t>Working memory: everything Claude can see right now.</a:t>
            </a:r>
            <a:endParaRPr/>
          </a:p>
        </p:txBody>
      </p:sp>
      <p:sp>
        <p:nvSpPr>
          <p:cNvPr id="445" name="Google Shape;445;p60"/>
          <p:cNvSpPr txBox="1"/>
          <p:nvPr/>
        </p:nvSpPr>
        <p:spPr>
          <a:xfrm>
            <a:off x="4498848" y="1755648"/>
            <a:ext cx="4151376"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KEEP IT CLEAN</a:t>
            </a:r>
            <a:endParaRPr/>
          </a:p>
        </p:txBody>
      </p:sp>
      <p:cxnSp>
        <p:nvCxnSpPr>
          <p:cNvPr id="446" name="Google Shape;446;p60"/>
          <p:cNvCxnSpPr/>
          <p:nvPr/>
        </p:nvCxnSpPr>
        <p:spPr>
          <a:xfrm>
            <a:off x="4498848" y="1956816"/>
            <a:ext cx="4151376" cy="0"/>
          </a:xfrm>
          <a:prstGeom prst="straightConnector1">
            <a:avLst/>
          </a:prstGeom>
          <a:noFill/>
          <a:ln w="9525" cap="flat" cmpd="sng">
            <a:solidFill>
              <a:srgbClr val="1E3044"/>
            </a:solidFill>
            <a:prstDash val="solid"/>
            <a:round/>
            <a:headEnd type="none" w="sm" len="sm"/>
            <a:tailEnd type="none" w="sm" len="sm"/>
          </a:ln>
        </p:spPr>
      </p:cxnSp>
      <p:sp>
        <p:nvSpPr>
          <p:cNvPr id="447" name="Google Shape;447;p60"/>
          <p:cNvSpPr txBox="1"/>
          <p:nvPr/>
        </p:nvSpPr>
        <p:spPr>
          <a:xfrm>
            <a:off x="4498848" y="1956816"/>
            <a:ext cx="157276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7FC6F3"/>
                </a:solidFill>
                <a:latin typeface="Courier New"/>
                <a:ea typeface="Courier New"/>
                <a:cs typeface="Courier New"/>
                <a:sym typeface="Courier New"/>
              </a:rPr>
              <a:t>/context</a:t>
            </a:r>
            <a:endParaRPr/>
          </a:p>
        </p:txBody>
      </p:sp>
      <p:sp>
        <p:nvSpPr>
          <p:cNvPr id="448" name="Google Shape;448;p60"/>
          <p:cNvSpPr txBox="1"/>
          <p:nvPr/>
        </p:nvSpPr>
        <p:spPr>
          <a:xfrm>
            <a:off x="6071616" y="1956816"/>
            <a:ext cx="257860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see what is filling it</a:t>
            </a:r>
            <a:endParaRPr/>
          </a:p>
        </p:txBody>
      </p:sp>
      <p:cxnSp>
        <p:nvCxnSpPr>
          <p:cNvPr id="449" name="Google Shape;449;p60"/>
          <p:cNvCxnSpPr/>
          <p:nvPr/>
        </p:nvCxnSpPr>
        <p:spPr>
          <a:xfrm>
            <a:off x="4498848" y="2231136"/>
            <a:ext cx="4151376" cy="0"/>
          </a:xfrm>
          <a:prstGeom prst="straightConnector1">
            <a:avLst/>
          </a:prstGeom>
          <a:noFill/>
          <a:ln w="9525" cap="flat" cmpd="sng">
            <a:solidFill>
              <a:srgbClr val="1E3044"/>
            </a:solidFill>
            <a:prstDash val="solid"/>
            <a:round/>
            <a:headEnd type="none" w="sm" len="sm"/>
            <a:tailEnd type="none" w="sm" len="sm"/>
          </a:ln>
        </p:spPr>
      </p:cxnSp>
      <p:sp>
        <p:nvSpPr>
          <p:cNvPr id="450" name="Google Shape;450;p60"/>
          <p:cNvSpPr txBox="1"/>
          <p:nvPr/>
        </p:nvSpPr>
        <p:spPr>
          <a:xfrm>
            <a:off x="4498848" y="2231136"/>
            <a:ext cx="157276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7FC6F3"/>
                </a:solidFill>
                <a:latin typeface="Courier New"/>
                <a:ea typeface="Courier New"/>
                <a:cs typeface="Courier New"/>
                <a:sym typeface="Courier New"/>
              </a:rPr>
              <a:t>/compact [focus]</a:t>
            </a:r>
            <a:endParaRPr/>
          </a:p>
        </p:txBody>
      </p:sp>
      <p:sp>
        <p:nvSpPr>
          <p:cNvPr id="451" name="Google Shape;451;p60"/>
          <p:cNvSpPr txBox="1"/>
          <p:nvPr/>
        </p:nvSpPr>
        <p:spPr>
          <a:xfrm>
            <a:off x="6071616" y="2231136"/>
            <a:ext cx="257860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summarise, keep what matters</a:t>
            </a:r>
            <a:endParaRPr/>
          </a:p>
        </p:txBody>
      </p:sp>
      <p:cxnSp>
        <p:nvCxnSpPr>
          <p:cNvPr id="452" name="Google Shape;452;p60"/>
          <p:cNvCxnSpPr/>
          <p:nvPr/>
        </p:nvCxnSpPr>
        <p:spPr>
          <a:xfrm>
            <a:off x="4498848" y="2505456"/>
            <a:ext cx="4151376" cy="0"/>
          </a:xfrm>
          <a:prstGeom prst="straightConnector1">
            <a:avLst/>
          </a:prstGeom>
          <a:noFill/>
          <a:ln w="9525" cap="flat" cmpd="sng">
            <a:solidFill>
              <a:srgbClr val="1E3044"/>
            </a:solidFill>
            <a:prstDash val="solid"/>
            <a:round/>
            <a:headEnd type="none" w="sm" len="sm"/>
            <a:tailEnd type="none" w="sm" len="sm"/>
          </a:ln>
        </p:spPr>
      </p:cxnSp>
      <p:sp>
        <p:nvSpPr>
          <p:cNvPr id="453" name="Google Shape;453;p60"/>
          <p:cNvSpPr txBox="1"/>
          <p:nvPr/>
        </p:nvSpPr>
        <p:spPr>
          <a:xfrm>
            <a:off x="4498848" y="2505456"/>
            <a:ext cx="157276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7FC6F3"/>
                </a:solidFill>
                <a:latin typeface="Courier New"/>
                <a:ea typeface="Courier New"/>
                <a:cs typeface="Courier New"/>
                <a:sym typeface="Courier New"/>
              </a:rPr>
              <a:t>auto-compact</a:t>
            </a:r>
            <a:endParaRPr/>
          </a:p>
        </p:txBody>
      </p:sp>
      <p:sp>
        <p:nvSpPr>
          <p:cNvPr id="454" name="Google Shape;454;p60"/>
          <p:cNvSpPr txBox="1"/>
          <p:nvPr/>
        </p:nvSpPr>
        <p:spPr>
          <a:xfrm>
            <a:off x="6071616" y="2505456"/>
            <a:ext cx="257860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runs on its own when nearly full</a:t>
            </a:r>
            <a:endParaRPr/>
          </a:p>
        </p:txBody>
      </p:sp>
      <p:cxnSp>
        <p:nvCxnSpPr>
          <p:cNvPr id="455" name="Google Shape;455;p60"/>
          <p:cNvCxnSpPr/>
          <p:nvPr/>
        </p:nvCxnSpPr>
        <p:spPr>
          <a:xfrm>
            <a:off x="4498848" y="2779776"/>
            <a:ext cx="4151376" cy="0"/>
          </a:xfrm>
          <a:prstGeom prst="straightConnector1">
            <a:avLst/>
          </a:prstGeom>
          <a:noFill/>
          <a:ln w="9525" cap="flat" cmpd="sng">
            <a:solidFill>
              <a:srgbClr val="1E3044"/>
            </a:solidFill>
            <a:prstDash val="solid"/>
            <a:round/>
            <a:headEnd type="none" w="sm" len="sm"/>
            <a:tailEnd type="none" w="sm" len="sm"/>
          </a:ln>
        </p:spPr>
      </p:cxnSp>
      <p:sp>
        <p:nvSpPr>
          <p:cNvPr id="456" name="Google Shape;456;p60"/>
          <p:cNvSpPr txBox="1"/>
          <p:nvPr/>
        </p:nvSpPr>
        <p:spPr>
          <a:xfrm>
            <a:off x="4498848" y="2779776"/>
            <a:ext cx="157276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7FC6F3"/>
                </a:solidFill>
                <a:latin typeface="Courier New"/>
                <a:ea typeface="Courier New"/>
                <a:cs typeface="Courier New"/>
                <a:sym typeface="Courier New"/>
              </a:rPr>
              <a:t>/clear</a:t>
            </a:r>
            <a:endParaRPr/>
          </a:p>
        </p:txBody>
      </p:sp>
      <p:sp>
        <p:nvSpPr>
          <p:cNvPr id="457" name="Google Shape;457;p60"/>
          <p:cNvSpPr txBox="1"/>
          <p:nvPr/>
        </p:nvSpPr>
        <p:spPr>
          <a:xfrm>
            <a:off x="6071616" y="2779776"/>
            <a:ext cx="257860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start fresh for a new task</a:t>
            </a:r>
            <a:endParaRPr/>
          </a:p>
        </p:txBody>
      </p:sp>
      <p:cxnSp>
        <p:nvCxnSpPr>
          <p:cNvPr id="458" name="Google Shape;458;p60"/>
          <p:cNvCxnSpPr/>
          <p:nvPr/>
        </p:nvCxnSpPr>
        <p:spPr>
          <a:xfrm>
            <a:off x="4498848" y="3054096"/>
            <a:ext cx="4151376" cy="0"/>
          </a:xfrm>
          <a:prstGeom prst="straightConnector1">
            <a:avLst/>
          </a:prstGeom>
          <a:noFill/>
          <a:ln w="9525" cap="flat" cmpd="sng">
            <a:solidFill>
              <a:srgbClr val="1E3044"/>
            </a:solidFill>
            <a:prstDash val="solid"/>
            <a:round/>
            <a:headEnd type="none" w="sm" len="sm"/>
            <a:tailEnd type="none" w="sm" len="sm"/>
          </a:ln>
        </p:spPr>
      </p:cxnSp>
      <p:sp>
        <p:nvSpPr>
          <p:cNvPr id="459" name="Google Shape;459;p60"/>
          <p:cNvSpPr txBox="1"/>
          <p:nvPr/>
        </p:nvSpPr>
        <p:spPr>
          <a:xfrm>
            <a:off x="4498848" y="3054096"/>
            <a:ext cx="157276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7FC6F3"/>
                </a:solidFill>
                <a:latin typeface="Courier New"/>
                <a:ea typeface="Courier New"/>
                <a:cs typeface="Courier New"/>
                <a:sym typeface="Courier New"/>
              </a:rPr>
              <a:t>subagents</a:t>
            </a:r>
            <a:endParaRPr/>
          </a:p>
        </p:txBody>
      </p:sp>
      <p:sp>
        <p:nvSpPr>
          <p:cNvPr id="460" name="Google Shape;460;p60"/>
          <p:cNvSpPr txBox="1"/>
          <p:nvPr/>
        </p:nvSpPr>
        <p:spPr>
          <a:xfrm>
            <a:off x="6071616" y="3054096"/>
            <a:ext cx="2578608"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read big things, return a summary</a:t>
            </a:r>
            <a:endParaRPr/>
          </a:p>
        </p:txBody>
      </p:sp>
      <p:cxnSp>
        <p:nvCxnSpPr>
          <p:cNvPr id="461" name="Google Shape;461;p60"/>
          <p:cNvCxnSpPr/>
          <p:nvPr/>
        </p:nvCxnSpPr>
        <p:spPr>
          <a:xfrm>
            <a:off x="4498848" y="3328416"/>
            <a:ext cx="4151376" cy="0"/>
          </a:xfrm>
          <a:prstGeom prst="straightConnector1">
            <a:avLst/>
          </a:prstGeom>
          <a:noFill/>
          <a:ln w="9525" cap="flat" cmpd="sng">
            <a:solidFill>
              <a:srgbClr val="1E3044"/>
            </a:solidFill>
            <a:prstDash val="solid"/>
            <a:round/>
            <a:headEnd type="none" w="sm" len="sm"/>
            <a:tailEnd type="none" w="sm" len="sm"/>
          </a:ln>
        </p:spPr>
      </p:cxnSp>
      <p:sp>
        <p:nvSpPr>
          <p:cNvPr id="462" name="Google Shape;462;p60"/>
          <p:cNvSpPr txBox="1"/>
          <p:nvPr/>
        </p:nvSpPr>
        <p:spPr>
          <a:xfrm>
            <a:off x="4498848" y="3493008"/>
            <a:ext cx="4151376"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TOOLS THAT SAVE TOKENS</a:t>
            </a:r>
            <a:endParaRPr/>
          </a:p>
        </p:txBody>
      </p:sp>
      <p:sp>
        <p:nvSpPr>
          <p:cNvPr id="463" name="Google Shape;463;p60"/>
          <p:cNvSpPr txBox="1"/>
          <p:nvPr/>
        </p:nvSpPr>
        <p:spPr>
          <a:xfrm>
            <a:off x="4498848" y="3694176"/>
            <a:ext cx="914400" cy="205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FFFFFF"/>
                </a:solidFill>
                <a:latin typeface="Calibri"/>
                <a:ea typeface="Calibri"/>
                <a:cs typeface="Calibri"/>
                <a:sym typeface="Calibri"/>
              </a:rPr>
              <a:t>caveman</a:t>
            </a:r>
            <a:endParaRPr/>
          </a:p>
        </p:txBody>
      </p:sp>
      <p:sp>
        <p:nvSpPr>
          <p:cNvPr id="464" name="Google Shape;464;p60"/>
          <p:cNvSpPr txBox="1"/>
          <p:nvPr/>
        </p:nvSpPr>
        <p:spPr>
          <a:xfrm>
            <a:off x="5413248" y="3694176"/>
            <a:ext cx="3236976" cy="205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Terse replies, fewer tokens. Also shrinks CLAUDE.md.</a:t>
            </a:r>
            <a:endParaRPr/>
          </a:p>
        </p:txBody>
      </p:sp>
      <p:sp>
        <p:nvSpPr>
          <p:cNvPr id="465" name="Google Shape;465;p60"/>
          <p:cNvSpPr txBox="1"/>
          <p:nvPr/>
        </p:nvSpPr>
        <p:spPr>
          <a:xfrm>
            <a:off x="4498848" y="3899916"/>
            <a:ext cx="914400" cy="205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FFFFFF"/>
                </a:solidFill>
                <a:latin typeface="Calibri"/>
                <a:ea typeface="Calibri"/>
                <a:cs typeface="Calibri"/>
                <a:sym typeface="Calibri"/>
              </a:rPr>
              <a:t>Context7</a:t>
            </a:r>
            <a:endParaRPr/>
          </a:p>
        </p:txBody>
      </p:sp>
      <p:sp>
        <p:nvSpPr>
          <p:cNvPr id="466" name="Google Shape;466;p60"/>
          <p:cNvSpPr txBox="1"/>
          <p:nvPr/>
        </p:nvSpPr>
        <p:spPr>
          <a:xfrm>
            <a:off x="5413248" y="3899916"/>
            <a:ext cx="3236976" cy="205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Current Playwright/Appium docs for your version.</a:t>
            </a:r>
            <a:endParaRPr/>
          </a:p>
        </p:txBody>
      </p:sp>
      <p:sp>
        <p:nvSpPr>
          <p:cNvPr id="467" name="Google Shape;467;p60"/>
          <p:cNvSpPr txBox="1"/>
          <p:nvPr/>
        </p:nvSpPr>
        <p:spPr>
          <a:xfrm>
            <a:off x="4498848" y="4105656"/>
            <a:ext cx="914400" cy="205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FFFFFF"/>
                </a:solidFill>
                <a:latin typeface="Calibri"/>
                <a:ea typeface="Calibri"/>
                <a:cs typeface="Calibri"/>
                <a:sym typeface="Calibri"/>
              </a:rPr>
              <a:t>Serena</a:t>
            </a:r>
            <a:endParaRPr/>
          </a:p>
        </p:txBody>
      </p:sp>
      <p:sp>
        <p:nvSpPr>
          <p:cNvPr id="468" name="Google Shape;468;p60"/>
          <p:cNvSpPr txBox="1"/>
          <p:nvPr/>
        </p:nvSpPr>
        <p:spPr>
          <a:xfrm>
            <a:off x="5413248" y="4105656"/>
            <a:ext cx="3236976" cy="205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Finds code by symbol, not by reading whole files.</a:t>
            </a:r>
            <a:endParaRPr/>
          </a:p>
        </p:txBody>
      </p:sp>
      <p:sp>
        <p:nvSpPr>
          <p:cNvPr id="469" name="Google Shape;469;p60"/>
          <p:cNvSpPr txBox="1"/>
          <p:nvPr/>
        </p:nvSpPr>
        <p:spPr>
          <a:xfrm>
            <a:off x="4498848" y="4311396"/>
            <a:ext cx="914400" cy="205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FFFFFF"/>
                </a:solidFill>
                <a:latin typeface="Calibri"/>
                <a:ea typeface="Calibri"/>
                <a:cs typeface="Calibri"/>
                <a:sym typeface="Calibri"/>
              </a:rPr>
              <a:t>Repomix</a:t>
            </a:r>
            <a:endParaRPr/>
          </a:p>
        </p:txBody>
      </p:sp>
      <p:sp>
        <p:nvSpPr>
          <p:cNvPr id="470" name="Google Shape;470;p60"/>
          <p:cNvSpPr txBox="1"/>
          <p:nvPr/>
        </p:nvSpPr>
        <p:spPr>
          <a:xfrm>
            <a:off x="5413248" y="4311396"/>
            <a:ext cx="3236976" cy="205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Packs a repo into one AI-friendly file.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75"/>
        <p:cNvGrpSpPr/>
        <p:nvPr/>
      </p:nvGrpSpPr>
      <p:grpSpPr>
        <a:xfrm>
          <a:off x="0" y="0"/>
          <a:ext cx="0" cy="0"/>
          <a:chOff x="0" y="0"/>
          <a:chExt cx="0" cy="0"/>
        </a:xfrm>
      </p:grpSpPr>
      <p:pic>
        <p:nvPicPr>
          <p:cNvPr id="476" name="Google Shape;476;p61" descr="A tall bookcase full of reference books: memory that persists."/>
          <p:cNvPicPr preferRelativeResize="0"/>
          <p:nvPr/>
        </p:nvPicPr>
        <p:blipFill rotWithShape="1">
          <a:blip r:embed="rId3">
            <a:alphaModFix/>
          </a:blip>
          <a:srcRect t="1000" b="1000"/>
          <a:stretch/>
        </p:blipFill>
        <p:spPr>
          <a:xfrm>
            <a:off x="493776" y="630936"/>
            <a:ext cx="3657600" cy="3886200"/>
          </a:xfrm>
          <a:prstGeom prst="roundRect">
            <a:avLst>
              <a:gd name="adj" fmla="val 3000"/>
            </a:avLst>
          </a:prstGeom>
          <a:noFill/>
          <a:ln>
            <a:noFill/>
          </a:ln>
        </p:spPr>
      </p:pic>
      <p:sp>
        <p:nvSpPr>
          <p:cNvPr id="477" name="Google Shape;477;p61"/>
          <p:cNvSpPr txBox="1"/>
          <p:nvPr/>
        </p:nvSpPr>
        <p:spPr>
          <a:xfrm>
            <a:off x="4498848" y="630936"/>
            <a:ext cx="4151376"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alibri"/>
                <a:ea typeface="Calibri"/>
                <a:cs typeface="Calibri"/>
                <a:sym typeface="Calibri"/>
              </a:rPr>
              <a:t>THE FOUNDATION  ·  2 OF 2</a:t>
            </a:r>
            <a:endParaRPr/>
          </a:p>
        </p:txBody>
      </p:sp>
      <p:sp>
        <p:nvSpPr>
          <p:cNvPr id="478" name="Google Shape;478;p61"/>
          <p:cNvSpPr txBox="1">
            <a:spLocks noGrp="1"/>
          </p:cNvSpPr>
          <p:nvPr>
            <p:ph type="title"/>
          </p:nvPr>
        </p:nvSpPr>
        <p:spPr>
          <a:xfrm>
            <a:off x="4498848" y="850392"/>
            <a:ext cx="4151376"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800" b="1">
                <a:solidFill>
                  <a:srgbClr val="FFFFFF"/>
                </a:solidFill>
                <a:latin typeface="Century Schoolbook"/>
                <a:ea typeface="Century Schoolbook"/>
                <a:cs typeface="Century Schoolbook"/>
                <a:sym typeface="Century Schoolbook"/>
              </a:rPr>
              <a:t>Memory</a:t>
            </a:r>
            <a:endParaRPr sz="2800"/>
          </a:p>
        </p:txBody>
      </p:sp>
      <p:sp>
        <p:nvSpPr>
          <p:cNvPr id="479" name="Google Shape;479;p61"/>
          <p:cNvSpPr txBox="1"/>
          <p:nvPr/>
        </p:nvSpPr>
        <p:spPr>
          <a:xfrm>
            <a:off x="4498848" y="1344168"/>
            <a:ext cx="415137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250"/>
              <a:buFont typeface="Arial"/>
              <a:buNone/>
            </a:pPr>
            <a:r>
              <a:rPr lang="en-GB" sz="1250" b="0" i="0" u="none" strike="noStrike" cap="none">
                <a:solidFill>
                  <a:srgbClr val="93A9C0"/>
                </a:solidFill>
                <a:latin typeface="Calibri"/>
                <a:ea typeface="Calibri"/>
                <a:cs typeface="Calibri"/>
                <a:sym typeface="Calibri"/>
              </a:rPr>
              <a:t>Stays on your machine. To share it, commit it: git is the sync.</a:t>
            </a:r>
            <a:endParaRPr/>
          </a:p>
        </p:txBody>
      </p:sp>
      <p:sp>
        <p:nvSpPr>
          <p:cNvPr id="480" name="Google Shape;480;p61"/>
          <p:cNvSpPr txBox="1"/>
          <p:nvPr/>
        </p:nvSpPr>
        <p:spPr>
          <a:xfrm>
            <a:off x="4498848" y="1755648"/>
            <a:ext cx="4151376"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WHERE IT LIVES</a:t>
            </a:r>
            <a:endParaRPr/>
          </a:p>
        </p:txBody>
      </p:sp>
      <p:cxnSp>
        <p:nvCxnSpPr>
          <p:cNvPr id="481" name="Google Shape;481;p61"/>
          <p:cNvCxnSpPr/>
          <p:nvPr/>
        </p:nvCxnSpPr>
        <p:spPr>
          <a:xfrm>
            <a:off x="4498848" y="1956816"/>
            <a:ext cx="4151376" cy="0"/>
          </a:xfrm>
          <a:prstGeom prst="straightConnector1">
            <a:avLst/>
          </a:prstGeom>
          <a:noFill/>
          <a:ln w="9525" cap="flat" cmpd="sng">
            <a:solidFill>
              <a:srgbClr val="1E3044"/>
            </a:solidFill>
            <a:prstDash val="solid"/>
            <a:round/>
            <a:headEnd type="none" w="sm" len="sm"/>
            <a:tailEnd type="none" w="sm" len="sm"/>
          </a:ln>
        </p:spPr>
      </p:cxnSp>
      <p:sp>
        <p:nvSpPr>
          <p:cNvPr id="482" name="Google Shape;482;p61"/>
          <p:cNvSpPr txBox="1"/>
          <p:nvPr/>
        </p:nvSpPr>
        <p:spPr>
          <a:xfrm>
            <a:off x="4498848" y="1956816"/>
            <a:ext cx="1417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FFFFFF"/>
                </a:solidFill>
                <a:latin typeface="Calibri"/>
                <a:ea typeface="Calibri"/>
                <a:cs typeface="Calibri"/>
                <a:sym typeface="Calibri"/>
              </a:rPr>
              <a:t>Organisation</a:t>
            </a:r>
            <a:endParaRPr/>
          </a:p>
        </p:txBody>
      </p:sp>
      <p:sp>
        <p:nvSpPr>
          <p:cNvPr id="483" name="Google Shape;483;p61"/>
          <p:cNvSpPr txBox="1"/>
          <p:nvPr/>
        </p:nvSpPr>
        <p:spPr>
          <a:xfrm>
            <a:off x="5916168" y="1956816"/>
            <a:ext cx="2734056"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7FC6F3"/>
                </a:solidFill>
                <a:latin typeface="Courier New"/>
                <a:ea typeface="Courier New"/>
                <a:cs typeface="Courier New"/>
                <a:sym typeface="Courier New"/>
              </a:rPr>
              <a:t>managed CLAUDE.md (by IT)</a:t>
            </a:r>
            <a:endParaRPr/>
          </a:p>
        </p:txBody>
      </p:sp>
      <p:cxnSp>
        <p:nvCxnSpPr>
          <p:cNvPr id="484" name="Google Shape;484;p61"/>
          <p:cNvCxnSpPr/>
          <p:nvPr/>
        </p:nvCxnSpPr>
        <p:spPr>
          <a:xfrm>
            <a:off x="4498848" y="2231136"/>
            <a:ext cx="4151376" cy="0"/>
          </a:xfrm>
          <a:prstGeom prst="straightConnector1">
            <a:avLst/>
          </a:prstGeom>
          <a:noFill/>
          <a:ln w="9525" cap="flat" cmpd="sng">
            <a:solidFill>
              <a:srgbClr val="1E3044"/>
            </a:solidFill>
            <a:prstDash val="solid"/>
            <a:round/>
            <a:headEnd type="none" w="sm" len="sm"/>
            <a:tailEnd type="none" w="sm" len="sm"/>
          </a:ln>
        </p:spPr>
      </p:cxnSp>
      <p:sp>
        <p:nvSpPr>
          <p:cNvPr id="485" name="Google Shape;485;p61"/>
          <p:cNvSpPr txBox="1"/>
          <p:nvPr/>
        </p:nvSpPr>
        <p:spPr>
          <a:xfrm>
            <a:off x="4498848" y="2231136"/>
            <a:ext cx="1417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FFFFFF"/>
                </a:solidFill>
                <a:latin typeface="Calibri"/>
                <a:ea typeface="Calibri"/>
                <a:cs typeface="Calibri"/>
                <a:sym typeface="Calibri"/>
              </a:rPr>
              <a:t>You, all projects</a:t>
            </a:r>
            <a:endParaRPr/>
          </a:p>
        </p:txBody>
      </p:sp>
      <p:sp>
        <p:nvSpPr>
          <p:cNvPr id="486" name="Google Shape;486;p61"/>
          <p:cNvSpPr txBox="1"/>
          <p:nvPr/>
        </p:nvSpPr>
        <p:spPr>
          <a:xfrm>
            <a:off x="5916168" y="2231136"/>
            <a:ext cx="2734056"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7FC6F3"/>
                </a:solidFill>
                <a:latin typeface="Courier New"/>
                <a:ea typeface="Courier New"/>
                <a:cs typeface="Courier New"/>
                <a:sym typeface="Courier New"/>
              </a:rPr>
              <a:t>~/.claude/CLAUDE.md</a:t>
            </a:r>
            <a:endParaRPr/>
          </a:p>
        </p:txBody>
      </p:sp>
      <p:cxnSp>
        <p:nvCxnSpPr>
          <p:cNvPr id="487" name="Google Shape;487;p61"/>
          <p:cNvCxnSpPr/>
          <p:nvPr/>
        </p:nvCxnSpPr>
        <p:spPr>
          <a:xfrm>
            <a:off x="4498848" y="2505456"/>
            <a:ext cx="4151376" cy="0"/>
          </a:xfrm>
          <a:prstGeom prst="straightConnector1">
            <a:avLst/>
          </a:prstGeom>
          <a:noFill/>
          <a:ln w="9525" cap="flat" cmpd="sng">
            <a:solidFill>
              <a:srgbClr val="1E3044"/>
            </a:solidFill>
            <a:prstDash val="solid"/>
            <a:round/>
            <a:headEnd type="none" w="sm" len="sm"/>
            <a:tailEnd type="none" w="sm" len="sm"/>
          </a:ln>
        </p:spPr>
      </p:cxnSp>
      <p:sp>
        <p:nvSpPr>
          <p:cNvPr id="488" name="Google Shape;488;p61"/>
          <p:cNvSpPr txBox="1"/>
          <p:nvPr/>
        </p:nvSpPr>
        <p:spPr>
          <a:xfrm>
            <a:off x="4498848" y="2505456"/>
            <a:ext cx="1417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FFFFFF"/>
                </a:solidFill>
                <a:latin typeface="Calibri"/>
                <a:ea typeface="Calibri"/>
                <a:cs typeface="Calibri"/>
                <a:sym typeface="Calibri"/>
              </a:rPr>
              <a:t>Team, one repo</a:t>
            </a:r>
            <a:endParaRPr/>
          </a:p>
        </p:txBody>
      </p:sp>
      <p:sp>
        <p:nvSpPr>
          <p:cNvPr id="489" name="Google Shape;489;p61"/>
          <p:cNvSpPr txBox="1"/>
          <p:nvPr/>
        </p:nvSpPr>
        <p:spPr>
          <a:xfrm>
            <a:off x="5916168" y="2505456"/>
            <a:ext cx="2734056"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7FC6F3"/>
                </a:solidFill>
                <a:latin typeface="Courier New"/>
                <a:ea typeface="Courier New"/>
                <a:cs typeface="Courier New"/>
                <a:sym typeface="Courier New"/>
              </a:rPr>
              <a:t>./CLAUDE.md + .claude/rules/</a:t>
            </a:r>
            <a:endParaRPr/>
          </a:p>
        </p:txBody>
      </p:sp>
      <p:cxnSp>
        <p:nvCxnSpPr>
          <p:cNvPr id="490" name="Google Shape;490;p61"/>
          <p:cNvCxnSpPr/>
          <p:nvPr/>
        </p:nvCxnSpPr>
        <p:spPr>
          <a:xfrm>
            <a:off x="4498848" y="2779776"/>
            <a:ext cx="4151376" cy="0"/>
          </a:xfrm>
          <a:prstGeom prst="straightConnector1">
            <a:avLst/>
          </a:prstGeom>
          <a:noFill/>
          <a:ln w="9525" cap="flat" cmpd="sng">
            <a:solidFill>
              <a:srgbClr val="1E3044"/>
            </a:solidFill>
            <a:prstDash val="solid"/>
            <a:round/>
            <a:headEnd type="none" w="sm" len="sm"/>
            <a:tailEnd type="none" w="sm" len="sm"/>
          </a:ln>
        </p:spPr>
      </p:cxnSp>
      <p:sp>
        <p:nvSpPr>
          <p:cNvPr id="491" name="Google Shape;491;p61"/>
          <p:cNvSpPr txBox="1"/>
          <p:nvPr/>
        </p:nvSpPr>
        <p:spPr>
          <a:xfrm>
            <a:off x="4498848" y="2779776"/>
            <a:ext cx="1417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FFFFFF"/>
                </a:solidFill>
                <a:latin typeface="Calibri"/>
                <a:ea typeface="Calibri"/>
                <a:cs typeface="Calibri"/>
                <a:sym typeface="Calibri"/>
              </a:rPr>
              <a:t>Several repos</a:t>
            </a:r>
            <a:endParaRPr/>
          </a:p>
        </p:txBody>
      </p:sp>
      <p:sp>
        <p:nvSpPr>
          <p:cNvPr id="492" name="Google Shape;492;p61"/>
          <p:cNvSpPr txBox="1"/>
          <p:nvPr/>
        </p:nvSpPr>
        <p:spPr>
          <a:xfrm>
            <a:off x="5916168" y="2779776"/>
            <a:ext cx="2734056"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7FC6F3"/>
                </a:solidFill>
                <a:latin typeface="Courier New"/>
                <a:ea typeface="Courier New"/>
                <a:cs typeface="Courier New"/>
                <a:sym typeface="Courier New"/>
              </a:rPr>
              <a:t>@~/team-standards/qa.md</a:t>
            </a:r>
            <a:endParaRPr/>
          </a:p>
        </p:txBody>
      </p:sp>
      <p:cxnSp>
        <p:nvCxnSpPr>
          <p:cNvPr id="493" name="Google Shape;493;p61"/>
          <p:cNvCxnSpPr/>
          <p:nvPr/>
        </p:nvCxnSpPr>
        <p:spPr>
          <a:xfrm>
            <a:off x="4498848" y="3054096"/>
            <a:ext cx="4151376" cy="0"/>
          </a:xfrm>
          <a:prstGeom prst="straightConnector1">
            <a:avLst/>
          </a:prstGeom>
          <a:noFill/>
          <a:ln w="9525" cap="flat" cmpd="sng">
            <a:solidFill>
              <a:srgbClr val="1E3044"/>
            </a:solidFill>
            <a:prstDash val="solid"/>
            <a:round/>
            <a:headEnd type="none" w="sm" len="sm"/>
            <a:tailEnd type="none" w="sm" len="sm"/>
          </a:ln>
        </p:spPr>
      </p:cxnSp>
      <p:sp>
        <p:nvSpPr>
          <p:cNvPr id="494" name="Google Shape;494;p61"/>
          <p:cNvSpPr txBox="1"/>
          <p:nvPr/>
        </p:nvSpPr>
        <p:spPr>
          <a:xfrm>
            <a:off x="4498848" y="3054096"/>
            <a:ext cx="1417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FFFFFF"/>
                </a:solidFill>
                <a:latin typeface="Calibri"/>
                <a:ea typeface="Calibri"/>
                <a:cs typeface="Calibri"/>
                <a:sym typeface="Calibri"/>
              </a:rPr>
              <a:t>Past sessions</a:t>
            </a:r>
            <a:endParaRPr/>
          </a:p>
        </p:txBody>
      </p:sp>
      <p:sp>
        <p:nvSpPr>
          <p:cNvPr id="495" name="Google Shape;495;p61"/>
          <p:cNvSpPr txBox="1"/>
          <p:nvPr/>
        </p:nvSpPr>
        <p:spPr>
          <a:xfrm>
            <a:off x="5916168" y="3054096"/>
            <a:ext cx="2734056"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7FC6F3"/>
                </a:solidFill>
                <a:latin typeface="Courier New"/>
                <a:ea typeface="Courier New"/>
                <a:cs typeface="Courier New"/>
                <a:sym typeface="Courier New"/>
              </a:rPr>
              <a:t>claude --continue / --resume</a:t>
            </a:r>
            <a:endParaRPr/>
          </a:p>
        </p:txBody>
      </p:sp>
      <p:cxnSp>
        <p:nvCxnSpPr>
          <p:cNvPr id="496" name="Google Shape;496;p61"/>
          <p:cNvCxnSpPr/>
          <p:nvPr/>
        </p:nvCxnSpPr>
        <p:spPr>
          <a:xfrm>
            <a:off x="4498848" y="3328416"/>
            <a:ext cx="4151376" cy="0"/>
          </a:xfrm>
          <a:prstGeom prst="straightConnector1">
            <a:avLst/>
          </a:prstGeom>
          <a:noFill/>
          <a:ln w="9525" cap="flat" cmpd="sng">
            <a:solidFill>
              <a:srgbClr val="1E3044"/>
            </a:solidFill>
            <a:prstDash val="solid"/>
            <a:round/>
            <a:headEnd type="none" w="sm" len="sm"/>
            <a:tailEnd type="none" w="sm" len="sm"/>
          </a:ln>
        </p:spPr>
      </p:cxnSp>
      <p:sp>
        <p:nvSpPr>
          <p:cNvPr id="497" name="Google Shape;497;p61"/>
          <p:cNvSpPr txBox="1"/>
          <p:nvPr/>
        </p:nvSpPr>
        <p:spPr>
          <a:xfrm>
            <a:off x="4498848" y="3493008"/>
            <a:ext cx="4151376"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TOOLS WE USE</a:t>
            </a:r>
            <a:endParaRPr/>
          </a:p>
        </p:txBody>
      </p:sp>
      <p:sp>
        <p:nvSpPr>
          <p:cNvPr id="498" name="Google Shape;498;p61"/>
          <p:cNvSpPr txBox="1"/>
          <p:nvPr/>
        </p:nvSpPr>
        <p:spPr>
          <a:xfrm>
            <a:off x="4498848" y="3694176"/>
            <a:ext cx="1051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FFFFFF"/>
                </a:solidFill>
                <a:latin typeface="Calibri"/>
                <a:ea typeface="Calibri"/>
                <a:cs typeface="Calibri"/>
                <a:sym typeface="Calibri"/>
              </a:rPr>
              <a:t>claude-mem</a:t>
            </a:r>
            <a:endParaRPr/>
          </a:p>
        </p:txBody>
      </p:sp>
      <p:sp>
        <p:nvSpPr>
          <p:cNvPr id="499" name="Google Shape;499;p61"/>
          <p:cNvSpPr txBox="1"/>
          <p:nvPr/>
        </p:nvSpPr>
        <p:spPr>
          <a:xfrm>
            <a:off x="5550408" y="3694176"/>
            <a:ext cx="3099816"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Searchable history of past sessions. We use it daily.</a:t>
            </a:r>
            <a:endParaRPr/>
          </a:p>
        </p:txBody>
      </p:sp>
      <p:sp>
        <p:nvSpPr>
          <p:cNvPr id="500" name="Google Shape;500;p61"/>
          <p:cNvSpPr txBox="1"/>
          <p:nvPr/>
        </p:nvSpPr>
        <p:spPr>
          <a:xfrm>
            <a:off x="4498848" y="3968496"/>
            <a:ext cx="1051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FFFFFF"/>
                </a:solidFill>
                <a:latin typeface="Calibri"/>
                <a:ea typeface="Calibri"/>
                <a:cs typeface="Calibri"/>
                <a:sym typeface="Calibri"/>
              </a:rPr>
              <a:t>mem0</a:t>
            </a:r>
            <a:endParaRPr/>
          </a:p>
        </p:txBody>
      </p:sp>
      <p:sp>
        <p:nvSpPr>
          <p:cNvPr id="501" name="Google Shape;501;p61"/>
          <p:cNvSpPr txBox="1"/>
          <p:nvPr/>
        </p:nvSpPr>
        <p:spPr>
          <a:xfrm>
            <a:off x="5550408" y="3968496"/>
            <a:ext cx="3099816"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Long-term memory for your own QA agents.</a:t>
            </a:r>
            <a:endParaRPr/>
          </a:p>
        </p:txBody>
      </p:sp>
      <p:sp>
        <p:nvSpPr>
          <p:cNvPr id="502" name="Google Shape;502;p61"/>
          <p:cNvSpPr txBox="1"/>
          <p:nvPr/>
        </p:nvSpPr>
        <p:spPr>
          <a:xfrm>
            <a:off x="4498848" y="4242816"/>
            <a:ext cx="1051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FFFFFF"/>
                </a:solidFill>
                <a:latin typeface="Calibri"/>
                <a:ea typeface="Calibri"/>
                <a:cs typeface="Calibri"/>
                <a:sym typeface="Calibri"/>
              </a:rPr>
              <a:t>basic-memory</a:t>
            </a:r>
            <a:endParaRPr/>
          </a:p>
        </p:txBody>
      </p:sp>
      <p:sp>
        <p:nvSpPr>
          <p:cNvPr id="503" name="Google Shape;503;p61"/>
          <p:cNvSpPr txBox="1"/>
          <p:nvPr/>
        </p:nvSpPr>
        <p:spPr>
          <a:xfrm>
            <a:off x="5550408" y="4242816"/>
            <a:ext cx="3099816"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Plain Markdown notes, versioned next to the repo.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07"/>
        <p:cNvGrpSpPr/>
        <p:nvPr/>
      </p:nvGrpSpPr>
      <p:grpSpPr>
        <a:xfrm>
          <a:off x="0" y="0"/>
          <a:ext cx="0" cy="0"/>
          <a:chOff x="0" y="0"/>
          <a:chExt cx="0" cy="0"/>
        </a:xfrm>
      </p:grpSpPr>
      <p:sp>
        <p:nvSpPr>
          <p:cNvPr id="508" name="Google Shape;508;p62"/>
          <p:cNvSpPr/>
          <p:nvPr/>
        </p:nvSpPr>
        <p:spPr>
          <a:xfrm>
            <a:off x="400050" y="1007269"/>
            <a:ext cx="8343900" cy="600075"/>
          </a:xfrm>
          <a:prstGeom prst="roundRect">
            <a:avLst>
              <a:gd name="adj" fmla="val 14285"/>
            </a:avLst>
          </a:prstGeom>
          <a:solidFill>
            <a:srgbClr val="0A131E"/>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09" name="Google Shape;509;p62"/>
          <p:cNvSpPr/>
          <p:nvPr/>
        </p:nvSpPr>
        <p:spPr>
          <a:xfrm>
            <a:off x="400050" y="1739503"/>
            <a:ext cx="8343900" cy="600075"/>
          </a:xfrm>
          <a:prstGeom prst="roundRect">
            <a:avLst>
              <a:gd name="adj" fmla="val 14285"/>
            </a:avLst>
          </a:prstGeom>
          <a:solidFill>
            <a:srgbClr val="0A131E"/>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0" name="Google Shape;510;p62"/>
          <p:cNvSpPr/>
          <p:nvPr/>
        </p:nvSpPr>
        <p:spPr>
          <a:xfrm>
            <a:off x="400050" y="2471738"/>
            <a:ext cx="8343900" cy="600075"/>
          </a:xfrm>
          <a:prstGeom prst="roundRect">
            <a:avLst>
              <a:gd name="adj" fmla="val 14285"/>
            </a:avLst>
          </a:prstGeom>
          <a:solidFill>
            <a:srgbClr val="0A131E"/>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1" name="Google Shape;511;p62"/>
          <p:cNvSpPr/>
          <p:nvPr/>
        </p:nvSpPr>
        <p:spPr>
          <a:xfrm>
            <a:off x="400050" y="3203972"/>
            <a:ext cx="8343900" cy="600075"/>
          </a:xfrm>
          <a:prstGeom prst="roundRect">
            <a:avLst>
              <a:gd name="adj" fmla="val 14285"/>
            </a:avLst>
          </a:prstGeom>
          <a:solidFill>
            <a:srgbClr val="0A131E"/>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2" name="Google Shape;512;p62"/>
          <p:cNvSpPr/>
          <p:nvPr/>
        </p:nvSpPr>
        <p:spPr>
          <a:xfrm>
            <a:off x="400050" y="3936206"/>
            <a:ext cx="8343900" cy="600075"/>
          </a:xfrm>
          <a:prstGeom prst="roundRect">
            <a:avLst>
              <a:gd name="adj" fmla="val 14285"/>
            </a:avLst>
          </a:prstGeom>
          <a:solidFill>
            <a:srgbClr val="0A131E"/>
          </a:solidFill>
          <a:ln w="9525" cap="flat" cmpd="sng">
            <a:solidFill>
              <a:srgbClr val="0A4F8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3" name="Google Shape;513;p62"/>
          <p:cNvSpPr/>
          <p:nvPr/>
        </p:nvSpPr>
        <p:spPr>
          <a:xfrm>
            <a:off x="550069" y="1150144"/>
            <a:ext cx="314325" cy="314325"/>
          </a:xfrm>
          <a:prstGeom prst="roundRect">
            <a:avLst>
              <a:gd name="adj" fmla="val 22727"/>
            </a:avLst>
          </a:prstGeom>
          <a:solidFill>
            <a:srgbClr val="111D2B"/>
          </a:solidFill>
          <a:ln w="9525" cap="flat" cmpd="sng">
            <a:solidFill>
              <a:srgbClr val="4FB0EA"/>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4" name="Google Shape;514;p62"/>
          <p:cNvSpPr/>
          <p:nvPr/>
        </p:nvSpPr>
        <p:spPr>
          <a:xfrm>
            <a:off x="2364581" y="1157288"/>
            <a:ext cx="4157663" cy="300038"/>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5" name="Google Shape;515;p62"/>
          <p:cNvSpPr/>
          <p:nvPr/>
        </p:nvSpPr>
        <p:spPr>
          <a:xfrm>
            <a:off x="6665119" y="1100138"/>
            <a:ext cx="1928813" cy="414338"/>
          </a:xfrm>
          <a:prstGeom prst="roundRect">
            <a:avLst>
              <a:gd name="adj" fmla="val 13793"/>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6" name="Google Shape;516;p62"/>
          <p:cNvSpPr/>
          <p:nvPr/>
        </p:nvSpPr>
        <p:spPr>
          <a:xfrm>
            <a:off x="550069" y="1882378"/>
            <a:ext cx="314325" cy="314325"/>
          </a:xfrm>
          <a:prstGeom prst="roundRect">
            <a:avLst>
              <a:gd name="adj" fmla="val 22727"/>
            </a:avLst>
          </a:prstGeom>
          <a:solidFill>
            <a:srgbClr val="111D2B"/>
          </a:solidFill>
          <a:ln w="9525" cap="flat" cmpd="sng">
            <a:solidFill>
              <a:srgbClr val="4FB0EA"/>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7" name="Google Shape;517;p62"/>
          <p:cNvSpPr/>
          <p:nvPr/>
        </p:nvSpPr>
        <p:spPr>
          <a:xfrm>
            <a:off x="2364581" y="1889522"/>
            <a:ext cx="4029075" cy="300038"/>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8" name="Google Shape;518;p62"/>
          <p:cNvSpPr/>
          <p:nvPr/>
        </p:nvSpPr>
        <p:spPr>
          <a:xfrm>
            <a:off x="6536531" y="1832372"/>
            <a:ext cx="2057400" cy="414338"/>
          </a:xfrm>
          <a:prstGeom prst="roundRect">
            <a:avLst>
              <a:gd name="adj" fmla="val 13793"/>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19" name="Google Shape;519;p62"/>
          <p:cNvSpPr/>
          <p:nvPr/>
        </p:nvSpPr>
        <p:spPr>
          <a:xfrm>
            <a:off x="550069" y="2614613"/>
            <a:ext cx="314325" cy="314325"/>
          </a:xfrm>
          <a:prstGeom prst="roundRect">
            <a:avLst>
              <a:gd name="adj" fmla="val 22727"/>
            </a:avLst>
          </a:prstGeom>
          <a:solidFill>
            <a:srgbClr val="111D2B"/>
          </a:solidFill>
          <a:ln w="9525" cap="flat" cmpd="sng">
            <a:solidFill>
              <a:srgbClr val="4FB0EA"/>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0" name="Google Shape;520;p62"/>
          <p:cNvSpPr/>
          <p:nvPr/>
        </p:nvSpPr>
        <p:spPr>
          <a:xfrm>
            <a:off x="2364581" y="2621756"/>
            <a:ext cx="4093369" cy="300038"/>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1" name="Google Shape;521;p62"/>
          <p:cNvSpPr/>
          <p:nvPr/>
        </p:nvSpPr>
        <p:spPr>
          <a:xfrm>
            <a:off x="6600825" y="2564606"/>
            <a:ext cx="1993106" cy="414338"/>
          </a:xfrm>
          <a:prstGeom prst="roundRect">
            <a:avLst>
              <a:gd name="adj" fmla="val 13793"/>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2" name="Google Shape;522;p62"/>
          <p:cNvSpPr/>
          <p:nvPr/>
        </p:nvSpPr>
        <p:spPr>
          <a:xfrm>
            <a:off x="550069" y="3346847"/>
            <a:ext cx="314325" cy="314325"/>
          </a:xfrm>
          <a:prstGeom prst="roundRect">
            <a:avLst>
              <a:gd name="adj" fmla="val 22727"/>
            </a:avLst>
          </a:prstGeom>
          <a:solidFill>
            <a:srgbClr val="111D2B"/>
          </a:solidFill>
          <a:ln w="9525" cap="flat" cmpd="sng">
            <a:solidFill>
              <a:srgbClr val="4FB0EA"/>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3" name="Google Shape;523;p62"/>
          <p:cNvSpPr/>
          <p:nvPr/>
        </p:nvSpPr>
        <p:spPr>
          <a:xfrm>
            <a:off x="2364581" y="3353990"/>
            <a:ext cx="4086225" cy="300038"/>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4" name="Google Shape;524;p62"/>
          <p:cNvSpPr/>
          <p:nvPr/>
        </p:nvSpPr>
        <p:spPr>
          <a:xfrm>
            <a:off x="6593681" y="3296840"/>
            <a:ext cx="2000250" cy="414338"/>
          </a:xfrm>
          <a:prstGeom prst="roundRect">
            <a:avLst>
              <a:gd name="adj" fmla="val 13793"/>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5" name="Google Shape;525;p62"/>
          <p:cNvSpPr/>
          <p:nvPr/>
        </p:nvSpPr>
        <p:spPr>
          <a:xfrm>
            <a:off x="550069" y="4079081"/>
            <a:ext cx="314325" cy="314325"/>
          </a:xfrm>
          <a:prstGeom prst="roundRect">
            <a:avLst>
              <a:gd name="adj" fmla="val 22727"/>
            </a:avLst>
          </a:prstGeom>
          <a:solidFill>
            <a:srgbClr val="111D2B"/>
          </a:solidFill>
          <a:ln w="9525" cap="flat" cmpd="sng">
            <a:solidFill>
              <a:srgbClr val="4FB0EA"/>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6" name="Google Shape;526;p62"/>
          <p:cNvSpPr/>
          <p:nvPr/>
        </p:nvSpPr>
        <p:spPr>
          <a:xfrm>
            <a:off x="2364581" y="4086225"/>
            <a:ext cx="4300538" cy="300038"/>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7" name="Google Shape;527;p62"/>
          <p:cNvSpPr/>
          <p:nvPr/>
        </p:nvSpPr>
        <p:spPr>
          <a:xfrm>
            <a:off x="6807994" y="4029075"/>
            <a:ext cx="1785938" cy="414338"/>
          </a:xfrm>
          <a:prstGeom prst="roundRect">
            <a:avLst>
              <a:gd name="adj" fmla="val 13793"/>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8" name="Google Shape;528;p62"/>
          <p:cNvSpPr/>
          <p:nvPr/>
        </p:nvSpPr>
        <p:spPr>
          <a:xfrm>
            <a:off x="2364581" y="1157288"/>
            <a:ext cx="7144" cy="300038"/>
          </a:xfrm>
          <a:prstGeom prst="rect">
            <a:avLst/>
          </a:prstGeom>
          <a:solidFill>
            <a:srgbClr val="111D2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29" name="Google Shape;529;p62"/>
          <p:cNvSpPr/>
          <p:nvPr/>
        </p:nvSpPr>
        <p:spPr>
          <a:xfrm>
            <a:off x="2364581" y="1889522"/>
            <a:ext cx="7144" cy="300038"/>
          </a:xfrm>
          <a:prstGeom prst="rect">
            <a:avLst/>
          </a:prstGeom>
          <a:solidFill>
            <a:srgbClr val="111D2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30" name="Google Shape;530;p62"/>
          <p:cNvSpPr/>
          <p:nvPr/>
        </p:nvSpPr>
        <p:spPr>
          <a:xfrm>
            <a:off x="2364581" y="2621756"/>
            <a:ext cx="7144" cy="300038"/>
          </a:xfrm>
          <a:prstGeom prst="rect">
            <a:avLst/>
          </a:prstGeom>
          <a:solidFill>
            <a:srgbClr val="111D2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31" name="Google Shape;531;p62"/>
          <p:cNvSpPr/>
          <p:nvPr/>
        </p:nvSpPr>
        <p:spPr>
          <a:xfrm>
            <a:off x="2364581" y="3353990"/>
            <a:ext cx="7144" cy="300038"/>
          </a:xfrm>
          <a:prstGeom prst="rect">
            <a:avLst/>
          </a:prstGeom>
          <a:solidFill>
            <a:srgbClr val="111D2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32" name="Google Shape;532;p62"/>
          <p:cNvSpPr/>
          <p:nvPr/>
        </p:nvSpPr>
        <p:spPr>
          <a:xfrm>
            <a:off x="2364581" y="4086225"/>
            <a:ext cx="7144" cy="300038"/>
          </a:xfrm>
          <a:prstGeom prst="rect">
            <a:avLst/>
          </a:prstGeom>
          <a:solidFill>
            <a:srgbClr val="111D2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533" name="Google Shape;533;p62" descr="image.png"/>
          <p:cNvPicPr preferRelativeResize="0"/>
          <p:nvPr/>
        </p:nvPicPr>
        <p:blipFill rotWithShape="1">
          <a:blip r:embed="rId3">
            <a:alphaModFix/>
          </a:blip>
          <a:srcRect/>
          <a:stretch/>
        </p:blipFill>
        <p:spPr>
          <a:xfrm>
            <a:off x="1007269" y="1171575"/>
            <a:ext cx="92869" cy="121444"/>
          </a:xfrm>
          <a:prstGeom prst="rect">
            <a:avLst/>
          </a:prstGeom>
          <a:noFill/>
          <a:ln>
            <a:noFill/>
          </a:ln>
        </p:spPr>
      </p:pic>
      <p:pic>
        <p:nvPicPr>
          <p:cNvPr id="534" name="Google Shape;534;p62" descr="image.png"/>
          <p:cNvPicPr preferRelativeResize="0"/>
          <p:nvPr/>
        </p:nvPicPr>
        <p:blipFill rotWithShape="1">
          <a:blip r:embed="rId4">
            <a:alphaModFix/>
          </a:blip>
          <a:srcRect/>
          <a:stretch/>
        </p:blipFill>
        <p:spPr>
          <a:xfrm>
            <a:off x="1007269" y="1903809"/>
            <a:ext cx="107156" cy="121444"/>
          </a:xfrm>
          <a:prstGeom prst="rect">
            <a:avLst/>
          </a:prstGeom>
          <a:noFill/>
          <a:ln>
            <a:noFill/>
          </a:ln>
        </p:spPr>
      </p:pic>
      <p:pic>
        <p:nvPicPr>
          <p:cNvPr id="535" name="Google Shape;535;p62" descr="image.png"/>
          <p:cNvPicPr preferRelativeResize="0"/>
          <p:nvPr/>
        </p:nvPicPr>
        <p:blipFill rotWithShape="1">
          <a:blip r:embed="rId5">
            <a:alphaModFix/>
          </a:blip>
          <a:srcRect/>
          <a:stretch/>
        </p:blipFill>
        <p:spPr>
          <a:xfrm>
            <a:off x="1007269" y="2636044"/>
            <a:ext cx="121444" cy="121444"/>
          </a:xfrm>
          <a:prstGeom prst="rect">
            <a:avLst/>
          </a:prstGeom>
          <a:noFill/>
          <a:ln>
            <a:noFill/>
          </a:ln>
        </p:spPr>
      </p:pic>
      <p:pic>
        <p:nvPicPr>
          <p:cNvPr id="536" name="Google Shape;536;p62" descr="image.png"/>
          <p:cNvPicPr preferRelativeResize="0"/>
          <p:nvPr/>
        </p:nvPicPr>
        <p:blipFill rotWithShape="1">
          <a:blip r:embed="rId6">
            <a:alphaModFix/>
          </a:blip>
          <a:srcRect/>
          <a:stretch/>
        </p:blipFill>
        <p:spPr>
          <a:xfrm>
            <a:off x="1007269" y="3368278"/>
            <a:ext cx="150019" cy="121444"/>
          </a:xfrm>
          <a:prstGeom prst="rect">
            <a:avLst/>
          </a:prstGeom>
          <a:noFill/>
          <a:ln>
            <a:noFill/>
          </a:ln>
        </p:spPr>
      </p:pic>
      <p:pic>
        <p:nvPicPr>
          <p:cNvPr id="537" name="Google Shape;537;p62" descr="image.png"/>
          <p:cNvPicPr preferRelativeResize="0"/>
          <p:nvPr/>
        </p:nvPicPr>
        <p:blipFill rotWithShape="1">
          <a:blip r:embed="rId7">
            <a:alphaModFix/>
          </a:blip>
          <a:srcRect/>
          <a:stretch/>
        </p:blipFill>
        <p:spPr>
          <a:xfrm>
            <a:off x="1007269" y="4100513"/>
            <a:ext cx="150019" cy="121444"/>
          </a:xfrm>
          <a:prstGeom prst="rect">
            <a:avLst/>
          </a:prstGeom>
          <a:noFill/>
          <a:ln>
            <a:noFill/>
          </a:ln>
        </p:spPr>
      </p:pic>
      <p:sp>
        <p:nvSpPr>
          <p:cNvPr id="538" name="Google Shape;538;p62"/>
          <p:cNvSpPr txBox="1"/>
          <p:nvPr/>
        </p:nvSpPr>
        <p:spPr>
          <a:xfrm>
            <a:off x="480060" y="411480"/>
            <a:ext cx="8195310" cy="630936"/>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FF"/>
                </a:solidFill>
                <a:latin typeface="Century Schoolbook"/>
                <a:ea typeface="Century Schoolbook"/>
                <a:cs typeface="Century Schoolbook"/>
                <a:sym typeface="Century Schoolbook"/>
              </a:rPr>
              <a:t>Building Blocks in Action: A QA Example</a:t>
            </a:r>
            <a:endParaRPr sz="1100" b="0" i="0" u="none" strike="noStrike" cap="none">
              <a:solidFill>
                <a:srgbClr val="000000"/>
              </a:solidFill>
              <a:latin typeface="Arial"/>
              <a:ea typeface="Arial"/>
              <a:cs typeface="Arial"/>
              <a:sym typeface="Arial"/>
            </a:endParaRPr>
          </a:p>
        </p:txBody>
      </p:sp>
      <p:sp>
        <p:nvSpPr>
          <p:cNvPr id="539" name="Google Shape;539;p62"/>
          <p:cNvSpPr txBox="1"/>
          <p:nvPr/>
        </p:nvSpPr>
        <p:spPr>
          <a:xfrm>
            <a:off x="442913" y="1150144"/>
            <a:ext cx="528638" cy="314325"/>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ourier New"/>
                <a:ea typeface="Courier New"/>
                <a:cs typeface="Courier New"/>
                <a:sym typeface="Courier New"/>
              </a:rPr>
              <a:t>1</a:t>
            </a:r>
            <a:endParaRPr sz="1100" b="0" i="0" u="none" strike="noStrike" cap="none">
              <a:solidFill>
                <a:srgbClr val="000000"/>
              </a:solidFill>
              <a:latin typeface="Arial"/>
              <a:ea typeface="Arial"/>
              <a:cs typeface="Arial"/>
              <a:sym typeface="Arial"/>
            </a:endParaRPr>
          </a:p>
        </p:txBody>
      </p:sp>
      <p:sp>
        <p:nvSpPr>
          <p:cNvPr id="540" name="Google Shape;540;p62"/>
          <p:cNvSpPr txBox="1"/>
          <p:nvPr/>
        </p:nvSpPr>
        <p:spPr>
          <a:xfrm>
            <a:off x="6707981" y="1157288"/>
            <a:ext cx="1771650" cy="30003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Playwright / Appium</a:t>
            </a:r>
            <a:endParaRPr sz="1100" b="0" i="0" u="none" strike="noStrike" cap="none">
              <a:solidFill>
                <a:srgbClr val="000000"/>
              </a:solidFill>
              <a:latin typeface="Arial"/>
              <a:ea typeface="Arial"/>
              <a:cs typeface="Arial"/>
              <a:sym typeface="Arial"/>
            </a:endParaRPr>
          </a:p>
        </p:txBody>
      </p:sp>
      <p:sp>
        <p:nvSpPr>
          <p:cNvPr id="541" name="Google Shape;541;p62"/>
          <p:cNvSpPr txBox="1"/>
          <p:nvPr/>
        </p:nvSpPr>
        <p:spPr>
          <a:xfrm>
            <a:off x="442913" y="1882378"/>
            <a:ext cx="528638" cy="314325"/>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ourier New"/>
                <a:ea typeface="Courier New"/>
                <a:cs typeface="Courier New"/>
                <a:sym typeface="Courier New"/>
              </a:rPr>
              <a:t>2</a:t>
            </a:r>
            <a:endParaRPr sz="1100" b="0" i="0" u="none" strike="noStrike" cap="none">
              <a:solidFill>
                <a:srgbClr val="000000"/>
              </a:solidFill>
              <a:latin typeface="Arial"/>
              <a:ea typeface="Arial"/>
              <a:cs typeface="Arial"/>
              <a:sym typeface="Arial"/>
            </a:endParaRPr>
          </a:p>
        </p:txBody>
      </p:sp>
      <p:sp>
        <p:nvSpPr>
          <p:cNvPr id="542" name="Google Shape;542;p62"/>
          <p:cNvSpPr txBox="1"/>
          <p:nvPr/>
        </p:nvSpPr>
        <p:spPr>
          <a:xfrm>
            <a:off x="6579394" y="1889522"/>
            <a:ext cx="1900238" cy="30003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/api-tests</a:t>
            </a:r>
            <a:endParaRPr sz="1100" b="0" i="0" u="none" strike="noStrike" cap="none">
              <a:solidFill>
                <a:srgbClr val="000000"/>
              </a:solidFill>
              <a:latin typeface="Arial"/>
              <a:ea typeface="Arial"/>
              <a:cs typeface="Arial"/>
              <a:sym typeface="Arial"/>
            </a:endParaRPr>
          </a:p>
        </p:txBody>
      </p:sp>
      <p:sp>
        <p:nvSpPr>
          <p:cNvPr id="543" name="Google Shape;543;p62"/>
          <p:cNvSpPr txBox="1"/>
          <p:nvPr/>
        </p:nvSpPr>
        <p:spPr>
          <a:xfrm>
            <a:off x="442913" y="2614613"/>
            <a:ext cx="528638" cy="314325"/>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ourier New"/>
                <a:ea typeface="Courier New"/>
                <a:cs typeface="Courier New"/>
                <a:sym typeface="Courier New"/>
              </a:rPr>
              <a:t>3</a:t>
            </a:r>
            <a:endParaRPr sz="1100" b="0" i="0" u="none" strike="noStrike" cap="none">
              <a:solidFill>
                <a:srgbClr val="000000"/>
              </a:solidFill>
              <a:latin typeface="Arial"/>
              <a:ea typeface="Arial"/>
              <a:cs typeface="Arial"/>
              <a:sym typeface="Arial"/>
            </a:endParaRPr>
          </a:p>
        </p:txBody>
      </p:sp>
      <p:sp>
        <p:nvSpPr>
          <p:cNvPr id="544" name="Google Shape;544;p62"/>
          <p:cNvSpPr txBox="1"/>
          <p:nvPr/>
        </p:nvSpPr>
        <p:spPr>
          <a:xfrm>
            <a:off x="6643688" y="2621756"/>
            <a:ext cx="1835944" cy="30003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GB" sz="900" b="1" i="0" u="none" strike="noStrike" cap="none">
                <a:solidFill>
                  <a:srgbClr val="F87171"/>
                </a:solidFill>
                <a:latin typeface="Calibri"/>
                <a:ea typeface="Calibri"/>
                <a:cs typeface="Calibri"/>
                <a:sym typeface="Calibri"/>
              </a:rPr>
              <a:t>block rm -rf</a:t>
            </a:r>
            <a:endParaRPr sz="1100" b="0" i="0" u="none" strike="noStrike" cap="none">
              <a:solidFill>
                <a:srgbClr val="000000"/>
              </a:solidFill>
              <a:latin typeface="Arial"/>
              <a:ea typeface="Arial"/>
              <a:cs typeface="Arial"/>
              <a:sym typeface="Arial"/>
            </a:endParaRPr>
          </a:p>
        </p:txBody>
      </p:sp>
      <p:sp>
        <p:nvSpPr>
          <p:cNvPr id="545" name="Google Shape;545;p62"/>
          <p:cNvSpPr txBox="1"/>
          <p:nvPr/>
        </p:nvSpPr>
        <p:spPr>
          <a:xfrm>
            <a:off x="442913" y="3346847"/>
            <a:ext cx="528638" cy="314325"/>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ourier New"/>
                <a:ea typeface="Courier New"/>
                <a:cs typeface="Courier New"/>
                <a:sym typeface="Courier New"/>
              </a:rPr>
              <a:t>4</a:t>
            </a:r>
            <a:endParaRPr sz="1100" b="0" i="0" u="none" strike="noStrike" cap="none">
              <a:solidFill>
                <a:srgbClr val="000000"/>
              </a:solidFill>
              <a:latin typeface="Arial"/>
              <a:ea typeface="Arial"/>
              <a:cs typeface="Arial"/>
              <a:sym typeface="Arial"/>
            </a:endParaRPr>
          </a:p>
        </p:txBody>
      </p:sp>
      <p:sp>
        <p:nvSpPr>
          <p:cNvPr id="546" name="Google Shape;546;p62"/>
          <p:cNvSpPr txBox="1"/>
          <p:nvPr/>
        </p:nvSpPr>
        <p:spPr>
          <a:xfrm>
            <a:off x="6636544" y="3353990"/>
            <a:ext cx="1843088" cy="30003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test-reviewer</a:t>
            </a:r>
            <a:endParaRPr sz="1100" b="0" i="0" u="none" strike="noStrike" cap="none">
              <a:solidFill>
                <a:srgbClr val="000000"/>
              </a:solidFill>
              <a:latin typeface="Arial"/>
              <a:ea typeface="Arial"/>
              <a:cs typeface="Arial"/>
              <a:sym typeface="Arial"/>
            </a:endParaRPr>
          </a:p>
        </p:txBody>
      </p:sp>
      <p:sp>
        <p:nvSpPr>
          <p:cNvPr id="547" name="Google Shape;547;p62"/>
          <p:cNvSpPr txBox="1"/>
          <p:nvPr/>
        </p:nvSpPr>
        <p:spPr>
          <a:xfrm>
            <a:off x="442913" y="4079081"/>
            <a:ext cx="528638" cy="314325"/>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ourier New"/>
                <a:ea typeface="Courier New"/>
                <a:cs typeface="Courier New"/>
                <a:sym typeface="Courier New"/>
              </a:rPr>
              <a:t>5</a:t>
            </a:r>
            <a:endParaRPr sz="1100" b="0" i="0" u="none" strike="noStrike" cap="none">
              <a:solidFill>
                <a:srgbClr val="000000"/>
              </a:solidFill>
              <a:latin typeface="Arial"/>
              <a:ea typeface="Arial"/>
              <a:cs typeface="Arial"/>
              <a:sym typeface="Arial"/>
            </a:endParaRPr>
          </a:p>
        </p:txBody>
      </p:sp>
      <p:sp>
        <p:nvSpPr>
          <p:cNvPr id="548" name="Google Shape;548;p62"/>
          <p:cNvSpPr txBox="1"/>
          <p:nvPr/>
        </p:nvSpPr>
        <p:spPr>
          <a:xfrm>
            <a:off x="6850856" y="4086225"/>
            <a:ext cx="1628775" cy="30003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qa-toolkit</a:t>
            </a:r>
            <a:endParaRPr sz="1100" b="0" i="0" u="none" strike="noStrike" cap="none">
              <a:solidFill>
                <a:srgbClr val="000000"/>
              </a:solidFill>
              <a:latin typeface="Arial"/>
              <a:ea typeface="Arial"/>
              <a:cs typeface="Arial"/>
              <a:sym typeface="Arial"/>
            </a:endParaRPr>
          </a:p>
        </p:txBody>
      </p:sp>
      <p:sp>
        <p:nvSpPr>
          <p:cNvPr id="549" name="Google Shape;549;p62"/>
          <p:cNvSpPr txBox="1"/>
          <p:nvPr/>
        </p:nvSpPr>
        <p:spPr>
          <a:xfrm>
            <a:off x="1007269" y="1360884"/>
            <a:ext cx="842963" cy="121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9FD4F7"/>
                </a:solidFill>
                <a:latin typeface="Courier New"/>
                <a:ea typeface="Courier New"/>
                <a:cs typeface="Courier New"/>
                <a:sym typeface="Courier New"/>
              </a:rPr>
              <a:t>ADDS A TOOL</a:t>
            </a:r>
            <a:endParaRPr sz="1100" b="0" i="0" u="none" strike="noStrike" cap="none">
              <a:solidFill>
                <a:srgbClr val="000000"/>
              </a:solidFill>
              <a:latin typeface="Arial"/>
              <a:ea typeface="Arial"/>
              <a:cs typeface="Arial"/>
              <a:sym typeface="Arial"/>
            </a:endParaRPr>
          </a:p>
        </p:txBody>
      </p:sp>
      <p:sp>
        <p:nvSpPr>
          <p:cNvPr id="550" name="Google Shape;550;p62"/>
          <p:cNvSpPr txBox="1"/>
          <p:nvPr/>
        </p:nvSpPr>
        <p:spPr>
          <a:xfrm>
            <a:off x="2514600" y="1157288"/>
            <a:ext cx="5009555" cy="1571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F1F5F9"/>
                </a:solidFill>
                <a:latin typeface="Calibri"/>
                <a:ea typeface="Calibri"/>
                <a:cs typeface="Calibri"/>
                <a:sym typeface="Calibri"/>
              </a:rPr>
              <a:t>Plugs Claude into outside tools &amp; live runtimes</a:t>
            </a:r>
            <a:endParaRPr sz="1100" b="0" i="0" u="none" strike="noStrike" cap="none">
              <a:solidFill>
                <a:srgbClr val="000000"/>
              </a:solidFill>
              <a:latin typeface="Arial"/>
              <a:ea typeface="Arial"/>
              <a:cs typeface="Arial"/>
              <a:sym typeface="Arial"/>
            </a:endParaRPr>
          </a:p>
        </p:txBody>
      </p:sp>
      <p:sp>
        <p:nvSpPr>
          <p:cNvPr id="551" name="Google Shape;551;p62"/>
          <p:cNvSpPr txBox="1"/>
          <p:nvPr/>
        </p:nvSpPr>
        <p:spPr>
          <a:xfrm>
            <a:off x="2514600" y="1328738"/>
            <a:ext cx="5009555" cy="1285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93A9C0"/>
                </a:solidFill>
                <a:latin typeface="Calibri"/>
                <a:ea typeface="Calibri"/>
                <a:cs typeface="Calibri"/>
                <a:sym typeface="Calibri"/>
              </a:rPr>
              <a:t>Called whenever Claude needs to inspect an external app</a:t>
            </a:r>
            <a:endParaRPr sz="1100" b="0" i="0" u="none" strike="noStrike" cap="none">
              <a:solidFill>
                <a:srgbClr val="000000"/>
              </a:solidFill>
              <a:latin typeface="Arial"/>
              <a:ea typeface="Arial"/>
              <a:cs typeface="Arial"/>
              <a:sym typeface="Arial"/>
            </a:endParaRPr>
          </a:p>
        </p:txBody>
      </p:sp>
      <p:sp>
        <p:nvSpPr>
          <p:cNvPr id="552" name="Google Shape;552;p62"/>
          <p:cNvSpPr txBox="1"/>
          <p:nvPr/>
        </p:nvSpPr>
        <p:spPr>
          <a:xfrm>
            <a:off x="6365081" y="1335881"/>
            <a:ext cx="2107406" cy="1143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en-GB" sz="700" b="0" i="0" u="none" strike="noStrike" cap="none">
                <a:solidFill>
                  <a:srgbClr val="9FD4F7"/>
                </a:solidFill>
                <a:latin typeface="Calibri"/>
                <a:ea typeface="Calibri"/>
                <a:cs typeface="Calibri"/>
                <a:sym typeface="Calibri"/>
              </a:rPr>
              <a:t>Inspect real browser DOM &amp; mobile UI</a:t>
            </a:r>
            <a:endParaRPr sz="1100" b="0" i="0" u="none" strike="noStrike" cap="none">
              <a:solidFill>
                <a:srgbClr val="000000"/>
              </a:solidFill>
              <a:latin typeface="Arial"/>
              <a:ea typeface="Arial"/>
              <a:cs typeface="Arial"/>
              <a:sym typeface="Arial"/>
            </a:endParaRPr>
          </a:p>
        </p:txBody>
      </p:sp>
      <p:sp>
        <p:nvSpPr>
          <p:cNvPr id="553" name="Google Shape;553;p62"/>
          <p:cNvSpPr txBox="1"/>
          <p:nvPr/>
        </p:nvSpPr>
        <p:spPr>
          <a:xfrm>
            <a:off x="1007269" y="2093119"/>
            <a:ext cx="671513" cy="121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9FD4F7"/>
                </a:solidFill>
                <a:latin typeface="Courier New"/>
                <a:ea typeface="Courier New"/>
                <a:cs typeface="Courier New"/>
                <a:sym typeface="Courier New"/>
              </a:rPr>
              <a:t>SAYS HOW</a:t>
            </a:r>
            <a:endParaRPr sz="1100" b="0" i="0" u="none" strike="noStrike" cap="none">
              <a:solidFill>
                <a:srgbClr val="000000"/>
              </a:solidFill>
              <a:latin typeface="Arial"/>
              <a:ea typeface="Arial"/>
              <a:cs typeface="Arial"/>
              <a:sym typeface="Arial"/>
            </a:endParaRPr>
          </a:p>
        </p:txBody>
      </p:sp>
      <p:sp>
        <p:nvSpPr>
          <p:cNvPr id="554" name="Google Shape;554;p62"/>
          <p:cNvSpPr txBox="1"/>
          <p:nvPr/>
        </p:nvSpPr>
        <p:spPr>
          <a:xfrm>
            <a:off x="2514600" y="1889522"/>
            <a:ext cx="4848820" cy="1571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F1F5F9"/>
                </a:solidFill>
                <a:latin typeface="Calibri"/>
                <a:ea typeface="Calibri"/>
                <a:cs typeface="Calibri"/>
                <a:sym typeface="Calibri"/>
              </a:rPr>
              <a:t>Markdown playbooks (SKILL.md) for repeatable tasks</a:t>
            </a:r>
            <a:endParaRPr sz="1100" b="0" i="0" u="none" strike="noStrike" cap="none">
              <a:solidFill>
                <a:srgbClr val="000000"/>
              </a:solidFill>
              <a:latin typeface="Arial"/>
              <a:ea typeface="Arial"/>
              <a:cs typeface="Arial"/>
              <a:sym typeface="Arial"/>
            </a:endParaRPr>
          </a:p>
        </p:txBody>
      </p:sp>
      <p:sp>
        <p:nvSpPr>
          <p:cNvPr id="555" name="Google Shape;555;p62"/>
          <p:cNvSpPr txBox="1"/>
          <p:nvPr/>
        </p:nvSpPr>
        <p:spPr>
          <a:xfrm>
            <a:off x="2514600" y="2060972"/>
            <a:ext cx="4848820" cy="1285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93A9C0"/>
                </a:solidFill>
                <a:latin typeface="Calibri"/>
                <a:ea typeface="Calibri"/>
                <a:cs typeface="Calibri"/>
                <a:sym typeface="Calibri"/>
              </a:rPr>
              <a:t>Loaded on demand or invoked directly via /command</a:t>
            </a:r>
            <a:endParaRPr sz="1100" b="0" i="0" u="none" strike="noStrike" cap="none">
              <a:solidFill>
                <a:srgbClr val="000000"/>
              </a:solidFill>
              <a:latin typeface="Arial"/>
              <a:ea typeface="Arial"/>
              <a:cs typeface="Arial"/>
              <a:sym typeface="Arial"/>
            </a:endParaRPr>
          </a:p>
        </p:txBody>
      </p:sp>
      <p:sp>
        <p:nvSpPr>
          <p:cNvPr id="556" name="Google Shape;556;p62"/>
          <p:cNvSpPr txBox="1"/>
          <p:nvPr/>
        </p:nvSpPr>
        <p:spPr>
          <a:xfrm>
            <a:off x="6204347" y="2068115"/>
            <a:ext cx="2268140" cy="1143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en-GB" sz="700" b="0" i="0" u="none" strike="noStrike" cap="none">
                <a:solidFill>
                  <a:srgbClr val="9FD4F7"/>
                </a:solidFill>
                <a:latin typeface="Calibri"/>
                <a:ea typeface="Calibri"/>
                <a:cs typeface="Calibri"/>
                <a:sym typeface="Calibri"/>
              </a:rPr>
              <a:t>Generates tests using team conventions</a:t>
            </a:r>
            <a:endParaRPr sz="1100" b="0" i="0" u="none" strike="noStrike" cap="none">
              <a:solidFill>
                <a:srgbClr val="000000"/>
              </a:solidFill>
              <a:latin typeface="Arial"/>
              <a:ea typeface="Arial"/>
              <a:cs typeface="Arial"/>
              <a:sym typeface="Arial"/>
            </a:endParaRPr>
          </a:p>
        </p:txBody>
      </p:sp>
      <p:sp>
        <p:nvSpPr>
          <p:cNvPr id="557" name="Google Shape;557;p62"/>
          <p:cNvSpPr txBox="1"/>
          <p:nvPr/>
        </p:nvSpPr>
        <p:spPr>
          <a:xfrm>
            <a:off x="1007269" y="2825353"/>
            <a:ext cx="842963" cy="121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9FD4F7"/>
                </a:solidFill>
                <a:latin typeface="Courier New"/>
                <a:ea typeface="Courier New"/>
                <a:cs typeface="Courier New"/>
                <a:sym typeface="Courier New"/>
              </a:rPr>
              <a:t>ALWAYS RUNS</a:t>
            </a:r>
            <a:endParaRPr sz="1100" b="0" i="0" u="none" strike="noStrike" cap="none">
              <a:solidFill>
                <a:srgbClr val="000000"/>
              </a:solidFill>
              <a:latin typeface="Arial"/>
              <a:ea typeface="Arial"/>
              <a:cs typeface="Arial"/>
              <a:sym typeface="Arial"/>
            </a:endParaRPr>
          </a:p>
        </p:txBody>
      </p:sp>
      <p:sp>
        <p:nvSpPr>
          <p:cNvPr id="558" name="Google Shape;558;p62"/>
          <p:cNvSpPr txBox="1"/>
          <p:nvPr/>
        </p:nvSpPr>
        <p:spPr>
          <a:xfrm>
            <a:off x="2514600" y="2621756"/>
            <a:ext cx="4929188" cy="1571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F1F5F9"/>
                </a:solidFill>
                <a:latin typeface="Calibri"/>
                <a:ea typeface="Calibri"/>
                <a:cs typeface="Calibri"/>
                <a:sym typeface="Calibri"/>
              </a:rPr>
              <a:t>Deterministic scripts triggered automatically by events</a:t>
            </a:r>
            <a:endParaRPr sz="1100" b="0" i="0" u="none" strike="noStrike" cap="none">
              <a:solidFill>
                <a:srgbClr val="000000"/>
              </a:solidFill>
              <a:latin typeface="Arial"/>
              <a:ea typeface="Arial"/>
              <a:cs typeface="Arial"/>
              <a:sym typeface="Arial"/>
            </a:endParaRPr>
          </a:p>
        </p:txBody>
      </p:sp>
      <p:sp>
        <p:nvSpPr>
          <p:cNvPr id="559" name="Google Shape;559;p62"/>
          <p:cNvSpPr txBox="1"/>
          <p:nvPr/>
        </p:nvSpPr>
        <p:spPr>
          <a:xfrm>
            <a:off x="2514600" y="2793206"/>
            <a:ext cx="4929188" cy="1285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93A9C0"/>
                </a:solidFill>
                <a:latin typeface="Calibri"/>
                <a:ea typeface="Calibri"/>
                <a:cs typeface="Calibri"/>
                <a:sym typeface="Calibri"/>
              </a:rPr>
              <a:t>Enforces hard rules on tool calls, edits, and commands</a:t>
            </a:r>
            <a:endParaRPr sz="1100" b="0" i="0" u="none" strike="noStrike" cap="none">
              <a:solidFill>
                <a:srgbClr val="000000"/>
              </a:solidFill>
              <a:latin typeface="Arial"/>
              <a:ea typeface="Arial"/>
              <a:cs typeface="Arial"/>
              <a:sym typeface="Arial"/>
            </a:endParaRPr>
          </a:p>
        </p:txBody>
      </p:sp>
      <p:sp>
        <p:nvSpPr>
          <p:cNvPr id="560" name="Google Shape;560;p62"/>
          <p:cNvSpPr txBox="1"/>
          <p:nvPr/>
        </p:nvSpPr>
        <p:spPr>
          <a:xfrm>
            <a:off x="6284714" y="2800350"/>
            <a:ext cx="2187773" cy="1143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en-GB" sz="700" b="0" i="0" u="none" strike="noStrike" cap="none">
                <a:solidFill>
                  <a:srgbClr val="FCA5A5"/>
                </a:solidFill>
                <a:latin typeface="Calibri"/>
                <a:ea typeface="Calibri"/>
                <a:cs typeface="Calibri"/>
                <a:sym typeface="Calibri"/>
              </a:rPr>
              <a:t>Blocks destructive file or DB operations</a:t>
            </a:r>
            <a:endParaRPr sz="1100" b="0" i="0" u="none" strike="noStrike" cap="none">
              <a:solidFill>
                <a:srgbClr val="000000"/>
              </a:solidFill>
              <a:latin typeface="Arial"/>
              <a:ea typeface="Arial"/>
              <a:cs typeface="Arial"/>
              <a:sym typeface="Arial"/>
            </a:endParaRPr>
          </a:p>
        </p:txBody>
      </p:sp>
      <p:sp>
        <p:nvSpPr>
          <p:cNvPr id="561" name="Google Shape;561;p62"/>
          <p:cNvSpPr txBox="1"/>
          <p:nvPr/>
        </p:nvSpPr>
        <p:spPr>
          <a:xfrm>
            <a:off x="1007269" y="3557588"/>
            <a:ext cx="957263" cy="121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9FD4F7"/>
                </a:solidFill>
                <a:latin typeface="Courier New"/>
                <a:ea typeface="Courier New"/>
                <a:cs typeface="Courier New"/>
                <a:sym typeface="Courier New"/>
              </a:rPr>
              <a:t>WORKS ON SIDE</a:t>
            </a:r>
            <a:endParaRPr sz="1100" b="0" i="0" u="none" strike="noStrike" cap="none">
              <a:solidFill>
                <a:srgbClr val="000000"/>
              </a:solidFill>
              <a:latin typeface="Arial"/>
              <a:ea typeface="Arial"/>
              <a:cs typeface="Arial"/>
              <a:sym typeface="Arial"/>
            </a:endParaRPr>
          </a:p>
        </p:txBody>
      </p:sp>
      <p:sp>
        <p:nvSpPr>
          <p:cNvPr id="562" name="Google Shape;562;p62"/>
          <p:cNvSpPr txBox="1"/>
          <p:nvPr/>
        </p:nvSpPr>
        <p:spPr>
          <a:xfrm>
            <a:off x="2514600" y="3353990"/>
            <a:ext cx="4920257" cy="1571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F1F5F9"/>
                </a:solidFill>
                <a:latin typeface="Calibri"/>
                <a:ea typeface="Calibri"/>
                <a:cs typeface="Calibri"/>
                <a:sym typeface="Calibri"/>
              </a:rPr>
              <a:t>Helper agent with isolated memory and tailored tools</a:t>
            </a:r>
            <a:endParaRPr sz="1100" b="0" i="0" u="none" strike="noStrike" cap="none">
              <a:solidFill>
                <a:srgbClr val="000000"/>
              </a:solidFill>
              <a:latin typeface="Arial"/>
              <a:ea typeface="Arial"/>
              <a:cs typeface="Arial"/>
              <a:sym typeface="Arial"/>
            </a:endParaRPr>
          </a:p>
        </p:txBody>
      </p:sp>
      <p:sp>
        <p:nvSpPr>
          <p:cNvPr id="563" name="Google Shape;563;p62"/>
          <p:cNvSpPr txBox="1"/>
          <p:nvPr/>
        </p:nvSpPr>
        <p:spPr>
          <a:xfrm>
            <a:off x="2514600" y="3525440"/>
            <a:ext cx="4920257" cy="1285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93A9C0"/>
                </a:solidFill>
                <a:latin typeface="Calibri"/>
                <a:ea typeface="Calibri"/>
                <a:cs typeface="Calibri"/>
                <a:sym typeface="Calibri"/>
              </a:rPr>
              <a:t>Processes large diffs and logs without filling your context</a:t>
            </a:r>
            <a:endParaRPr sz="1100" b="0" i="0" u="none" strike="noStrike" cap="none">
              <a:solidFill>
                <a:srgbClr val="000000"/>
              </a:solidFill>
              <a:latin typeface="Arial"/>
              <a:ea typeface="Arial"/>
              <a:cs typeface="Arial"/>
              <a:sym typeface="Arial"/>
            </a:endParaRPr>
          </a:p>
        </p:txBody>
      </p:sp>
      <p:sp>
        <p:nvSpPr>
          <p:cNvPr id="564" name="Google Shape;564;p62"/>
          <p:cNvSpPr txBox="1"/>
          <p:nvPr/>
        </p:nvSpPr>
        <p:spPr>
          <a:xfrm>
            <a:off x="6275784" y="3532584"/>
            <a:ext cx="2196703" cy="1143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en-GB" sz="700" b="0" i="0" u="none" strike="noStrike" cap="none">
                <a:solidFill>
                  <a:srgbClr val="9FD4F7"/>
                </a:solidFill>
                <a:latin typeface="Calibri"/>
                <a:ea typeface="Calibri"/>
                <a:cs typeface="Calibri"/>
                <a:sym typeface="Calibri"/>
              </a:rPr>
              <a:t>Catches flaky sleeps &amp; weak assertions</a:t>
            </a:r>
            <a:endParaRPr sz="1100" b="0" i="0" u="none" strike="noStrike" cap="none">
              <a:solidFill>
                <a:srgbClr val="000000"/>
              </a:solidFill>
              <a:latin typeface="Arial"/>
              <a:ea typeface="Arial"/>
              <a:cs typeface="Arial"/>
              <a:sym typeface="Arial"/>
            </a:endParaRPr>
          </a:p>
        </p:txBody>
      </p:sp>
      <p:sp>
        <p:nvSpPr>
          <p:cNvPr id="565" name="Google Shape;565;p62"/>
          <p:cNvSpPr txBox="1"/>
          <p:nvPr/>
        </p:nvSpPr>
        <p:spPr>
          <a:xfrm>
            <a:off x="1007269" y="4289822"/>
            <a:ext cx="842963" cy="121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9FD4F7"/>
                </a:solidFill>
                <a:latin typeface="Courier New"/>
                <a:ea typeface="Courier New"/>
                <a:cs typeface="Courier New"/>
                <a:sym typeface="Courier New"/>
              </a:rPr>
              <a:t>BUNDLES ALL</a:t>
            </a:r>
            <a:endParaRPr sz="1100" b="0" i="0" u="none" strike="noStrike" cap="none">
              <a:solidFill>
                <a:srgbClr val="000000"/>
              </a:solidFill>
              <a:latin typeface="Arial"/>
              <a:ea typeface="Arial"/>
              <a:cs typeface="Arial"/>
              <a:sym typeface="Arial"/>
            </a:endParaRPr>
          </a:p>
        </p:txBody>
      </p:sp>
      <p:sp>
        <p:nvSpPr>
          <p:cNvPr id="566" name="Google Shape;566;p62"/>
          <p:cNvSpPr txBox="1"/>
          <p:nvPr/>
        </p:nvSpPr>
        <p:spPr>
          <a:xfrm>
            <a:off x="2514600" y="4086225"/>
            <a:ext cx="5188148" cy="1571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F1F5F9"/>
                </a:solidFill>
                <a:latin typeface="Calibri"/>
                <a:ea typeface="Calibri"/>
                <a:cs typeface="Calibri"/>
                <a:sym typeface="Calibri"/>
              </a:rPr>
              <a:t>Distributable package bundling skills, agents, hooks &amp; MCP</a:t>
            </a:r>
            <a:endParaRPr sz="1100" b="0" i="0" u="none" strike="noStrike" cap="none">
              <a:solidFill>
                <a:srgbClr val="000000"/>
              </a:solidFill>
              <a:latin typeface="Arial"/>
              <a:ea typeface="Arial"/>
              <a:cs typeface="Arial"/>
              <a:sym typeface="Arial"/>
            </a:endParaRPr>
          </a:p>
        </p:txBody>
      </p:sp>
      <p:sp>
        <p:nvSpPr>
          <p:cNvPr id="567" name="Google Shape;567;p62"/>
          <p:cNvSpPr txBox="1"/>
          <p:nvPr/>
        </p:nvSpPr>
        <p:spPr>
          <a:xfrm>
            <a:off x="2514600" y="4257675"/>
            <a:ext cx="5188148" cy="1285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93A9C0"/>
                </a:solidFill>
                <a:latin typeface="Calibri"/>
                <a:ea typeface="Calibri"/>
                <a:cs typeface="Calibri"/>
                <a:sym typeface="Calibri"/>
              </a:rPr>
              <a:t>Installed once with /plugin to share across team repos</a:t>
            </a:r>
            <a:endParaRPr sz="1100" b="0" i="0" u="none" strike="noStrike" cap="none">
              <a:solidFill>
                <a:srgbClr val="000000"/>
              </a:solidFill>
              <a:latin typeface="Arial"/>
              <a:ea typeface="Arial"/>
              <a:cs typeface="Arial"/>
              <a:sym typeface="Arial"/>
            </a:endParaRPr>
          </a:p>
        </p:txBody>
      </p:sp>
      <p:sp>
        <p:nvSpPr>
          <p:cNvPr id="568" name="Google Shape;568;p62"/>
          <p:cNvSpPr txBox="1"/>
          <p:nvPr/>
        </p:nvSpPr>
        <p:spPr>
          <a:xfrm>
            <a:off x="6543675" y="4264819"/>
            <a:ext cx="1928813" cy="1143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en-GB" sz="700" b="0" i="0" u="none" strike="noStrike" cap="none">
                <a:solidFill>
                  <a:srgbClr val="9FD4F7"/>
                </a:solidFill>
                <a:latin typeface="Calibri"/>
                <a:ea typeface="Calibri"/>
                <a:cs typeface="Calibri"/>
                <a:sym typeface="Calibri"/>
              </a:rPr>
              <a:t>One-command team distribution</a:t>
            </a:r>
            <a:endParaRPr sz="1100" b="0" i="0" u="none" strike="noStrike" cap="none">
              <a:solidFill>
                <a:srgbClr val="000000"/>
              </a:solidFill>
              <a:latin typeface="Arial"/>
              <a:ea typeface="Arial"/>
              <a:cs typeface="Arial"/>
              <a:sym typeface="Arial"/>
            </a:endParaRPr>
          </a:p>
        </p:txBody>
      </p:sp>
      <p:sp>
        <p:nvSpPr>
          <p:cNvPr id="569" name="Google Shape;569;p62"/>
          <p:cNvSpPr txBox="1"/>
          <p:nvPr/>
        </p:nvSpPr>
        <p:spPr>
          <a:xfrm>
            <a:off x="1157288" y="1132284"/>
            <a:ext cx="1162645" cy="2000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MCP Server</a:t>
            </a:r>
            <a:endParaRPr sz="1100" b="0" i="0" u="none" strike="noStrike" cap="none">
              <a:solidFill>
                <a:srgbClr val="000000"/>
              </a:solidFill>
              <a:latin typeface="Arial"/>
              <a:ea typeface="Arial"/>
              <a:cs typeface="Arial"/>
              <a:sym typeface="Arial"/>
            </a:endParaRPr>
          </a:p>
        </p:txBody>
      </p:sp>
      <p:sp>
        <p:nvSpPr>
          <p:cNvPr id="570" name="Google Shape;570;p62"/>
          <p:cNvSpPr txBox="1"/>
          <p:nvPr/>
        </p:nvSpPr>
        <p:spPr>
          <a:xfrm>
            <a:off x="1171575" y="1864519"/>
            <a:ext cx="562570" cy="2000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Skill</a:t>
            </a:r>
            <a:endParaRPr sz="1100" b="0" i="0" u="none" strike="noStrike" cap="none">
              <a:solidFill>
                <a:srgbClr val="000000"/>
              </a:solidFill>
              <a:latin typeface="Arial"/>
              <a:ea typeface="Arial"/>
              <a:cs typeface="Arial"/>
              <a:sym typeface="Arial"/>
            </a:endParaRPr>
          </a:p>
        </p:txBody>
      </p:sp>
      <p:sp>
        <p:nvSpPr>
          <p:cNvPr id="571" name="Google Shape;571;p62"/>
          <p:cNvSpPr txBox="1"/>
          <p:nvPr/>
        </p:nvSpPr>
        <p:spPr>
          <a:xfrm>
            <a:off x="1185863" y="2596753"/>
            <a:ext cx="652581" cy="2000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Hook</a:t>
            </a:r>
            <a:endParaRPr sz="1100" b="0" i="0" u="none" strike="noStrike" cap="none">
              <a:solidFill>
                <a:srgbClr val="000000"/>
              </a:solidFill>
              <a:latin typeface="Arial"/>
              <a:ea typeface="Arial"/>
              <a:cs typeface="Arial"/>
              <a:sym typeface="Arial"/>
            </a:endParaRPr>
          </a:p>
        </p:txBody>
      </p:sp>
      <p:sp>
        <p:nvSpPr>
          <p:cNvPr id="572" name="Google Shape;572;p62"/>
          <p:cNvSpPr txBox="1"/>
          <p:nvPr/>
        </p:nvSpPr>
        <p:spPr>
          <a:xfrm>
            <a:off x="1214438" y="3328988"/>
            <a:ext cx="1005125" cy="2000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Subagent</a:t>
            </a:r>
            <a:endParaRPr sz="1100" b="0" i="0" u="none" strike="noStrike" cap="none">
              <a:solidFill>
                <a:srgbClr val="000000"/>
              </a:solidFill>
              <a:latin typeface="Arial"/>
              <a:ea typeface="Arial"/>
              <a:cs typeface="Arial"/>
              <a:sym typeface="Arial"/>
            </a:endParaRPr>
          </a:p>
        </p:txBody>
      </p:sp>
      <p:sp>
        <p:nvSpPr>
          <p:cNvPr id="573" name="Google Shape;573;p62"/>
          <p:cNvSpPr txBox="1"/>
          <p:nvPr/>
        </p:nvSpPr>
        <p:spPr>
          <a:xfrm>
            <a:off x="1214438" y="4061222"/>
            <a:ext cx="720090" cy="2000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Plugin</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78"/>
        <p:cNvGrpSpPr/>
        <p:nvPr/>
      </p:nvGrpSpPr>
      <p:grpSpPr>
        <a:xfrm>
          <a:off x="0" y="0"/>
          <a:ext cx="0" cy="0"/>
          <a:chOff x="0" y="0"/>
          <a:chExt cx="0" cy="0"/>
        </a:xfrm>
      </p:grpSpPr>
      <p:sp>
        <p:nvSpPr>
          <p:cNvPr id="579" name="Google Shape;579;p63"/>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Example building block: MCP</a:t>
            </a:r>
            <a:endParaRPr sz="1900"/>
          </a:p>
        </p:txBody>
      </p:sp>
      <p:sp>
        <p:nvSpPr>
          <p:cNvPr id="580" name="Google Shape;580;p63"/>
          <p:cNvSpPr txBox="1"/>
          <p:nvPr/>
        </p:nvSpPr>
        <p:spPr>
          <a:xfrm>
            <a:off x="493776" y="1028700"/>
            <a:ext cx="8161020" cy="24003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000"/>
              <a:buFont typeface="Calibri"/>
              <a:buNone/>
            </a:pPr>
            <a:r>
              <a:rPr lang="en-GB" sz="1000" b="0" i="0" u="none" strike="noStrike" cap="none">
                <a:solidFill>
                  <a:srgbClr val="EAF1F7"/>
                </a:solidFill>
                <a:latin typeface="Calibri"/>
                <a:ea typeface="Calibri"/>
                <a:cs typeface="Calibri"/>
                <a:sym typeface="Calibri"/>
              </a:rPr>
              <a:t>MCP (Model Context Protocol) is a standard plug: install a server, and Claude gets new tools.</a:t>
            </a:r>
            <a:endParaRPr sz="1000" b="0" i="0" u="none" strike="noStrike" cap="none">
              <a:solidFill>
                <a:schemeClr val="dk1"/>
              </a:solidFill>
              <a:latin typeface="Calibri"/>
              <a:ea typeface="Calibri"/>
              <a:cs typeface="Calibri"/>
              <a:sym typeface="Calibri"/>
            </a:endParaRPr>
          </a:p>
        </p:txBody>
      </p:sp>
      <p:sp>
        <p:nvSpPr>
          <p:cNvPr id="581" name="Google Shape;581;p63"/>
          <p:cNvSpPr/>
          <p:nvPr/>
        </p:nvSpPr>
        <p:spPr>
          <a:xfrm>
            <a:off x="562356" y="1405890"/>
            <a:ext cx="425196" cy="425196"/>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582" name="Google Shape;582;p63" descr="/home/claude/work/assets/ic_globe_bone.png"/>
          <p:cNvPicPr preferRelativeResize="0"/>
          <p:nvPr/>
        </p:nvPicPr>
        <p:blipFill rotWithShape="1">
          <a:blip r:embed="rId3">
            <a:alphaModFix/>
          </a:blip>
          <a:srcRect/>
          <a:stretch/>
        </p:blipFill>
        <p:spPr>
          <a:xfrm>
            <a:off x="664403" y="1507937"/>
            <a:ext cx="221102" cy="221102"/>
          </a:xfrm>
          <a:prstGeom prst="rect">
            <a:avLst/>
          </a:prstGeom>
          <a:noFill/>
          <a:ln>
            <a:noFill/>
          </a:ln>
        </p:spPr>
      </p:pic>
      <p:sp>
        <p:nvSpPr>
          <p:cNvPr id="583" name="Google Shape;583;p63"/>
          <p:cNvSpPr txBox="1"/>
          <p:nvPr/>
        </p:nvSpPr>
        <p:spPr>
          <a:xfrm>
            <a:off x="1076706" y="1392174"/>
            <a:ext cx="2023110"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Playwright MCP</a:t>
            </a:r>
            <a:endParaRPr sz="1000" b="0" i="0" u="none" strike="noStrike" cap="none">
              <a:solidFill>
                <a:schemeClr val="dk1"/>
              </a:solidFill>
              <a:latin typeface="Calibri"/>
              <a:ea typeface="Calibri"/>
              <a:cs typeface="Calibri"/>
              <a:sym typeface="Calibri"/>
            </a:endParaRPr>
          </a:p>
        </p:txBody>
      </p:sp>
      <p:sp>
        <p:nvSpPr>
          <p:cNvPr id="584" name="Google Shape;584;p63"/>
          <p:cNvSpPr txBox="1"/>
          <p:nvPr/>
        </p:nvSpPr>
        <p:spPr>
          <a:xfrm>
            <a:off x="1076706" y="1625346"/>
            <a:ext cx="2023110" cy="3429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Web: a real browser, clicks, network.</a:t>
            </a:r>
            <a:endParaRPr sz="800" b="0" i="0" u="none" strike="noStrike" cap="none">
              <a:solidFill>
                <a:schemeClr val="dk1"/>
              </a:solidFill>
              <a:latin typeface="Calibri"/>
              <a:ea typeface="Calibri"/>
              <a:cs typeface="Calibri"/>
              <a:sym typeface="Calibri"/>
            </a:endParaRPr>
          </a:p>
        </p:txBody>
      </p:sp>
      <p:sp>
        <p:nvSpPr>
          <p:cNvPr id="585" name="Google Shape;585;p63"/>
          <p:cNvSpPr/>
          <p:nvPr/>
        </p:nvSpPr>
        <p:spPr>
          <a:xfrm>
            <a:off x="3326130" y="1405890"/>
            <a:ext cx="425196" cy="425196"/>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586" name="Google Shape;586;p63" descr="/home/claude/work/assets/ic_monitor_bone.png"/>
          <p:cNvPicPr preferRelativeResize="0"/>
          <p:nvPr/>
        </p:nvPicPr>
        <p:blipFill rotWithShape="1">
          <a:blip r:embed="rId4">
            <a:alphaModFix/>
          </a:blip>
          <a:srcRect/>
          <a:stretch/>
        </p:blipFill>
        <p:spPr>
          <a:xfrm>
            <a:off x="3428177" y="1507937"/>
            <a:ext cx="221102" cy="221102"/>
          </a:xfrm>
          <a:prstGeom prst="rect">
            <a:avLst/>
          </a:prstGeom>
          <a:noFill/>
          <a:ln>
            <a:noFill/>
          </a:ln>
        </p:spPr>
      </p:pic>
      <p:sp>
        <p:nvSpPr>
          <p:cNvPr id="587" name="Google Shape;587;p63"/>
          <p:cNvSpPr txBox="1"/>
          <p:nvPr/>
        </p:nvSpPr>
        <p:spPr>
          <a:xfrm>
            <a:off x="3840480" y="1392174"/>
            <a:ext cx="2023110"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Appium MCP</a:t>
            </a:r>
            <a:endParaRPr sz="1000" b="0" i="0" u="none" strike="noStrike" cap="none">
              <a:solidFill>
                <a:schemeClr val="dk1"/>
              </a:solidFill>
              <a:latin typeface="Calibri"/>
              <a:ea typeface="Calibri"/>
              <a:cs typeface="Calibri"/>
              <a:sym typeface="Calibri"/>
            </a:endParaRPr>
          </a:p>
        </p:txBody>
      </p:sp>
      <p:sp>
        <p:nvSpPr>
          <p:cNvPr id="588" name="Google Shape;588;p63"/>
          <p:cNvSpPr txBox="1"/>
          <p:nvPr/>
        </p:nvSpPr>
        <p:spPr>
          <a:xfrm>
            <a:off x="3840480" y="1625346"/>
            <a:ext cx="2023110" cy="3429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Android &amp; iOS, emulators or real devices.</a:t>
            </a:r>
            <a:endParaRPr sz="800" b="0" i="0" u="none" strike="noStrike" cap="none">
              <a:solidFill>
                <a:schemeClr val="dk1"/>
              </a:solidFill>
              <a:latin typeface="Calibri"/>
              <a:ea typeface="Calibri"/>
              <a:cs typeface="Calibri"/>
              <a:sym typeface="Calibri"/>
            </a:endParaRPr>
          </a:p>
        </p:txBody>
      </p:sp>
      <p:sp>
        <p:nvSpPr>
          <p:cNvPr id="589" name="Google Shape;589;p63"/>
          <p:cNvSpPr/>
          <p:nvPr/>
        </p:nvSpPr>
        <p:spPr>
          <a:xfrm>
            <a:off x="6089904" y="1405890"/>
            <a:ext cx="425196" cy="425196"/>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590" name="Google Shape;590;p63" descr="/home/claude/work/assets/ic_act_bone.png"/>
          <p:cNvPicPr preferRelativeResize="0"/>
          <p:nvPr/>
        </p:nvPicPr>
        <p:blipFill rotWithShape="1">
          <a:blip r:embed="rId5">
            <a:alphaModFix/>
          </a:blip>
          <a:srcRect/>
          <a:stretch/>
        </p:blipFill>
        <p:spPr>
          <a:xfrm>
            <a:off x="6191951" y="1507937"/>
            <a:ext cx="221102" cy="221102"/>
          </a:xfrm>
          <a:prstGeom prst="rect">
            <a:avLst/>
          </a:prstGeom>
          <a:noFill/>
          <a:ln>
            <a:noFill/>
          </a:ln>
        </p:spPr>
      </p:pic>
      <p:sp>
        <p:nvSpPr>
          <p:cNvPr id="591" name="Google Shape;591;p63"/>
          <p:cNvSpPr txBox="1"/>
          <p:nvPr/>
        </p:nvSpPr>
        <p:spPr>
          <a:xfrm>
            <a:off x="6604254" y="1392174"/>
            <a:ext cx="2023110"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000"/>
              <a:buFont typeface="Century Schoolbook"/>
              <a:buNone/>
            </a:pPr>
            <a:r>
              <a:rPr lang="en-GB" sz="1000" b="1">
                <a:solidFill>
                  <a:srgbClr val="EAF1F7"/>
                </a:solidFill>
                <a:latin typeface="Century Schoolbook"/>
                <a:ea typeface="Century Schoolbook"/>
                <a:cs typeface="Century Schoolbook"/>
                <a:sym typeface="Century Schoolbook"/>
              </a:rPr>
              <a:t>M</a:t>
            </a:r>
            <a:r>
              <a:rPr lang="en-GB" sz="1000" b="1" i="0" u="none" strike="noStrike" cap="none">
                <a:solidFill>
                  <a:srgbClr val="EAF1F7"/>
                </a:solidFill>
                <a:latin typeface="Century Schoolbook"/>
                <a:ea typeface="Century Schoolbook"/>
                <a:cs typeface="Century Schoolbook"/>
                <a:sym typeface="Century Schoolbook"/>
              </a:rPr>
              <a:t>obile-mcp</a:t>
            </a:r>
            <a:endParaRPr sz="1000" b="0" i="0" u="none" strike="noStrike" cap="none">
              <a:solidFill>
                <a:schemeClr val="dk1"/>
              </a:solidFill>
              <a:latin typeface="Calibri"/>
              <a:ea typeface="Calibri"/>
              <a:cs typeface="Calibri"/>
              <a:sym typeface="Calibri"/>
            </a:endParaRPr>
          </a:p>
        </p:txBody>
      </p:sp>
      <p:sp>
        <p:nvSpPr>
          <p:cNvPr id="592" name="Google Shape;592;p63"/>
          <p:cNvSpPr txBox="1"/>
          <p:nvPr/>
        </p:nvSpPr>
        <p:spPr>
          <a:xfrm>
            <a:off x="6604254" y="1625346"/>
            <a:ext cx="2023110" cy="3429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Open-source iOS &amp; Android automation.</a:t>
            </a:r>
            <a:endParaRPr sz="800" b="0" i="0" u="none" strike="noStrike" cap="none">
              <a:solidFill>
                <a:schemeClr val="dk1"/>
              </a:solidFill>
              <a:latin typeface="Calibri"/>
              <a:ea typeface="Calibri"/>
              <a:cs typeface="Calibri"/>
              <a:sym typeface="Calibri"/>
            </a:endParaRPr>
          </a:p>
        </p:txBody>
      </p:sp>
      <p:sp>
        <p:nvSpPr>
          <p:cNvPr id="593" name="Google Shape;593;p63"/>
          <p:cNvSpPr/>
          <p:nvPr/>
        </p:nvSpPr>
        <p:spPr>
          <a:xfrm>
            <a:off x="562356" y="2091690"/>
            <a:ext cx="425196" cy="425196"/>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594" name="Google Shape;594;p63" descr="/home/claude/work/assets/ic_branch_bone.png"/>
          <p:cNvPicPr preferRelativeResize="0"/>
          <p:nvPr/>
        </p:nvPicPr>
        <p:blipFill rotWithShape="1">
          <a:blip r:embed="rId6">
            <a:alphaModFix/>
          </a:blip>
          <a:srcRect/>
          <a:stretch/>
        </p:blipFill>
        <p:spPr>
          <a:xfrm>
            <a:off x="664403" y="2193737"/>
            <a:ext cx="221102" cy="221102"/>
          </a:xfrm>
          <a:prstGeom prst="rect">
            <a:avLst/>
          </a:prstGeom>
          <a:noFill/>
          <a:ln>
            <a:noFill/>
          </a:ln>
        </p:spPr>
      </p:pic>
      <p:sp>
        <p:nvSpPr>
          <p:cNvPr id="595" name="Google Shape;595;p63"/>
          <p:cNvSpPr txBox="1"/>
          <p:nvPr/>
        </p:nvSpPr>
        <p:spPr>
          <a:xfrm>
            <a:off x="1076706" y="2077974"/>
            <a:ext cx="2023110"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GitHub</a:t>
            </a:r>
            <a:endParaRPr sz="1000" b="0" i="0" u="none" strike="noStrike" cap="none">
              <a:solidFill>
                <a:schemeClr val="dk1"/>
              </a:solidFill>
              <a:latin typeface="Calibri"/>
              <a:ea typeface="Calibri"/>
              <a:cs typeface="Calibri"/>
              <a:sym typeface="Calibri"/>
            </a:endParaRPr>
          </a:p>
        </p:txBody>
      </p:sp>
      <p:sp>
        <p:nvSpPr>
          <p:cNvPr id="596" name="Google Shape;596;p63"/>
          <p:cNvSpPr txBox="1"/>
          <p:nvPr/>
        </p:nvSpPr>
        <p:spPr>
          <a:xfrm>
            <a:off x="1076706" y="2311146"/>
            <a:ext cx="2023110" cy="3429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Issues and PRs from failed runs.</a:t>
            </a:r>
            <a:endParaRPr sz="800" b="0" i="0" u="none" strike="noStrike" cap="none">
              <a:solidFill>
                <a:schemeClr val="dk1"/>
              </a:solidFill>
              <a:latin typeface="Calibri"/>
              <a:ea typeface="Calibri"/>
              <a:cs typeface="Calibri"/>
              <a:sym typeface="Calibri"/>
            </a:endParaRPr>
          </a:p>
        </p:txBody>
      </p:sp>
      <p:sp>
        <p:nvSpPr>
          <p:cNvPr id="597" name="Google Shape;597;p63"/>
          <p:cNvSpPr/>
          <p:nvPr/>
        </p:nvSpPr>
        <p:spPr>
          <a:xfrm>
            <a:off x="3326130" y="2091690"/>
            <a:ext cx="425196" cy="425196"/>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598" name="Google Shape;598;p63" descr="/home/claude/work/assets/ic_database_bone.png"/>
          <p:cNvPicPr preferRelativeResize="0"/>
          <p:nvPr/>
        </p:nvPicPr>
        <p:blipFill rotWithShape="1">
          <a:blip r:embed="rId7">
            <a:alphaModFix/>
          </a:blip>
          <a:srcRect/>
          <a:stretch/>
        </p:blipFill>
        <p:spPr>
          <a:xfrm>
            <a:off x="3428177" y="2193737"/>
            <a:ext cx="221102" cy="221102"/>
          </a:xfrm>
          <a:prstGeom prst="rect">
            <a:avLst/>
          </a:prstGeom>
          <a:noFill/>
          <a:ln>
            <a:noFill/>
          </a:ln>
        </p:spPr>
      </p:pic>
      <p:sp>
        <p:nvSpPr>
          <p:cNvPr id="599" name="Google Shape;599;p63"/>
          <p:cNvSpPr txBox="1"/>
          <p:nvPr/>
        </p:nvSpPr>
        <p:spPr>
          <a:xfrm>
            <a:off x="3840480" y="2077974"/>
            <a:ext cx="2023110"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Jira &amp; Confluence</a:t>
            </a:r>
            <a:endParaRPr sz="1000" b="0" i="0" u="none" strike="noStrike" cap="none">
              <a:solidFill>
                <a:schemeClr val="dk1"/>
              </a:solidFill>
              <a:latin typeface="Calibri"/>
              <a:ea typeface="Calibri"/>
              <a:cs typeface="Calibri"/>
              <a:sym typeface="Calibri"/>
            </a:endParaRPr>
          </a:p>
        </p:txBody>
      </p:sp>
      <p:sp>
        <p:nvSpPr>
          <p:cNvPr id="600" name="Google Shape;600;p63"/>
          <p:cNvSpPr txBox="1"/>
          <p:nvPr/>
        </p:nvSpPr>
        <p:spPr>
          <a:xfrm>
            <a:off x="3840480" y="2311146"/>
            <a:ext cx="2023110" cy="3429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Atlassian MCP: stories, bugs, test plans.</a:t>
            </a:r>
            <a:endParaRPr sz="800" b="0" i="0" u="none" strike="noStrike" cap="none">
              <a:solidFill>
                <a:schemeClr val="dk1"/>
              </a:solidFill>
              <a:latin typeface="Calibri"/>
              <a:ea typeface="Calibri"/>
              <a:cs typeface="Calibri"/>
              <a:sym typeface="Calibri"/>
            </a:endParaRPr>
          </a:p>
        </p:txBody>
      </p:sp>
      <p:sp>
        <p:nvSpPr>
          <p:cNvPr id="601" name="Google Shape;601;p63"/>
          <p:cNvSpPr/>
          <p:nvPr/>
        </p:nvSpPr>
        <p:spPr>
          <a:xfrm>
            <a:off x="6089904" y="2091690"/>
            <a:ext cx="425196" cy="425196"/>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02" name="Google Shape;602;p63" descr="/home/claude/work/assets/ic_package_bone.png"/>
          <p:cNvPicPr preferRelativeResize="0"/>
          <p:nvPr/>
        </p:nvPicPr>
        <p:blipFill rotWithShape="1">
          <a:blip r:embed="rId8">
            <a:alphaModFix/>
          </a:blip>
          <a:srcRect/>
          <a:stretch/>
        </p:blipFill>
        <p:spPr>
          <a:xfrm>
            <a:off x="6191951" y="2193737"/>
            <a:ext cx="221102" cy="221102"/>
          </a:xfrm>
          <a:prstGeom prst="rect">
            <a:avLst/>
          </a:prstGeom>
          <a:noFill/>
          <a:ln>
            <a:noFill/>
          </a:ln>
        </p:spPr>
      </p:pic>
      <p:sp>
        <p:nvSpPr>
          <p:cNvPr id="603" name="Google Shape;603;p63"/>
          <p:cNvSpPr txBox="1"/>
          <p:nvPr/>
        </p:nvSpPr>
        <p:spPr>
          <a:xfrm>
            <a:off x="6604254" y="2077974"/>
            <a:ext cx="2023110"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Clappy MCP (Applause)</a:t>
            </a:r>
            <a:endParaRPr sz="1000" b="0" i="0" u="none" strike="noStrike" cap="none">
              <a:solidFill>
                <a:schemeClr val="dk1"/>
              </a:solidFill>
              <a:latin typeface="Calibri"/>
              <a:ea typeface="Calibri"/>
              <a:cs typeface="Calibri"/>
              <a:sym typeface="Calibri"/>
            </a:endParaRPr>
          </a:p>
        </p:txBody>
      </p:sp>
      <p:sp>
        <p:nvSpPr>
          <p:cNvPr id="604" name="Google Shape;604;p63"/>
          <p:cNvSpPr txBox="1"/>
          <p:nvPr/>
        </p:nvSpPr>
        <p:spPr>
          <a:xfrm>
            <a:off x="6604254" y="2311146"/>
            <a:ext cx="2023110" cy="3429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Recorded flow → Playwright framework.</a:t>
            </a:r>
            <a:endParaRPr sz="800" b="0" i="0" u="none" strike="noStrike" cap="none">
              <a:solidFill>
                <a:schemeClr val="dk1"/>
              </a:solidFill>
              <a:latin typeface="Calibri"/>
              <a:ea typeface="Calibri"/>
              <a:cs typeface="Calibri"/>
              <a:sym typeface="Calibri"/>
            </a:endParaRPr>
          </a:p>
        </p:txBody>
      </p:sp>
      <p:sp>
        <p:nvSpPr>
          <p:cNvPr id="605" name="Google Shape;605;p63"/>
          <p:cNvSpPr/>
          <p:nvPr/>
        </p:nvSpPr>
        <p:spPr>
          <a:xfrm>
            <a:off x="493776" y="2811780"/>
            <a:ext cx="4011930" cy="1200150"/>
          </a:xfrm>
          <a:prstGeom prst="roundRect">
            <a:avLst>
              <a:gd name="adj" fmla="val 4571"/>
            </a:avLst>
          </a:prstGeom>
          <a:solidFill>
            <a:srgbClr val="0A131E"/>
          </a:solidFill>
          <a:ln w="12700" cap="flat" cmpd="sng">
            <a:solidFill>
              <a:srgbClr val="1E304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06" name="Google Shape;606;p63"/>
          <p:cNvSpPr/>
          <p:nvPr/>
        </p:nvSpPr>
        <p:spPr>
          <a:xfrm>
            <a:off x="4642866" y="2811780"/>
            <a:ext cx="4011930" cy="1200150"/>
          </a:xfrm>
          <a:prstGeom prst="roundRect">
            <a:avLst>
              <a:gd name="adj" fmla="val 4571"/>
            </a:avLst>
          </a:prstGeom>
          <a:solidFill>
            <a:srgbClr val="0A131E"/>
          </a:solidFill>
          <a:ln w="12700" cap="flat" cmpd="sng">
            <a:solidFill>
              <a:srgbClr val="1E304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07" name="Google Shape;607;p63"/>
          <p:cNvSpPr txBox="1"/>
          <p:nvPr/>
        </p:nvSpPr>
        <p:spPr>
          <a:xfrm>
            <a:off x="493776" y="4700016"/>
            <a:ext cx="8161020" cy="24003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FC6F3"/>
              </a:buClr>
              <a:buSzPts val="900"/>
              <a:buFont typeface="Calibri"/>
              <a:buNone/>
            </a:pPr>
            <a:r>
              <a:rPr lang="en-GB" sz="900" b="1" i="0" u="none" strike="noStrike" cap="none">
                <a:solidFill>
                  <a:srgbClr val="7FC6F3"/>
                </a:solidFill>
                <a:latin typeface="Calibri"/>
                <a:ea typeface="Calibri"/>
                <a:cs typeface="Calibri"/>
                <a:sym typeface="Calibri"/>
              </a:rPr>
              <a:t>Typical QA flow: </a:t>
            </a:r>
            <a:r>
              <a:rPr lang="en-GB" sz="900" b="0" i="0" u="none" strike="noStrike" cap="none">
                <a:solidFill>
                  <a:srgbClr val="EAF1F7"/>
                </a:solidFill>
                <a:latin typeface="Calibri"/>
                <a:ea typeface="Calibri"/>
                <a:cs typeface="Calibri"/>
                <a:sym typeface="Calibri"/>
              </a:rPr>
              <a:t>explore with Playwright MCP → save it as a .spec.ts → run it with the CLI from then on.</a:t>
            </a:r>
            <a:endParaRPr sz="900" b="0" i="0" u="none" strike="noStrike" cap="none">
              <a:solidFill>
                <a:schemeClr val="dk1"/>
              </a:solidFill>
              <a:latin typeface="Calibri"/>
              <a:ea typeface="Calibri"/>
              <a:cs typeface="Calibri"/>
              <a:sym typeface="Calibri"/>
            </a:endParaRPr>
          </a:p>
        </p:txBody>
      </p:sp>
      <p:sp>
        <p:nvSpPr>
          <p:cNvPr id="608" name="Google Shape;608;p63"/>
          <p:cNvSpPr/>
          <p:nvPr/>
        </p:nvSpPr>
        <p:spPr>
          <a:xfrm>
            <a:off x="493776" y="4078224"/>
            <a:ext cx="8156448" cy="457200"/>
          </a:xfrm>
          <a:prstGeom prst="roundRect">
            <a:avLst>
              <a:gd name="adj" fmla="val 20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63"/>
          <p:cNvSpPr txBox="1"/>
          <p:nvPr/>
        </p:nvSpPr>
        <p:spPr>
          <a:xfrm>
            <a:off x="658368" y="4078224"/>
            <a:ext cx="1143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850"/>
              <a:buFont typeface="Arial"/>
              <a:buNone/>
            </a:pPr>
            <a:r>
              <a:rPr lang="en-GB" sz="850" b="1" i="0" u="none" strike="noStrike" cap="none">
                <a:solidFill>
                  <a:srgbClr val="4FB0EA"/>
                </a:solidFill>
                <a:latin typeface="Calibri"/>
                <a:ea typeface="Calibri"/>
                <a:cs typeface="Calibri"/>
                <a:sym typeface="Calibri"/>
              </a:rPr>
              <a:t>SAME BROWSER</a:t>
            </a:r>
            <a:endParaRPr/>
          </a:p>
          <a:p>
            <a:pPr marL="0" marR="0" lvl="0" indent="0" algn="l" rtl="0">
              <a:lnSpc>
                <a:spcPct val="100000"/>
              </a:lnSpc>
              <a:spcBef>
                <a:spcPts val="0"/>
              </a:spcBef>
              <a:spcAft>
                <a:spcPts val="0"/>
              </a:spcAft>
              <a:buClr>
                <a:srgbClr val="000000"/>
              </a:buClr>
              <a:buSzPts val="850"/>
              <a:buFont typeface="Arial"/>
              <a:buNone/>
            </a:pPr>
            <a:r>
              <a:rPr lang="en-GB" sz="850" b="1" i="0" u="none" strike="noStrike" cap="none">
                <a:solidFill>
                  <a:srgbClr val="4FB0EA"/>
                </a:solidFill>
                <a:latin typeface="Calibri"/>
                <a:ea typeface="Calibri"/>
                <a:cs typeface="Calibri"/>
                <a:sym typeface="Calibri"/>
              </a:rPr>
              <a:t>TASK, TOKENS</a:t>
            </a:r>
            <a:endParaRPr/>
          </a:p>
        </p:txBody>
      </p:sp>
      <p:sp>
        <p:nvSpPr>
          <p:cNvPr id="610" name="Google Shape;610;p63"/>
          <p:cNvSpPr txBox="1"/>
          <p:nvPr/>
        </p:nvSpPr>
        <p:spPr>
          <a:xfrm>
            <a:off x="1773936" y="4151376"/>
            <a:ext cx="1005840" cy="14630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FFFFFF"/>
                </a:solidFill>
                <a:latin typeface="Calibri"/>
                <a:ea typeface="Calibri"/>
                <a:cs typeface="Calibri"/>
                <a:sym typeface="Calibri"/>
              </a:rPr>
              <a:t>Playwright CLI</a:t>
            </a:r>
            <a:endParaRPr/>
          </a:p>
        </p:txBody>
      </p:sp>
      <p:sp>
        <p:nvSpPr>
          <p:cNvPr id="611" name="Google Shape;611;p63"/>
          <p:cNvSpPr/>
          <p:nvPr/>
        </p:nvSpPr>
        <p:spPr>
          <a:xfrm>
            <a:off x="2825496" y="4169664"/>
            <a:ext cx="931244" cy="109728"/>
          </a:xfrm>
          <a:prstGeom prst="roundRect">
            <a:avLst>
              <a:gd name="adj" fmla="val 50000"/>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63"/>
          <p:cNvSpPr txBox="1"/>
          <p:nvPr/>
        </p:nvSpPr>
        <p:spPr>
          <a:xfrm>
            <a:off x="3829892" y="4151376"/>
            <a:ext cx="548640" cy="14630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FFFFFF"/>
                </a:solidFill>
                <a:latin typeface="Courier New"/>
                <a:ea typeface="Courier New"/>
                <a:cs typeface="Courier New"/>
                <a:sym typeface="Courier New"/>
              </a:rPr>
              <a:t>≈27k</a:t>
            </a:r>
            <a:endParaRPr/>
          </a:p>
        </p:txBody>
      </p:sp>
      <p:sp>
        <p:nvSpPr>
          <p:cNvPr id="613" name="Google Shape;613;p63"/>
          <p:cNvSpPr txBox="1"/>
          <p:nvPr/>
        </p:nvSpPr>
        <p:spPr>
          <a:xfrm>
            <a:off x="1773936" y="4325112"/>
            <a:ext cx="1005840" cy="14630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FFFFFF"/>
                </a:solidFill>
                <a:latin typeface="Calibri"/>
                <a:ea typeface="Calibri"/>
                <a:cs typeface="Calibri"/>
                <a:sym typeface="Calibri"/>
              </a:rPr>
              <a:t>Playwright MCP</a:t>
            </a:r>
            <a:endParaRPr/>
          </a:p>
        </p:txBody>
      </p:sp>
      <p:sp>
        <p:nvSpPr>
          <p:cNvPr id="614" name="Google Shape;614;p63"/>
          <p:cNvSpPr/>
          <p:nvPr/>
        </p:nvSpPr>
        <p:spPr>
          <a:xfrm>
            <a:off x="2825496" y="4343400"/>
            <a:ext cx="3931920" cy="109728"/>
          </a:xfrm>
          <a:prstGeom prst="roundRect">
            <a:avLst>
              <a:gd name="adj" fmla="val 50000"/>
            </a:avLst>
          </a:prstGeom>
          <a:solidFill>
            <a:srgbClr val="3A5A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63"/>
          <p:cNvSpPr txBox="1"/>
          <p:nvPr/>
        </p:nvSpPr>
        <p:spPr>
          <a:xfrm>
            <a:off x="6830568" y="4325112"/>
            <a:ext cx="548640" cy="14630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FFFFFF"/>
                </a:solidFill>
                <a:latin typeface="Courier New"/>
                <a:ea typeface="Courier New"/>
                <a:cs typeface="Courier New"/>
                <a:sym typeface="Courier New"/>
              </a:rPr>
              <a:t>≈114k</a:t>
            </a:r>
            <a:endParaRPr/>
          </a:p>
        </p:txBody>
      </p:sp>
      <p:sp>
        <p:nvSpPr>
          <p:cNvPr id="616" name="Google Shape;616;p63"/>
          <p:cNvSpPr txBox="1"/>
          <p:nvPr/>
        </p:nvSpPr>
        <p:spPr>
          <a:xfrm>
            <a:off x="7187184" y="4078224"/>
            <a:ext cx="1325880" cy="4572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1" i="0" u="none" strike="noStrike" cap="none">
                <a:solidFill>
                  <a:srgbClr val="4FB0EA"/>
                </a:solidFill>
                <a:latin typeface="Calibri"/>
                <a:ea typeface="Calibri"/>
                <a:cs typeface="Calibri"/>
                <a:sym typeface="Calibri"/>
              </a:rPr>
              <a:t>≈4×</a:t>
            </a:r>
            <a:endParaRPr/>
          </a:p>
          <a:p>
            <a:pPr marL="0" marR="0" lvl="0" indent="0" algn="r" rtl="0">
              <a:lnSpc>
                <a:spcPct val="100000"/>
              </a:lnSpc>
              <a:spcBef>
                <a:spcPts val="0"/>
              </a:spcBef>
              <a:spcAft>
                <a:spcPts val="0"/>
              </a:spcAft>
              <a:buClr>
                <a:srgbClr val="000000"/>
              </a:buClr>
              <a:buSzPts val="850"/>
              <a:buFont typeface="Arial"/>
              <a:buNone/>
            </a:pPr>
            <a:r>
              <a:rPr lang="en-GB" sz="850" b="0" i="0" u="none" strike="noStrike" cap="none">
                <a:solidFill>
                  <a:srgbClr val="93A9C0"/>
                </a:solidFill>
                <a:latin typeface="Calibri"/>
                <a:ea typeface="Calibri"/>
                <a:cs typeface="Calibri"/>
                <a:sym typeface="Calibri"/>
              </a:rPr>
              <a:t>fewer with the CLI</a:t>
            </a:r>
            <a:endParaRPr/>
          </a:p>
        </p:txBody>
      </p:sp>
      <p:sp>
        <p:nvSpPr>
          <p:cNvPr id="617" name="Google Shape;617;p63"/>
          <p:cNvSpPr txBox="1"/>
          <p:nvPr/>
        </p:nvSpPr>
        <p:spPr>
          <a:xfrm>
            <a:off x="676656" y="2880360"/>
            <a:ext cx="36576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7FC6F3"/>
                </a:solidFill>
                <a:latin typeface="Century Schoolbook"/>
                <a:ea typeface="Century Schoolbook"/>
                <a:cs typeface="Century Schoolbook"/>
                <a:sym typeface="Century Schoolbook"/>
              </a:rPr>
              <a:t>Use a CLI when…</a:t>
            </a:r>
            <a:endParaRPr/>
          </a:p>
        </p:txBody>
      </p:sp>
      <p:sp>
        <p:nvSpPr>
          <p:cNvPr id="618" name="Google Shape;618;p63"/>
          <p:cNvSpPr/>
          <p:nvPr/>
        </p:nvSpPr>
        <p:spPr>
          <a:xfrm>
            <a:off x="694944" y="3291840"/>
            <a:ext cx="64008" cy="64008"/>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63"/>
          <p:cNvSpPr txBox="1"/>
          <p:nvPr/>
        </p:nvSpPr>
        <p:spPr>
          <a:xfrm>
            <a:off x="841248" y="3200400"/>
            <a:ext cx="36118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Repeatable jobs: </a:t>
            </a:r>
            <a:r>
              <a:rPr lang="en-GB" sz="1100" b="0" i="0" u="none" strike="noStrike" cap="none">
                <a:solidFill>
                  <a:srgbClr val="93A9C0"/>
                </a:solidFill>
                <a:latin typeface="Calibri"/>
                <a:ea typeface="Calibri"/>
                <a:cs typeface="Calibri"/>
                <a:sym typeface="Calibri"/>
              </a:rPr>
              <a:t>tests, lint, CI.</a:t>
            </a:r>
            <a:endParaRPr/>
          </a:p>
        </p:txBody>
      </p:sp>
      <p:sp>
        <p:nvSpPr>
          <p:cNvPr id="620" name="Google Shape;620;p63"/>
          <p:cNvSpPr/>
          <p:nvPr/>
        </p:nvSpPr>
        <p:spPr>
          <a:xfrm>
            <a:off x="694944" y="3547872"/>
            <a:ext cx="64008" cy="64008"/>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63"/>
          <p:cNvSpPr txBox="1"/>
          <p:nvPr/>
        </p:nvSpPr>
        <p:spPr>
          <a:xfrm>
            <a:off x="841248" y="3456432"/>
            <a:ext cx="36118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Claude Code drives a browser: </a:t>
            </a:r>
            <a:r>
              <a:rPr lang="en-GB" sz="1100" b="0" i="0" u="none" strike="noStrike" cap="none">
                <a:solidFill>
                  <a:srgbClr val="93A9C0"/>
                </a:solidFill>
                <a:latin typeface="Calibri"/>
                <a:ea typeface="Calibri"/>
                <a:cs typeface="Calibri"/>
                <a:sym typeface="Calibri"/>
              </a:rPr>
              <a:t>playwright-cli.</a:t>
            </a:r>
            <a:endParaRPr/>
          </a:p>
        </p:txBody>
      </p:sp>
      <p:sp>
        <p:nvSpPr>
          <p:cNvPr id="622" name="Google Shape;622;p63"/>
          <p:cNvSpPr/>
          <p:nvPr/>
        </p:nvSpPr>
        <p:spPr>
          <a:xfrm>
            <a:off x="694944" y="3803904"/>
            <a:ext cx="64008" cy="64008"/>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63"/>
          <p:cNvSpPr txBox="1"/>
          <p:nvPr/>
        </p:nvSpPr>
        <p:spPr>
          <a:xfrm>
            <a:off x="841248" y="3712464"/>
            <a:ext cx="36118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Huge output: </a:t>
            </a:r>
            <a:r>
              <a:rPr lang="en-GB" sz="1100" b="0" i="0" u="none" strike="noStrike" cap="none">
                <a:solidFill>
                  <a:srgbClr val="93A9C0"/>
                </a:solidFill>
                <a:latin typeface="Calibri"/>
                <a:ea typeface="Calibri"/>
                <a:cs typeface="Calibri"/>
                <a:sym typeface="Calibri"/>
              </a:rPr>
              <a:t>filter the logs first.</a:t>
            </a:r>
            <a:endParaRPr/>
          </a:p>
        </p:txBody>
      </p:sp>
      <p:sp>
        <p:nvSpPr>
          <p:cNvPr id="624" name="Google Shape;624;p63"/>
          <p:cNvSpPr txBox="1"/>
          <p:nvPr/>
        </p:nvSpPr>
        <p:spPr>
          <a:xfrm>
            <a:off x="4828032" y="2880360"/>
            <a:ext cx="36576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7FC6F3"/>
                </a:solidFill>
                <a:latin typeface="Century Schoolbook"/>
                <a:ea typeface="Century Schoolbook"/>
                <a:cs typeface="Century Schoolbook"/>
                <a:sym typeface="Century Schoolbook"/>
              </a:rPr>
              <a:t>Use MCP when…</a:t>
            </a:r>
            <a:endParaRPr/>
          </a:p>
        </p:txBody>
      </p:sp>
      <p:sp>
        <p:nvSpPr>
          <p:cNvPr id="625" name="Google Shape;625;p63"/>
          <p:cNvSpPr/>
          <p:nvPr/>
        </p:nvSpPr>
        <p:spPr>
          <a:xfrm>
            <a:off x="4846320" y="3291840"/>
            <a:ext cx="64008" cy="64008"/>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63"/>
          <p:cNvSpPr txBox="1"/>
          <p:nvPr/>
        </p:nvSpPr>
        <p:spPr>
          <a:xfrm>
            <a:off x="4992624" y="3200400"/>
            <a:ext cx="36118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No shell: </a:t>
            </a:r>
            <a:r>
              <a:rPr lang="en-GB" sz="1100" b="0" i="0" u="none" strike="noStrike" cap="none">
                <a:solidFill>
                  <a:srgbClr val="93A9C0"/>
                </a:solidFill>
                <a:latin typeface="Calibri"/>
                <a:ea typeface="Calibri"/>
                <a:cs typeface="Calibri"/>
                <a:sym typeface="Calibri"/>
              </a:rPr>
              <a:t>chat apps, IDE panels.</a:t>
            </a:r>
            <a:endParaRPr/>
          </a:p>
        </p:txBody>
      </p:sp>
      <p:sp>
        <p:nvSpPr>
          <p:cNvPr id="627" name="Google Shape;627;p63"/>
          <p:cNvSpPr/>
          <p:nvPr/>
        </p:nvSpPr>
        <p:spPr>
          <a:xfrm>
            <a:off x="4846320" y="3547872"/>
            <a:ext cx="64008" cy="64008"/>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63"/>
          <p:cNvSpPr txBox="1"/>
          <p:nvPr/>
        </p:nvSpPr>
        <p:spPr>
          <a:xfrm>
            <a:off x="4992624" y="3456432"/>
            <a:ext cx="36118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Hosted tools with login: </a:t>
            </a:r>
            <a:r>
              <a:rPr lang="en-GB" sz="1100" b="0" i="0" u="none" strike="noStrike" cap="none">
                <a:solidFill>
                  <a:srgbClr val="93A9C0"/>
                </a:solidFill>
                <a:latin typeface="Calibri"/>
                <a:ea typeface="Calibri"/>
                <a:cs typeface="Calibri"/>
                <a:sym typeface="Calibri"/>
              </a:rPr>
              <a:t>Jira, Confluence.</a:t>
            </a:r>
            <a:endParaRPr/>
          </a:p>
        </p:txBody>
      </p:sp>
      <p:sp>
        <p:nvSpPr>
          <p:cNvPr id="629" name="Google Shape;629;p63"/>
          <p:cNvSpPr/>
          <p:nvPr/>
        </p:nvSpPr>
        <p:spPr>
          <a:xfrm>
            <a:off x="4846320" y="3803904"/>
            <a:ext cx="64008" cy="64008"/>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63"/>
          <p:cNvSpPr txBox="1"/>
          <p:nvPr/>
        </p:nvSpPr>
        <p:spPr>
          <a:xfrm>
            <a:off x="4992624" y="3712464"/>
            <a:ext cx="36118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Live exploration: </a:t>
            </a:r>
            <a:r>
              <a:rPr lang="en-GB" sz="1100" b="0" i="0" u="none" strike="noStrike" cap="none">
                <a:solidFill>
                  <a:srgbClr val="93A9C0"/>
                </a:solidFill>
                <a:latin typeface="Calibri"/>
                <a:ea typeface="Calibri"/>
                <a:cs typeface="Calibri"/>
                <a:sym typeface="Calibri"/>
              </a:rPr>
              <a:t>one step at a time.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635"/>
        <p:cNvGrpSpPr/>
        <p:nvPr/>
      </p:nvGrpSpPr>
      <p:grpSpPr>
        <a:xfrm>
          <a:off x="0" y="0"/>
          <a:ext cx="0" cy="0"/>
          <a:chOff x="0" y="0"/>
          <a:chExt cx="0" cy="0"/>
        </a:xfrm>
      </p:grpSpPr>
      <p:sp>
        <p:nvSpPr>
          <p:cNvPr id="636" name="Google Shape;636;p64"/>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Example building block: Skills and Sub Agents</a:t>
            </a:r>
            <a:endParaRPr sz="1900"/>
          </a:p>
        </p:txBody>
      </p:sp>
      <p:sp>
        <p:nvSpPr>
          <p:cNvPr id="637" name="Google Shape;637;p64"/>
          <p:cNvSpPr/>
          <p:nvPr/>
        </p:nvSpPr>
        <p:spPr>
          <a:xfrm>
            <a:off x="493776" y="1062990"/>
            <a:ext cx="4320600" cy="2057400"/>
          </a:xfrm>
          <a:prstGeom prst="roundRect">
            <a:avLst>
              <a:gd name="adj" fmla="val 2667"/>
            </a:avLst>
          </a:prstGeom>
          <a:solidFill>
            <a:srgbClr val="0A131E"/>
          </a:solidFill>
          <a:ln w="12700" cap="flat" cmpd="sng">
            <a:solidFill>
              <a:srgbClr val="1E304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38" name="Google Shape;638;p64"/>
          <p:cNvSpPr txBox="1"/>
          <p:nvPr/>
        </p:nvSpPr>
        <p:spPr>
          <a:xfrm>
            <a:off x="630936" y="1165860"/>
            <a:ext cx="4080600" cy="178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FC6F3"/>
              </a:buClr>
              <a:buSzPts val="800"/>
              <a:buFont typeface="Courier New"/>
              <a:buNone/>
            </a:pPr>
            <a:r>
              <a:rPr lang="en-GB" sz="800" b="1" i="0" u="none" strike="noStrike" cap="none">
                <a:solidFill>
                  <a:srgbClr val="7FC6F3"/>
                </a:solidFill>
                <a:latin typeface="Courier New"/>
                <a:ea typeface="Courier New"/>
                <a:cs typeface="Courier New"/>
                <a:sym typeface="Courier New"/>
              </a:rPr>
              <a:t>.claude/skills/api-tests/SKILL.md</a:t>
            </a:r>
            <a:endParaRPr sz="800" b="0" i="0" u="none" strike="noStrike" cap="none">
              <a:solidFill>
                <a:schemeClr val="dk1"/>
              </a:solidFill>
              <a:latin typeface="Calibri"/>
              <a:ea typeface="Calibri"/>
              <a:cs typeface="Calibri"/>
              <a:sym typeface="Calibri"/>
            </a:endParaRPr>
          </a:p>
        </p:txBody>
      </p:sp>
      <p:sp>
        <p:nvSpPr>
          <p:cNvPr id="639" name="Google Shape;639;p64"/>
          <p:cNvSpPr txBox="1"/>
          <p:nvPr/>
        </p:nvSpPr>
        <p:spPr>
          <a:xfrm>
            <a:off x="630936" y="1385316"/>
            <a:ext cx="4059900" cy="16665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93A9C0"/>
              </a:buClr>
              <a:buSzPts val="800"/>
              <a:buFont typeface="Courier New"/>
              <a:buNone/>
            </a:pPr>
            <a:r>
              <a:rPr lang="en-GB" sz="800" b="0" i="0" u="none" strike="noStrike" cap="none">
                <a:solidFill>
                  <a:srgbClr val="93A9C0"/>
                </a:solidFill>
                <a:latin typeface="Courier New"/>
                <a:ea typeface="Courier New"/>
                <a:cs typeface="Courier New"/>
                <a:sym typeface="Courier New"/>
              </a:rPr>
              <a:t>---</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name: api-tests</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description: Write Playwright API tests</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  (no browser) based on the team docs.</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  Use when asked to write API tests.</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93A9C0"/>
              </a:buClr>
              <a:buSzPts val="800"/>
              <a:buFont typeface="Courier New"/>
              <a:buNone/>
            </a:pPr>
            <a:r>
              <a:rPr lang="en-GB" sz="800" b="0" i="0" u="none" strike="noStrike" cap="none">
                <a:solidFill>
                  <a:srgbClr val="93A9C0"/>
                </a:solidFill>
                <a:latin typeface="Courier New"/>
                <a:ea typeface="Courier New"/>
                <a:cs typeface="Courier New"/>
                <a:sym typeface="Courier New"/>
              </a:rPr>
              <a:t>---</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7FC6F3"/>
              </a:buClr>
              <a:buSzPts val="800"/>
              <a:buFont typeface="Courier New"/>
              <a:buNone/>
            </a:pPr>
            <a:r>
              <a:rPr lang="en-GB" sz="800" b="0" i="0" u="none" strike="noStrike" cap="none">
                <a:solidFill>
                  <a:srgbClr val="7FC6F3"/>
                </a:solidFill>
                <a:latin typeface="Courier New"/>
                <a:ea typeface="Courier New"/>
                <a:cs typeface="Courier New"/>
                <a:sym typeface="Courier New"/>
              </a:rPr>
              <a:t>1. Search the team docs first</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2. Cover every error code; keep checking</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   async results until they settle</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7FC6F3"/>
              </a:buClr>
              <a:buSzPts val="800"/>
              <a:buFont typeface="Courier New"/>
              <a:buNone/>
            </a:pPr>
            <a:r>
              <a:rPr lang="en-GB" sz="800" b="0" i="0" u="none" strike="noStrike" cap="none">
                <a:solidFill>
                  <a:srgbClr val="7FC6F3"/>
                </a:solidFill>
                <a:latin typeface="Courier New"/>
                <a:ea typeface="Courier New"/>
                <a:cs typeface="Courier New"/>
                <a:sym typeface="Courier New"/>
              </a:rPr>
              <a:t>3. Run them, report which doc each</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7FC6F3"/>
              </a:buClr>
              <a:buSzPts val="800"/>
              <a:buFont typeface="Courier New"/>
              <a:buNone/>
            </a:pPr>
            <a:r>
              <a:rPr lang="en-GB" sz="800" b="0" i="0" u="none" strike="noStrike" cap="none">
                <a:solidFill>
                  <a:srgbClr val="7FC6F3"/>
                </a:solidFill>
                <a:latin typeface="Courier New"/>
                <a:ea typeface="Courier New"/>
                <a:cs typeface="Courier New"/>
                <a:sym typeface="Courier New"/>
              </a:rPr>
              <a:t>   is based on</a:t>
            </a:r>
            <a:endParaRPr sz="800" b="0" i="0" u="none" strike="noStrike" cap="none">
              <a:solidFill>
                <a:schemeClr val="dk1"/>
              </a:solidFill>
              <a:latin typeface="Calibri"/>
              <a:ea typeface="Calibri"/>
              <a:cs typeface="Calibri"/>
              <a:sym typeface="Calibri"/>
            </a:endParaRPr>
          </a:p>
        </p:txBody>
      </p:sp>
      <p:sp>
        <p:nvSpPr>
          <p:cNvPr id="640" name="Google Shape;640;p64"/>
          <p:cNvSpPr/>
          <p:nvPr/>
        </p:nvSpPr>
        <p:spPr>
          <a:xfrm>
            <a:off x="4903470" y="1062990"/>
            <a:ext cx="3751200" cy="1371600"/>
          </a:xfrm>
          <a:prstGeom prst="roundRect">
            <a:avLst>
              <a:gd name="adj" fmla="val 4000"/>
            </a:avLst>
          </a:prstGeom>
          <a:solidFill>
            <a:srgbClr val="0A131E"/>
          </a:solidFill>
          <a:ln w="12700" cap="flat" cmpd="sng">
            <a:solidFill>
              <a:srgbClr val="1E304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41" name="Google Shape;641;p64"/>
          <p:cNvSpPr txBox="1"/>
          <p:nvPr/>
        </p:nvSpPr>
        <p:spPr>
          <a:xfrm>
            <a:off x="5040630" y="1165860"/>
            <a:ext cx="3511200" cy="178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FC6F3"/>
              </a:buClr>
              <a:buSzPts val="800"/>
              <a:buFont typeface="Courier New"/>
              <a:buNone/>
            </a:pPr>
            <a:r>
              <a:rPr lang="en-GB" sz="800" b="1" i="0" u="none" strike="noStrike" cap="none">
                <a:solidFill>
                  <a:srgbClr val="7FC6F3"/>
                </a:solidFill>
                <a:latin typeface="Courier New"/>
                <a:ea typeface="Courier New"/>
                <a:cs typeface="Courier New"/>
                <a:sym typeface="Courier New"/>
              </a:rPr>
              <a:t>.claude/agents/test-reviewer.md</a:t>
            </a:r>
            <a:endParaRPr sz="800" b="0" i="0" u="none" strike="noStrike" cap="none">
              <a:solidFill>
                <a:schemeClr val="dk1"/>
              </a:solidFill>
              <a:latin typeface="Calibri"/>
              <a:ea typeface="Calibri"/>
              <a:cs typeface="Calibri"/>
              <a:sym typeface="Calibri"/>
            </a:endParaRPr>
          </a:p>
        </p:txBody>
      </p:sp>
      <p:sp>
        <p:nvSpPr>
          <p:cNvPr id="642" name="Google Shape;642;p64"/>
          <p:cNvSpPr txBox="1"/>
          <p:nvPr/>
        </p:nvSpPr>
        <p:spPr>
          <a:xfrm>
            <a:off x="5040630" y="1385316"/>
            <a:ext cx="3490800" cy="9807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93A9C0"/>
              </a:buClr>
              <a:buSzPts val="800"/>
              <a:buFont typeface="Courier New"/>
              <a:buNone/>
            </a:pPr>
            <a:r>
              <a:rPr lang="en-GB" sz="800" b="0" i="0" u="none" strike="noStrike" cap="none">
                <a:solidFill>
                  <a:srgbClr val="93A9C0"/>
                </a:solidFill>
                <a:latin typeface="Courier New"/>
                <a:ea typeface="Courier New"/>
                <a:cs typeface="Courier New"/>
                <a:sym typeface="Courier New"/>
              </a:rPr>
              <a:t>---</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name: test-reviewer</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description: Reviews new tests for</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  hard waits, weak asserts, flakiness.</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EAF1F7"/>
              </a:buClr>
              <a:buSzPts val="800"/>
              <a:buFont typeface="Courier New"/>
              <a:buNone/>
            </a:pPr>
            <a:r>
              <a:rPr lang="en-GB" sz="800" b="0" i="0" u="none" strike="noStrike" cap="none">
                <a:solidFill>
                  <a:srgbClr val="EAF1F7"/>
                </a:solidFill>
                <a:latin typeface="Courier New"/>
                <a:ea typeface="Courier New"/>
                <a:cs typeface="Courier New"/>
                <a:sym typeface="Courier New"/>
              </a:rPr>
              <a:t>tools: Read, Grep</a:t>
            </a:r>
            <a:endParaRPr sz="800" b="0" i="0" u="none" strike="noStrike" cap="none">
              <a:solidFill>
                <a:schemeClr val="dk1"/>
              </a:solidFill>
              <a:latin typeface="Calibri"/>
              <a:ea typeface="Calibri"/>
              <a:cs typeface="Calibri"/>
              <a:sym typeface="Calibri"/>
            </a:endParaRPr>
          </a:p>
          <a:p>
            <a:pPr marL="0" marR="0" lvl="0" indent="0" algn="l" rtl="0">
              <a:lnSpc>
                <a:spcPct val="112000"/>
              </a:lnSpc>
              <a:spcBef>
                <a:spcPts val="0"/>
              </a:spcBef>
              <a:spcAft>
                <a:spcPts val="0"/>
              </a:spcAft>
              <a:buClr>
                <a:srgbClr val="93A9C0"/>
              </a:buClr>
              <a:buSzPts val="800"/>
              <a:buFont typeface="Courier New"/>
              <a:buNone/>
            </a:pPr>
            <a:r>
              <a:rPr lang="en-GB" sz="800" b="0" i="0" u="none" strike="noStrike" cap="none">
                <a:solidFill>
                  <a:srgbClr val="93A9C0"/>
                </a:solidFill>
                <a:latin typeface="Courier New"/>
                <a:ea typeface="Courier New"/>
                <a:cs typeface="Courier New"/>
                <a:sym typeface="Courier New"/>
              </a:rPr>
              <a:t>---</a:t>
            </a:r>
            <a:endParaRPr sz="800" b="0" i="0" u="none" strike="noStrike" cap="none">
              <a:solidFill>
                <a:schemeClr val="dk1"/>
              </a:solidFill>
              <a:latin typeface="Calibri"/>
              <a:ea typeface="Calibri"/>
              <a:cs typeface="Calibri"/>
              <a:sym typeface="Calibri"/>
            </a:endParaRPr>
          </a:p>
        </p:txBody>
      </p:sp>
      <p:sp>
        <p:nvSpPr>
          <p:cNvPr id="643" name="Google Shape;643;p64"/>
          <p:cNvSpPr txBox="1"/>
          <p:nvPr/>
        </p:nvSpPr>
        <p:spPr>
          <a:xfrm>
            <a:off x="4903470" y="2537460"/>
            <a:ext cx="3751200" cy="342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3A9C0"/>
              </a:buClr>
              <a:buSzPts val="900"/>
              <a:buFont typeface="Calibri"/>
              <a:buNone/>
            </a:pPr>
            <a:r>
              <a:rPr lang="en-GB" sz="900" b="0" i="1" u="none" strike="noStrike" cap="none">
                <a:solidFill>
                  <a:srgbClr val="93A9C0"/>
                </a:solidFill>
                <a:latin typeface="Calibri"/>
                <a:ea typeface="Calibri"/>
                <a:cs typeface="Calibri"/>
                <a:sym typeface="Calibri"/>
              </a:rPr>
              <a:t>Works in its own working memory and reports back a short verdict.</a:t>
            </a:r>
            <a:endParaRPr sz="900" b="0" i="0" u="none" strike="noStrike" cap="none">
              <a:solidFill>
                <a:schemeClr val="dk1"/>
              </a:solidFill>
              <a:latin typeface="Calibri"/>
              <a:ea typeface="Calibri"/>
              <a:cs typeface="Calibri"/>
              <a:sym typeface="Calibri"/>
            </a:endParaRPr>
          </a:p>
        </p:txBody>
      </p:sp>
      <p:sp>
        <p:nvSpPr>
          <p:cNvPr id="644" name="Google Shape;644;p64"/>
          <p:cNvSpPr txBox="1"/>
          <p:nvPr/>
        </p:nvSpPr>
        <p:spPr>
          <a:xfrm>
            <a:off x="493776" y="3257550"/>
            <a:ext cx="8160900" cy="342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FC6F3"/>
              </a:buClr>
              <a:buSzPts val="900"/>
              <a:buFont typeface="Calibri"/>
              <a:buNone/>
            </a:pPr>
            <a:r>
              <a:rPr lang="en-GB" sz="900" b="1" i="0" u="none" strike="noStrike" cap="none">
                <a:solidFill>
                  <a:srgbClr val="7FC6F3"/>
                </a:solidFill>
                <a:latin typeface="Calibri"/>
                <a:ea typeface="Calibri"/>
                <a:cs typeface="Calibri"/>
                <a:sym typeface="Calibri"/>
              </a:rPr>
              <a:t>Why skills scale: </a:t>
            </a:r>
            <a:r>
              <a:rPr lang="en-GB" sz="900" b="0" i="0" u="none" strike="noStrike" cap="none">
                <a:solidFill>
                  <a:srgbClr val="EAF1F7"/>
                </a:solidFill>
                <a:latin typeface="Calibri"/>
                <a:ea typeface="Calibri"/>
                <a:cs typeface="Calibri"/>
                <a:sym typeface="Calibri"/>
              </a:rPr>
              <a:t>only each skill's short description is loaded until a task needs it, many skills cost very little.</a:t>
            </a:r>
            <a:endParaRPr sz="900" b="0" i="0" u="none" strike="noStrike" cap="none">
              <a:solidFill>
                <a:schemeClr val="dk1"/>
              </a:solidFill>
              <a:latin typeface="Calibri"/>
              <a:ea typeface="Calibri"/>
              <a:cs typeface="Calibri"/>
              <a:sym typeface="Calibri"/>
            </a:endParaRPr>
          </a:p>
        </p:txBody>
      </p:sp>
      <p:sp>
        <p:nvSpPr>
          <p:cNvPr id="645" name="Google Shape;645;p64"/>
          <p:cNvSpPr txBox="1"/>
          <p:nvPr/>
        </p:nvSpPr>
        <p:spPr>
          <a:xfrm>
            <a:off x="493776" y="3669030"/>
            <a:ext cx="4114800" cy="20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272B4"/>
              </a:buClr>
              <a:buSzPts val="1100"/>
              <a:buFont typeface="Century Schoolbook"/>
              <a:buNone/>
            </a:pPr>
            <a:r>
              <a:rPr lang="en-GB" sz="1100" b="1" i="0" u="none" strike="noStrike" cap="none">
                <a:solidFill>
                  <a:srgbClr val="4FB0EA"/>
                </a:solidFill>
                <a:latin typeface="Century Schoolbook"/>
                <a:ea typeface="Century Schoolbook"/>
                <a:cs typeface="Century Schoolbook"/>
                <a:sym typeface="Century Schoolbook"/>
              </a:rPr>
              <a:t>Where to get skills</a:t>
            </a:r>
            <a:endParaRPr sz="1100" b="0" i="0" u="none" strike="noStrike" cap="none">
              <a:solidFill>
                <a:schemeClr val="dk1"/>
              </a:solidFill>
              <a:latin typeface="Calibri"/>
              <a:ea typeface="Calibri"/>
              <a:cs typeface="Calibri"/>
              <a:sym typeface="Calibri"/>
            </a:endParaRPr>
          </a:p>
        </p:txBody>
      </p:sp>
      <p:sp>
        <p:nvSpPr>
          <p:cNvPr id="646" name="Google Shape;646;p64"/>
          <p:cNvSpPr/>
          <p:nvPr/>
        </p:nvSpPr>
        <p:spPr>
          <a:xfrm>
            <a:off x="493776" y="3943350"/>
            <a:ext cx="2640300" cy="651600"/>
          </a:xfrm>
          <a:prstGeom prst="roundRect">
            <a:avLst>
              <a:gd name="adj" fmla="val 8421"/>
            </a:avLst>
          </a:prstGeom>
          <a:solidFill>
            <a:srgbClr val="0A131E"/>
          </a:solidFill>
          <a:ln w="12700" cap="flat" cmpd="sng">
            <a:solidFill>
              <a:srgbClr val="1E304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47" name="Google Shape;647;p64"/>
          <p:cNvSpPr/>
          <p:nvPr/>
        </p:nvSpPr>
        <p:spPr>
          <a:xfrm>
            <a:off x="644652" y="4135374"/>
            <a:ext cx="288000" cy="288000"/>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48" name="Google Shape;648;p64"/>
          <p:cNvSpPr txBox="1"/>
          <p:nvPr/>
        </p:nvSpPr>
        <p:spPr>
          <a:xfrm>
            <a:off x="644652" y="4149090"/>
            <a:ext cx="288000" cy="260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Century Schoolbook"/>
              <a:buNone/>
            </a:pPr>
            <a:r>
              <a:rPr lang="en-GB" sz="1100" b="1" i="0" u="none" strike="noStrike" cap="none">
                <a:solidFill>
                  <a:srgbClr val="000000"/>
                </a:solidFill>
                <a:latin typeface="Century Schoolbook"/>
                <a:ea typeface="Century Schoolbook"/>
                <a:cs typeface="Century Schoolbook"/>
                <a:sym typeface="Century Schoolbook"/>
              </a:rPr>
              <a:t>1</a:t>
            </a:r>
            <a:endParaRPr sz="1100" b="0" i="0" u="none" strike="noStrike" cap="none">
              <a:solidFill>
                <a:schemeClr val="dk1"/>
              </a:solidFill>
              <a:latin typeface="Calibri"/>
              <a:ea typeface="Calibri"/>
              <a:cs typeface="Calibri"/>
              <a:sym typeface="Calibri"/>
            </a:endParaRPr>
          </a:p>
        </p:txBody>
      </p:sp>
      <p:sp>
        <p:nvSpPr>
          <p:cNvPr id="649" name="Google Shape;649;p64"/>
          <p:cNvSpPr txBox="1"/>
          <p:nvPr/>
        </p:nvSpPr>
        <p:spPr>
          <a:xfrm>
            <a:off x="1028700" y="4080510"/>
            <a:ext cx="19887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AF1F7"/>
              </a:buClr>
              <a:buSzPts val="900"/>
              <a:buFont typeface="Calibri"/>
              <a:buNone/>
            </a:pPr>
            <a:r>
              <a:rPr lang="en-GB" sz="900" b="0" i="0" u="none" strike="noStrike" cap="none">
                <a:solidFill>
                  <a:srgbClr val="EAF1F7"/>
                </a:solidFill>
                <a:latin typeface="Calibri"/>
                <a:ea typeface="Calibri"/>
                <a:cs typeface="Calibri"/>
                <a:sym typeface="Calibri"/>
              </a:rPr>
              <a:t>anthropics/skills: webapp-testing (Playwright)</a:t>
            </a:r>
            <a:endParaRPr sz="900" b="0" i="0" u="none" strike="noStrike" cap="none">
              <a:solidFill>
                <a:schemeClr val="dk1"/>
              </a:solidFill>
              <a:latin typeface="Calibri"/>
              <a:ea typeface="Calibri"/>
              <a:cs typeface="Calibri"/>
              <a:sym typeface="Calibri"/>
            </a:endParaRPr>
          </a:p>
        </p:txBody>
      </p:sp>
      <p:sp>
        <p:nvSpPr>
          <p:cNvPr id="650" name="Google Shape;650;p64"/>
          <p:cNvSpPr/>
          <p:nvPr/>
        </p:nvSpPr>
        <p:spPr>
          <a:xfrm>
            <a:off x="3257550" y="3943350"/>
            <a:ext cx="2640300" cy="651600"/>
          </a:xfrm>
          <a:prstGeom prst="roundRect">
            <a:avLst>
              <a:gd name="adj" fmla="val 8421"/>
            </a:avLst>
          </a:prstGeom>
          <a:solidFill>
            <a:srgbClr val="0A131E"/>
          </a:solidFill>
          <a:ln w="12700" cap="flat" cmpd="sng">
            <a:solidFill>
              <a:srgbClr val="1E304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51" name="Google Shape;651;p64"/>
          <p:cNvSpPr/>
          <p:nvPr/>
        </p:nvSpPr>
        <p:spPr>
          <a:xfrm>
            <a:off x="3408426" y="4135374"/>
            <a:ext cx="288000" cy="288000"/>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52" name="Google Shape;652;p64"/>
          <p:cNvSpPr txBox="1"/>
          <p:nvPr/>
        </p:nvSpPr>
        <p:spPr>
          <a:xfrm>
            <a:off x="3408426" y="4149090"/>
            <a:ext cx="288000" cy="260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Century Schoolbook"/>
              <a:buNone/>
            </a:pPr>
            <a:r>
              <a:rPr lang="en-GB" sz="1100" b="1" i="0" u="none" strike="noStrike" cap="none">
                <a:solidFill>
                  <a:srgbClr val="000000"/>
                </a:solidFill>
                <a:latin typeface="Century Schoolbook"/>
                <a:ea typeface="Century Schoolbook"/>
                <a:cs typeface="Century Schoolbook"/>
                <a:sym typeface="Century Schoolbook"/>
              </a:rPr>
              <a:t>2</a:t>
            </a:r>
            <a:endParaRPr sz="1100" b="0" i="0" u="none" strike="noStrike" cap="none">
              <a:solidFill>
                <a:schemeClr val="dk1"/>
              </a:solidFill>
              <a:latin typeface="Calibri"/>
              <a:ea typeface="Calibri"/>
              <a:cs typeface="Calibri"/>
              <a:sym typeface="Calibri"/>
            </a:endParaRPr>
          </a:p>
        </p:txBody>
      </p:sp>
      <p:sp>
        <p:nvSpPr>
          <p:cNvPr id="653" name="Google Shape;653;p64"/>
          <p:cNvSpPr txBox="1"/>
          <p:nvPr/>
        </p:nvSpPr>
        <p:spPr>
          <a:xfrm>
            <a:off x="3792474" y="4080510"/>
            <a:ext cx="19887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AF1F7"/>
              </a:buClr>
              <a:buSzPts val="900"/>
              <a:buFont typeface="Calibri"/>
              <a:buNone/>
            </a:pPr>
            <a:r>
              <a:rPr lang="en-GB" sz="900" b="0" i="0" u="none" strike="noStrike" cap="none">
                <a:solidFill>
                  <a:srgbClr val="EAF1F7"/>
                </a:solidFill>
                <a:latin typeface="Calibri"/>
                <a:ea typeface="Calibri"/>
                <a:cs typeface="Calibri"/>
                <a:sym typeface="Calibri"/>
              </a:rPr>
              <a:t>qaskills.sh: hundreds of QA skills, npx qaskills add …</a:t>
            </a:r>
            <a:endParaRPr sz="900" b="0" i="0" u="none" strike="noStrike" cap="none">
              <a:solidFill>
                <a:schemeClr val="dk1"/>
              </a:solidFill>
              <a:latin typeface="Calibri"/>
              <a:ea typeface="Calibri"/>
              <a:cs typeface="Calibri"/>
              <a:sym typeface="Calibri"/>
            </a:endParaRPr>
          </a:p>
        </p:txBody>
      </p:sp>
      <p:sp>
        <p:nvSpPr>
          <p:cNvPr id="654" name="Google Shape;654;p64"/>
          <p:cNvSpPr/>
          <p:nvPr/>
        </p:nvSpPr>
        <p:spPr>
          <a:xfrm>
            <a:off x="6021324" y="3943350"/>
            <a:ext cx="2640300" cy="651600"/>
          </a:xfrm>
          <a:prstGeom prst="roundRect">
            <a:avLst>
              <a:gd name="adj" fmla="val 8421"/>
            </a:avLst>
          </a:prstGeom>
          <a:solidFill>
            <a:srgbClr val="0A131E"/>
          </a:solidFill>
          <a:ln w="12700" cap="flat" cmpd="sng">
            <a:solidFill>
              <a:srgbClr val="1E304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55" name="Google Shape;655;p64"/>
          <p:cNvSpPr/>
          <p:nvPr/>
        </p:nvSpPr>
        <p:spPr>
          <a:xfrm>
            <a:off x="6172200" y="4135374"/>
            <a:ext cx="288000" cy="288000"/>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56" name="Google Shape;656;p64"/>
          <p:cNvSpPr txBox="1"/>
          <p:nvPr/>
        </p:nvSpPr>
        <p:spPr>
          <a:xfrm>
            <a:off x="6172200" y="4149090"/>
            <a:ext cx="288000" cy="260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Century Schoolbook"/>
              <a:buNone/>
            </a:pPr>
            <a:r>
              <a:rPr lang="en-GB" sz="1100" b="1" i="0" u="none" strike="noStrike" cap="none">
                <a:solidFill>
                  <a:srgbClr val="000000"/>
                </a:solidFill>
                <a:latin typeface="Century Schoolbook"/>
                <a:ea typeface="Century Schoolbook"/>
                <a:cs typeface="Century Schoolbook"/>
                <a:sym typeface="Century Schoolbook"/>
              </a:rPr>
              <a:t>3</a:t>
            </a:r>
            <a:endParaRPr sz="1100" b="0" i="0" u="none" strike="noStrike" cap="none">
              <a:solidFill>
                <a:schemeClr val="dk1"/>
              </a:solidFill>
              <a:latin typeface="Calibri"/>
              <a:ea typeface="Calibri"/>
              <a:cs typeface="Calibri"/>
              <a:sym typeface="Calibri"/>
            </a:endParaRPr>
          </a:p>
        </p:txBody>
      </p:sp>
      <p:sp>
        <p:nvSpPr>
          <p:cNvPr id="657" name="Google Shape;657;p64"/>
          <p:cNvSpPr txBox="1"/>
          <p:nvPr/>
        </p:nvSpPr>
        <p:spPr>
          <a:xfrm>
            <a:off x="6556248" y="4080510"/>
            <a:ext cx="19887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AF1F7"/>
              </a:buClr>
              <a:buSzPts val="900"/>
              <a:buFont typeface="Calibri"/>
              <a:buNone/>
            </a:pPr>
            <a:r>
              <a:rPr lang="en-GB" sz="900" b="0" i="0" u="none" strike="noStrike" cap="none">
                <a:solidFill>
                  <a:srgbClr val="EAF1F7"/>
                </a:solidFill>
                <a:latin typeface="Calibri"/>
                <a:ea typeface="Calibri"/>
                <a:cs typeface="Calibri"/>
                <a:sym typeface="Calibri"/>
              </a:rPr>
              <a:t>Plugin marketplaces: /plugin</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72B4"/>
        </a:solidFill>
        <a:effectLst/>
      </p:bgPr>
    </p:bg>
    <p:spTree>
      <p:nvGrpSpPr>
        <p:cNvPr id="1" name="Shape 662"/>
        <p:cNvGrpSpPr/>
        <p:nvPr/>
      </p:nvGrpSpPr>
      <p:grpSpPr>
        <a:xfrm>
          <a:off x="0" y="0"/>
          <a:ext cx="0" cy="0"/>
          <a:chOff x="0" y="0"/>
          <a:chExt cx="0" cy="0"/>
        </a:xfrm>
      </p:grpSpPr>
      <p:sp>
        <p:nvSpPr>
          <p:cNvPr id="663" name="Google Shape;663;p65"/>
          <p:cNvSpPr txBox="1">
            <a:spLocks noGrp="1"/>
          </p:cNvSpPr>
          <p:nvPr>
            <p:ph type="title"/>
          </p:nvPr>
        </p:nvSpPr>
        <p:spPr>
          <a:xfrm>
            <a:off x="685800" y="2057400"/>
            <a:ext cx="7772400" cy="10287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rgbClr val="EAF1F7"/>
              </a:buClr>
              <a:buSzPts val="1900"/>
              <a:buFont typeface="Century Schoolbook"/>
              <a:buNone/>
            </a:pPr>
            <a:r>
              <a:rPr lang="en-GB" sz="4000" b="1">
                <a:solidFill>
                  <a:srgbClr val="FFFFFF"/>
                </a:solidFill>
                <a:latin typeface="Century Schoolbook"/>
                <a:ea typeface="Century Schoolbook"/>
                <a:cs typeface="Century Schoolbook"/>
                <a:sym typeface="Century Schoolbook"/>
              </a:rPr>
              <a:t>Best practices</a:t>
            </a:r>
            <a:endParaRPr sz="1900"/>
          </a:p>
        </p:txBody>
      </p:sp>
      <p:sp>
        <p:nvSpPr>
          <p:cNvPr id="664" name="Google Shape;664;p65"/>
          <p:cNvSpPr txBox="1"/>
          <p:nvPr/>
        </p:nvSpPr>
        <p:spPr>
          <a:xfrm>
            <a:off x="685800" y="3108960"/>
            <a:ext cx="7772400" cy="3657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CFE6F8"/>
                </a:solidFill>
                <a:latin typeface="Calibri"/>
                <a:ea typeface="Calibri"/>
                <a:cs typeface="Calibri"/>
                <a:sym typeface="Calibri"/>
              </a:rPr>
              <a:t>Ground it in your docs  ·  Give it rules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669"/>
        <p:cNvGrpSpPr/>
        <p:nvPr/>
      </p:nvGrpSpPr>
      <p:grpSpPr>
        <a:xfrm>
          <a:off x="0" y="0"/>
          <a:ext cx="0" cy="0"/>
          <a:chOff x="0" y="0"/>
          <a:chExt cx="0" cy="0"/>
        </a:xfrm>
      </p:grpSpPr>
      <p:sp>
        <p:nvSpPr>
          <p:cNvPr id="670" name="Google Shape;670;p66"/>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Inside RAG: how it finds the right page</a:t>
            </a:r>
            <a:endParaRPr sz="1900"/>
          </a:p>
        </p:txBody>
      </p:sp>
      <p:sp>
        <p:nvSpPr>
          <p:cNvPr id="671" name="Google Shape;671;p66"/>
          <p:cNvSpPr txBox="1"/>
          <p:nvPr/>
        </p:nvSpPr>
        <p:spPr>
          <a:xfrm>
            <a:off x="493776" y="914400"/>
            <a:ext cx="8229600"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INDEXING  ·  ONCE PER PROJECT</a:t>
            </a:r>
            <a:endParaRPr/>
          </a:p>
        </p:txBody>
      </p:sp>
      <p:sp>
        <p:nvSpPr>
          <p:cNvPr id="672" name="Google Shape;672;p66"/>
          <p:cNvSpPr/>
          <p:nvPr/>
        </p:nvSpPr>
        <p:spPr>
          <a:xfrm>
            <a:off x="493776" y="1133856"/>
            <a:ext cx="1847088" cy="1024128"/>
          </a:xfrm>
          <a:prstGeom prst="roundRect">
            <a:avLst>
              <a:gd name="adj" fmla="val 7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66"/>
          <p:cNvSpPr/>
          <p:nvPr/>
        </p:nvSpPr>
        <p:spPr>
          <a:xfrm>
            <a:off x="621792" y="1243584"/>
            <a:ext cx="256032" cy="256032"/>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FFFFFF"/>
                </a:solidFill>
                <a:latin typeface="Calibri"/>
                <a:ea typeface="Calibri"/>
                <a:cs typeface="Calibri"/>
                <a:sym typeface="Calibri"/>
              </a:rPr>
              <a:t>1</a:t>
            </a:r>
            <a:endParaRPr/>
          </a:p>
        </p:txBody>
      </p:sp>
      <p:sp>
        <p:nvSpPr>
          <p:cNvPr id="674" name="Google Shape;674;p66"/>
          <p:cNvSpPr txBox="1"/>
          <p:nvPr/>
        </p:nvSpPr>
        <p:spPr>
          <a:xfrm>
            <a:off x="950976" y="1216152"/>
            <a:ext cx="1298448" cy="3108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FFFFFF"/>
                </a:solidFill>
                <a:latin typeface="Calibri"/>
                <a:ea typeface="Calibri"/>
                <a:cs typeface="Calibri"/>
                <a:sym typeface="Calibri"/>
              </a:rPr>
              <a:t>Your docs</a:t>
            </a:r>
            <a:endParaRPr/>
          </a:p>
        </p:txBody>
      </p:sp>
      <p:sp>
        <p:nvSpPr>
          <p:cNvPr id="675" name="Google Shape;675;p66"/>
          <p:cNvSpPr txBox="1"/>
          <p:nvPr/>
        </p:nvSpPr>
        <p:spPr>
          <a:xfrm>
            <a:off x="621792" y="1554480"/>
            <a:ext cx="1609344"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93A9C0"/>
                </a:solidFill>
                <a:latin typeface="Calibri"/>
                <a:ea typeface="Calibri"/>
                <a:cs typeface="Calibri"/>
                <a:sym typeface="Calibri"/>
              </a:rPr>
              <a:t>Runbooks, specs, tickets, incidents</a:t>
            </a:r>
            <a:endParaRPr/>
          </a:p>
        </p:txBody>
      </p:sp>
      <p:sp>
        <p:nvSpPr>
          <p:cNvPr id="676" name="Google Shape;676;p66"/>
          <p:cNvSpPr txBox="1"/>
          <p:nvPr/>
        </p:nvSpPr>
        <p:spPr>
          <a:xfrm>
            <a:off x="621792" y="1883664"/>
            <a:ext cx="1591056"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ourier New"/>
                <a:ea typeface="Courier New"/>
                <a:cs typeface="Courier New"/>
                <a:sym typeface="Courier New"/>
              </a:rPr>
              <a:t>corpus/</a:t>
            </a:r>
            <a:endParaRPr/>
          </a:p>
        </p:txBody>
      </p:sp>
      <p:sp>
        <p:nvSpPr>
          <p:cNvPr id="677" name="Google Shape;677;p66"/>
          <p:cNvSpPr txBox="1"/>
          <p:nvPr/>
        </p:nvSpPr>
        <p:spPr>
          <a:xfrm>
            <a:off x="2340864" y="1463040"/>
            <a:ext cx="256032"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a:solidFill>
                  <a:srgbClr val="4FB0EA"/>
                </a:solidFill>
                <a:latin typeface="Calibri"/>
                <a:ea typeface="Calibri"/>
                <a:cs typeface="Calibri"/>
                <a:sym typeface="Calibri"/>
              </a:rPr>
              <a:t>→</a:t>
            </a:r>
            <a:endParaRPr/>
          </a:p>
        </p:txBody>
      </p:sp>
      <p:sp>
        <p:nvSpPr>
          <p:cNvPr id="678" name="Google Shape;678;p66"/>
          <p:cNvSpPr/>
          <p:nvPr/>
        </p:nvSpPr>
        <p:spPr>
          <a:xfrm>
            <a:off x="2596896" y="1133856"/>
            <a:ext cx="1847088" cy="1024128"/>
          </a:xfrm>
          <a:prstGeom prst="roundRect">
            <a:avLst>
              <a:gd name="adj" fmla="val 7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66"/>
          <p:cNvSpPr/>
          <p:nvPr/>
        </p:nvSpPr>
        <p:spPr>
          <a:xfrm>
            <a:off x="2724912" y="1243584"/>
            <a:ext cx="256032" cy="256032"/>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FFFFFF"/>
                </a:solidFill>
                <a:latin typeface="Calibri"/>
                <a:ea typeface="Calibri"/>
                <a:cs typeface="Calibri"/>
                <a:sym typeface="Calibri"/>
              </a:rPr>
              <a:t>2</a:t>
            </a:r>
            <a:endParaRPr/>
          </a:p>
        </p:txBody>
      </p:sp>
      <p:sp>
        <p:nvSpPr>
          <p:cNvPr id="680" name="Google Shape;680;p66"/>
          <p:cNvSpPr txBox="1"/>
          <p:nvPr/>
        </p:nvSpPr>
        <p:spPr>
          <a:xfrm>
            <a:off x="3054096" y="1216152"/>
            <a:ext cx="1298448" cy="3108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FFFFFF"/>
                </a:solidFill>
                <a:latin typeface="Calibri"/>
                <a:ea typeface="Calibri"/>
                <a:cs typeface="Calibri"/>
                <a:sym typeface="Calibri"/>
              </a:rPr>
              <a:t>Chunk</a:t>
            </a:r>
            <a:endParaRPr/>
          </a:p>
        </p:txBody>
      </p:sp>
      <p:sp>
        <p:nvSpPr>
          <p:cNvPr id="681" name="Google Shape;681;p66"/>
          <p:cNvSpPr txBox="1"/>
          <p:nvPr/>
        </p:nvSpPr>
        <p:spPr>
          <a:xfrm>
            <a:off x="2724912" y="1554480"/>
            <a:ext cx="1609344"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93A9C0"/>
                </a:solidFill>
                <a:latin typeface="Calibri"/>
                <a:ea typeface="Calibri"/>
                <a:cs typeface="Calibri"/>
                <a:sym typeface="Calibri"/>
              </a:rPr>
              <a:t>Passages of a few hundred tokens, small overlap</a:t>
            </a:r>
            <a:endParaRPr/>
          </a:p>
        </p:txBody>
      </p:sp>
      <p:sp>
        <p:nvSpPr>
          <p:cNvPr id="682" name="Google Shape;682;p66"/>
          <p:cNvSpPr txBox="1"/>
          <p:nvPr/>
        </p:nvSpPr>
        <p:spPr>
          <a:xfrm>
            <a:off x="2724912" y="1883664"/>
            <a:ext cx="1591056"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ourier New"/>
                <a:ea typeface="Courier New"/>
                <a:cs typeface="Courier New"/>
                <a:sym typeface="Courier New"/>
              </a:rPr>
              <a:t>npm run index</a:t>
            </a:r>
            <a:endParaRPr/>
          </a:p>
        </p:txBody>
      </p:sp>
      <p:sp>
        <p:nvSpPr>
          <p:cNvPr id="683" name="Google Shape;683;p66"/>
          <p:cNvSpPr txBox="1"/>
          <p:nvPr/>
        </p:nvSpPr>
        <p:spPr>
          <a:xfrm>
            <a:off x="4443984" y="1463040"/>
            <a:ext cx="256032"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a:solidFill>
                  <a:srgbClr val="4FB0EA"/>
                </a:solidFill>
                <a:latin typeface="Calibri"/>
                <a:ea typeface="Calibri"/>
                <a:cs typeface="Calibri"/>
                <a:sym typeface="Calibri"/>
              </a:rPr>
              <a:t>→</a:t>
            </a:r>
            <a:endParaRPr/>
          </a:p>
        </p:txBody>
      </p:sp>
      <p:sp>
        <p:nvSpPr>
          <p:cNvPr id="684" name="Google Shape;684;p66"/>
          <p:cNvSpPr/>
          <p:nvPr/>
        </p:nvSpPr>
        <p:spPr>
          <a:xfrm>
            <a:off x="4700016" y="1133856"/>
            <a:ext cx="1847088" cy="1024128"/>
          </a:xfrm>
          <a:prstGeom prst="roundRect">
            <a:avLst>
              <a:gd name="adj" fmla="val 7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66"/>
          <p:cNvSpPr/>
          <p:nvPr/>
        </p:nvSpPr>
        <p:spPr>
          <a:xfrm>
            <a:off x="4828032" y="1243584"/>
            <a:ext cx="256032" cy="256032"/>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FFFFFF"/>
                </a:solidFill>
                <a:latin typeface="Calibri"/>
                <a:ea typeface="Calibri"/>
                <a:cs typeface="Calibri"/>
                <a:sym typeface="Calibri"/>
              </a:rPr>
              <a:t>3</a:t>
            </a:r>
            <a:endParaRPr/>
          </a:p>
        </p:txBody>
      </p:sp>
      <p:sp>
        <p:nvSpPr>
          <p:cNvPr id="686" name="Google Shape;686;p66"/>
          <p:cNvSpPr txBox="1"/>
          <p:nvPr/>
        </p:nvSpPr>
        <p:spPr>
          <a:xfrm>
            <a:off x="5157216" y="1216152"/>
            <a:ext cx="1298448" cy="3108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FFFFFF"/>
                </a:solidFill>
                <a:latin typeface="Calibri"/>
                <a:ea typeface="Calibri"/>
                <a:cs typeface="Calibri"/>
                <a:sym typeface="Calibri"/>
              </a:rPr>
              <a:t>Embed</a:t>
            </a:r>
            <a:endParaRPr/>
          </a:p>
        </p:txBody>
      </p:sp>
      <p:sp>
        <p:nvSpPr>
          <p:cNvPr id="687" name="Google Shape;687;p66"/>
          <p:cNvSpPr txBox="1"/>
          <p:nvPr/>
        </p:nvSpPr>
        <p:spPr>
          <a:xfrm>
            <a:off x="4828032" y="1554480"/>
            <a:ext cx="1609344"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93A9C0"/>
                </a:solidFill>
                <a:latin typeface="Calibri"/>
                <a:ea typeface="Calibri"/>
                <a:cs typeface="Calibri"/>
                <a:sym typeface="Calibri"/>
              </a:rPr>
              <a:t>Each chunk becomes a vector of 384 numbers</a:t>
            </a:r>
            <a:endParaRPr/>
          </a:p>
        </p:txBody>
      </p:sp>
      <p:sp>
        <p:nvSpPr>
          <p:cNvPr id="688" name="Google Shape;688;p66"/>
          <p:cNvSpPr txBox="1"/>
          <p:nvPr/>
        </p:nvSpPr>
        <p:spPr>
          <a:xfrm>
            <a:off x="4828032" y="1883664"/>
            <a:ext cx="1591056"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ourier New"/>
                <a:ea typeface="Courier New"/>
                <a:cs typeface="Courier New"/>
                <a:sym typeface="Courier New"/>
              </a:rPr>
              <a:t>all-MiniLM-L6-v2</a:t>
            </a:r>
            <a:endParaRPr/>
          </a:p>
        </p:txBody>
      </p:sp>
      <p:sp>
        <p:nvSpPr>
          <p:cNvPr id="689" name="Google Shape;689;p66"/>
          <p:cNvSpPr txBox="1"/>
          <p:nvPr/>
        </p:nvSpPr>
        <p:spPr>
          <a:xfrm>
            <a:off x="6547104" y="1463040"/>
            <a:ext cx="256032"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a:solidFill>
                  <a:srgbClr val="4FB0EA"/>
                </a:solidFill>
                <a:latin typeface="Calibri"/>
                <a:ea typeface="Calibri"/>
                <a:cs typeface="Calibri"/>
                <a:sym typeface="Calibri"/>
              </a:rPr>
              <a:t>→</a:t>
            </a:r>
            <a:endParaRPr/>
          </a:p>
        </p:txBody>
      </p:sp>
      <p:sp>
        <p:nvSpPr>
          <p:cNvPr id="690" name="Google Shape;690;p66"/>
          <p:cNvSpPr/>
          <p:nvPr/>
        </p:nvSpPr>
        <p:spPr>
          <a:xfrm>
            <a:off x="6803136" y="1133856"/>
            <a:ext cx="1847088" cy="1024128"/>
          </a:xfrm>
          <a:prstGeom prst="roundRect">
            <a:avLst>
              <a:gd name="adj" fmla="val 7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66"/>
          <p:cNvSpPr/>
          <p:nvPr/>
        </p:nvSpPr>
        <p:spPr>
          <a:xfrm>
            <a:off x="6931152" y="1243584"/>
            <a:ext cx="256032" cy="256032"/>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FFFFFF"/>
                </a:solidFill>
                <a:latin typeface="Calibri"/>
                <a:ea typeface="Calibri"/>
                <a:cs typeface="Calibri"/>
                <a:sym typeface="Calibri"/>
              </a:rPr>
              <a:t>4</a:t>
            </a:r>
            <a:endParaRPr/>
          </a:p>
        </p:txBody>
      </p:sp>
      <p:sp>
        <p:nvSpPr>
          <p:cNvPr id="692" name="Google Shape;692;p66"/>
          <p:cNvSpPr txBox="1"/>
          <p:nvPr/>
        </p:nvSpPr>
        <p:spPr>
          <a:xfrm>
            <a:off x="7260336" y="1216152"/>
            <a:ext cx="1298448" cy="3108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FFFFFF"/>
                </a:solidFill>
                <a:latin typeface="Calibri"/>
                <a:ea typeface="Calibri"/>
                <a:cs typeface="Calibri"/>
                <a:sym typeface="Calibri"/>
              </a:rPr>
              <a:t>Store</a:t>
            </a:r>
            <a:endParaRPr/>
          </a:p>
        </p:txBody>
      </p:sp>
      <p:sp>
        <p:nvSpPr>
          <p:cNvPr id="693" name="Google Shape;693;p66"/>
          <p:cNvSpPr txBox="1"/>
          <p:nvPr/>
        </p:nvSpPr>
        <p:spPr>
          <a:xfrm>
            <a:off x="6931152" y="1554480"/>
            <a:ext cx="1609344"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93A9C0"/>
                </a:solidFill>
                <a:latin typeface="Calibri"/>
                <a:ea typeface="Calibri"/>
                <a:cs typeface="Calibri"/>
                <a:sym typeface="Calibri"/>
              </a:rPr>
              <a:t>Vector database plus a BM25 keyword index</a:t>
            </a:r>
            <a:endParaRPr/>
          </a:p>
        </p:txBody>
      </p:sp>
      <p:sp>
        <p:nvSpPr>
          <p:cNvPr id="694" name="Google Shape;694;p66"/>
          <p:cNvSpPr txBox="1"/>
          <p:nvPr/>
        </p:nvSpPr>
        <p:spPr>
          <a:xfrm>
            <a:off x="6931152" y="1883664"/>
            <a:ext cx="1591056"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ourier New"/>
                <a:ea typeface="Courier New"/>
                <a:cs typeface="Courier New"/>
                <a:sym typeface="Courier New"/>
              </a:rPr>
              <a:t>Chroma + BM25</a:t>
            </a:r>
            <a:endParaRPr/>
          </a:p>
        </p:txBody>
      </p:sp>
      <p:sp>
        <p:nvSpPr>
          <p:cNvPr id="695" name="Google Shape;695;p66"/>
          <p:cNvSpPr txBox="1"/>
          <p:nvPr/>
        </p:nvSpPr>
        <p:spPr>
          <a:xfrm>
            <a:off x="493776" y="2322576"/>
            <a:ext cx="8229600"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RETRIEVAL  ·  EVERY TIME CLAUDE CALLS search_docs</a:t>
            </a:r>
            <a:endParaRPr/>
          </a:p>
        </p:txBody>
      </p:sp>
      <p:sp>
        <p:nvSpPr>
          <p:cNvPr id="696" name="Google Shape;696;p66"/>
          <p:cNvSpPr/>
          <p:nvPr/>
        </p:nvSpPr>
        <p:spPr>
          <a:xfrm>
            <a:off x="493776" y="2542032"/>
            <a:ext cx="3968496" cy="1463040"/>
          </a:xfrm>
          <a:prstGeom prst="roundRect">
            <a:avLst>
              <a:gd name="adj" fmla="val 6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66"/>
          <p:cNvSpPr txBox="1"/>
          <p:nvPr/>
        </p:nvSpPr>
        <p:spPr>
          <a:xfrm>
            <a:off x="658368" y="2615184"/>
            <a:ext cx="3639312"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FFFFFF"/>
                </a:solidFill>
                <a:latin typeface="Calibri"/>
                <a:ea typeface="Calibri"/>
                <a:cs typeface="Calibri"/>
                <a:sym typeface="Calibri"/>
              </a:rPr>
              <a:t>BM25</a:t>
            </a:r>
            <a:r>
              <a:rPr lang="en-GB" sz="900" b="1" i="0" u="none" strike="noStrike" cap="none">
                <a:solidFill>
                  <a:srgbClr val="4FB0EA"/>
                </a:solidFill>
                <a:latin typeface="Calibri"/>
                <a:ea typeface="Calibri"/>
                <a:cs typeface="Calibri"/>
                <a:sym typeface="Calibri"/>
              </a:rPr>
              <a:t>   KEYWORDS</a:t>
            </a:r>
            <a:endParaRPr/>
          </a:p>
        </p:txBody>
      </p:sp>
      <p:sp>
        <p:nvSpPr>
          <p:cNvPr id="698" name="Google Shape;698;p66"/>
          <p:cNvSpPr txBox="1"/>
          <p:nvPr/>
        </p:nvSpPr>
        <p:spPr>
          <a:xfrm>
            <a:off x="658368" y="2889504"/>
            <a:ext cx="3639312"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0" i="0" u="none" strike="noStrike" cap="none">
                <a:solidFill>
                  <a:srgbClr val="93A9C0"/>
                </a:solidFill>
                <a:latin typeface="Calibri"/>
                <a:ea typeface="Calibri"/>
                <a:cs typeface="Calibri"/>
                <a:sym typeface="Calibri"/>
              </a:rPr>
              <a:t>Ranks chunks by matching words. Rare words count more.</a:t>
            </a:r>
            <a:endParaRPr/>
          </a:p>
        </p:txBody>
      </p:sp>
      <p:sp>
        <p:nvSpPr>
          <p:cNvPr id="699" name="Google Shape;699;p66"/>
          <p:cNvSpPr/>
          <p:nvPr/>
        </p:nvSpPr>
        <p:spPr>
          <a:xfrm>
            <a:off x="658368" y="3163824"/>
            <a:ext cx="3639312" cy="274320"/>
          </a:xfrm>
          <a:prstGeom prst="roundRect">
            <a:avLst>
              <a:gd name="adj" fmla="val 30000"/>
            </a:avLst>
          </a:prstGeom>
          <a:solidFill>
            <a:srgbClr val="06223A"/>
          </a:solidFill>
          <a:ln w="9525" cap="flat" cmpd="sng">
            <a:solidFill>
              <a:srgbClr val="0272B4"/>
            </a:solidFill>
            <a:prstDash val="solid"/>
            <a:round/>
            <a:headEnd type="none" w="sm" len="sm"/>
            <a:tailEnd type="none" w="sm" len="sm"/>
          </a:ln>
        </p:spPr>
        <p:txBody>
          <a:bodyPr spcFirstLastPara="1" wrap="square" lIns="82275" tIns="82275" rIns="82275" bIns="8227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93A9C0"/>
                </a:solidFill>
                <a:latin typeface="Courier New"/>
                <a:ea typeface="Courier New"/>
                <a:cs typeface="Courier New"/>
                <a:sym typeface="Courier New"/>
              </a:rPr>
              <a:t>search_docs(“</a:t>
            </a:r>
            <a:r>
              <a:rPr lang="en-GB" sz="950" b="1" i="0" u="none" strike="noStrike" cap="none">
                <a:solidFill>
                  <a:srgbClr val="7FC6F3"/>
                </a:solidFill>
                <a:latin typeface="Courier New"/>
                <a:ea typeface="Courier New"/>
                <a:cs typeface="Courier New"/>
                <a:sym typeface="Courier New"/>
              </a:rPr>
              <a:t>QA-1432 payment-status</a:t>
            </a:r>
            <a:r>
              <a:rPr lang="en-GB" sz="900" b="1" i="0" u="none" strike="noStrike" cap="none">
                <a:solidFill>
                  <a:srgbClr val="93A9C0"/>
                </a:solidFill>
                <a:latin typeface="Courier New"/>
                <a:ea typeface="Courier New"/>
                <a:cs typeface="Courier New"/>
                <a:sym typeface="Courier New"/>
              </a:rPr>
              <a:t>”)</a:t>
            </a:r>
            <a:endParaRPr/>
          </a:p>
        </p:txBody>
      </p:sp>
      <p:sp>
        <p:nvSpPr>
          <p:cNvPr id="700" name="Google Shape;700;p66"/>
          <p:cNvSpPr txBox="1"/>
          <p:nvPr/>
        </p:nvSpPr>
        <p:spPr>
          <a:xfrm>
            <a:off x="658368" y="3474720"/>
            <a:ext cx="3639312" cy="23774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5FD08A"/>
                </a:solidFill>
                <a:latin typeface="Calibri"/>
                <a:ea typeface="Calibri"/>
                <a:cs typeface="Calibri"/>
                <a:sym typeface="Calibri"/>
              </a:rPr>
              <a:t>✓  Finds </a:t>
            </a:r>
            <a:r>
              <a:rPr lang="en-GB" sz="1000" b="0" i="0" u="none" strike="noStrike" cap="none">
                <a:solidFill>
                  <a:srgbClr val="EAF1F7"/>
                </a:solidFill>
                <a:latin typeface="Calibri"/>
                <a:ea typeface="Calibri"/>
                <a:cs typeface="Calibri"/>
                <a:sym typeface="Calibri"/>
              </a:rPr>
              <a:t>the ticket and the test with that exact ID</a:t>
            </a:r>
            <a:endParaRPr/>
          </a:p>
        </p:txBody>
      </p:sp>
      <p:sp>
        <p:nvSpPr>
          <p:cNvPr id="701" name="Google Shape;701;p66"/>
          <p:cNvSpPr txBox="1"/>
          <p:nvPr/>
        </p:nvSpPr>
        <p:spPr>
          <a:xfrm>
            <a:off x="658368" y="3712464"/>
            <a:ext cx="3639312" cy="23774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50"/>
              <a:buFont typeface="Arial"/>
              <a:buNone/>
            </a:pPr>
            <a:r>
              <a:rPr lang="en-GB" sz="950" b="1" i="0" u="none" strike="noStrike" cap="none">
                <a:solidFill>
                  <a:srgbClr val="4FB0EA"/>
                </a:solidFill>
                <a:latin typeface="Calibri"/>
                <a:ea typeface="Calibri"/>
                <a:cs typeface="Calibri"/>
                <a:sym typeface="Calibri"/>
              </a:rPr>
              <a:t>Best at: </a:t>
            </a:r>
            <a:r>
              <a:rPr lang="en-GB" sz="950" b="1" i="0" u="none" strike="noStrike" cap="none">
                <a:solidFill>
                  <a:srgbClr val="FFFFFF"/>
                </a:solidFill>
                <a:latin typeface="Calibri"/>
                <a:ea typeface="Calibri"/>
                <a:cs typeface="Calibri"/>
                <a:sym typeface="Calibri"/>
              </a:rPr>
              <a:t>exact IDs, error codes, locators</a:t>
            </a:r>
            <a:endParaRPr/>
          </a:p>
        </p:txBody>
      </p:sp>
      <p:sp>
        <p:nvSpPr>
          <p:cNvPr id="702" name="Google Shape;702;p66"/>
          <p:cNvSpPr/>
          <p:nvPr/>
        </p:nvSpPr>
        <p:spPr>
          <a:xfrm>
            <a:off x="4681728" y="2542032"/>
            <a:ext cx="3968496" cy="1463040"/>
          </a:xfrm>
          <a:prstGeom prst="roundRect">
            <a:avLst>
              <a:gd name="adj" fmla="val 6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66"/>
          <p:cNvSpPr txBox="1"/>
          <p:nvPr/>
        </p:nvSpPr>
        <p:spPr>
          <a:xfrm>
            <a:off x="4846320" y="2615184"/>
            <a:ext cx="3639312"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FFFFFF"/>
                </a:solidFill>
                <a:latin typeface="Calibri"/>
                <a:ea typeface="Calibri"/>
                <a:cs typeface="Calibri"/>
                <a:sym typeface="Calibri"/>
              </a:rPr>
              <a:t>Embeddings</a:t>
            </a:r>
            <a:r>
              <a:rPr lang="en-GB" sz="900" b="1" i="0" u="none" strike="noStrike" cap="none">
                <a:solidFill>
                  <a:srgbClr val="4FB0EA"/>
                </a:solidFill>
                <a:latin typeface="Calibri"/>
                <a:ea typeface="Calibri"/>
                <a:cs typeface="Calibri"/>
                <a:sym typeface="Calibri"/>
              </a:rPr>
              <a:t>   MEANING</a:t>
            </a:r>
            <a:endParaRPr/>
          </a:p>
        </p:txBody>
      </p:sp>
      <p:sp>
        <p:nvSpPr>
          <p:cNvPr id="704" name="Google Shape;704;p66"/>
          <p:cNvSpPr txBox="1"/>
          <p:nvPr/>
        </p:nvSpPr>
        <p:spPr>
          <a:xfrm>
            <a:off x="4846320" y="2889504"/>
            <a:ext cx="3639312"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0" i="0" u="none" strike="noStrike" cap="none">
                <a:solidFill>
                  <a:srgbClr val="93A9C0"/>
                </a:solidFill>
                <a:latin typeface="Calibri"/>
                <a:ea typeface="Calibri"/>
                <a:cs typeface="Calibri"/>
                <a:sym typeface="Calibri"/>
              </a:rPr>
              <a:t>Finds the chunk vectors nearest to the question.</a:t>
            </a:r>
            <a:endParaRPr/>
          </a:p>
        </p:txBody>
      </p:sp>
      <p:sp>
        <p:nvSpPr>
          <p:cNvPr id="705" name="Google Shape;705;p66"/>
          <p:cNvSpPr/>
          <p:nvPr/>
        </p:nvSpPr>
        <p:spPr>
          <a:xfrm>
            <a:off x="4846320" y="3163824"/>
            <a:ext cx="3639312" cy="274320"/>
          </a:xfrm>
          <a:prstGeom prst="roundRect">
            <a:avLst>
              <a:gd name="adj" fmla="val 30000"/>
            </a:avLst>
          </a:prstGeom>
          <a:solidFill>
            <a:srgbClr val="06223A"/>
          </a:solidFill>
          <a:ln w="9525" cap="flat" cmpd="sng">
            <a:solidFill>
              <a:srgbClr val="0272B4"/>
            </a:solidFill>
            <a:prstDash val="solid"/>
            <a:round/>
            <a:headEnd type="none" w="sm" len="sm"/>
            <a:tailEnd type="none" w="sm" len="sm"/>
          </a:ln>
        </p:spPr>
        <p:txBody>
          <a:bodyPr spcFirstLastPara="1" wrap="square" lIns="82275" tIns="82275" rIns="82275" bIns="8227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GB" sz="900" b="1" i="0" u="none" strike="noStrike" cap="none">
                <a:solidFill>
                  <a:srgbClr val="93A9C0"/>
                </a:solidFill>
                <a:latin typeface="Courier New"/>
                <a:ea typeface="Courier New"/>
                <a:cs typeface="Courier New"/>
                <a:sym typeface="Courier New"/>
              </a:rPr>
              <a:t>search_docs(“</a:t>
            </a:r>
            <a:r>
              <a:rPr lang="en-GB" sz="950" b="1" i="0" u="none" strike="noStrike" cap="none">
                <a:solidFill>
                  <a:srgbClr val="7FC6F3"/>
                </a:solidFill>
                <a:latin typeface="Courier New"/>
                <a:ea typeface="Courier New"/>
                <a:cs typeface="Courier New"/>
                <a:sym typeface="Courier New"/>
              </a:rPr>
              <a:t>why is checkout slow?</a:t>
            </a:r>
            <a:r>
              <a:rPr lang="en-GB" sz="900" b="1" i="0" u="none" strike="noStrike" cap="none">
                <a:solidFill>
                  <a:srgbClr val="93A9C0"/>
                </a:solidFill>
                <a:latin typeface="Courier New"/>
                <a:ea typeface="Courier New"/>
                <a:cs typeface="Courier New"/>
                <a:sym typeface="Courier New"/>
              </a:rPr>
              <a:t>”)</a:t>
            </a:r>
            <a:endParaRPr/>
          </a:p>
        </p:txBody>
      </p:sp>
      <p:sp>
        <p:nvSpPr>
          <p:cNvPr id="706" name="Google Shape;706;p66"/>
          <p:cNvSpPr txBox="1"/>
          <p:nvPr/>
        </p:nvSpPr>
        <p:spPr>
          <a:xfrm>
            <a:off x="4846320" y="3474720"/>
            <a:ext cx="3639312" cy="23774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5FD08A"/>
                </a:solidFill>
                <a:latin typeface="Calibri"/>
                <a:ea typeface="Calibri"/>
                <a:cs typeface="Calibri"/>
                <a:sym typeface="Calibri"/>
              </a:rPr>
              <a:t>✓  Finds </a:t>
            </a:r>
            <a:r>
              <a:rPr lang="en-GB" sz="1000" b="0" i="0" u="none" strike="noStrike" cap="none">
                <a:solidFill>
                  <a:srgbClr val="EAF1F7"/>
                </a:solidFill>
                <a:latin typeface="Calibri"/>
                <a:ea typeface="Calibri"/>
                <a:cs typeface="Calibri"/>
                <a:sym typeface="Calibri"/>
              </a:rPr>
              <a:t>“up to 8 s at peak”, with no shared words</a:t>
            </a:r>
            <a:endParaRPr/>
          </a:p>
        </p:txBody>
      </p:sp>
      <p:sp>
        <p:nvSpPr>
          <p:cNvPr id="707" name="Google Shape;707;p66"/>
          <p:cNvSpPr txBox="1"/>
          <p:nvPr/>
        </p:nvSpPr>
        <p:spPr>
          <a:xfrm>
            <a:off x="4846320" y="3712464"/>
            <a:ext cx="3639312" cy="23774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50"/>
              <a:buFont typeface="Arial"/>
              <a:buNone/>
            </a:pPr>
            <a:r>
              <a:rPr lang="en-GB" sz="950" b="1" i="0" u="none" strike="noStrike" cap="none">
                <a:solidFill>
                  <a:srgbClr val="4FB0EA"/>
                </a:solidFill>
                <a:latin typeface="Calibri"/>
                <a:ea typeface="Calibri"/>
                <a:cs typeface="Calibri"/>
                <a:sym typeface="Calibri"/>
              </a:rPr>
              <a:t>Best at: </a:t>
            </a:r>
            <a:r>
              <a:rPr lang="en-GB" sz="950" b="1" i="0" u="none" strike="noStrike" cap="none">
                <a:solidFill>
                  <a:srgbClr val="FFFFFF"/>
                </a:solidFill>
                <a:latin typeface="Calibri"/>
                <a:ea typeface="Calibri"/>
                <a:cs typeface="Calibri"/>
                <a:sym typeface="Calibri"/>
              </a:rPr>
              <a:t>synonyms, plain-English questions</a:t>
            </a:r>
            <a:endParaRPr/>
          </a:p>
        </p:txBody>
      </p:sp>
      <p:sp>
        <p:nvSpPr>
          <p:cNvPr id="708" name="Google Shape;708;p66"/>
          <p:cNvSpPr/>
          <p:nvPr/>
        </p:nvSpPr>
        <p:spPr>
          <a:xfrm>
            <a:off x="493776" y="4151376"/>
            <a:ext cx="8156448" cy="438912"/>
          </a:xfrm>
          <a:prstGeom prst="roundRect">
            <a:avLst>
              <a:gd name="adj" fmla="val 4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rgbClr val="4FB0EA"/>
                </a:solidFill>
                <a:latin typeface="Calibri"/>
                <a:ea typeface="Calibri"/>
                <a:cs typeface="Calibri"/>
                <a:sym typeface="Calibri"/>
              </a:rPr>
              <a:t>Hybrid:  </a:t>
            </a:r>
            <a:r>
              <a:rPr lang="en-GB" sz="1200" b="1" i="0" u="none" strike="noStrike" cap="none">
                <a:solidFill>
                  <a:srgbClr val="FFFFFF"/>
                </a:solidFill>
                <a:latin typeface="Calibri"/>
                <a:ea typeface="Calibri"/>
                <a:cs typeface="Calibri"/>
                <a:sym typeface="Calibri"/>
              </a:rPr>
              <a:t>merge both rankings  →  top chunks + their sources  →  into Claude's prompt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712"/>
        <p:cNvGrpSpPr/>
        <p:nvPr/>
      </p:nvGrpSpPr>
      <p:grpSpPr>
        <a:xfrm>
          <a:off x="0" y="0"/>
          <a:ext cx="0" cy="0"/>
          <a:chOff x="0" y="0"/>
          <a:chExt cx="0" cy="0"/>
        </a:xfrm>
      </p:grpSpPr>
      <p:sp>
        <p:nvSpPr>
          <p:cNvPr id="713" name="Google Shape;713;p67"/>
          <p:cNvSpPr/>
          <p:nvPr/>
        </p:nvSpPr>
        <p:spPr>
          <a:xfrm>
            <a:off x="457200" y="1748853"/>
            <a:ext cx="1950300" cy="2078700"/>
          </a:xfrm>
          <a:prstGeom prst="roundRect">
            <a:avLst>
              <a:gd name="adj" fmla="val 5860"/>
            </a:avLst>
          </a:prstGeom>
          <a:solidFill>
            <a:srgbClr val="0A131E"/>
          </a:solidFill>
          <a:ln w="9525" cap="flat" cmpd="sng">
            <a:solidFill>
              <a:srgbClr val="111D2B"/>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4" name="Google Shape;714;p67"/>
          <p:cNvSpPr/>
          <p:nvPr/>
        </p:nvSpPr>
        <p:spPr>
          <a:xfrm>
            <a:off x="2550319" y="1748853"/>
            <a:ext cx="1950300" cy="2078700"/>
          </a:xfrm>
          <a:prstGeom prst="roundRect">
            <a:avLst>
              <a:gd name="adj" fmla="val 5860"/>
            </a:avLst>
          </a:prstGeom>
          <a:solidFill>
            <a:srgbClr val="0A131E"/>
          </a:solidFill>
          <a:ln w="9525" cap="flat" cmpd="sng">
            <a:solidFill>
              <a:srgbClr val="111D2B"/>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5" name="Google Shape;715;p67"/>
          <p:cNvSpPr/>
          <p:nvPr/>
        </p:nvSpPr>
        <p:spPr>
          <a:xfrm>
            <a:off x="4643438" y="1748853"/>
            <a:ext cx="1950300" cy="2078700"/>
          </a:xfrm>
          <a:prstGeom prst="roundRect">
            <a:avLst>
              <a:gd name="adj" fmla="val 5860"/>
            </a:avLst>
          </a:prstGeom>
          <a:solidFill>
            <a:srgbClr val="0A131E"/>
          </a:solidFill>
          <a:ln w="9525" cap="flat" cmpd="sng">
            <a:solidFill>
              <a:srgbClr val="111D2B"/>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6" name="Google Shape;716;p67"/>
          <p:cNvSpPr/>
          <p:nvPr/>
        </p:nvSpPr>
        <p:spPr>
          <a:xfrm>
            <a:off x="6736556" y="1748853"/>
            <a:ext cx="1950300" cy="2078700"/>
          </a:xfrm>
          <a:prstGeom prst="roundRect">
            <a:avLst>
              <a:gd name="adj" fmla="val 5860"/>
            </a:avLst>
          </a:prstGeom>
          <a:solidFill>
            <a:srgbClr val="0A131E"/>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7" name="Google Shape;717;p67"/>
          <p:cNvSpPr/>
          <p:nvPr/>
        </p:nvSpPr>
        <p:spPr>
          <a:xfrm>
            <a:off x="607219" y="3163315"/>
            <a:ext cx="1650300" cy="457200"/>
          </a:xfrm>
          <a:prstGeom prst="roundRect">
            <a:avLst>
              <a:gd name="adj" fmla="val 12500"/>
            </a:avLst>
          </a:prstGeom>
          <a:solidFill>
            <a:srgbClr val="000000"/>
          </a:solidFill>
          <a:ln w="9525" cap="flat" cmpd="sng">
            <a:solidFill>
              <a:srgbClr val="111D2B"/>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8" name="Google Shape;718;p67"/>
          <p:cNvSpPr/>
          <p:nvPr/>
        </p:nvSpPr>
        <p:spPr>
          <a:xfrm>
            <a:off x="2700338" y="3163315"/>
            <a:ext cx="1650300" cy="457200"/>
          </a:xfrm>
          <a:prstGeom prst="roundRect">
            <a:avLst>
              <a:gd name="adj" fmla="val 12500"/>
            </a:avLst>
          </a:prstGeom>
          <a:solidFill>
            <a:srgbClr val="000000"/>
          </a:solidFill>
          <a:ln w="9525" cap="flat" cmpd="sng">
            <a:solidFill>
              <a:srgbClr val="111D2B"/>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9" name="Google Shape;719;p67"/>
          <p:cNvSpPr/>
          <p:nvPr/>
        </p:nvSpPr>
        <p:spPr>
          <a:xfrm>
            <a:off x="4793456" y="3163315"/>
            <a:ext cx="1650300" cy="457200"/>
          </a:xfrm>
          <a:prstGeom prst="roundRect">
            <a:avLst>
              <a:gd name="adj" fmla="val 12500"/>
            </a:avLst>
          </a:prstGeom>
          <a:solidFill>
            <a:srgbClr val="000000"/>
          </a:solidFill>
          <a:ln w="9525" cap="flat" cmpd="sng">
            <a:solidFill>
              <a:srgbClr val="111D2B"/>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20" name="Google Shape;720;p67"/>
          <p:cNvSpPr/>
          <p:nvPr/>
        </p:nvSpPr>
        <p:spPr>
          <a:xfrm>
            <a:off x="6886575" y="3313334"/>
            <a:ext cx="1650300" cy="307200"/>
          </a:xfrm>
          <a:prstGeom prst="roundRect">
            <a:avLst>
              <a:gd name="adj" fmla="val 18604"/>
            </a:avLst>
          </a:prstGeom>
          <a:solidFill>
            <a:srgbClr val="081C33"/>
          </a:solidFill>
          <a:ln w="9525" cap="flat" cmpd="sng">
            <a:solidFill>
              <a:srgbClr val="0272B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21" name="Google Shape;721;p67"/>
          <p:cNvSpPr/>
          <p:nvPr/>
        </p:nvSpPr>
        <p:spPr>
          <a:xfrm>
            <a:off x="607219" y="2463228"/>
            <a:ext cx="257100" cy="21300"/>
          </a:xfrm>
          <a:prstGeom prst="rect">
            <a:avLst/>
          </a:prstGeom>
          <a:solidFill>
            <a:srgbClr val="3A5A7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22" name="Google Shape;722;p67"/>
          <p:cNvSpPr/>
          <p:nvPr/>
        </p:nvSpPr>
        <p:spPr>
          <a:xfrm>
            <a:off x="2700338" y="2463228"/>
            <a:ext cx="257100" cy="21300"/>
          </a:xfrm>
          <a:prstGeom prst="rect">
            <a:avLst/>
          </a:prstGeom>
          <a:solidFill>
            <a:srgbClr val="0272B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23" name="Google Shape;723;p67"/>
          <p:cNvSpPr/>
          <p:nvPr/>
        </p:nvSpPr>
        <p:spPr>
          <a:xfrm>
            <a:off x="4793456" y="2463228"/>
            <a:ext cx="257100" cy="21300"/>
          </a:xfrm>
          <a:prstGeom prst="rect">
            <a:avLst/>
          </a:prstGeom>
          <a:solidFill>
            <a:srgbClr val="6366F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24" name="Google Shape;724;p67"/>
          <p:cNvSpPr/>
          <p:nvPr/>
        </p:nvSpPr>
        <p:spPr>
          <a:xfrm>
            <a:off x="6886575" y="2463228"/>
            <a:ext cx="257100" cy="21300"/>
          </a:xfrm>
          <a:prstGeom prst="rect">
            <a:avLst/>
          </a:prstGeom>
          <a:solidFill>
            <a:srgbClr val="4FB0E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25" name="Google Shape;725;p67"/>
          <p:cNvSpPr txBox="1"/>
          <p:nvPr/>
        </p:nvSpPr>
        <p:spPr>
          <a:xfrm>
            <a:off x="480060" y="411480"/>
            <a:ext cx="8195310" cy="630936"/>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FF"/>
                </a:solidFill>
                <a:latin typeface="Century Schoolbook"/>
                <a:ea typeface="Century Schoolbook"/>
                <a:cs typeface="Century Schoolbook"/>
                <a:sym typeface="Century Schoolbook"/>
              </a:rPr>
              <a:t>The 4 Evolution Stages of RAG</a:t>
            </a:r>
            <a:endParaRPr sz="1100" b="0" i="0" u="none" strike="noStrike" cap="none">
              <a:solidFill>
                <a:srgbClr val="000000"/>
              </a:solidFill>
              <a:latin typeface="Arial"/>
              <a:ea typeface="Arial"/>
              <a:cs typeface="Arial"/>
              <a:sym typeface="Arial"/>
            </a:endParaRPr>
          </a:p>
        </p:txBody>
      </p:sp>
      <p:sp>
        <p:nvSpPr>
          <p:cNvPr id="726" name="Google Shape;726;p67"/>
          <p:cNvSpPr txBox="1"/>
          <p:nvPr/>
        </p:nvSpPr>
        <p:spPr>
          <a:xfrm>
            <a:off x="707231" y="3338053"/>
            <a:ext cx="15216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93A9C0"/>
                </a:solidFill>
                <a:latin typeface="Calibri"/>
                <a:ea typeface="Calibri"/>
                <a:cs typeface="Calibri"/>
                <a:sym typeface="Calibri"/>
              </a:rPr>
              <a:t> Fastest • Fragile with noise </a:t>
            </a:r>
            <a:endParaRPr sz="1100" b="0" i="0" u="none" strike="noStrike" cap="none">
              <a:solidFill>
                <a:srgbClr val="000000"/>
              </a:solidFill>
              <a:latin typeface="Arial"/>
              <a:ea typeface="Arial"/>
              <a:cs typeface="Arial"/>
              <a:sym typeface="Arial"/>
            </a:endParaRPr>
          </a:p>
        </p:txBody>
      </p:sp>
      <p:sp>
        <p:nvSpPr>
          <p:cNvPr id="727" name="Google Shape;727;p67"/>
          <p:cNvSpPr txBox="1"/>
          <p:nvPr/>
        </p:nvSpPr>
        <p:spPr>
          <a:xfrm>
            <a:off x="2764675" y="3330928"/>
            <a:ext cx="1521600" cy="215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4FB0EA"/>
                </a:solidFill>
                <a:latin typeface="Calibri"/>
                <a:ea typeface="Calibri"/>
                <a:cs typeface="Calibri"/>
                <a:sym typeface="Calibri"/>
              </a:rPr>
              <a:t> High Precision • Production default </a:t>
            </a:r>
            <a:endParaRPr sz="1100" b="0" i="0" u="none" strike="noStrike" cap="none">
              <a:solidFill>
                <a:srgbClr val="000000"/>
              </a:solidFill>
              <a:latin typeface="Arial"/>
              <a:ea typeface="Arial"/>
              <a:cs typeface="Arial"/>
              <a:sym typeface="Arial"/>
            </a:endParaRPr>
          </a:p>
        </p:txBody>
      </p:sp>
      <p:sp>
        <p:nvSpPr>
          <p:cNvPr id="728" name="Google Shape;728;p67"/>
          <p:cNvSpPr txBox="1"/>
          <p:nvPr/>
        </p:nvSpPr>
        <p:spPr>
          <a:xfrm>
            <a:off x="4893469" y="3338053"/>
            <a:ext cx="15216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818CF8"/>
                </a:solidFill>
                <a:latin typeface="Calibri"/>
                <a:ea typeface="Calibri"/>
                <a:cs typeface="Calibri"/>
                <a:sym typeface="Calibri"/>
              </a:rPr>
              <a:t> Deep Reasoning • Gap Analysis </a:t>
            </a:r>
            <a:endParaRPr sz="1100" b="0" i="0" u="none" strike="noStrike" cap="none">
              <a:solidFill>
                <a:srgbClr val="000000"/>
              </a:solidFill>
              <a:latin typeface="Arial"/>
              <a:ea typeface="Arial"/>
              <a:cs typeface="Arial"/>
              <a:sym typeface="Arial"/>
            </a:endParaRPr>
          </a:p>
        </p:txBody>
      </p:sp>
      <p:sp>
        <p:nvSpPr>
          <p:cNvPr id="729" name="Google Shape;729;p67"/>
          <p:cNvSpPr txBox="1"/>
          <p:nvPr/>
        </p:nvSpPr>
        <p:spPr>
          <a:xfrm>
            <a:off x="6957888" y="3413072"/>
            <a:ext cx="1521600" cy="107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GB" sz="700" b="1" i="0" u="none" strike="noStrike" cap="none">
                <a:solidFill>
                  <a:srgbClr val="4FB0EA"/>
                </a:solidFill>
                <a:latin typeface="Calibri"/>
                <a:ea typeface="Calibri"/>
                <a:cs typeface="Calibri"/>
                <a:sym typeface="Calibri"/>
              </a:rPr>
              <a:t> Iterative • Self-Healing </a:t>
            </a:r>
            <a:endParaRPr sz="1100" b="0" i="0" u="none" strike="noStrike" cap="none">
              <a:solidFill>
                <a:srgbClr val="000000"/>
              </a:solidFill>
              <a:latin typeface="Arial"/>
              <a:ea typeface="Arial"/>
              <a:cs typeface="Arial"/>
              <a:sym typeface="Arial"/>
            </a:endParaRPr>
          </a:p>
        </p:txBody>
      </p:sp>
      <p:sp>
        <p:nvSpPr>
          <p:cNvPr id="730" name="Google Shape;730;p67"/>
          <p:cNvSpPr txBox="1"/>
          <p:nvPr/>
        </p:nvSpPr>
        <p:spPr>
          <a:xfrm>
            <a:off x="607219" y="2163190"/>
            <a:ext cx="2166000" cy="215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Naive RAG</a:t>
            </a:r>
            <a:endParaRPr sz="1100" b="0" i="0" u="none" strike="noStrike" cap="none">
              <a:solidFill>
                <a:srgbClr val="000000"/>
              </a:solidFill>
              <a:latin typeface="Arial"/>
              <a:ea typeface="Arial"/>
              <a:cs typeface="Arial"/>
              <a:sym typeface="Arial"/>
            </a:endParaRPr>
          </a:p>
        </p:txBody>
      </p:sp>
      <p:sp>
        <p:nvSpPr>
          <p:cNvPr id="731" name="Google Shape;731;p67"/>
          <p:cNvSpPr txBox="1"/>
          <p:nvPr/>
        </p:nvSpPr>
        <p:spPr>
          <a:xfrm>
            <a:off x="607219" y="2598959"/>
            <a:ext cx="1721700" cy="468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800"/>
              <a:buFont typeface="Arial"/>
              <a:buNone/>
            </a:pPr>
            <a:r>
              <a:rPr lang="en-GB" sz="800" b="1" i="0" u="none" strike="noStrike" cap="none">
                <a:solidFill>
                  <a:srgbClr val="C9D6E4"/>
                </a:solidFill>
                <a:latin typeface="Calibri"/>
                <a:ea typeface="Calibri"/>
                <a:cs typeface="Calibri"/>
                <a:sym typeface="Calibri"/>
              </a:rPr>
              <a:t>Single-pass lookup. Best for querying a QA wiki or fetching a single known Jira ticket.</a:t>
            </a:r>
            <a:endParaRPr sz="1100" b="0" i="0" u="none" strike="noStrike" cap="none">
              <a:solidFill>
                <a:srgbClr val="000000"/>
              </a:solidFill>
              <a:latin typeface="Arial"/>
              <a:ea typeface="Arial"/>
              <a:cs typeface="Arial"/>
              <a:sym typeface="Arial"/>
            </a:endParaRPr>
          </a:p>
        </p:txBody>
      </p:sp>
      <p:sp>
        <p:nvSpPr>
          <p:cNvPr id="732" name="Google Shape;732;p67"/>
          <p:cNvSpPr txBox="1"/>
          <p:nvPr/>
        </p:nvSpPr>
        <p:spPr>
          <a:xfrm>
            <a:off x="2700338" y="2163190"/>
            <a:ext cx="2166000" cy="215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Advanced RAG</a:t>
            </a:r>
            <a:endParaRPr sz="1100" b="0" i="0" u="none" strike="noStrike" cap="none">
              <a:solidFill>
                <a:srgbClr val="000000"/>
              </a:solidFill>
              <a:latin typeface="Arial"/>
              <a:ea typeface="Arial"/>
              <a:cs typeface="Arial"/>
              <a:sym typeface="Arial"/>
            </a:endParaRPr>
          </a:p>
        </p:txBody>
      </p:sp>
      <p:sp>
        <p:nvSpPr>
          <p:cNvPr id="733" name="Google Shape;733;p67"/>
          <p:cNvSpPr txBox="1"/>
          <p:nvPr/>
        </p:nvSpPr>
        <p:spPr>
          <a:xfrm>
            <a:off x="2700338" y="2598959"/>
            <a:ext cx="1721700" cy="468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800"/>
              <a:buFont typeface="Arial"/>
              <a:buNone/>
            </a:pPr>
            <a:r>
              <a:rPr lang="en-GB" sz="800" b="1" i="0" u="none" strike="noStrike" cap="none">
                <a:solidFill>
                  <a:srgbClr val="C9D6E4"/>
                </a:solidFill>
                <a:latin typeface="Calibri"/>
                <a:ea typeface="Calibri"/>
                <a:cs typeface="Calibri"/>
                <a:sym typeface="Calibri"/>
              </a:rPr>
              <a:t>Reranks CI logs + Confluence to find the exact root cause of a flaky test failure.</a:t>
            </a:r>
            <a:endParaRPr sz="1100" b="0" i="0" u="none" strike="noStrike" cap="none">
              <a:solidFill>
                <a:srgbClr val="000000"/>
              </a:solidFill>
              <a:latin typeface="Arial"/>
              <a:ea typeface="Arial"/>
              <a:cs typeface="Arial"/>
              <a:sym typeface="Arial"/>
            </a:endParaRPr>
          </a:p>
        </p:txBody>
      </p:sp>
      <p:sp>
        <p:nvSpPr>
          <p:cNvPr id="734" name="Google Shape;734;p67"/>
          <p:cNvSpPr txBox="1"/>
          <p:nvPr/>
        </p:nvSpPr>
        <p:spPr>
          <a:xfrm>
            <a:off x="4793456" y="2163190"/>
            <a:ext cx="2166000" cy="215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GraphRAG</a:t>
            </a:r>
            <a:endParaRPr sz="1100" b="0" i="0" u="none" strike="noStrike" cap="none">
              <a:solidFill>
                <a:srgbClr val="000000"/>
              </a:solidFill>
              <a:latin typeface="Arial"/>
              <a:ea typeface="Arial"/>
              <a:cs typeface="Arial"/>
              <a:sym typeface="Arial"/>
            </a:endParaRPr>
          </a:p>
        </p:txBody>
      </p:sp>
      <p:sp>
        <p:nvSpPr>
          <p:cNvPr id="735" name="Google Shape;735;p67"/>
          <p:cNvSpPr txBox="1"/>
          <p:nvPr/>
        </p:nvSpPr>
        <p:spPr>
          <a:xfrm>
            <a:off x="4793456" y="2598959"/>
            <a:ext cx="1721700" cy="468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800"/>
              <a:buFont typeface="Arial"/>
              <a:buNone/>
            </a:pPr>
            <a:r>
              <a:rPr lang="en-GB" sz="800" b="1" i="0" u="none" strike="noStrike" cap="none">
                <a:solidFill>
                  <a:srgbClr val="C9D6E4"/>
                </a:solidFill>
                <a:latin typeface="Calibri"/>
                <a:ea typeface="Calibri"/>
                <a:cs typeface="Calibri"/>
                <a:sym typeface="Calibri"/>
              </a:rPr>
              <a:t>Maps knowledge graphs to link requirements, test coverage, and code defects.</a:t>
            </a:r>
            <a:endParaRPr sz="1100" b="0" i="0" u="none" strike="noStrike" cap="none">
              <a:solidFill>
                <a:srgbClr val="000000"/>
              </a:solidFill>
              <a:latin typeface="Arial"/>
              <a:ea typeface="Arial"/>
              <a:cs typeface="Arial"/>
              <a:sym typeface="Arial"/>
            </a:endParaRPr>
          </a:p>
        </p:txBody>
      </p:sp>
      <p:sp>
        <p:nvSpPr>
          <p:cNvPr id="736" name="Google Shape;736;p67"/>
          <p:cNvSpPr txBox="1"/>
          <p:nvPr/>
        </p:nvSpPr>
        <p:spPr>
          <a:xfrm>
            <a:off x="6886575" y="2163190"/>
            <a:ext cx="2166000" cy="215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Agentic RAG</a:t>
            </a:r>
            <a:endParaRPr sz="1100" b="0" i="0" u="none" strike="noStrike" cap="none">
              <a:solidFill>
                <a:srgbClr val="000000"/>
              </a:solidFill>
              <a:latin typeface="Arial"/>
              <a:ea typeface="Arial"/>
              <a:cs typeface="Arial"/>
              <a:sym typeface="Arial"/>
            </a:endParaRPr>
          </a:p>
        </p:txBody>
      </p:sp>
      <p:sp>
        <p:nvSpPr>
          <p:cNvPr id="737" name="Google Shape;737;p67"/>
          <p:cNvSpPr txBox="1"/>
          <p:nvPr/>
        </p:nvSpPr>
        <p:spPr>
          <a:xfrm>
            <a:off x="6886575" y="2598959"/>
            <a:ext cx="1721700" cy="468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800"/>
              <a:buFont typeface="Arial"/>
              <a:buNone/>
            </a:pPr>
            <a:r>
              <a:rPr lang="en-GB" sz="800" b="1" i="0" u="none" strike="noStrike" cap="none">
                <a:solidFill>
                  <a:srgbClr val="C9D6E4"/>
                </a:solidFill>
                <a:latin typeface="Calibri"/>
                <a:ea typeface="Calibri"/>
                <a:cs typeface="Calibri"/>
                <a:sym typeface="Calibri"/>
              </a:rPr>
              <a:t>Autonomous testing loops: writes test, runs it, reads logs, fixes code, repeats until passing.</a:t>
            </a:r>
            <a:endParaRPr sz="1100" b="0" i="0" u="none" strike="noStrike" cap="none">
              <a:solidFill>
                <a:srgbClr val="000000"/>
              </a:solidFill>
              <a:latin typeface="Arial"/>
              <a:ea typeface="Arial"/>
              <a:cs typeface="Arial"/>
              <a:sym typeface="Arial"/>
            </a:endParaRPr>
          </a:p>
        </p:txBody>
      </p:sp>
      <p:pic>
        <p:nvPicPr>
          <p:cNvPr id="738" name="Google Shape;738;p67"/>
          <p:cNvPicPr preferRelativeResize="0"/>
          <p:nvPr/>
        </p:nvPicPr>
        <p:blipFill rotWithShape="1">
          <a:blip r:embed="rId3">
            <a:alphaModFix/>
          </a:blip>
          <a:srcRect/>
          <a:stretch/>
        </p:blipFill>
        <p:spPr>
          <a:xfrm>
            <a:off x="1154424" y="1097080"/>
            <a:ext cx="627325" cy="627325"/>
          </a:xfrm>
          <a:prstGeom prst="rect">
            <a:avLst/>
          </a:prstGeom>
          <a:noFill/>
          <a:ln>
            <a:noFill/>
          </a:ln>
        </p:spPr>
      </p:pic>
      <p:pic>
        <p:nvPicPr>
          <p:cNvPr id="739" name="Google Shape;739;p67"/>
          <p:cNvPicPr preferRelativeResize="0"/>
          <p:nvPr/>
        </p:nvPicPr>
        <p:blipFill rotWithShape="1">
          <a:blip r:embed="rId4">
            <a:alphaModFix/>
          </a:blip>
          <a:srcRect/>
          <a:stretch/>
        </p:blipFill>
        <p:spPr>
          <a:xfrm>
            <a:off x="3213927" y="1176786"/>
            <a:ext cx="545550" cy="545550"/>
          </a:xfrm>
          <a:prstGeom prst="rect">
            <a:avLst/>
          </a:prstGeom>
          <a:noFill/>
          <a:ln>
            <a:noFill/>
          </a:ln>
        </p:spPr>
      </p:pic>
      <p:pic>
        <p:nvPicPr>
          <p:cNvPr id="740" name="Google Shape;740;p67"/>
          <p:cNvPicPr preferRelativeResize="0"/>
          <p:nvPr/>
        </p:nvPicPr>
        <p:blipFill rotWithShape="1">
          <a:blip r:embed="rId5">
            <a:alphaModFix/>
          </a:blip>
          <a:srcRect/>
          <a:stretch/>
        </p:blipFill>
        <p:spPr>
          <a:xfrm>
            <a:off x="5351925" y="1176780"/>
            <a:ext cx="545550" cy="572075"/>
          </a:xfrm>
          <a:prstGeom prst="rect">
            <a:avLst/>
          </a:prstGeom>
          <a:noFill/>
          <a:ln>
            <a:noFill/>
          </a:ln>
        </p:spPr>
      </p:pic>
      <p:pic>
        <p:nvPicPr>
          <p:cNvPr id="741" name="Google Shape;741;p67"/>
          <p:cNvPicPr preferRelativeResize="0"/>
          <p:nvPr/>
        </p:nvPicPr>
        <p:blipFill rotWithShape="1">
          <a:blip r:embed="rId6">
            <a:alphaModFix/>
          </a:blip>
          <a:srcRect/>
          <a:stretch/>
        </p:blipFill>
        <p:spPr>
          <a:xfrm>
            <a:off x="7433738" y="1079268"/>
            <a:ext cx="627325" cy="662950"/>
          </a:xfrm>
          <a:prstGeom prst="rect">
            <a:avLst/>
          </a:prstGeom>
          <a:noFill/>
          <a:ln>
            <a:noFill/>
          </a:ln>
        </p:spPr>
      </p:pic>
      <p:sp>
        <p:nvSpPr>
          <p:cNvPr id="742" name="Google Shape;742;p67"/>
          <p:cNvSpPr txBox="1"/>
          <p:nvPr/>
        </p:nvSpPr>
        <p:spPr>
          <a:xfrm>
            <a:off x="457200" y="3986784"/>
            <a:ext cx="8229600"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WHERE TO START</a:t>
            </a:r>
            <a:endParaRPr/>
          </a:p>
        </p:txBody>
      </p:sp>
      <p:sp>
        <p:nvSpPr>
          <p:cNvPr id="743" name="Google Shape;743;p67"/>
          <p:cNvSpPr/>
          <p:nvPr/>
        </p:nvSpPr>
        <p:spPr>
          <a:xfrm>
            <a:off x="457200" y="4187952"/>
            <a:ext cx="2645664" cy="603504"/>
          </a:xfrm>
          <a:prstGeom prst="roundRect">
            <a:avLst>
              <a:gd name="adj" fmla="val 10000"/>
            </a:avLst>
          </a:prstGeom>
          <a:solidFill>
            <a:srgbClr val="0A131E"/>
          </a:solidFill>
          <a:ln w="9525" cap="flat" cmpd="sng">
            <a:solidFill>
              <a:srgbClr val="1E3044"/>
            </a:solidFill>
            <a:prstDash val="solid"/>
            <a:round/>
            <a:headEnd type="none" w="sm" len="sm"/>
            <a:tailEnd type="none" w="sm" len="sm"/>
          </a:ln>
        </p:spPr>
        <p:txBody>
          <a:bodyPr spcFirstLastPara="1" wrap="square" lIns="109725" tIns="109725" rIns="109725" bIns="109725"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FFFFFF"/>
                </a:solidFill>
                <a:latin typeface="Calibri"/>
                <a:ea typeface="Calibri"/>
                <a:cs typeface="Calibri"/>
                <a:sym typeface="Calibri"/>
              </a:rPr>
              <a:t>Start simple: no index</a:t>
            </a:r>
            <a:endParaRPr/>
          </a:p>
          <a:p>
            <a:pPr marL="0" marR="0" lvl="0" indent="0" algn="l" rtl="0">
              <a:lnSpc>
                <a:spcPct val="100000"/>
              </a:lnSpc>
              <a:spcBef>
                <a:spcPts val="200"/>
              </a:spcBef>
              <a:spcAft>
                <a:spcPts val="0"/>
              </a:spcAft>
              <a:buClr>
                <a:srgbClr val="000000"/>
              </a:buClr>
              <a:buSzPts val="1000"/>
              <a:buFont typeface="Arial"/>
              <a:buNone/>
            </a:pPr>
            <a:r>
              <a:rPr lang="en-GB" sz="1000" b="0" i="0" u="none" strike="noStrike" cap="none">
                <a:solidFill>
                  <a:srgbClr val="93A9C0"/>
                </a:solidFill>
                <a:latin typeface="Calibri"/>
                <a:ea typeface="Calibri"/>
                <a:cs typeface="Calibri"/>
                <a:sym typeface="Calibri"/>
              </a:rPr>
              <a:t>The Atlassian MCP server searches Confluence and Jira live.</a:t>
            </a:r>
            <a:endParaRPr/>
          </a:p>
        </p:txBody>
      </p:sp>
      <p:sp>
        <p:nvSpPr>
          <p:cNvPr id="744" name="Google Shape;744;p67"/>
          <p:cNvSpPr/>
          <p:nvPr/>
        </p:nvSpPr>
        <p:spPr>
          <a:xfrm>
            <a:off x="3249168" y="4187952"/>
            <a:ext cx="2645664" cy="603504"/>
          </a:xfrm>
          <a:prstGeom prst="roundRect">
            <a:avLst>
              <a:gd name="adj" fmla="val 10000"/>
            </a:avLst>
          </a:prstGeom>
          <a:solidFill>
            <a:srgbClr val="0A131E"/>
          </a:solidFill>
          <a:ln w="9525" cap="flat" cmpd="sng">
            <a:solidFill>
              <a:srgbClr val="1E3044"/>
            </a:solidFill>
            <a:prstDash val="solid"/>
            <a:round/>
            <a:headEnd type="none" w="sm" len="sm"/>
            <a:tailEnd type="none" w="sm" len="sm"/>
          </a:ln>
        </p:spPr>
        <p:txBody>
          <a:bodyPr spcFirstLastPara="1" wrap="square" lIns="109725" tIns="109725" rIns="109725" bIns="109725"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FFFFFF"/>
                </a:solidFill>
                <a:latin typeface="Calibri"/>
                <a:ea typeface="Calibri"/>
                <a:cs typeface="Calibri"/>
                <a:sym typeface="Calibri"/>
              </a:rPr>
              <a:t>Our demo setup</a:t>
            </a:r>
            <a:endParaRPr/>
          </a:p>
          <a:p>
            <a:pPr marL="0" marR="0" lvl="0" indent="0" algn="l" rtl="0">
              <a:lnSpc>
                <a:spcPct val="100000"/>
              </a:lnSpc>
              <a:spcBef>
                <a:spcPts val="200"/>
              </a:spcBef>
              <a:spcAft>
                <a:spcPts val="0"/>
              </a:spcAft>
              <a:buClr>
                <a:srgbClr val="000000"/>
              </a:buClr>
              <a:buSzPts val="1000"/>
              <a:buFont typeface="Arial"/>
              <a:buNone/>
            </a:pPr>
            <a:r>
              <a:rPr lang="en-GB" sz="1000" b="0" i="0" u="none" strike="noStrike" cap="none">
                <a:solidFill>
                  <a:srgbClr val="93A9C0"/>
                </a:solidFill>
                <a:latin typeface="Calibri"/>
                <a:ea typeface="Calibri"/>
                <a:cs typeface="Calibri"/>
                <a:sym typeface="Calibri"/>
              </a:rPr>
              <a:t>Chroma plus a small search_docs MCP server. Local and free.</a:t>
            </a:r>
            <a:endParaRPr/>
          </a:p>
        </p:txBody>
      </p:sp>
      <p:sp>
        <p:nvSpPr>
          <p:cNvPr id="745" name="Google Shape;745;p67"/>
          <p:cNvSpPr/>
          <p:nvPr/>
        </p:nvSpPr>
        <p:spPr>
          <a:xfrm>
            <a:off x="6041136" y="4187952"/>
            <a:ext cx="2645664" cy="603504"/>
          </a:xfrm>
          <a:prstGeom prst="roundRect">
            <a:avLst>
              <a:gd name="adj" fmla="val 10000"/>
            </a:avLst>
          </a:prstGeom>
          <a:solidFill>
            <a:srgbClr val="0A131E"/>
          </a:solidFill>
          <a:ln w="9525" cap="flat" cmpd="sng">
            <a:solidFill>
              <a:srgbClr val="1E3044"/>
            </a:solidFill>
            <a:prstDash val="solid"/>
            <a:round/>
            <a:headEnd type="none" w="sm" len="sm"/>
            <a:tailEnd type="none" w="sm" len="sm"/>
          </a:ln>
        </p:spPr>
        <p:txBody>
          <a:bodyPr spcFirstLastPara="1" wrap="square" lIns="109725" tIns="109725" rIns="109725" bIns="109725"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1" i="0" u="none" strike="noStrike" cap="none">
                <a:solidFill>
                  <a:srgbClr val="FFFFFF"/>
                </a:solidFill>
                <a:latin typeface="Calibri"/>
                <a:ea typeface="Calibri"/>
                <a:cs typeface="Calibri"/>
                <a:sym typeface="Calibri"/>
              </a:rPr>
              <a:t>Managed</a:t>
            </a:r>
            <a:endParaRPr/>
          </a:p>
          <a:p>
            <a:pPr marL="0" marR="0" lvl="0" indent="0" algn="l" rtl="0">
              <a:lnSpc>
                <a:spcPct val="100000"/>
              </a:lnSpc>
              <a:spcBef>
                <a:spcPts val="200"/>
              </a:spcBef>
              <a:spcAft>
                <a:spcPts val="0"/>
              </a:spcAft>
              <a:buClr>
                <a:srgbClr val="000000"/>
              </a:buClr>
              <a:buSzPts val="1000"/>
              <a:buFont typeface="Arial"/>
              <a:buNone/>
            </a:pPr>
            <a:r>
              <a:rPr lang="en-GB" sz="1000" b="0" i="0" u="none" strike="noStrike" cap="none">
                <a:solidFill>
                  <a:srgbClr val="93A9C0"/>
                </a:solidFill>
                <a:latin typeface="Calibri"/>
                <a:ea typeface="Calibri"/>
                <a:cs typeface="Calibri"/>
                <a:sym typeface="Calibri"/>
              </a:rPr>
              <a:t>Bedrock Knowledge Bases or Vertex AI RAG Engine do the indexing.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750"/>
        <p:cNvGrpSpPr/>
        <p:nvPr/>
      </p:nvGrpSpPr>
      <p:grpSpPr>
        <a:xfrm>
          <a:off x="0" y="0"/>
          <a:ext cx="0" cy="0"/>
          <a:chOff x="0" y="0"/>
          <a:chExt cx="0" cy="0"/>
        </a:xfrm>
      </p:grpSpPr>
      <p:sp>
        <p:nvSpPr>
          <p:cNvPr id="751" name="Google Shape;751;p68"/>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/karpathy-guidelines: one file, four rules</a:t>
            </a:r>
            <a:endParaRPr sz="1900"/>
          </a:p>
        </p:txBody>
      </p:sp>
      <p:sp>
        <p:nvSpPr>
          <p:cNvPr id="752" name="Google Shape;752;p68"/>
          <p:cNvSpPr txBox="1"/>
          <p:nvPr/>
        </p:nvSpPr>
        <p:spPr>
          <a:xfrm>
            <a:off x="493776" y="1005840"/>
            <a:ext cx="5577840"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FFFFFF"/>
                </a:solidFill>
                <a:latin typeface="Calibri"/>
                <a:ea typeface="Calibri"/>
                <a:cs typeface="Calibri"/>
                <a:sym typeface="Calibri"/>
              </a:rPr>
              <a:t>Andrej Karpathy wrote down how AI fails at coding. </a:t>
            </a:r>
            <a:r>
              <a:rPr lang="en-GB" sz="1600" b="0" i="0" u="none" strike="noStrike" cap="none">
                <a:solidFill>
                  <a:srgbClr val="93A9C0"/>
                </a:solidFill>
                <a:latin typeface="Calibri"/>
                <a:ea typeface="Calibri"/>
                <a:cs typeface="Calibri"/>
                <a:sym typeface="Calibri"/>
              </a:rPr>
              <a:t>This free skill turns those notes into rules Claude Code follows.</a:t>
            </a:r>
            <a:endParaRPr/>
          </a:p>
        </p:txBody>
      </p:sp>
      <p:sp>
        <p:nvSpPr>
          <p:cNvPr id="753" name="Google Shape;753;p68"/>
          <p:cNvSpPr txBox="1"/>
          <p:nvPr/>
        </p:nvSpPr>
        <p:spPr>
          <a:xfrm>
            <a:off x="493776" y="1810512"/>
            <a:ext cx="55778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alibri"/>
                <a:ea typeface="Calibri"/>
                <a:cs typeface="Calibri"/>
                <a:sym typeface="Calibri"/>
              </a:rPr>
              <a:t>GET IT: TWO COMMANDS</a:t>
            </a:r>
            <a:endParaRPr/>
          </a:p>
        </p:txBody>
      </p:sp>
      <p:sp>
        <p:nvSpPr>
          <p:cNvPr id="754" name="Google Shape;754;p68"/>
          <p:cNvSpPr/>
          <p:nvPr/>
        </p:nvSpPr>
        <p:spPr>
          <a:xfrm>
            <a:off x="493776" y="2103120"/>
            <a:ext cx="5577840" cy="1188720"/>
          </a:xfrm>
          <a:prstGeom prst="roundRect">
            <a:avLst>
              <a:gd name="adj" fmla="val 9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68"/>
          <p:cNvSpPr/>
          <p:nvPr/>
        </p:nvSpPr>
        <p:spPr>
          <a:xfrm>
            <a:off x="676656" y="2240280"/>
            <a:ext cx="91440" cy="91440"/>
          </a:xfrm>
          <a:prstGeom prst="ellipse">
            <a:avLst/>
          </a:prstGeom>
          <a:solidFill>
            <a:srgbClr val="FF5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68"/>
          <p:cNvSpPr/>
          <p:nvPr/>
        </p:nvSpPr>
        <p:spPr>
          <a:xfrm>
            <a:off x="832104" y="2240280"/>
            <a:ext cx="91440" cy="91440"/>
          </a:xfrm>
          <a:prstGeom prst="ellipse">
            <a:avLst/>
          </a:prstGeom>
          <a:solidFill>
            <a:srgbClr val="FEB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8"/>
          <p:cNvSpPr/>
          <p:nvPr/>
        </p:nvSpPr>
        <p:spPr>
          <a:xfrm>
            <a:off x="987552" y="2240280"/>
            <a:ext cx="91440" cy="91440"/>
          </a:xfrm>
          <a:prstGeom prst="ellipse">
            <a:avLst/>
          </a:prstGeom>
          <a:solidFill>
            <a:srgbClr val="28C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68"/>
          <p:cNvSpPr txBox="1"/>
          <p:nvPr/>
        </p:nvSpPr>
        <p:spPr>
          <a:xfrm>
            <a:off x="1225296" y="2176272"/>
            <a:ext cx="4114800" cy="21945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GB" sz="950" b="0" i="0" u="none" strike="noStrike" cap="none">
                <a:solidFill>
                  <a:srgbClr val="93A9C0"/>
                </a:solidFill>
                <a:latin typeface="Courier New"/>
                <a:ea typeface="Courier New"/>
                <a:cs typeface="Courier New"/>
                <a:sym typeface="Courier New"/>
              </a:rPr>
              <a:t>in Claude Code</a:t>
            </a:r>
            <a:endParaRPr/>
          </a:p>
        </p:txBody>
      </p:sp>
      <p:sp>
        <p:nvSpPr>
          <p:cNvPr id="759" name="Google Shape;759;p68"/>
          <p:cNvSpPr txBox="1"/>
          <p:nvPr/>
        </p:nvSpPr>
        <p:spPr>
          <a:xfrm>
            <a:off x="694944" y="2578608"/>
            <a:ext cx="5248656" cy="640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ourier New"/>
                <a:ea typeface="Courier New"/>
                <a:cs typeface="Courier New"/>
                <a:sym typeface="Courier New"/>
              </a:rPr>
              <a:t>&gt; </a:t>
            </a:r>
            <a:r>
              <a:rPr lang="en-GB" sz="1050" b="1" i="0" u="none" strike="noStrike" cap="none">
                <a:solidFill>
                  <a:srgbClr val="FFFFFF"/>
                </a:solidFill>
                <a:latin typeface="Courier New"/>
                <a:ea typeface="Courier New"/>
                <a:cs typeface="Courier New"/>
                <a:sym typeface="Courier New"/>
              </a:rPr>
              <a:t>/plugin marketplace add multica-ai/andrej-karpathy-skills</a:t>
            </a:r>
            <a:endParaRPr/>
          </a:p>
          <a:p>
            <a:pPr marL="0" marR="0" lvl="0" indent="0" algn="l" rtl="0">
              <a:lnSpc>
                <a:spcPct val="100000"/>
              </a:lnSpc>
              <a:spcBef>
                <a:spcPts val="500"/>
              </a:spcBef>
              <a:spcAft>
                <a:spcPts val="0"/>
              </a:spcAft>
              <a:buClr>
                <a:srgbClr val="000000"/>
              </a:buClr>
              <a:buSzPts val="1050"/>
              <a:buFont typeface="Arial"/>
              <a:buNone/>
            </a:pPr>
            <a:r>
              <a:rPr lang="en-GB" sz="1050" b="1" i="0" u="none" strike="noStrike" cap="none">
                <a:solidFill>
                  <a:srgbClr val="4FB0EA"/>
                </a:solidFill>
                <a:latin typeface="Courier New"/>
                <a:ea typeface="Courier New"/>
                <a:cs typeface="Courier New"/>
                <a:sym typeface="Courier New"/>
              </a:rPr>
              <a:t>&gt; </a:t>
            </a:r>
            <a:r>
              <a:rPr lang="en-GB" sz="1050" b="1" i="0" u="none" strike="noStrike" cap="none">
                <a:solidFill>
                  <a:srgbClr val="FFFFFF"/>
                </a:solidFill>
                <a:latin typeface="Courier New"/>
                <a:ea typeface="Courier New"/>
                <a:cs typeface="Courier New"/>
                <a:sym typeface="Courier New"/>
              </a:rPr>
              <a:t>/plugin install andrej-karpathy-skills@karpathy-skills</a:t>
            </a:r>
            <a:endParaRPr/>
          </a:p>
        </p:txBody>
      </p:sp>
      <p:sp>
        <p:nvSpPr>
          <p:cNvPr id="760" name="Google Shape;760;p68"/>
          <p:cNvSpPr txBox="1"/>
          <p:nvPr/>
        </p:nvSpPr>
        <p:spPr>
          <a:xfrm>
            <a:off x="6510528" y="1005840"/>
            <a:ext cx="2139696" cy="20116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alibri"/>
                <a:ea typeface="Calibri"/>
                <a:cs typeface="Calibri"/>
                <a:sym typeface="Calibri"/>
              </a:rPr>
              <a:t>SCAN TO GET IT</a:t>
            </a:r>
            <a:endParaRPr/>
          </a:p>
        </p:txBody>
      </p:sp>
      <p:sp>
        <p:nvSpPr>
          <p:cNvPr id="761" name="Google Shape;761;p68"/>
          <p:cNvSpPr/>
          <p:nvPr/>
        </p:nvSpPr>
        <p:spPr>
          <a:xfrm>
            <a:off x="6665976" y="1280160"/>
            <a:ext cx="1828800" cy="1828800"/>
          </a:xfrm>
          <a:prstGeom prst="roundRect">
            <a:avLst>
              <a:gd name="adj" fmla="val 60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2" name="Google Shape;762;p68" descr="QR code linking to github.com/multica-ai/andrej-karpathy-skills"/>
          <p:cNvPicPr preferRelativeResize="0"/>
          <p:nvPr/>
        </p:nvPicPr>
        <p:blipFill rotWithShape="1">
          <a:blip r:embed="rId3">
            <a:alphaModFix/>
          </a:blip>
          <a:srcRect/>
          <a:stretch/>
        </p:blipFill>
        <p:spPr>
          <a:xfrm>
            <a:off x="6784848" y="1399032"/>
            <a:ext cx="1591056" cy="1591056"/>
          </a:xfrm>
          <a:prstGeom prst="rect">
            <a:avLst/>
          </a:prstGeom>
          <a:noFill/>
          <a:ln>
            <a:noFill/>
          </a:ln>
        </p:spPr>
      </p:pic>
      <p:sp>
        <p:nvSpPr>
          <p:cNvPr id="763" name="Google Shape;763;p68"/>
          <p:cNvSpPr txBox="1"/>
          <p:nvPr/>
        </p:nvSpPr>
        <p:spPr>
          <a:xfrm>
            <a:off x="6510528" y="3200400"/>
            <a:ext cx="2139696" cy="3657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950"/>
              <a:buFont typeface="Arial"/>
              <a:buNone/>
            </a:pPr>
            <a:r>
              <a:rPr lang="en-GB" sz="950" b="0" i="0" u="none" strike="noStrike" cap="none">
                <a:solidFill>
                  <a:srgbClr val="93A9C0"/>
                </a:solidFill>
                <a:latin typeface="Calibri"/>
                <a:ea typeface="Calibri"/>
                <a:cs typeface="Calibri"/>
                <a:sym typeface="Calibri"/>
              </a:rPr>
              <a:t>github.com/multica-ai/</a:t>
            </a:r>
            <a:endParaRPr/>
          </a:p>
          <a:p>
            <a:pPr marL="0" marR="0" lvl="0" indent="0" algn="ctr" rtl="0">
              <a:lnSpc>
                <a:spcPct val="100000"/>
              </a:lnSpc>
              <a:spcBef>
                <a:spcPts val="0"/>
              </a:spcBef>
              <a:spcAft>
                <a:spcPts val="0"/>
              </a:spcAft>
              <a:buClr>
                <a:srgbClr val="000000"/>
              </a:buClr>
              <a:buSzPts val="950"/>
              <a:buFont typeface="Arial"/>
              <a:buNone/>
            </a:pPr>
            <a:r>
              <a:rPr lang="en-GB" sz="950" b="0" i="0" u="none" strike="noStrike" cap="none">
                <a:solidFill>
                  <a:srgbClr val="93A9C0"/>
                </a:solidFill>
                <a:latin typeface="Calibri"/>
                <a:ea typeface="Calibri"/>
                <a:cs typeface="Calibri"/>
                <a:sym typeface="Calibri"/>
              </a:rPr>
              <a:t>andrej-karpathy-skills</a:t>
            </a:r>
            <a:endParaRPr/>
          </a:p>
        </p:txBody>
      </p:sp>
      <p:sp>
        <p:nvSpPr>
          <p:cNvPr id="764" name="Google Shape;764;p68"/>
          <p:cNvSpPr txBox="1"/>
          <p:nvPr/>
        </p:nvSpPr>
        <p:spPr>
          <a:xfrm>
            <a:off x="493776" y="3767328"/>
            <a:ext cx="8156448"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4FB0EA"/>
                </a:solidFill>
                <a:latin typeface="Calibri"/>
                <a:ea typeface="Calibri"/>
                <a:cs typeface="Calibri"/>
                <a:sym typeface="Calibri"/>
              </a:rPr>
              <a:t>THE FOUR RULES, ONE PER SLIDE NEXT</a:t>
            </a:r>
            <a:endParaRPr/>
          </a:p>
        </p:txBody>
      </p:sp>
      <p:sp>
        <p:nvSpPr>
          <p:cNvPr id="765" name="Google Shape;765;p68"/>
          <p:cNvSpPr/>
          <p:nvPr/>
        </p:nvSpPr>
        <p:spPr>
          <a:xfrm>
            <a:off x="493776" y="4041648"/>
            <a:ext cx="1929384" cy="475488"/>
          </a:xfrm>
          <a:prstGeom prst="roundRect">
            <a:avLst>
              <a:gd name="adj" fmla="val 22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8"/>
          <p:cNvSpPr/>
          <p:nvPr/>
        </p:nvSpPr>
        <p:spPr>
          <a:xfrm>
            <a:off x="612648" y="4142232"/>
            <a:ext cx="274320" cy="274320"/>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1</a:t>
            </a:r>
            <a:endParaRPr/>
          </a:p>
        </p:txBody>
      </p:sp>
      <p:sp>
        <p:nvSpPr>
          <p:cNvPr id="767" name="Google Shape;767;p68"/>
          <p:cNvSpPr txBox="1"/>
          <p:nvPr/>
        </p:nvSpPr>
        <p:spPr>
          <a:xfrm>
            <a:off x="950976" y="4041648"/>
            <a:ext cx="1453896" cy="4754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7FC6F3"/>
                </a:solidFill>
                <a:latin typeface="Calibri"/>
                <a:ea typeface="Calibri"/>
                <a:cs typeface="Calibri"/>
                <a:sym typeface="Calibri"/>
              </a:rPr>
              <a:t>Think first</a:t>
            </a:r>
            <a:endParaRPr/>
          </a:p>
        </p:txBody>
      </p:sp>
      <p:sp>
        <p:nvSpPr>
          <p:cNvPr id="768" name="Google Shape;768;p68"/>
          <p:cNvSpPr/>
          <p:nvPr/>
        </p:nvSpPr>
        <p:spPr>
          <a:xfrm>
            <a:off x="2569464" y="4041648"/>
            <a:ext cx="1929384" cy="475488"/>
          </a:xfrm>
          <a:prstGeom prst="roundRect">
            <a:avLst>
              <a:gd name="adj" fmla="val 22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68"/>
          <p:cNvSpPr/>
          <p:nvPr/>
        </p:nvSpPr>
        <p:spPr>
          <a:xfrm>
            <a:off x="2688336" y="4142232"/>
            <a:ext cx="274320" cy="274320"/>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2</a:t>
            </a:r>
            <a:endParaRPr/>
          </a:p>
        </p:txBody>
      </p:sp>
      <p:sp>
        <p:nvSpPr>
          <p:cNvPr id="770" name="Google Shape;770;p68"/>
          <p:cNvSpPr txBox="1"/>
          <p:nvPr/>
        </p:nvSpPr>
        <p:spPr>
          <a:xfrm>
            <a:off x="3026664" y="4041648"/>
            <a:ext cx="1453896" cy="4754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7FC6F3"/>
                </a:solidFill>
                <a:latin typeface="Calibri"/>
                <a:ea typeface="Calibri"/>
                <a:cs typeface="Calibri"/>
                <a:sym typeface="Calibri"/>
              </a:rPr>
              <a:t>Keep it simple</a:t>
            </a:r>
            <a:endParaRPr/>
          </a:p>
        </p:txBody>
      </p:sp>
      <p:sp>
        <p:nvSpPr>
          <p:cNvPr id="771" name="Google Shape;771;p68"/>
          <p:cNvSpPr/>
          <p:nvPr/>
        </p:nvSpPr>
        <p:spPr>
          <a:xfrm>
            <a:off x="4645152" y="4041648"/>
            <a:ext cx="1929384" cy="475488"/>
          </a:xfrm>
          <a:prstGeom prst="roundRect">
            <a:avLst>
              <a:gd name="adj" fmla="val 22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68"/>
          <p:cNvSpPr/>
          <p:nvPr/>
        </p:nvSpPr>
        <p:spPr>
          <a:xfrm>
            <a:off x="4764024" y="4142232"/>
            <a:ext cx="274320" cy="274320"/>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3</a:t>
            </a:r>
            <a:endParaRPr/>
          </a:p>
        </p:txBody>
      </p:sp>
      <p:sp>
        <p:nvSpPr>
          <p:cNvPr id="773" name="Google Shape;773;p68"/>
          <p:cNvSpPr txBox="1"/>
          <p:nvPr/>
        </p:nvSpPr>
        <p:spPr>
          <a:xfrm>
            <a:off x="5102352" y="4041648"/>
            <a:ext cx="1453896" cy="4754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7FC6F3"/>
                </a:solidFill>
                <a:latin typeface="Calibri"/>
                <a:ea typeface="Calibri"/>
                <a:cs typeface="Calibri"/>
                <a:sym typeface="Calibri"/>
              </a:rPr>
              <a:t>Touch only the task</a:t>
            </a:r>
            <a:endParaRPr/>
          </a:p>
        </p:txBody>
      </p:sp>
      <p:sp>
        <p:nvSpPr>
          <p:cNvPr id="774" name="Google Shape;774;p68"/>
          <p:cNvSpPr/>
          <p:nvPr/>
        </p:nvSpPr>
        <p:spPr>
          <a:xfrm>
            <a:off x="6720840" y="4041648"/>
            <a:ext cx="1929384" cy="475488"/>
          </a:xfrm>
          <a:prstGeom prst="roundRect">
            <a:avLst>
              <a:gd name="adj" fmla="val 22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68"/>
          <p:cNvSpPr/>
          <p:nvPr/>
        </p:nvSpPr>
        <p:spPr>
          <a:xfrm>
            <a:off x="6839712" y="4142232"/>
            <a:ext cx="274320" cy="274320"/>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4</a:t>
            </a:r>
            <a:endParaRPr/>
          </a:p>
        </p:txBody>
      </p:sp>
      <p:sp>
        <p:nvSpPr>
          <p:cNvPr id="776" name="Google Shape;776;p68"/>
          <p:cNvSpPr txBox="1"/>
          <p:nvPr/>
        </p:nvSpPr>
        <p:spPr>
          <a:xfrm>
            <a:off x="7178040" y="4041648"/>
            <a:ext cx="1453896" cy="4754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r>
              <a:rPr lang="en-GB" sz="1350" b="1" i="0" u="none" strike="noStrike" cap="none">
                <a:solidFill>
                  <a:srgbClr val="7FC6F3"/>
                </a:solidFill>
                <a:latin typeface="Calibri"/>
                <a:ea typeface="Calibri"/>
                <a:cs typeface="Calibri"/>
                <a:sym typeface="Calibri"/>
              </a:rPr>
              <a:t>Prove it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781"/>
        <p:cNvGrpSpPr/>
        <p:nvPr/>
      </p:nvGrpSpPr>
      <p:grpSpPr>
        <a:xfrm>
          <a:off x="0" y="0"/>
          <a:ext cx="0" cy="0"/>
          <a:chOff x="0" y="0"/>
          <a:chExt cx="0" cy="0"/>
        </a:xfrm>
      </p:grpSpPr>
      <p:sp>
        <p:nvSpPr>
          <p:cNvPr id="782" name="Google Shape;782;p69"/>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Problem 1 — Wrong </a:t>
            </a:r>
            <a:r>
              <a:rPr lang="en-GB" sz="2000">
                <a:solidFill>
                  <a:srgbClr val="FFFFFF"/>
                </a:solidFill>
              </a:rPr>
              <a:t>A</a:t>
            </a:r>
            <a:r>
              <a:rPr lang="en-GB" sz="2000" b="1">
                <a:solidFill>
                  <a:srgbClr val="FFFFFF"/>
                </a:solidFill>
                <a:latin typeface="Century Schoolbook"/>
                <a:ea typeface="Century Schoolbook"/>
                <a:cs typeface="Century Schoolbook"/>
                <a:sym typeface="Century Schoolbook"/>
              </a:rPr>
              <a:t>ssumptions</a:t>
            </a:r>
            <a:endParaRPr sz="1900"/>
          </a:p>
        </p:txBody>
      </p:sp>
      <p:pic>
        <p:nvPicPr>
          <p:cNvPr id="783" name="Google Shape;783;p69" descr="Sketch: blindfolded Clappy robot sprinting into a brick wall labelled WRONG ASSUMPTION, thinking “10 s will be enough”."/>
          <p:cNvPicPr preferRelativeResize="0"/>
          <p:nvPr/>
        </p:nvPicPr>
        <p:blipFill rotWithShape="1">
          <a:blip r:embed="rId3">
            <a:alphaModFix/>
          </a:blip>
          <a:srcRect/>
          <a:stretch/>
        </p:blipFill>
        <p:spPr>
          <a:xfrm>
            <a:off x="274320" y="1143000"/>
            <a:ext cx="4434840" cy="2771775"/>
          </a:xfrm>
          <a:prstGeom prst="rect">
            <a:avLst/>
          </a:prstGeom>
          <a:noFill/>
          <a:ln>
            <a:noFill/>
          </a:ln>
        </p:spPr>
      </p:pic>
      <p:sp>
        <p:nvSpPr>
          <p:cNvPr id="784" name="Google Shape;784;p69"/>
          <p:cNvSpPr txBox="1"/>
          <p:nvPr/>
        </p:nvSpPr>
        <p:spPr>
          <a:xfrm>
            <a:off x="493776" y="4443984"/>
            <a:ext cx="2194560"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93A9C0"/>
                </a:solidFill>
                <a:latin typeface="Courier New"/>
                <a:ea typeface="Courier New"/>
                <a:cs typeface="Courier New"/>
                <a:sym typeface="Courier New"/>
              </a:rPr>
              <a:t>/karpathy-guidelines</a:t>
            </a:r>
            <a:endParaRPr/>
          </a:p>
        </p:txBody>
      </p:sp>
      <p:sp>
        <p:nvSpPr>
          <p:cNvPr id="785" name="Google Shape;785;p69"/>
          <p:cNvSpPr/>
          <p:nvPr/>
        </p:nvSpPr>
        <p:spPr>
          <a:xfrm>
            <a:off x="2505456" y="4498848"/>
            <a:ext cx="91440" cy="91440"/>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69"/>
          <p:cNvSpPr/>
          <p:nvPr/>
        </p:nvSpPr>
        <p:spPr>
          <a:xfrm>
            <a:off x="268833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9"/>
          <p:cNvSpPr/>
          <p:nvPr/>
        </p:nvSpPr>
        <p:spPr>
          <a:xfrm>
            <a:off x="287121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69"/>
          <p:cNvSpPr/>
          <p:nvPr/>
        </p:nvSpPr>
        <p:spPr>
          <a:xfrm>
            <a:off x="305409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69"/>
          <p:cNvSpPr txBox="1"/>
          <p:nvPr/>
        </p:nvSpPr>
        <p:spPr>
          <a:xfrm>
            <a:off x="4919472" y="1024128"/>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THE RULE  ·  1 OF 4</a:t>
            </a:r>
            <a:endParaRPr/>
          </a:p>
        </p:txBody>
      </p:sp>
      <p:sp>
        <p:nvSpPr>
          <p:cNvPr id="790" name="Google Shape;790;p69"/>
          <p:cNvSpPr txBox="1"/>
          <p:nvPr/>
        </p:nvSpPr>
        <p:spPr>
          <a:xfrm>
            <a:off x="4919472" y="1225296"/>
            <a:ext cx="3730752"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7FC6F3"/>
                </a:solidFill>
                <a:latin typeface="Courier New"/>
                <a:ea typeface="Courier New"/>
                <a:cs typeface="Courier New"/>
                <a:sym typeface="Courier New"/>
              </a:rPr>
              <a:t>Think first</a:t>
            </a:r>
            <a:endParaRPr/>
          </a:p>
        </p:txBody>
      </p:sp>
      <p:sp>
        <p:nvSpPr>
          <p:cNvPr id="791" name="Google Shape;791;p69"/>
          <p:cNvSpPr txBox="1"/>
          <p:nvPr/>
        </p:nvSpPr>
        <p:spPr>
          <a:xfrm>
            <a:off x="4919472" y="1627632"/>
            <a:ext cx="3730752" cy="51206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Calibri"/>
                <a:ea typeface="Calibri"/>
                <a:cs typeface="Calibri"/>
                <a:sym typeface="Calibri"/>
              </a:rPr>
              <a:t>State your assumptions. If something is unclear, ask before writing any code.</a:t>
            </a:r>
            <a:endParaRPr/>
          </a:p>
        </p:txBody>
      </p:sp>
      <p:sp>
        <p:nvSpPr>
          <p:cNvPr id="792" name="Google Shape;792;p69"/>
          <p:cNvSpPr txBox="1"/>
          <p:nvPr/>
        </p:nvSpPr>
        <p:spPr>
          <a:xfrm>
            <a:off x="4919472" y="2249424"/>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TESTING EXAMPLE</a:t>
            </a:r>
            <a:endParaRPr/>
          </a:p>
        </p:txBody>
      </p:sp>
      <p:sp>
        <p:nvSpPr>
          <p:cNvPr id="793" name="Google Shape;793;p69"/>
          <p:cNvSpPr/>
          <p:nvPr/>
        </p:nvSpPr>
        <p:spPr>
          <a:xfrm>
            <a:off x="4919472" y="2468880"/>
            <a:ext cx="3730752" cy="1335024"/>
          </a:xfrm>
          <a:prstGeom prst="roundRect">
            <a:avLst>
              <a:gd name="adj" fmla="val 6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69"/>
          <p:cNvSpPr txBox="1"/>
          <p:nvPr/>
        </p:nvSpPr>
        <p:spPr>
          <a:xfrm>
            <a:off x="5065776" y="2560320"/>
            <a:ext cx="3456432" cy="11887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93A9C0"/>
                </a:solidFill>
                <a:latin typeface="Calibri"/>
                <a:ea typeface="Calibri"/>
                <a:cs typeface="Calibri"/>
                <a:sym typeface="Calibri"/>
              </a:rPr>
              <a:t>Task  </a:t>
            </a:r>
            <a:r>
              <a:rPr lang="en-GB" sz="1100" b="1" i="0" u="none" strike="noStrike" cap="none">
                <a:solidFill>
                  <a:srgbClr val="FFFFFF"/>
                </a:solidFill>
                <a:latin typeface="Calibri"/>
                <a:ea typeface="Calibri"/>
                <a:cs typeface="Calibri"/>
                <a:sym typeface="Calibri"/>
              </a:rPr>
              <a:t>Fix the flaky checkout test.</a:t>
            </a:r>
            <a:endParaRPr/>
          </a:p>
          <a:p>
            <a:pPr marL="0" marR="0" lvl="0" indent="0" algn="l" rtl="0">
              <a:lnSpc>
                <a:spcPct val="100000"/>
              </a:lnSpc>
              <a:spcBef>
                <a:spcPts val="700"/>
              </a:spcBef>
              <a:spcAft>
                <a:spcPts val="0"/>
              </a:spcAft>
              <a:buClr>
                <a:srgbClr val="000000"/>
              </a:buClr>
              <a:buSzPts val="1100"/>
              <a:buFont typeface="Arial"/>
              <a:buNone/>
            </a:pPr>
            <a:r>
              <a:rPr lang="en-GB" sz="1100" b="1" i="0" u="none" strike="noStrike" cap="none">
                <a:solidFill>
                  <a:srgbClr val="F07A6E"/>
                </a:solidFill>
                <a:latin typeface="Calibri"/>
                <a:ea typeface="Calibri"/>
                <a:cs typeface="Calibri"/>
                <a:sym typeface="Calibri"/>
              </a:rPr>
              <a:t>✗  Without  </a:t>
            </a:r>
            <a:r>
              <a:rPr lang="en-GB" sz="1100" b="0" i="0" u="none" strike="noStrike" cap="none">
                <a:solidFill>
                  <a:srgbClr val="93A9C0"/>
                </a:solidFill>
                <a:latin typeface="Calibri"/>
                <a:ea typeface="Calibri"/>
                <a:cs typeface="Calibri"/>
                <a:sym typeface="Calibri"/>
              </a:rPr>
              <a:t>Silently sets a 10 s timeout, picked from what it saw on this laptop.</a:t>
            </a:r>
            <a:endParaRPr/>
          </a:p>
          <a:p>
            <a:pPr marL="0" marR="0" lvl="0" indent="0" algn="l" rtl="0">
              <a:lnSpc>
                <a:spcPct val="100000"/>
              </a:lnSpc>
              <a:spcBef>
                <a:spcPts val="700"/>
              </a:spcBef>
              <a:spcAft>
                <a:spcPts val="0"/>
              </a:spcAft>
              <a:buClr>
                <a:srgbClr val="000000"/>
              </a:buClr>
              <a:buSzPts val="1100"/>
              <a:buFont typeface="Arial"/>
              <a:buNone/>
            </a:pPr>
            <a:r>
              <a:rPr lang="en-GB" sz="1100" b="1" i="0" u="none" strike="noStrike" cap="none">
                <a:solidFill>
                  <a:srgbClr val="5FD08A"/>
                </a:solidFill>
                <a:latin typeface="Calibri"/>
                <a:ea typeface="Calibri"/>
                <a:cs typeface="Calibri"/>
                <a:sym typeface="Calibri"/>
              </a:rPr>
              <a:t>✓  With the rule  </a:t>
            </a:r>
            <a:r>
              <a:rPr lang="en-GB" sz="1100" b="0" i="0" u="none" strike="noStrike" cap="none">
                <a:solidFill>
                  <a:srgbClr val="EAF1F7"/>
                </a:solidFill>
                <a:latin typeface="Calibri"/>
                <a:ea typeface="Calibri"/>
                <a:cs typeface="Calibri"/>
                <a:sym typeface="Calibri"/>
              </a:rPr>
              <a:t>Asks first: “I don't know how fast your CI is.”</a:t>
            </a:r>
            <a:endParaRPr/>
          </a:p>
        </p:txBody>
      </p:sp>
      <p:sp>
        <p:nvSpPr>
          <p:cNvPr id="795" name="Google Shape;795;p69"/>
          <p:cNvSpPr txBox="1"/>
          <p:nvPr/>
        </p:nvSpPr>
        <p:spPr>
          <a:xfrm>
            <a:off x="4919472" y="3931920"/>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IMPACT ON YOUR TEST PROJECT</a:t>
            </a:r>
            <a:endParaRPr/>
          </a:p>
        </p:txBody>
      </p:sp>
      <p:sp>
        <p:nvSpPr>
          <p:cNvPr id="796" name="Google Shape;796;p69"/>
          <p:cNvSpPr txBox="1"/>
          <p:nvPr/>
        </p:nvSpPr>
        <p:spPr>
          <a:xfrm>
            <a:off x="4919472" y="4133088"/>
            <a:ext cx="3730752"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Guesses surface as questions your docs or team can answer, not as failures in CI.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01"/>
        <p:cNvGrpSpPr/>
        <p:nvPr/>
      </p:nvGrpSpPr>
      <p:grpSpPr>
        <a:xfrm>
          <a:off x="0" y="0"/>
          <a:ext cx="0" cy="0"/>
          <a:chOff x="0" y="0"/>
          <a:chExt cx="0" cy="0"/>
        </a:xfrm>
      </p:grpSpPr>
      <p:sp>
        <p:nvSpPr>
          <p:cNvPr id="802" name="Google Shape;802;p70"/>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Problem 2 — Over </a:t>
            </a:r>
            <a:r>
              <a:rPr lang="en-GB" sz="2000">
                <a:solidFill>
                  <a:srgbClr val="FFFFFF"/>
                </a:solidFill>
              </a:rPr>
              <a:t>C</a:t>
            </a:r>
            <a:r>
              <a:rPr lang="en-GB" sz="2000" b="1">
                <a:solidFill>
                  <a:srgbClr val="FFFFFF"/>
                </a:solidFill>
                <a:latin typeface="Century Schoolbook"/>
                <a:ea typeface="Century Schoolbook"/>
                <a:cs typeface="Century Schoolbook"/>
                <a:sym typeface="Century Schoolbook"/>
              </a:rPr>
              <a:t>omplication</a:t>
            </a:r>
            <a:endParaRPr sz="1900"/>
          </a:p>
        </p:txBody>
      </p:sp>
      <p:pic>
        <p:nvPicPr>
          <p:cNvPr id="803" name="Google Shape;803;p70" descr="Sketch: a tangled machine of retry(3), sleep(10000), helper.ts, config.yaml and gears, just to reach one “confirmed” message."/>
          <p:cNvPicPr preferRelativeResize="0"/>
          <p:nvPr/>
        </p:nvPicPr>
        <p:blipFill rotWithShape="1">
          <a:blip r:embed="rId3">
            <a:alphaModFix/>
          </a:blip>
          <a:srcRect/>
          <a:stretch/>
        </p:blipFill>
        <p:spPr>
          <a:xfrm>
            <a:off x="274320" y="1143000"/>
            <a:ext cx="4434840" cy="2771775"/>
          </a:xfrm>
          <a:prstGeom prst="rect">
            <a:avLst/>
          </a:prstGeom>
          <a:noFill/>
          <a:ln>
            <a:noFill/>
          </a:ln>
        </p:spPr>
      </p:pic>
      <p:sp>
        <p:nvSpPr>
          <p:cNvPr id="804" name="Google Shape;804;p70"/>
          <p:cNvSpPr txBox="1"/>
          <p:nvPr/>
        </p:nvSpPr>
        <p:spPr>
          <a:xfrm>
            <a:off x="493776" y="4443984"/>
            <a:ext cx="2194560"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93A9C0"/>
                </a:solidFill>
                <a:latin typeface="Courier New"/>
                <a:ea typeface="Courier New"/>
                <a:cs typeface="Courier New"/>
                <a:sym typeface="Courier New"/>
              </a:rPr>
              <a:t>/karpathy-guidelines</a:t>
            </a:r>
            <a:endParaRPr/>
          </a:p>
        </p:txBody>
      </p:sp>
      <p:sp>
        <p:nvSpPr>
          <p:cNvPr id="805" name="Google Shape;805;p70"/>
          <p:cNvSpPr/>
          <p:nvPr/>
        </p:nvSpPr>
        <p:spPr>
          <a:xfrm>
            <a:off x="250545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70"/>
          <p:cNvSpPr/>
          <p:nvPr/>
        </p:nvSpPr>
        <p:spPr>
          <a:xfrm>
            <a:off x="2688336" y="4498848"/>
            <a:ext cx="91440" cy="91440"/>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70"/>
          <p:cNvSpPr/>
          <p:nvPr/>
        </p:nvSpPr>
        <p:spPr>
          <a:xfrm>
            <a:off x="287121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70"/>
          <p:cNvSpPr/>
          <p:nvPr/>
        </p:nvSpPr>
        <p:spPr>
          <a:xfrm>
            <a:off x="305409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70"/>
          <p:cNvSpPr txBox="1"/>
          <p:nvPr/>
        </p:nvSpPr>
        <p:spPr>
          <a:xfrm>
            <a:off x="4919472" y="1024128"/>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THE RULE  ·  2 OF 4</a:t>
            </a:r>
            <a:endParaRPr/>
          </a:p>
        </p:txBody>
      </p:sp>
      <p:sp>
        <p:nvSpPr>
          <p:cNvPr id="810" name="Google Shape;810;p70"/>
          <p:cNvSpPr txBox="1"/>
          <p:nvPr/>
        </p:nvSpPr>
        <p:spPr>
          <a:xfrm>
            <a:off x="4919472" y="1225296"/>
            <a:ext cx="3730752"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7FC6F3"/>
                </a:solidFill>
                <a:latin typeface="Courier New"/>
                <a:ea typeface="Courier New"/>
                <a:cs typeface="Courier New"/>
                <a:sym typeface="Courier New"/>
              </a:rPr>
              <a:t>Keep it simple</a:t>
            </a:r>
            <a:endParaRPr/>
          </a:p>
        </p:txBody>
      </p:sp>
      <p:sp>
        <p:nvSpPr>
          <p:cNvPr id="811" name="Google Shape;811;p70"/>
          <p:cNvSpPr txBox="1"/>
          <p:nvPr/>
        </p:nvSpPr>
        <p:spPr>
          <a:xfrm>
            <a:off x="4919472" y="1627632"/>
            <a:ext cx="3730752" cy="51206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Calibri"/>
                <a:ea typeface="Calibri"/>
                <a:cs typeface="Calibri"/>
                <a:sym typeface="Calibri"/>
              </a:rPr>
              <a:t>Write the minimum code that solves the task. No speculative helpers, retries or options.</a:t>
            </a:r>
            <a:endParaRPr/>
          </a:p>
        </p:txBody>
      </p:sp>
      <p:sp>
        <p:nvSpPr>
          <p:cNvPr id="812" name="Google Shape;812;p70"/>
          <p:cNvSpPr txBox="1"/>
          <p:nvPr/>
        </p:nvSpPr>
        <p:spPr>
          <a:xfrm>
            <a:off x="4919472" y="2249424"/>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TESTING EXAMPLE</a:t>
            </a:r>
            <a:endParaRPr/>
          </a:p>
        </p:txBody>
      </p:sp>
      <p:sp>
        <p:nvSpPr>
          <p:cNvPr id="813" name="Google Shape;813;p70"/>
          <p:cNvSpPr/>
          <p:nvPr/>
        </p:nvSpPr>
        <p:spPr>
          <a:xfrm>
            <a:off x="4919472" y="2468880"/>
            <a:ext cx="3730752" cy="1335024"/>
          </a:xfrm>
          <a:prstGeom prst="roundRect">
            <a:avLst>
              <a:gd name="adj" fmla="val 6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70"/>
          <p:cNvSpPr txBox="1"/>
          <p:nvPr/>
        </p:nvSpPr>
        <p:spPr>
          <a:xfrm>
            <a:off x="5065776" y="2560320"/>
            <a:ext cx="3456432" cy="11887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93A9C0"/>
                </a:solidFill>
                <a:latin typeface="Calibri"/>
                <a:ea typeface="Calibri"/>
                <a:cs typeface="Calibri"/>
                <a:sym typeface="Calibri"/>
              </a:rPr>
              <a:t>Task  </a:t>
            </a:r>
            <a:r>
              <a:rPr lang="en-GB" sz="1100" b="1" i="0" u="none" strike="noStrike" cap="none">
                <a:solidFill>
                  <a:srgbClr val="FFFFFF"/>
                </a:solidFill>
                <a:latin typeface="Calibri"/>
                <a:ea typeface="Calibri"/>
                <a:cs typeface="Calibri"/>
                <a:sym typeface="Calibri"/>
              </a:rPr>
              <a:t>Make the test wait for the payment.</a:t>
            </a:r>
            <a:endParaRPr/>
          </a:p>
          <a:p>
            <a:pPr marL="0" marR="0" lvl="0" indent="0" algn="l" rtl="0">
              <a:lnSpc>
                <a:spcPct val="100000"/>
              </a:lnSpc>
              <a:spcBef>
                <a:spcPts val="700"/>
              </a:spcBef>
              <a:spcAft>
                <a:spcPts val="0"/>
              </a:spcAft>
              <a:buClr>
                <a:srgbClr val="000000"/>
              </a:buClr>
              <a:buSzPts val="1100"/>
              <a:buFont typeface="Arial"/>
              <a:buNone/>
            </a:pPr>
            <a:r>
              <a:rPr lang="en-GB" sz="1100" b="1" i="0" u="none" strike="noStrike" cap="none">
                <a:solidFill>
                  <a:srgbClr val="F07A6E"/>
                </a:solidFill>
                <a:latin typeface="Calibri"/>
                <a:ea typeface="Calibri"/>
                <a:cs typeface="Calibri"/>
                <a:sym typeface="Calibri"/>
              </a:rPr>
              <a:t>✗  Without  </a:t>
            </a:r>
            <a:r>
              <a:rPr lang="en-GB" sz="1100" b="0" i="0" u="none" strike="noStrike" cap="none">
                <a:solidFill>
                  <a:srgbClr val="93A9C0"/>
                </a:solidFill>
                <a:latin typeface="Calibri"/>
                <a:ea typeface="Calibri"/>
                <a:cs typeface="Calibri"/>
                <a:sym typeface="Calibri"/>
              </a:rPr>
              <a:t>A retry wrapper, sleep(10000) and a new polling util.</a:t>
            </a:r>
            <a:endParaRPr/>
          </a:p>
          <a:p>
            <a:pPr marL="0" marR="0" lvl="0" indent="0" algn="l" rtl="0">
              <a:lnSpc>
                <a:spcPct val="100000"/>
              </a:lnSpc>
              <a:spcBef>
                <a:spcPts val="700"/>
              </a:spcBef>
              <a:spcAft>
                <a:spcPts val="0"/>
              </a:spcAft>
              <a:buClr>
                <a:srgbClr val="000000"/>
              </a:buClr>
              <a:buSzPts val="1100"/>
              <a:buFont typeface="Arial"/>
              <a:buNone/>
            </a:pPr>
            <a:r>
              <a:rPr lang="en-GB" sz="1100" b="1" i="0" u="none" strike="noStrike" cap="none">
                <a:solidFill>
                  <a:srgbClr val="5FD08A"/>
                </a:solidFill>
                <a:latin typeface="Calibri"/>
                <a:ea typeface="Calibri"/>
                <a:cs typeface="Calibri"/>
                <a:sym typeface="Calibri"/>
              </a:rPr>
              <a:t>✓  With the rule  </a:t>
            </a:r>
            <a:r>
              <a:rPr lang="en-GB" sz="1100" b="0" i="0" u="none" strike="noStrike" cap="none">
                <a:solidFill>
                  <a:srgbClr val="EAF1F7"/>
                </a:solidFill>
                <a:latin typeface="Calibri"/>
                <a:ea typeface="Calibri"/>
                <a:cs typeface="Calibri"/>
                <a:sym typeface="Calibri"/>
              </a:rPr>
              <a:t>Waits for the real “confirmed” response, then one retrying assertion.</a:t>
            </a:r>
            <a:endParaRPr/>
          </a:p>
        </p:txBody>
      </p:sp>
      <p:sp>
        <p:nvSpPr>
          <p:cNvPr id="815" name="Google Shape;815;p70"/>
          <p:cNvSpPr txBox="1"/>
          <p:nvPr/>
        </p:nvSpPr>
        <p:spPr>
          <a:xfrm>
            <a:off x="4919472" y="3931920"/>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IMPACT ON YOUR TEST PROJECT</a:t>
            </a:r>
            <a:endParaRPr/>
          </a:p>
        </p:txBody>
      </p:sp>
      <p:sp>
        <p:nvSpPr>
          <p:cNvPr id="816" name="Google Shape;816;p70"/>
          <p:cNvSpPr txBox="1"/>
          <p:nvPr/>
        </p:nvSpPr>
        <p:spPr>
          <a:xfrm>
            <a:off x="4919472" y="4133088"/>
            <a:ext cx="3730752"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Less test code to maintain, and the real cause stays visible instead of buried under retries.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21"/>
        <p:cNvGrpSpPr/>
        <p:nvPr/>
      </p:nvGrpSpPr>
      <p:grpSpPr>
        <a:xfrm>
          <a:off x="0" y="0"/>
          <a:ext cx="0" cy="0"/>
          <a:chOff x="0" y="0"/>
          <a:chExt cx="0" cy="0"/>
        </a:xfrm>
      </p:grpSpPr>
      <p:sp>
        <p:nvSpPr>
          <p:cNvPr id="822" name="Google Shape;822;p71"/>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Problem 3 — Collateral </a:t>
            </a:r>
            <a:r>
              <a:rPr lang="en-GB" sz="2000">
                <a:solidFill>
                  <a:srgbClr val="FFFFFF"/>
                </a:solidFill>
              </a:rPr>
              <a:t>D</a:t>
            </a:r>
            <a:r>
              <a:rPr lang="en-GB" sz="2000" b="1">
                <a:solidFill>
                  <a:srgbClr val="FFFFFF"/>
                </a:solidFill>
                <a:latin typeface="Century Schoolbook"/>
                <a:ea typeface="Century Schoolbook"/>
                <a:cs typeface="Century Schoolbook"/>
                <a:sym typeface="Century Schoolbook"/>
              </a:rPr>
              <a:t>amage</a:t>
            </a:r>
            <a:endParaRPr sz="1900"/>
          </a:p>
        </p:txBody>
      </p:sp>
      <p:pic>
        <p:nvPicPr>
          <p:cNvPr id="823" name="Google Shape;823;p71" descr="Sketch: Clappy swings a REFACTOR hammer at a tower of framework blocks; only checkout.spec was the task."/>
          <p:cNvPicPr preferRelativeResize="0"/>
          <p:nvPr/>
        </p:nvPicPr>
        <p:blipFill rotWithShape="1">
          <a:blip r:embed="rId3">
            <a:alphaModFix/>
          </a:blip>
          <a:srcRect/>
          <a:stretch/>
        </p:blipFill>
        <p:spPr>
          <a:xfrm>
            <a:off x="274320" y="1143000"/>
            <a:ext cx="4434840" cy="2771775"/>
          </a:xfrm>
          <a:prstGeom prst="rect">
            <a:avLst/>
          </a:prstGeom>
          <a:noFill/>
          <a:ln>
            <a:noFill/>
          </a:ln>
        </p:spPr>
      </p:pic>
      <p:sp>
        <p:nvSpPr>
          <p:cNvPr id="824" name="Google Shape;824;p71"/>
          <p:cNvSpPr txBox="1"/>
          <p:nvPr/>
        </p:nvSpPr>
        <p:spPr>
          <a:xfrm>
            <a:off x="493776" y="4443984"/>
            <a:ext cx="2194560"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93A9C0"/>
                </a:solidFill>
                <a:latin typeface="Courier New"/>
                <a:ea typeface="Courier New"/>
                <a:cs typeface="Courier New"/>
                <a:sym typeface="Courier New"/>
              </a:rPr>
              <a:t>/karpathy-guidelines</a:t>
            </a:r>
            <a:endParaRPr/>
          </a:p>
        </p:txBody>
      </p:sp>
      <p:sp>
        <p:nvSpPr>
          <p:cNvPr id="825" name="Google Shape;825;p71"/>
          <p:cNvSpPr/>
          <p:nvPr/>
        </p:nvSpPr>
        <p:spPr>
          <a:xfrm>
            <a:off x="250545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71"/>
          <p:cNvSpPr/>
          <p:nvPr/>
        </p:nvSpPr>
        <p:spPr>
          <a:xfrm>
            <a:off x="268833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71"/>
          <p:cNvSpPr/>
          <p:nvPr/>
        </p:nvSpPr>
        <p:spPr>
          <a:xfrm>
            <a:off x="2871216" y="4498848"/>
            <a:ext cx="91440" cy="91440"/>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71"/>
          <p:cNvSpPr/>
          <p:nvPr/>
        </p:nvSpPr>
        <p:spPr>
          <a:xfrm>
            <a:off x="305409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71"/>
          <p:cNvSpPr txBox="1"/>
          <p:nvPr/>
        </p:nvSpPr>
        <p:spPr>
          <a:xfrm>
            <a:off x="4919472" y="1024128"/>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THE RULE  ·  3 OF 4</a:t>
            </a:r>
            <a:endParaRPr/>
          </a:p>
        </p:txBody>
      </p:sp>
      <p:sp>
        <p:nvSpPr>
          <p:cNvPr id="830" name="Google Shape;830;p71"/>
          <p:cNvSpPr txBox="1"/>
          <p:nvPr/>
        </p:nvSpPr>
        <p:spPr>
          <a:xfrm>
            <a:off x="4919472" y="1225296"/>
            <a:ext cx="3730752"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7FC6F3"/>
                </a:solidFill>
                <a:latin typeface="Courier New"/>
                <a:ea typeface="Courier New"/>
                <a:cs typeface="Courier New"/>
                <a:sym typeface="Courier New"/>
              </a:rPr>
              <a:t>Touch only the task</a:t>
            </a:r>
            <a:endParaRPr/>
          </a:p>
        </p:txBody>
      </p:sp>
      <p:sp>
        <p:nvSpPr>
          <p:cNvPr id="831" name="Google Shape;831;p71"/>
          <p:cNvSpPr txBox="1"/>
          <p:nvPr/>
        </p:nvSpPr>
        <p:spPr>
          <a:xfrm>
            <a:off x="4919472" y="1627632"/>
            <a:ext cx="3730752" cy="51206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Calibri"/>
                <a:ea typeface="Calibri"/>
                <a:cs typeface="Calibri"/>
                <a:sym typeface="Calibri"/>
              </a:rPr>
              <a:t>Change only what the task needs. Match the existing style. Mention other issues, don't fix them.</a:t>
            </a:r>
            <a:endParaRPr/>
          </a:p>
        </p:txBody>
      </p:sp>
      <p:sp>
        <p:nvSpPr>
          <p:cNvPr id="832" name="Google Shape;832;p71"/>
          <p:cNvSpPr txBox="1"/>
          <p:nvPr/>
        </p:nvSpPr>
        <p:spPr>
          <a:xfrm>
            <a:off x="4919472" y="2249424"/>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TESTING EXAMPLE</a:t>
            </a:r>
            <a:endParaRPr/>
          </a:p>
        </p:txBody>
      </p:sp>
      <p:sp>
        <p:nvSpPr>
          <p:cNvPr id="833" name="Google Shape;833;p71"/>
          <p:cNvSpPr/>
          <p:nvPr/>
        </p:nvSpPr>
        <p:spPr>
          <a:xfrm>
            <a:off x="4919472" y="2468880"/>
            <a:ext cx="3730752" cy="1335024"/>
          </a:xfrm>
          <a:prstGeom prst="roundRect">
            <a:avLst>
              <a:gd name="adj" fmla="val 6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71"/>
          <p:cNvSpPr txBox="1"/>
          <p:nvPr/>
        </p:nvSpPr>
        <p:spPr>
          <a:xfrm>
            <a:off x="5065776" y="2560320"/>
            <a:ext cx="3456432" cy="11887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93A9C0"/>
                </a:solidFill>
                <a:latin typeface="Calibri"/>
                <a:ea typeface="Calibri"/>
                <a:cs typeface="Calibri"/>
                <a:sym typeface="Calibri"/>
              </a:rPr>
              <a:t>Task  </a:t>
            </a:r>
            <a:r>
              <a:rPr lang="en-GB" sz="1100" b="1" i="0" u="none" strike="noStrike" cap="none">
                <a:solidFill>
                  <a:srgbClr val="FFFFFF"/>
                </a:solidFill>
                <a:latin typeface="Calibri"/>
                <a:ea typeface="Calibri"/>
                <a:cs typeface="Calibri"/>
                <a:sym typeface="Calibri"/>
              </a:rPr>
              <a:t>Fix checkout.spec.</a:t>
            </a:r>
            <a:endParaRPr/>
          </a:p>
          <a:p>
            <a:pPr marL="0" marR="0" lvl="0" indent="0" algn="l" rtl="0">
              <a:lnSpc>
                <a:spcPct val="100000"/>
              </a:lnSpc>
              <a:spcBef>
                <a:spcPts val="700"/>
              </a:spcBef>
              <a:spcAft>
                <a:spcPts val="0"/>
              </a:spcAft>
              <a:buClr>
                <a:srgbClr val="000000"/>
              </a:buClr>
              <a:buSzPts val="1100"/>
              <a:buFont typeface="Arial"/>
              <a:buNone/>
            </a:pPr>
            <a:r>
              <a:rPr lang="en-GB" sz="1100" b="1" i="0" u="none" strike="noStrike" cap="none">
                <a:solidFill>
                  <a:srgbClr val="F07A6E"/>
                </a:solidFill>
                <a:latin typeface="Calibri"/>
                <a:ea typeface="Calibri"/>
                <a:cs typeface="Calibri"/>
                <a:sym typeface="Calibri"/>
              </a:rPr>
              <a:t>✗  Without  </a:t>
            </a:r>
            <a:r>
              <a:rPr lang="en-GB" sz="1100" b="0" i="0" u="none" strike="noStrike" cap="none">
                <a:solidFill>
                  <a:srgbClr val="93A9C0"/>
                </a:solidFill>
                <a:latin typeface="Calibri"/>
                <a:ea typeface="Calibri"/>
                <a:cs typeface="Calibri"/>
                <a:sym typeface="Calibri"/>
              </a:rPr>
              <a:t>Renames locators, adds a utils file, edits login.spec too.</a:t>
            </a:r>
            <a:endParaRPr/>
          </a:p>
          <a:p>
            <a:pPr marL="0" marR="0" lvl="0" indent="0" algn="l" rtl="0">
              <a:lnSpc>
                <a:spcPct val="100000"/>
              </a:lnSpc>
              <a:spcBef>
                <a:spcPts val="700"/>
              </a:spcBef>
              <a:spcAft>
                <a:spcPts val="0"/>
              </a:spcAft>
              <a:buClr>
                <a:srgbClr val="000000"/>
              </a:buClr>
              <a:buSzPts val="1100"/>
              <a:buFont typeface="Arial"/>
              <a:buNone/>
            </a:pPr>
            <a:r>
              <a:rPr lang="en-GB" sz="1100" b="1" i="0" u="none" strike="noStrike" cap="none">
                <a:solidFill>
                  <a:srgbClr val="5FD08A"/>
                </a:solidFill>
                <a:latin typeface="Calibri"/>
                <a:ea typeface="Calibri"/>
                <a:cs typeface="Calibri"/>
                <a:sym typeface="Calibri"/>
              </a:rPr>
              <a:t>✓  With the rule  </a:t>
            </a:r>
            <a:r>
              <a:rPr lang="en-GB" sz="1100" b="0" i="0" u="none" strike="noStrike" cap="none">
                <a:solidFill>
                  <a:srgbClr val="EAF1F7"/>
                </a:solidFill>
                <a:latin typeface="Calibri"/>
                <a:ea typeface="Calibri"/>
                <a:cs typeface="Calibri"/>
                <a:sym typeface="Calibri"/>
              </a:rPr>
              <a:t>One test changed. Same getByRole / getByTestId locators.</a:t>
            </a:r>
            <a:endParaRPr/>
          </a:p>
        </p:txBody>
      </p:sp>
      <p:sp>
        <p:nvSpPr>
          <p:cNvPr id="835" name="Google Shape;835;p71"/>
          <p:cNvSpPr txBox="1"/>
          <p:nvPr/>
        </p:nvSpPr>
        <p:spPr>
          <a:xfrm>
            <a:off x="4919472" y="3931920"/>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IMPACT ON YOUR TEST PROJECT</a:t>
            </a:r>
            <a:endParaRPr/>
          </a:p>
        </p:txBody>
      </p:sp>
      <p:sp>
        <p:nvSpPr>
          <p:cNvPr id="836" name="Google Shape;836;p71"/>
          <p:cNvSpPr txBox="1"/>
          <p:nvPr/>
        </p:nvSpPr>
        <p:spPr>
          <a:xfrm>
            <a:off x="4919472" y="4133088"/>
            <a:ext cx="3730752"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Small diffs reviewers can trust, and no surprise failures in tests nobody asked to change.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41"/>
        <p:cNvGrpSpPr/>
        <p:nvPr/>
      </p:nvGrpSpPr>
      <p:grpSpPr>
        <a:xfrm>
          <a:off x="0" y="0"/>
          <a:ext cx="0" cy="0"/>
          <a:chOff x="0" y="0"/>
          <a:chExt cx="0" cy="0"/>
        </a:xfrm>
      </p:grpSpPr>
      <p:sp>
        <p:nvSpPr>
          <p:cNvPr id="842" name="Google Shape;842;p72"/>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Problem 4 — “Done” without proof</a:t>
            </a:r>
            <a:endParaRPr sz="1900"/>
          </a:p>
        </p:txBody>
      </p:sp>
      <p:pic>
        <p:nvPicPr>
          <p:cNvPr id="843" name="Google Shape;843;p72" descr="Sketch: smug Clappy says DONE! in front of a burning CI board full of red failures."/>
          <p:cNvPicPr preferRelativeResize="0"/>
          <p:nvPr/>
        </p:nvPicPr>
        <p:blipFill rotWithShape="1">
          <a:blip r:embed="rId3">
            <a:alphaModFix/>
          </a:blip>
          <a:srcRect/>
          <a:stretch/>
        </p:blipFill>
        <p:spPr>
          <a:xfrm>
            <a:off x="274320" y="1143000"/>
            <a:ext cx="4434840" cy="2771775"/>
          </a:xfrm>
          <a:prstGeom prst="rect">
            <a:avLst/>
          </a:prstGeom>
          <a:noFill/>
          <a:ln>
            <a:noFill/>
          </a:ln>
        </p:spPr>
      </p:pic>
      <p:sp>
        <p:nvSpPr>
          <p:cNvPr id="844" name="Google Shape;844;p72"/>
          <p:cNvSpPr txBox="1"/>
          <p:nvPr/>
        </p:nvSpPr>
        <p:spPr>
          <a:xfrm>
            <a:off x="493776" y="4443984"/>
            <a:ext cx="2194560"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93A9C0"/>
                </a:solidFill>
                <a:latin typeface="Courier New"/>
                <a:ea typeface="Courier New"/>
                <a:cs typeface="Courier New"/>
                <a:sym typeface="Courier New"/>
              </a:rPr>
              <a:t>/karpathy-guidelines</a:t>
            </a:r>
            <a:endParaRPr/>
          </a:p>
        </p:txBody>
      </p:sp>
      <p:sp>
        <p:nvSpPr>
          <p:cNvPr id="845" name="Google Shape;845;p72"/>
          <p:cNvSpPr/>
          <p:nvPr/>
        </p:nvSpPr>
        <p:spPr>
          <a:xfrm>
            <a:off x="250545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72"/>
          <p:cNvSpPr/>
          <p:nvPr/>
        </p:nvSpPr>
        <p:spPr>
          <a:xfrm>
            <a:off x="268833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72"/>
          <p:cNvSpPr/>
          <p:nvPr/>
        </p:nvSpPr>
        <p:spPr>
          <a:xfrm>
            <a:off x="2871216" y="4498848"/>
            <a:ext cx="91440" cy="91440"/>
          </a:xfrm>
          <a:prstGeom prst="ellipse">
            <a:avLst/>
          </a:prstGeom>
          <a:noFill/>
          <a:ln w="9525" cap="flat" cmpd="sng">
            <a:solidFill>
              <a:srgbClr val="2A3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72"/>
          <p:cNvSpPr/>
          <p:nvPr/>
        </p:nvSpPr>
        <p:spPr>
          <a:xfrm>
            <a:off x="3054096" y="4498848"/>
            <a:ext cx="91440" cy="91440"/>
          </a:xfrm>
          <a:prstGeom prst="ellipse">
            <a:avLst/>
          </a:prstGeom>
          <a:solidFill>
            <a:srgbClr val="4FB0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72"/>
          <p:cNvSpPr txBox="1"/>
          <p:nvPr/>
        </p:nvSpPr>
        <p:spPr>
          <a:xfrm>
            <a:off x="4919472" y="1024128"/>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THE RULE  ·  4 OF 4</a:t>
            </a:r>
            <a:endParaRPr/>
          </a:p>
        </p:txBody>
      </p:sp>
      <p:sp>
        <p:nvSpPr>
          <p:cNvPr id="850" name="Google Shape;850;p72"/>
          <p:cNvSpPr txBox="1"/>
          <p:nvPr/>
        </p:nvSpPr>
        <p:spPr>
          <a:xfrm>
            <a:off x="4919472" y="1225296"/>
            <a:ext cx="3730752"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7FC6F3"/>
                </a:solidFill>
                <a:latin typeface="Courier New"/>
                <a:ea typeface="Courier New"/>
                <a:cs typeface="Courier New"/>
                <a:sym typeface="Courier New"/>
              </a:rPr>
              <a:t>Prove it</a:t>
            </a:r>
            <a:endParaRPr/>
          </a:p>
        </p:txBody>
      </p:sp>
      <p:sp>
        <p:nvSpPr>
          <p:cNvPr id="851" name="Google Shape;851;p72"/>
          <p:cNvSpPr txBox="1"/>
          <p:nvPr/>
        </p:nvSpPr>
        <p:spPr>
          <a:xfrm>
            <a:off x="4919472" y="1627632"/>
            <a:ext cx="3730752" cy="51206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Calibri"/>
                <a:ea typeface="Calibri"/>
                <a:cs typeface="Calibri"/>
                <a:sym typeface="Calibri"/>
              </a:rPr>
              <a:t>Define success before you start, then show the evidence, not just “done”.</a:t>
            </a:r>
            <a:endParaRPr/>
          </a:p>
        </p:txBody>
      </p:sp>
      <p:sp>
        <p:nvSpPr>
          <p:cNvPr id="852" name="Google Shape;852;p72"/>
          <p:cNvSpPr txBox="1"/>
          <p:nvPr/>
        </p:nvSpPr>
        <p:spPr>
          <a:xfrm>
            <a:off x="4919472" y="2249424"/>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TESTING EXAMPLE</a:t>
            </a:r>
            <a:endParaRPr/>
          </a:p>
        </p:txBody>
      </p:sp>
      <p:sp>
        <p:nvSpPr>
          <p:cNvPr id="853" name="Google Shape;853;p72"/>
          <p:cNvSpPr/>
          <p:nvPr/>
        </p:nvSpPr>
        <p:spPr>
          <a:xfrm>
            <a:off x="4919472" y="2468880"/>
            <a:ext cx="3730752" cy="1335024"/>
          </a:xfrm>
          <a:prstGeom prst="roundRect">
            <a:avLst>
              <a:gd name="adj" fmla="val 6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72"/>
          <p:cNvSpPr txBox="1"/>
          <p:nvPr/>
        </p:nvSpPr>
        <p:spPr>
          <a:xfrm>
            <a:off x="5065776" y="2560320"/>
            <a:ext cx="3456432" cy="11887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93A9C0"/>
                </a:solidFill>
                <a:latin typeface="Calibri"/>
                <a:ea typeface="Calibri"/>
                <a:cs typeface="Calibri"/>
                <a:sym typeface="Calibri"/>
              </a:rPr>
              <a:t>Task  </a:t>
            </a:r>
            <a:r>
              <a:rPr lang="en-GB" sz="1100" b="1" i="0" u="none" strike="noStrike" cap="none">
                <a:solidFill>
                  <a:srgbClr val="FFFFFF"/>
                </a:solidFill>
                <a:latin typeface="Calibri"/>
                <a:ea typeface="Calibri"/>
                <a:cs typeface="Calibri"/>
                <a:sym typeface="Calibri"/>
              </a:rPr>
              <a:t>Make the checkout test stable.</a:t>
            </a:r>
            <a:endParaRPr/>
          </a:p>
          <a:p>
            <a:pPr marL="0" marR="0" lvl="0" indent="0" algn="l" rtl="0">
              <a:lnSpc>
                <a:spcPct val="100000"/>
              </a:lnSpc>
              <a:spcBef>
                <a:spcPts val="700"/>
              </a:spcBef>
              <a:spcAft>
                <a:spcPts val="0"/>
              </a:spcAft>
              <a:buClr>
                <a:srgbClr val="000000"/>
              </a:buClr>
              <a:buSzPts val="1100"/>
              <a:buFont typeface="Arial"/>
              <a:buNone/>
            </a:pPr>
            <a:r>
              <a:rPr lang="en-GB" sz="1100" b="1" i="0" u="none" strike="noStrike" cap="none">
                <a:solidFill>
                  <a:srgbClr val="F07A6E"/>
                </a:solidFill>
                <a:latin typeface="Calibri"/>
                <a:ea typeface="Calibri"/>
                <a:cs typeface="Calibri"/>
                <a:sym typeface="Calibri"/>
              </a:rPr>
              <a:t>✗  Without  </a:t>
            </a:r>
            <a:r>
              <a:rPr lang="en-GB" sz="1100" b="0" i="0" u="none" strike="noStrike" cap="none">
                <a:solidFill>
                  <a:srgbClr val="93A9C0"/>
                </a:solidFill>
                <a:latin typeface="Calibri"/>
                <a:ea typeface="Calibri"/>
                <a:cs typeface="Calibri"/>
                <a:sym typeface="Calibri"/>
              </a:rPr>
              <a:t>Says “Done!” after a single green run.</a:t>
            </a:r>
            <a:endParaRPr/>
          </a:p>
          <a:p>
            <a:pPr marL="0" marR="0" lvl="0" indent="0" algn="l" rtl="0">
              <a:lnSpc>
                <a:spcPct val="100000"/>
              </a:lnSpc>
              <a:spcBef>
                <a:spcPts val="700"/>
              </a:spcBef>
              <a:spcAft>
                <a:spcPts val="0"/>
              </a:spcAft>
              <a:buClr>
                <a:srgbClr val="000000"/>
              </a:buClr>
              <a:buSzPts val="1100"/>
              <a:buFont typeface="Arial"/>
              <a:buNone/>
            </a:pPr>
            <a:r>
              <a:rPr lang="en-GB" sz="1100" b="1" i="0" u="none" strike="noStrike" cap="none">
                <a:solidFill>
                  <a:srgbClr val="5FD08A"/>
                </a:solidFill>
                <a:latin typeface="Calibri"/>
                <a:ea typeface="Calibri"/>
                <a:cs typeface="Calibri"/>
                <a:sym typeface="Calibri"/>
              </a:rPr>
              <a:t>✓  With the rule  </a:t>
            </a:r>
            <a:r>
              <a:rPr lang="en-GB" sz="1100" b="0" i="0" u="none" strike="noStrike" cap="none">
                <a:solidFill>
                  <a:srgbClr val="EAF1F7"/>
                </a:solidFill>
                <a:latin typeface="Calibri"/>
                <a:ea typeface="Calibri"/>
                <a:cs typeface="Calibri"/>
                <a:sym typeface="Calibri"/>
              </a:rPr>
              <a:t>Runs it 30 times with --repeat-each and reports “passed 30/30”.</a:t>
            </a:r>
            <a:endParaRPr/>
          </a:p>
        </p:txBody>
      </p:sp>
      <p:sp>
        <p:nvSpPr>
          <p:cNvPr id="855" name="Google Shape;855;p72"/>
          <p:cNvSpPr txBox="1"/>
          <p:nvPr/>
        </p:nvSpPr>
        <p:spPr>
          <a:xfrm>
            <a:off x="4919472" y="3931920"/>
            <a:ext cx="373075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IMPACT ON YOUR TEST PROJECT</a:t>
            </a:r>
            <a:endParaRPr/>
          </a:p>
        </p:txBody>
      </p:sp>
      <p:sp>
        <p:nvSpPr>
          <p:cNvPr id="856" name="Google Shape;856;p72"/>
          <p:cNvSpPr txBox="1"/>
          <p:nvPr/>
        </p:nvSpPr>
        <p:spPr>
          <a:xfrm>
            <a:off x="4919472" y="4133088"/>
            <a:ext cx="3730752"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A green build means something again: you review evidence, not claims.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72B4"/>
        </a:solidFill>
        <a:effectLst/>
      </p:bgPr>
    </p:bg>
    <p:spTree>
      <p:nvGrpSpPr>
        <p:cNvPr id="1" name="Shape 861"/>
        <p:cNvGrpSpPr/>
        <p:nvPr/>
      </p:nvGrpSpPr>
      <p:grpSpPr>
        <a:xfrm>
          <a:off x="0" y="0"/>
          <a:ext cx="0" cy="0"/>
          <a:chOff x="0" y="0"/>
          <a:chExt cx="0" cy="0"/>
        </a:xfrm>
      </p:grpSpPr>
      <p:sp>
        <p:nvSpPr>
          <p:cNvPr id="862" name="Google Shape;862;p73"/>
          <p:cNvSpPr txBox="1">
            <a:spLocks noGrp="1"/>
          </p:cNvSpPr>
          <p:nvPr>
            <p:ph type="title"/>
          </p:nvPr>
        </p:nvSpPr>
        <p:spPr>
          <a:xfrm>
            <a:off x="685800" y="2057400"/>
            <a:ext cx="7772400" cy="10287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rgbClr val="EAF1F7"/>
              </a:buClr>
              <a:buSzPts val="1900"/>
              <a:buFont typeface="Century Schoolbook"/>
              <a:buNone/>
            </a:pPr>
            <a:r>
              <a:rPr lang="en-GB" sz="4000" b="1">
                <a:solidFill>
                  <a:srgbClr val="FFFFFF"/>
                </a:solidFill>
                <a:latin typeface="Century Schoolbook"/>
                <a:ea typeface="Century Schoolbook"/>
                <a:cs typeface="Century Schoolbook"/>
                <a:sym typeface="Century Schoolbook"/>
              </a:rPr>
              <a:t>Real Problems - Real Solutions</a:t>
            </a:r>
            <a:endParaRPr sz="1900"/>
          </a:p>
        </p:txBody>
      </p:sp>
      <p:sp>
        <p:nvSpPr>
          <p:cNvPr id="863" name="Google Shape;863;p73"/>
          <p:cNvSpPr txBox="1"/>
          <p:nvPr/>
        </p:nvSpPr>
        <p:spPr>
          <a:xfrm>
            <a:off x="685800" y="1737360"/>
            <a:ext cx="7772400" cy="27432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rgbClr val="CFE6F8"/>
                </a:solidFill>
                <a:latin typeface="Calibri"/>
                <a:ea typeface="Calibri"/>
                <a:cs typeface="Calibri"/>
                <a:sym typeface="Calibri"/>
              </a:rPr>
              <a:t>PART 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68"/>
        <p:cNvGrpSpPr/>
        <p:nvPr/>
      </p:nvGrpSpPr>
      <p:grpSpPr>
        <a:xfrm>
          <a:off x="0" y="0"/>
          <a:ext cx="0" cy="0"/>
          <a:chOff x="0" y="0"/>
          <a:chExt cx="0" cy="0"/>
        </a:xfrm>
      </p:grpSpPr>
      <p:sp>
        <p:nvSpPr>
          <p:cNvPr id="869" name="Google Shape;869;p74"/>
          <p:cNvSpPr/>
          <p:nvPr/>
        </p:nvSpPr>
        <p:spPr>
          <a:xfrm>
            <a:off x="8915400" y="891540"/>
            <a:ext cx="96012" cy="96012"/>
          </a:xfrm>
          <a:prstGeom prst="ellipse">
            <a:avLst/>
          </a:prstGeom>
          <a:solidFill>
            <a:srgbClr val="0272B4">
              <a:alpha val="40000"/>
            </a:srgbClr>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70" name="Google Shape;870;p74"/>
          <p:cNvSpPr/>
          <p:nvPr/>
        </p:nvSpPr>
        <p:spPr>
          <a:xfrm>
            <a:off x="8983980" y="1508760"/>
            <a:ext cx="54864" cy="54864"/>
          </a:xfrm>
          <a:prstGeom prst="ellipse">
            <a:avLst/>
          </a:prstGeom>
          <a:solidFill>
            <a:srgbClr val="0272B4">
              <a:alpha val="30196"/>
            </a:srgbClr>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71" name="Google Shape;871;p74"/>
          <p:cNvSpPr/>
          <p:nvPr/>
        </p:nvSpPr>
        <p:spPr>
          <a:xfrm>
            <a:off x="8915400" y="2125980"/>
            <a:ext cx="68580" cy="68580"/>
          </a:xfrm>
          <a:prstGeom prst="ellipse">
            <a:avLst/>
          </a:prstGeom>
          <a:solidFill>
            <a:srgbClr val="0272B4">
              <a:alpha val="25098"/>
            </a:srgbClr>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72" name="Google Shape;872;p74"/>
          <p:cNvSpPr/>
          <p:nvPr/>
        </p:nvSpPr>
        <p:spPr>
          <a:xfrm>
            <a:off x="8949690" y="2846070"/>
            <a:ext cx="82296" cy="82296"/>
          </a:xfrm>
          <a:prstGeom prst="ellipse">
            <a:avLst/>
          </a:prstGeom>
          <a:solidFill>
            <a:srgbClr val="0272B4">
              <a:alpha val="34902"/>
            </a:srgbClr>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73" name="Google Shape;873;p74"/>
          <p:cNvSpPr/>
          <p:nvPr/>
        </p:nvSpPr>
        <p:spPr>
          <a:xfrm>
            <a:off x="8915400" y="3566160"/>
            <a:ext cx="61722" cy="61722"/>
          </a:xfrm>
          <a:prstGeom prst="ellipse">
            <a:avLst/>
          </a:prstGeom>
          <a:solidFill>
            <a:srgbClr val="0272B4">
              <a:alpha val="25098"/>
            </a:srgbClr>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74" name="Google Shape;874;p74"/>
          <p:cNvSpPr/>
          <p:nvPr/>
        </p:nvSpPr>
        <p:spPr>
          <a:xfrm>
            <a:off x="8983980" y="4046220"/>
            <a:ext cx="68580" cy="68580"/>
          </a:xfrm>
          <a:prstGeom prst="ellipse">
            <a:avLst/>
          </a:prstGeom>
          <a:solidFill>
            <a:srgbClr val="0272B4">
              <a:alpha val="30196"/>
            </a:srgbClr>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75" name="Google Shape;875;p74"/>
          <p:cNvSpPr/>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2300"/>
              <a:buFont typeface="Calibri"/>
              <a:buNone/>
            </a:pPr>
            <a:r>
              <a:rPr lang="en-GB" sz="2000" b="1" i="0" u="none" strike="noStrike" cap="none">
                <a:solidFill>
                  <a:srgbClr val="FFFFFF"/>
                </a:solidFill>
                <a:latin typeface="Century Schoolbook"/>
                <a:ea typeface="Century Schoolbook"/>
                <a:cs typeface="Century Schoolbook"/>
                <a:sym typeface="Century Schoolbook"/>
              </a:rPr>
              <a:t>A typical QA problem: the flaky checkout test</a:t>
            </a:r>
            <a:endParaRPr sz="2300" b="0" i="0" u="none" strike="noStrike" cap="none">
              <a:solidFill>
                <a:schemeClr val="dk1"/>
              </a:solidFill>
              <a:latin typeface="Calibri"/>
              <a:ea typeface="Calibri"/>
              <a:cs typeface="Calibri"/>
              <a:sym typeface="Calibri"/>
            </a:endParaRPr>
          </a:p>
        </p:txBody>
      </p:sp>
      <p:sp>
        <p:nvSpPr>
          <p:cNvPr id="876" name="Google Shape;876;p74"/>
          <p:cNvSpPr/>
          <p:nvPr/>
        </p:nvSpPr>
        <p:spPr>
          <a:xfrm>
            <a:off x="411480" y="1577340"/>
            <a:ext cx="342900" cy="342900"/>
          </a:xfrm>
          <a:prstGeom prst="ellipse">
            <a:avLst/>
          </a:prstGeom>
          <a:solidFill>
            <a:srgbClr val="E84A5F"/>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pic>
        <p:nvPicPr>
          <p:cNvPr id="877" name="Google Shape;877;p74" descr="preencoded.png"/>
          <p:cNvPicPr preferRelativeResize="0"/>
          <p:nvPr/>
        </p:nvPicPr>
        <p:blipFill rotWithShape="1">
          <a:blip r:embed="rId3">
            <a:alphaModFix/>
          </a:blip>
          <a:srcRect/>
          <a:stretch/>
        </p:blipFill>
        <p:spPr>
          <a:xfrm>
            <a:off x="504063" y="1669923"/>
            <a:ext cx="157734" cy="157734"/>
          </a:xfrm>
          <a:prstGeom prst="rect">
            <a:avLst/>
          </a:prstGeom>
          <a:noFill/>
          <a:ln>
            <a:noFill/>
          </a:ln>
        </p:spPr>
      </p:pic>
      <p:sp>
        <p:nvSpPr>
          <p:cNvPr id="878" name="Google Shape;878;p74"/>
          <p:cNvSpPr/>
          <p:nvPr/>
        </p:nvSpPr>
        <p:spPr>
          <a:xfrm>
            <a:off x="857250" y="1536192"/>
            <a:ext cx="4594860" cy="4251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Calibri"/>
              <a:buNone/>
            </a:pPr>
            <a:r>
              <a:rPr lang="en-GB" sz="1100" b="1" i="0" u="none" strike="noStrike" cap="none">
                <a:solidFill>
                  <a:srgbClr val="FFFFFF"/>
                </a:solidFill>
                <a:latin typeface="Calibri"/>
                <a:ea typeface="Calibri"/>
                <a:cs typeface="Calibri"/>
                <a:sym typeface="Calibri"/>
              </a:rPr>
              <a:t>What you see:  </a:t>
            </a:r>
            <a:r>
              <a:rPr lang="en-GB" sz="1000" b="0" i="0" u="none" strike="noStrike" cap="none">
                <a:solidFill>
                  <a:srgbClr val="CFE6F8"/>
                </a:solidFill>
                <a:latin typeface="Calibri"/>
                <a:ea typeface="Calibri"/>
                <a:cs typeface="Calibri"/>
                <a:sym typeface="Calibri"/>
              </a:rPr>
              <a:t>the checkout test fails about 4 runs in 10 (Received: “Processing payment…”), then passes on a re-run</a:t>
            </a:r>
            <a:endParaRPr sz="1400" b="0" i="0" u="none" strike="noStrike" cap="none">
              <a:solidFill>
                <a:srgbClr val="000000"/>
              </a:solidFill>
              <a:latin typeface="Calibri"/>
              <a:ea typeface="Calibri"/>
              <a:cs typeface="Calibri"/>
              <a:sym typeface="Calibri"/>
            </a:endParaRPr>
          </a:p>
        </p:txBody>
      </p:sp>
      <p:sp>
        <p:nvSpPr>
          <p:cNvPr id="879" name="Google Shape;879;p74"/>
          <p:cNvSpPr/>
          <p:nvPr/>
        </p:nvSpPr>
        <p:spPr>
          <a:xfrm>
            <a:off x="411480" y="2057400"/>
            <a:ext cx="342900" cy="342900"/>
          </a:xfrm>
          <a:prstGeom prst="ellipse">
            <a:avLst/>
          </a:prstGeom>
          <a:solidFill>
            <a:srgbClr val="4FB0EA"/>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pic>
        <p:nvPicPr>
          <p:cNvPr id="880" name="Google Shape;880;p74" descr="preencoded.png"/>
          <p:cNvPicPr preferRelativeResize="0"/>
          <p:nvPr/>
        </p:nvPicPr>
        <p:blipFill rotWithShape="1">
          <a:blip r:embed="rId4">
            <a:alphaModFix/>
          </a:blip>
          <a:srcRect/>
          <a:stretch/>
        </p:blipFill>
        <p:spPr>
          <a:xfrm>
            <a:off x="504063" y="2149983"/>
            <a:ext cx="157734" cy="157734"/>
          </a:xfrm>
          <a:prstGeom prst="rect">
            <a:avLst/>
          </a:prstGeom>
          <a:noFill/>
          <a:ln>
            <a:noFill/>
          </a:ln>
        </p:spPr>
      </p:pic>
      <p:sp>
        <p:nvSpPr>
          <p:cNvPr id="881" name="Google Shape;881;p74"/>
          <p:cNvSpPr/>
          <p:nvPr/>
        </p:nvSpPr>
        <p:spPr>
          <a:xfrm>
            <a:off x="857250" y="2016252"/>
            <a:ext cx="4594860" cy="4251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Calibri"/>
              <a:buNone/>
            </a:pPr>
            <a:r>
              <a:rPr lang="en-GB" sz="1100" b="1" i="0" u="none" strike="noStrike" cap="none">
                <a:solidFill>
                  <a:srgbClr val="FFFFFF"/>
                </a:solidFill>
                <a:latin typeface="Calibri"/>
                <a:ea typeface="Calibri"/>
                <a:cs typeface="Calibri"/>
                <a:sym typeface="Calibri"/>
              </a:rPr>
              <a:t>What teams usually do:  </a:t>
            </a:r>
            <a:r>
              <a:rPr lang="en-GB" sz="1000" b="0" i="0" u="none" strike="noStrike" cap="none">
                <a:solidFill>
                  <a:srgbClr val="CFE6F8"/>
                </a:solidFill>
                <a:latin typeface="Calibri"/>
                <a:ea typeface="Calibri"/>
                <a:cs typeface="Calibri"/>
                <a:sym typeface="Calibri"/>
              </a:rPr>
              <a:t>add CI retries, or raise the fixed wait in the test (ticket QA-1432)</a:t>
            </a:r>
            <a:endParaRPr sz="1400" b="0" i="0" u="none" strike="noStrike" cap="none">
              <a:solidFill>
                <a:srgbClr val="000000"/>
              </a:solidFill>
              <a:latin typeface="Calibri"/>
              <a:ea typeface="Calibri"/>
              <a:cs typeface="Calibri"/>
              <a:sym typeface="Calibri"/>
            </a:endParaRPr>
          </a:p>
        </p:txBody>
      </p:sp>
      <p:sp>
        <p:nvSpPr>
          <p:cNvPr id="882" name="Google Shape;882;p74"/>
          <p:cNvSpPr/>
          <p:nvPr/>
        </p:nvSpPr>
        <p:spPr>
          <a:xfrm>
            <a:off x="411480" y="2537460"/>
            <a:ext cx="342900" cy="342900"/>
          </a:xfrm>
          <a:prstGeom prst="ellipse">
            <a:avLst/>
          </a:prstGeom>
          <a:solidFill>
            <a:srgbClr val="4FB0EA"/>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pic>
        <p:nvPicPr>
          <p:cNvPr id="883" name="Google Shape;883;p74" descr="preencoded.png"/>
          <p:cNvPicPr preferRelativeResize="0"/>
          <p:nvPr/>
        </p:nvPicPr>
        <p:blipFill rotWithShape="1">
          <a:blip r:embed="rId5">
            <a:alphaModFix/>
          </a:blip>
          <a:srcRect/>
          <a:stretch/>
        </p:blipFill>
        <p:spPr>
          <a:xfrm>
            <a:off x="504063" y="2630043"/>
            <a:ext cx="157734" cy="157734"/>
          </a:xfrm>
          <a:prstGeom prst="rect">
            <a:avLst/>
          </a:prstGeom>
          <a:noFill/>
          <a:ln>
            <a:noFill/>
          </a:ln>
        </p:spPr>
      </p:pic>
      <p:sp>
        <p:nvSpPr>
          <p:cNvPr id="884" name="Google Shape;884;p74"/>
          <p:cNvSpPr/>
          <p:nvPr/>
        </p:nvSpPr>
        <p:spPr>
          <a:xfrm>
            <a:off x="857250" y="2496312"/>
            <a:ext cx="4594860" cy="4251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Calibri"/>
              <a:buNone/>
            </a:pPr>
            <a:r>
              <a:rPr lang="en-GB" sz="1100" b="1" i="0" u="none" strike="noStrike" cap="none">
                <a:solidFill>
                  <a:srgbClr val="FFFFFF"/>
                </a:solidFill>
                <a:latin typeface="Calibri"/>
                <a:ea typeface="Calibri"/>
                <a:cs typeface="Calibri"/>
                <a:sym typeface="Calibri"/>
              </a:rPr>
              <a:t>What it costs:  </a:t>
            </a:r>
            <a:r>
              <a:rPr lang="en-GB" sz="1000" b="0" i="0" u="none" strike="noStrike" cap="none">
                <a:solidFill>
                  <a:srgbClr val="CFE6F8"/>
                </a:solidFill>
                <a:latin typeface="Calibri"/>
                <a:ea typeface="Calibri"/>
                <a:cs typeface="Calibri"/>
                <a:sym typeface="Calibri"/>
              </a:rPr>
              <a:t>slower releases, and nobody trusts a red build any more</a:t>
            </a:r>
            <a:endParaRPr sz="1100" b="0" i="0" u="none" strike="noStrike" cap="none">
              <a:solidFill>
                <a:schemeClr val="dk1"/>
              </a:solidFill>
              <a:latin typeface="Calibri"/>
              <a:ea typeface="Calibri"/>
              <a:cs typeface="Calibri"/>
              <a:sym typeface="Calibri"/>
            </a:endParaRPr>
          </a:p>
        </p:txBody>
      </p:sp>
      <p:sp>
        <p:nvSpPr>
          <p:cNvPr id="885" name="Google Shape;885;p74"/>
          <p:cNvSpPr/>
          <p:nvPr/>
        </p:nvSpPr>
        <p:spPr>
          <a:xfrm>
            <a:off x="411480" y="3017520"/>
            <a:ext cx="342900" cy="342900"/>
          </a:xfrm>
          <a:prstGeom prst="ellipse">
            <a:avLst/>
          </a:prstGeom>
          <a:solidFill>
            <a:srgbClr val="4FB0EA"/>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pic>
        <p:nvPicPr>
          <p:cNvPr id="886" name="Google Shape;886;p74" descr="preencoded.png"/>
          <p:cNvPicPr preferRelativeResize="0"/>
          <p:nvPr/>
        </p:nvPicPr>
        <p:blipFill rotWithShape="1">
          <a:blip r:embed="rId6">
            <a:alphaModFix/>
          </a:blip>
          <a:srcRect/>
          <a:stretch/>
        </p:blipFill>
        <p:spPr>
          <a:xfrm>
            <a:off x="504063" y="3110103"/>
            <a:ext cx="157734" cy="157734"/>
          </a:xfrm>
          <a:prstGeom prst="rect">
            <a:avLst/>
          </a:prstGeom>
          <a:noFill/>
          <a:ln>
            <a:noFill/>
          </a:ln>
        </p:spPr>
      </p:pic>
      <p:sp>
        <p:nvSpPr>
          <p:cNvPr id="887" name="Google Shape;887;p74"/>
          <p:cNvSpPr/>
          <p:nvPr/>
        </p:nvSpPr>
        <p:spPr>
          <a:xfrm>
            <a:off x="857250" y="2976372"/>
            <a:ext cx="4594860" cy="42519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Calibri"/>
              <a:buNone/>
            </a:pPr>
            <a:r>
              <a:rPr lang="en-GB" sz="1100" b="1" i="0" u="none" strike="noStrike" cap="none">
                <a:solidFill>
                  <a:srgbClr val="FFFFFF"/>
                </a:solidFill>
                <a:latin typeface="Calibri"/>
                <a:ea typeface="Calibri"/>
                <a:cs typeface="Calibri"/>
                <a:sym typeface="Calibri"/>
              </a:rPr>
              <a:t>Where it happens:  </a:t>
            </a:r>
            <a:r>
              <a:rPr lang="en-GB" sz="1000" b="0" i="0" u="none" strike="noStrike" cap="none">
                <a:solidFill>
                  <a:srgbClr val="CFE6F8"/>
                </a:solidFill>
                <a:latin typeface="Calibri"/>
                <a:ea typeface="Calibri"/>
                <a:cs typeface="Calibri"/>
                <a:sym typeface="Calibri"/>
              </a:rPr>
              <a:t>a web shop whose payment confirms asynchronously (1–3 s, up to 8 s at peak). The app works; the test checks too early.</a:t>
            </a:r>
            <a:endParaRPr sz="1400" b="0" i="0" u="none" strike="noStrike" cap="none">
              <a:solidFill>
                <a:srgbClr val="000000"/>
              </a:solidFill>
              <a:latin typeface="Calibri"/>
              <a:ea typeface="Calibri"/>
              <a:cs typeface="Calibri"/>
              <a:sym typeface="Calibri"/>
            </a:endParaRPr>
          </a:p>
        </p:txBody>
      </p:sp>
      <p:sp>
        <p:nvSpPr>
          <p:cNvPr id="888" name="Google Shape;888;p74"/>
          <p:cNvSpPr/>
          <p:nvPr/>
        </p:nvSpPr>
        <p:spPr>
          <a:xfrm>
            <a:off x="5849925" y="1452995"/>
            <a:ext cx="2880300" cy="2353200"/>
          </a:xfrm>
          <a:prstGeom prst="roundRect">
            <a:avLst>
              <a:gd name="adj" fmla="val 2332"/>
            </a:avLst>
          </a:prstGeom>
          <a:solidFill>
            <a:srgbClr val="FFFFFF"/>
          </a:solidFill>
          <a:ln w="12700" cap="flat" cmpd="sng">
            <a:solidFill>
              <a:srgbClr val="DCE3F2"/>
            </a:solidFill>
            <a:prstDash val="solid"/>
            <a:round/>
            <a:headEnd type="none" w="sm" len="sm"/>
            <a:tailEnd type="none" w="sm" len="sm"/>
          </a:ln>
          <a:effectLst>
            <a:outerShdw blurRad="101600" dist="25400" dir="8100000" algn="bl" rotWithShape="0">
              <a:srgbClr val="1E2761">
                <a:alpha val="7843"/>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pic>
        <p:nvPicPr>
          <p:cNvPr id="889" name="Google Shape;889;p74" descr="/Users/tlytvyn/projects/Applause/testcon-deck-build/shop-trim.png"/>
          <p:cNvPicPr preferRelativeResize="0"/>
          <p:nvPr/>
        </p:nvPicPr>
        <p:blipFill rotWithShape="1">
          <a:blip r:embed="rId7">
            <a:alphaModFix/>
          </a:blip>
          <a:srcRect/>
          <a:stretch/>
        </p:blipFill>
        <p:spPr>
          <a:xfrm>
            <a:off x="5952795" y="1555865"/>
            <a:ext cx="2674620" cy="1941671"/>
          </a:xfrm>
          <a:prstGeom prst="rect">
            <a:avLst/>
          </a:prstGeom>
          <a:noFill/>
          <a:ln>
            <a:noFill/>
          </a:ln>
        </p:spPr>
      </p:pic>
      <p:sp>
        <p:nvSpPr>
          <p:cNvPr id="890" name="Google Shape;890;p74"/>
          <p:cNvSpPr/>
          <p:nvPr/>
        </p:nvSpPr>
        <p:spPr>
          <a:xfrm>
            <a:off x="411480" y="3566160"/>
            <a:ext cx="8318754" cy="2400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272B4"/>
              </a:buClr>
              <a:buSzPts val="1100"/>
              <a:buFont typeface="Calibri"/>
              <a:buNone/>
            </a:pPr>
            <a:r>
              <a:rPr lang="en-GB" sz="1100" b="1" i="0" u="none" strike="noStrike" cap="none">
                <a:solidFill>
                  <a:srgbClr val="4FB0EA"/>
                </a:solidFill>
                <a:latin typeface="Calibri"/>
                <a:ea typeface="Calibri"/>
                <a:cs typeface="Calibri"/>
                <a:sym typeface="Calibri"/>
              </a:rPr>
              <a:t>Fixing it with the four /karpathy-guidelines rules</a:t>
            </a:r>
            <a:endParaRPr sz="1100" b="0" i="0" u="none" strike="noStrike" cap="none">
              <a:solidFill>
                <a:schemeClr val="dk1"/>
              </a:solidFill>
              <a:latin typeface="Calibri"/>
              <a:ea typeface="Calibri"/>
              <a:cs typeface="Calibri"/>
              <a:sym typeface="Calibri"/>
            </a:endParaRPr>
          </a:p>
        </p:txBody>
      </p:sp>
      <p:sp>
        <p:nvSpPr>
          <p:cNvPr id="891" name="Google Shape;891;p74"/>
          <p:cNvSpPr/>
          <p:nvPr/>
        </p:nvSpPr>
        <p:spPr>
          <a:xfrm>
            <a:off x="8387334" y="4766310"/>
            <a:ext cx="342900" cy="192024"/>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9FD4F7"/>
              </a:buClr>
              <a:buSzPts val="700"/>
              <a:buFont typeface="Calibri"/>
              <a:buNone/>
            </a:pPr>
            <a:r>
              <a:rPr lang="en-GB" sz="700" b="0" i="0" u="none" strike="noStrike" cap="none">
                <a:solidFill>
                  <a:srgbClr val="9FD4F7"/>
                </a:solidFill>
                <a:latin typeface="Calibri"/>
                <a:ea typeface="Calibri"/>
                <a:cs typeface="Calibri"/>
                <a:sym typeface="Calibri"/>
              </a:rPr>
              <a:t>13</a:t>
            </a:r>
            <a:endParaRPr sz="700" b="0" i="0" u="none" strike="noStrike" cap="none">
              <a:solidFill>
                <a:schemeClr val="dk1"/>
              </a:solidFill>
              <a:latin typeface="Calibri"/>
              <a:ea typeface="Calibri"/>
              <a:cs typeface="Calibri"/>
              <a:sym typeface="Calibri"/>
            </a:endParaRPr>
          </a:p>
        </p:txBody>
      </p:sp>
      <p:sp>
        <p:nvSpPr>
          <p:cNvPr id="892" name="Google Shape;892;p74"/>
          <p:cNvSpPr/>
          <p:nvPr/>
        </p:nvSpPr>
        <p:spPr>
          <a:xfrm>
            <a:off x="411480" y="3874770"/>
            <a:ext cx="2004688" cy="582930"/>
          </a:xfrm>
          <a:prstGeom prst="roundRect">
            <a:avLst>
              <a:gd name="adj" fmla="val 9412"/>
            </a:avLst>
          </a:prstGeom>
          <a:solidFill>
            <a:srgbClr val="0272B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93" name="Google Shape;893;p74"/>
          <p:cNvSpPr txBox="1"/>
          <p:nvPr/>
        </p:nvSpPr>
        <p:spPr>
          <a:xfrm>
            <a:off x="502920" y="3929633"/>
            <a:ext cx="1840095" cy="502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EAF1F7"/>
                </a:solidFill>
                <a:latin typeface="Calibri"/>
                <a:ea typeface="Calibri"/>
                <a:cs typeface="Calibri"/>
                <a:sym typeface="Calibri"/>
              </a:rPr>
              <a:t>1  Think first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CFE6F8"/>
                </a:solidFill>
                <a:latin typeface="Calibri"/>
                <a:ea typeface="Calibri"/>
                <a:cs typeface="Calibri"/>
                <a:sym typeface="Calibri"/>
              </a:rPr>
              <a:t>reproduce it, watch it, read the docs</a:t>
            </a:r>
            <a:endParaRPr sz="1400" b="0" i="0" u="none" strike="noStrike" cap="none">
              <a:solidFill>
                <a:srgbClr val="000000"/>
              </a:solidFill>
              <a:latin typeface="Arial"/>
              <a:ea typeface="Arial"/>
              <a:cs typeface="Arial"/>
              <a:sym typeface="Arial"/>
            </a:endParaRPr>
          </a:p>
        </p:txBody>
      </p:sp>
      <p:sp>
        <p:nvSpPr>
          <p:cNvPr id="894" name="Google Shape;894;p74"/>
          <p:cNvSpPr/>
          <p:nvPr/>
        </p:nvSpPr>
        <p:spPr>
          <a:xfrm>
            <a:off x="2516168" y="3874770"/>
            <a:ext cx="2004688" cy="582930"/>
          </a:xfrm>
          <a:prstGeom prst="roundRect">
            <a:avLst>
              <a:gd name="adj" fmla="val 9412"/>
            </a:avLst>
          </a:prstGeom>
          <a:solidFill>
            <a:srgbClr val="0272B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95" name="Google Shape;895;p74"/>
          <p:cNvSpPr txBox="1"/>
          <p:nvPr/>
        </p:nvSpPr>
        <p:spPr>
          <a:xfrm>
            <a:off x="2607608" y="3929633"/>
            <a:ext cx="1840095" cy="502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EAF1F7"/>
                </a:solidFill>
                <a:latin typeface="Calibri"/>
                <a:ea typeface="Calibri"/>
                <a:cs typeface="Calibri"/>
                <a:sym typeface="Calibri"/>
              </a:rPr>
              <a:t>2  Keep it simple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CFE6F8"/>
                </a:solidFill>
                <a:latin typeface="Calibri"/>
                <a:ea typeface="Calibri"/>
                <a:cs typeface="Calibri"/>
                <a:sym typeface="Calibri"/>
              </a:rPr>
              <a:t>wait for the real "confirmed" event</a:t>
            </a:r>
            <a:endParaRPr sz="1400" b="0" i="0" u="none" strike="noStrike" cap="none">
              <a:solidFill>
                <a:srgbClr val="000000"/>
              </a:solidFill>
              <a:latin typeface="Arial"/>
              <a:ea typeface="Arial"/>
              <a:cs typeface="Arial"/>
              <a:sym typeface="Arial"/>
            </a:endParaRPr>
          </a:p>
        </p:txBody>
      </p:sp>
      <p:sp>
        <p:nvSpPr>
          <p:cNvPr id="896" name="Google Shape;896;p74"/>
          <p:cNvSpPr/>
          <p:nvPr/>
        </p:nvSpPr>
        <p:spPr>
          <a:xfrm>
            <a:off x="4620856" y="3874770"/>
            <a:ext cx="2004688" cy="582930"/>
          </a:xfrm>
          <a:prstGeom prst="roundRect">
            <a:avLst>
              <a:gd name="adj" fmla="val 9412"/>
            </a:avLst>
          </a:prstGeom>
          <a:solidFill>
            <a:srgbClr val="0272B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97" name="Google Shape;897;p74"/>
          <p:cNvSpPr txBox="1"/>
          <p:nvPr/>
        </p:nvSpPr>
        <p:spPr>
          <a:xfrm>
            <a:off x="4712296" y="3929633"/>
            <a:ext cx="1840095" cy="502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EAF1F7"/>
                </a:solidFill>
                <a:latin typeface="Calibri"/>
                <a:ea typeface="Calibri"/>
                <a:cs typeface="Calibri"/>
                <a:sym typeface="Calibri"/>
              </a:rPr>
              <a:t>3  Touch only the task</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CFE6F8"/>
                </a:solidFill>
                <a:latin typeface="Calibri"/>
                <a:ea typeface="Calibri"/>
                <a:cs typeface="Calibri"/>
                <a:sym typeface="Calibri"/>
              </a:rPr>
              <a:t>one test changed, same locators</a:t>
            </a:r>
            <a:endParaRPr sz="1400" b="0" i="0" u="none" strike="noStrike" cap="none">
              <a:solidFill>
                <a:srgbClr val="000000"/>
              </a:solidFill>
              <a:latin typeface="Arial"/>
              <a:ea typeface="Arial"/>
              <a:cs typeface="Arial"/>
              <a:sym typeface="Arial"/>
            </a:endParaRPr>
          </a:p>
        </p:txBody>
      </p:sp>
      <p:sp>
        <p:nvSpPr>
          <p:cNvPr id="898" name="Google Shape;898;p74"/>
          <p:cNvSpPr/>
          <p:nvPr/>
        </p:nvSpPr>
        <p:spPr>
          <a:xfrm>
            <a:off x="6725544" y="3874770"/>
            <a:ext cx="2004688" cy="582930"/>
          </a:xfrm>
          <a:prstGeom prst="roundRect">
            <a:avLst>
              <a:gd name="adj" fmla="val 9412"/>
            </a:avLst>
          </a:prstGeom>
          <a:solidFill>
            <a:srgbClr val="0272B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99" name="Google Shape;899;p74"/>
          <p:cNvSpPr txBox="1"/>
          <p:nvPr/>
        </p:nvSpPr>
        <p:spPr>
          <a:xfrm>
            <a:off x="6816984" y="3929633"/>
            <a:ext cx="1840095" cy="502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EAF1F7"/>
                </a:solidFill>
                <a:latin typeface="Calibri"/>
                <a:ea typeface="Calibri"/>
                <a:cs typeface="Calibri"/>
                <a:sym typeface="Calibri"/>
              </a:rPr>
              <a:t>4  Prove 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CFE6F8"/>
                </a:solidFill>
                <a:latin typeface="Calibri"/>
                <a:ea typeface="Calibri"/>
                <a:cs typeface="Calibri"/>
                <a:sym typeface="Calibri"/>
              </a:rPr>
              <a:t>10 runs in a row, also on a slow day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04"/>
        <p:cNvGrpSpPr/>
        <p:nvPr/>
      </p:nvGrpSpPr>
      <p:grpSpPr>
        <a:xfrm>
          <a:off x="0" y="0"/>
          <a:ext cx="0" cy="0"/>
          <a:chOff x="0" y="0"/>
          <a:chExt cx="0" cy="0"/>
        </a:xfrm>
      </p:grpSpPr>
      <p:sp>
        <p:nvSpPr>
          <p:cNvPr id="905" name="Google Shape;905;p75"/>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Step 1: Start with a good project structure</a:t>
            </a:r>
            <a:endParaRPr sz="1900"/>
          </a:p>
        </p:txBody>
      </p:sp>
      <p:sp>
        <p:nvSpPr>
          <p:cNvPr id="906" name="Google Shape;906;p75"/>
          <p:cNvSpPr/>
          <p:nvPr/>
        </p:nvSpPr>
        <p:spPr>
          <a:xfrm>
            <a:off x="493776" y="1051560"/>
            <a:ext cx="4572000" cy="2852928"/>
          </a:xfrm>
          <a:prstGeom prst="roundRect">
            <a:avLst>
              <a:gd name="adj" fmla="val 4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75"/>
          <p:cNvSpPr/>
          <p:nvPr/>
        </p:nvSpPr>
        <p:spPr>
          <a:xfrm>
            <a:off x="676656" y="1197864"/>
            <a:ext cx="91440" cy="91440"/>
          </a:xfrm>
          <a:prstGeom prst="ellipse">
            <a:avLst/>
          </a:prstGeom>
          <a:solidFill>
            <a:srgbClr val="FF5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75"/>
          <p:cNvSpPr/>
          <p:nvPr/>
        </p:nvSpPr>
        <p:spPr>
          <a:xfrm>
            <a:off x="832104" y="1197864"/>
            <a:ext cx="91440" cy="91440"/>
          </a:xfrm>
          <a:prstGeom prst="ellipse">
            <a:avLst/>
          </a:prstGeom>
          <a:solidFill>
            <a:srgbClr val="FEB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75"/>
          <p:cNvSpPr/>
          <p:nvPr/>
        </p:nvSpPr>
        <p:spPr>
          <a:xfrm>
            <a:off x="987552" y="1197864"/>
            <a:ext cx="91440" cy="91440"/>
          </a:xfrm>
          <a:prstGeom prst="ellipse">
            <a:avLst/>
          </a:prstGeom>
          <a:solidFill>
            <a:srgbClr val="28C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75"/>
          <p:cNvSpPr txBox="1"/>
          <p:nvPr/>
        </p:nvSpPr>
        <p:spPr>
          <a:xfrm>
            <a:off x="1225296" y="1124712"/>
            <a:ext cx="3108960" cy="2377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93A9C0"/>
                </a:solidFill>
                <a:latin typeface="Courier New"/>
                <a:ea typeface="Courier New"/>
                <a:cs typeface="Courier New"/>
                <a:sym typeface="Courier New"/>
              </a:rPr>
              <a:t>your-test-repo/</a:t>
            </a:r>
            <a:endParaRPr/>
          </a:p>
        </p:txBody>
      </p:sp>
      <p:cxnSp>
        <p:nvCxnSpPr>
          <p:cNvPr id="911" name="Google Shape;911;p75"/>
          <p:cNvCxnSpPr/>
          <p:nvPr/>
        </p:nvCxnSpPr>
        <p:spPr>
          <a:xfrm>
            <a:off x="493776" y="1435608"/>
            <a:ext cx="4572000" cy="0"/>
          </a:xfrm>
          <a:prstGeom prst="straightConnector1">
            <a:avLst/>
          </a:prstGeom>
          <a:noFill/>
          <a:ln w="9525" cap="flat" cmpd="sng">
            <a:solidFill>
              <a:srgbClr val="1E3044"/>
            </a:solidFill>
            <a:prstDash val="solid"/>
            <a:round/>
            <a:headEnd type="none" w="sm" len="sm"/>
            <a:tailEnd type="none" w="sm" len="sm"/>
          </a:ln>
        </p:spPr>
      </p:cxnSp>
      <p:sp>
        <p:nvSpPr>
          <p:cNvPr id="912" name="Google Shape;912;p75"/>
          <p:cNvSpPr txBox="1"/>
          <p:nvPr/>
        </p:nvSpPr>
        <p:spPr>
          <a:xfrm>
            <a:off x="694944" y="1527048"/>
            <a:ext cx="210312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4A5D73"/>
                </a:solidFill>
                <a:latin typeface="Courier New"/>
                <a:ea typeface="Courier New"/>
                <a:cs typeface="Courier New"/>
                <a:sym typeface="Courier New"/>
              </a:rPr>
              <a:t>├─ </a:t>
            </a:r>
            <a:r>
              <a:rPr lang="en-GB" sz="1150" b="1" i="0" u="none" strike="noStrike" cap="none">
                <a:solidFill>
                  <a:srgbClr val="7FC6F3"/>
                </a:solidFill>
                <a:latin typeface="Courier New"/>
                <a:ea typeface="Courier New"/>
                <a:cs typeface="Courier New"/>
                <a:sym typeface="Courier New"/>
              </a:rPr>
              <a:t>CLAUDE.md</a:t>
            </a:r>
            <a:endParaRPr/>
          </a:p>
        </p:txBody>
      </p:sp>
      <p:sp>
        <p:nvSpPr>
          <p:cNvPr id="913" name="Google Shape;913;p75"/>
          <p:cNvSpPr txBox="1"/>
          <p:nvPr/>
        </p:nvSpPr>
        <p:spPr>
          <a:xfrm>
            <a:off x="2779776" y="1527048"/>
            <a:ext cx="137160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team rules</a:t>
            </a:r>
            <a:endParaRPr/>
          </a:p>
        </p:txBody>
      </p:sp>
      <p:sp>
        <p:nvSpPr>
          <p:cNvPr id="914" name="Google Shape;914;p75"/>
          <p:cNvSpPr/>
          <p:nvPr/>
        </p:nvSpPr>
        <p:spPr>
          <a:xfrm>
            <a:off x="4151376" y="1618488"/>
            <a:ext cx="749808" cy="201168"/>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GB" sz="750" b="1" i="0" u="none" strike="noStrike" cap="none">
                <a:solidFill>
                  <a:srgbClr val="4FB0EA"/>
                </a:solidFill>
                <a:latin typeface="Calibri"/>
                <a:ea typeface="Calibri"/>
                <a:cs typeface="Calibri"/>
                <a:sym typeface="Calibri"/>
              </a:rPr>
              <a:t>MEMORY</a:t>
            </a:r>
            <a:endParaRPr/>
          </a:p>
        </p:txBody>
      </p:sp>
      <p:sp>
        <p:nvSpPr>
          <p:cNvPr id="915" name="Google Shape;915;p75"/>
          <p:cNvSpPr txBox="1"/>
          <p:nvPr/>
        </p:nvSpPr>
        <p:spPr>
          <a:xfrm>
            <a:off x="694944" y="1911096"/>
            <a:ext cx="210312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4A5D73"/>
                </a:solidFill>
                <a:latin typeface="Courier New"/>
                <a:ea typeface="Courier New"/>
                <a:cs typeface="Courier New"/>
                <a:sym typeface="Courier New"/>
              </a:rPr>
              <a:t>├─ </a:t>
            </a:r>
            <a:r>
              <a:rPr lang="en-GB" sz="1150" b="1" i="0" u="none" strike="noStrike" cap="none">
                <a:solidFill>
                  <a:srgbClr val="7FC6F3"/>
                </a:solidFill>
                <a:latin typeface="Courier New"/>
                <a:ea typeface="Courier New"/>
                <a:cs typeface="Courier New"/>
                <a:sym typeface="Courier New"/>
              </a:rPr>
              <a:t>.mcp.json</a:t>
            </a:r>
            <a:endParaRPr/>
          </a:p>
        </p:txBody>
      </p:sp>
      <p:sp>
        <p:nvSpPr>
          <p:cNvPr id="916" name="Google Shape;916;p75"/>
          <p:cNvSpPr txBox="1"/>
          <p:nvPr/>
        </p:nvSpPr>
        <p:spPr>
          <a:xfrm>
            <a:off x="2779776" y="1911096"/>
            <a:ext cx="137160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browser + team docs</a:t>
            </a:r>
            <a:endParaRPr/>
          </a:p>
        </p:txBody>
      </p:sp>
      <p:sp>
        <p:nvSpPr>
          <p:cNvPr id="917" name="Google Shape;917;p75"/>
          <p:cNvSpPr/>
          <p:nvPr/>
        </p:nvSpPr>
        <p:spPr>
          <a:xfrm>
            <a:off x="4151376" y="2002536"/>
            <a:ext cx="749808" cy="201168"/>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GB" sz="750" b="1" i="0" u="none" strike="noStrike" cap="none">
                <a:solidFill>
                  <a:srgbClr val="4FB0EA"/>
                </a:solidFill>
                <a:latin typeface="Calibri"/>
                <a:ea typeface="Calibri"/>
                <a:cs typeface="Calibri"/>
                <a:sym typeface="Calibri"/>
              </a:rPr>
              <a:t>MCP</a:t>
            </a:r>
            <a:endParaRPr/>
          </a:p>
        </p:txBody>
      </p:sp>
      <p:sp>
        <p:nvSpPr>
          <p:cNvPr id="918" name="Google Shape;918;p75"/>
          <p:cNvSpPr txBox="1"/>
          <p:nvPr/>
        </p:nvSpPr>
        <p:spPr>
          <a:xfrm>
            <a:off x="694944" y="2295144"/>
            <a:ext cx="210312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4A5D73"/>
                </a:solidFill>
                <a:latin typeface="Courier New"/>
                <a:ea typeface="Courier New"/>
                <a:cs typeface="Courier New"/>
                <a:sym typeface="Courier New"/>
              </a:rPr>
              <a:t>└─ </a:t>
            </a:r>
            <a:r>
              <a:rPr lang="en-GB" sz="1150" b="1" i="0" u="none" strike="noStrike" cap="none">
                <a:solidFill>
                  <a:srgbClr val="FFFFFF"/>
                </a:solidFill>
                <a:latin typeface="Courier New"/>
                <a:ea typeface="Courier New"/>
                <a:cs typeface="Courier New"/>
                <a:sym typeface="Courier New"/>
              </a:rPr>
              <a:t>.claude/</a:t>
            </a:r>
            <a:endParaRPr/>
          </a:p>
        </p:txBody>
      </p:sp>
      <p:sp>
        <p:nvSpPr>
          <p:cNvPr id="919" name="Google Shape;919;p75"/>
          <p:cNvSpPr txBox="1"/>
          <p:nvPr/>
        </p:nvSpPr>
        <p:spPr>
          <a:xfrm>
            <a:off x="694944" y="2679192"/>
            <a:ext cx="210312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4A5D73"/>
                </a:solidFill>
                <a:latin typeface="Courier New"/>
                <a:ea typeface="Courier New"/>
                <a:cs typeface="Courier New"/>
                <a:sym typeface="Courier New"/>
              </a:rPr>
              <a:t>   ├─ </a:t>
            </a:r>
            <a:r>
              <a:rPr lang="en-GB" sz="1150" b="1" i="0" u="none" strike="noStrike" cap="none">
                <a:solidFill>
                  <a:srgbClr val="7FC6F3"/>
                </a:solidFill>
                <a:latin typeface="Courier New"/>
                <a:ea typeface="Courier New"/>
                <a:cs typeface="Courier New"/>
                <a:sym typeface="Courier New"/>
              </a:rPr>
              <a:t>skills/</a:t>
            </a:r>
            <a:endParaRPr/>
          </a:p>
        </p:txBody>
      </p:sp>
      <p:sp>
        <p:nvSpPr>
          <p:cNvPr id="920" name="Google Shape;920;p75"/>
          <p:cNvSpPr txBox="1"/>
          <p:nvPr/>
        </p:nvSpPr>
        <p:spPr>
          <a:xfrm>
            <a:off x="2779776" y="2679192"/>
            <a:ext cx="137160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team skills</a:t>
            </a:r>
            <a:endParaRPr/>
          </a:p>
        </p:txBody>
      </p:sp>
      <p:sp>
        <p:nvSpPr>
          <p:cNvPr id="921" name="Google Shape;921;p75"/>
          <p:cNvSpPr/>
          <p:nvPr/>
        </p:nvSpPr>
        <p:spPr>
          <a:xfrm>
            <a:off x="4151376" y="2770632"/>
            <a:ext cx="749808" cy="201168"/>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GB" sz="750" b="1" i="0" u="none" strike="noStrike" cap="none">
                <a:solidFill>
                  <a:srgbClr val="4FB0EA"/>
                </a:solidFill>
                <a:latin typeface="Calibri"/>
                <a:ea typeface="Calibri"/>
                <a:cs typeface="Calibri"/>
                <a:sym typeface="Calibri"/>
              </a:rPr>
              <a:t>SKILL</a:t>
            </a:r>
            <a:endParaRPr/>
          </a:p>
        </p:txBody>
      </p:sp>
      <p:sp>
        <p:nvSpPr>
          <p:cNvPr id="922" name="Google Shape;922;p75"/>
          <p:cNvSpPr txBox="1"/>
          <p:nvPr/>
        </p:nvSpPr>
        <p:spPr>
          <a:xfrm>
            <a:off x="694944" y="3063240"/>
            <a:ext cx="210312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4A5D73"/>
                </a:solidFill>
                <a:latin typeface="Courier New"/>
                <a:ea typeface="Courier New"/>
                <a:cs typeface="Courier New"/>
                <a:sym typeface="Courier New"/>
              </a:rPr>
              <a:t>   ├─ </a:t>
            </a:r>
            <a:r>
              <a:rPr lang="en-GB" sz="1150" b="1" i="0" u="none" strike="noStrike" cap="none">
                <a:solidFill>
                  <a:srgbClr val="7FC6F3"/>
                </a:solidFill>
                <a:latin typeface="Courier New"/>
                <a:ea typeface="Courier New"/>
                <a:cs typeface="Courier New"/>
                <a:sym typeface="Courier New"/>
              </a:rPr>
              <a:t>agents/</a:t>
            </a:r>
            <a:endParaRPr/>
          </a:p>
        </p:txBody>
      </p:sp>
      <p:sp>
        <p:nvSpPr>
          <p:cNvPr id="923" name="Google Shape;923;p75"/>
          <p:cNvSpPr txBox="1"/>
          <p:nvPr/>
        </p:nvSpPr>
        <p:spPr>
          <a:xfrm>
            <a:off x="2779776" y="3063240"/>
            <a:ext cx="137160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test-reviewer</a:t>
            </a:r>
            <a:endParaRPr/>
          </a:p>
        </p:txBody>
      </p:sp>
      <p:sp>
        <p:nvSpPr>
          <p:cNvPr id="924" name="Google Shape;924;p75"/>
          <p:cNvSpPr/>
          <p:nvPr/>
        </p:nvSpPr>
        <p:spPr>
          <a:xfrm>
            <a:off x="4151376" y="3154680"/>
            <a:ext cx="749808" cy="201168"/>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GB" sz="750" b="1" i="0" u="none" strike="noStrike" cap="none">
                <a:solidFill>
                  <a:srgbClr val="4FB0EA"/>
                </a:solidFill>
                <a:latin typeface="Calibri"/>
                <a:ea typeface="Calibri"/>
                <a:cs typeface="Calibri"/>
                <a:sym typeface="Calibri"/>
              </a:rPr>
              <a:t>SUBAGENT</a:t>
            </a:r>
            <a:endParaRPr/>
          </a:p>
        </p:txBody>
      </p:sp>
      <p:sp>
        <p:nvSpPr>
          <p:cNvPr id="925" name="Google Shape;925;p75"/>
          <p:cNvSpPr txBox="1"/>
          <p:nvPr/>
        </p:nvSpPr>
        <p:spPr>
          <a:xfrm>
            <a:off x="694944" y="3447288"/>
            <a:ext cx="210312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4A5D73"/>
                </a:solidFill>
                <a:latin typeface="Courier New"/>
                <a:ea typeface="Courier New"/>
                <a:cs typeface="Courier New"/>
                <a:sym typeface="Courier New"/>
              </a:rPr>
              <a:t>   └─ </a:t>
            </a:r>
            <a:r>
              <a:rPr lang="en-GB" sz="1150" b="1" i="0" u="none" strike="noStrike" cap="none">
                <a:solidFill>
                  <a:srgbClr val="7FC6F3"/>
                </a:solidFill>
                <a:latin typeface="Courier New"/>
                <a:ea typeface="Courier New"/>
                <a:cs typeface="Courier New"/>
                <a:sym typeface="Courier New"/>
              </a:rPr>
              <a:t>settings.json</a:t>
            </a:r>
            <a:endParaRPr/>
          </a:p>
        </p:txBody>
      </p:sp>
      <p:sp>
        <p:nvSpPr>
          <p:cNvPr id="926" name="Google Shape;926;p75"/>
          <p:cNvSpPr txBox="1"/>
          <p:nvPr/>
        </p:nvSpPr>
        <p:spPr>
          <a:xfrm>
            <a:off x="2779776" y="3447288"/>
            <a:ext cx="137160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hooks for everyone</a:t>
            </a:r>
            <a:endParaRPr/>
          </a:p>
        </p:txBody>
      </p:sp>
      <p:sp>
        <p:nvSpPr>
          <p:cNvPr id="927" name="Google Shape;927;p75"/>
          <p:cNvSpPr/>
          <p:nvPr/>
        </p:nvSpPr>
        <p:spPr>
          <a:xfrm>
            <a:off x="4151376" y="3538728"/>
            <a:ext cx="749808" cy="201168"/>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GB" sz="750" b="1" i="0" u="none" strike="noStrike" cap="none">
                <a:solidFill>
                  <a:srgbClr val="4FB0EA"/>
                </a:solidFill>
                <a:latin typeface="Calibri"/>
                <a:ea typeface="Calibri"/>
                <a:cs typeface="Calibri"/>
                <a:sym typeface="Calibri"/>
              </a:rPr>
              <a:t>HOOK</a:t>
            </a:r>
            <a:endParaRPr/>
          </a:p>
        </p:txBody>
      </p:sp>
      <p:sp>
        <p:nvSpPr>
          <p:cNvPr id="928" name="Google Shape;928;p75"/>
          <p:cNvSpPr/>
          <p:nvPr/>
        </p:nvSpPr>
        <p:spPr>
          <a:xfrm>
            <a:off x="5394960" y="1097280"/>
            <a:ext cx="329184" cy="329184"/>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1</a:t>
            </a:r>
            <a:endParaRPr/>
          </a:p>
        </p:txBody>
      </p:sp>
      <p:sp>
        <p:nvSpPr>
          <p:cNvPr id="929" name="Google Shape;929;p75"/>
          <p:cNvSpPr txBox="1"/>
          <p:nvPr/>
        </p:nvSpPr>
        <p:spPr>
          <a:xfrm>
            <a:off x="5870448" y="1078992"/>
            <a:ext cx="2779776" cy="329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Start with</a:t>
            </a:r>
            <a:endParaRPr/>
          </a:p>
        </p:txBody>
      </p:sp>
      <p:sp>
        <p:nvSpPr>
          <p:cNvPr id="930" name="Google Shape;930;p75"/>
          <p:cNvSpPr txBox="1"/>
          <p:nvPr/>
        </p:nvSpPr>
        <p:spPr>
          <a:xfrm>
            <a:off x="5870448" y="1426464"/>
            <a:ext cx="2779776"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One person runs /init once in the test repo. It writes a first CLAUDE.md.</a:t>
            </a:r>
            <a:endParaRPr/>
          </a:p>
        </p:txBody>
      </p:sp>
      <p:sp>
        <p:nvSpPr>
          <p:cNvPr id="931" name="Google Shape;931;p75"/>
          <p:cNvSpPr/>
          <p:nvPr/>
        </p:nvSpPr>
        <p:spPr>
          <a:xfrm>
            <a:off x="5394960" y="2048256"/>
            <a:ext cx="329184" cy="329184"/>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2</a:t>
            </a:r>
            <a:endParaRPr/>
          </a:p>
        </p:txBody>
      </p:sp>
      <p:sp>
        <p:nvSpPr>
          <p:cNvPr id="932" name="Google Shape;932;p75"/>
          <p:cNvSpPr txBox="1"/>
          <p:nvPr/>
        </p:nvSpPr>
        <p:spPr>
          <a:xfrm>
            <a:off x="5870448" y="2029968"/>
            <a:ext cx="2779776" cy="329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Commit it</a:t>
            </a:r>
            <a:endParaRPr/>
          </a:p>
        </p:txBody>
      </p:sp>
      <p:sp>
        <p:nvSpPr>
          <p:cNvPr id="933" name="Google Shape;933;p75"/>
          <p:cNvSpPr txBox="1"/>
          <p:nvPr/>
        </p:nvSpPr>
        <p:spPr>
          <a:xfrm>
            <a:off x="5870448" y="2377440"/>
            <a:ext cx="2779776"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The whole team shares the same rules, and changes them by pull request, like code.</a:t>
            </a:r>
            <a:endParaRPr/>
          </a:p>
        </p:txBody>
      </p:sp>
      <p:sp>
        <p:nvSpPr>
          <p:cNvPr id="934" name="Google Shape;934;p75"/>
          <p:cNvSpPr/>
          <p:nvPr/>
        </p:nvSpPr>
        <p:spPr>
          <a:xfrm>
            <a:off x="5394960" y="2999232"/>
            <a:ext cx="329184" cy="329184"/>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rgbClr val="FFFFFF"/>
                </a:solidFill>
                <a:latin typeface="Calibri"/>
                <a:ea typeface="Calibri"/>
                <a:cs typeface="Calibri"/>
                <a:sym typeface="Calibri"/>
              </a:rPr>
              <a:t>3</a:t>
            </a:r>
            <a:endParaRPr/>
          </a:p>
        </p:txBody>
      </p:sp>
      <p:sp>
        <p:nvSpPr>
          <p:cNvPr id="935" name="Google Shape;935;p75"/>
          <p:cNvSpPr txBox="1"/>
          <p:nvPr/>
        </p:nvSpPr>
        <p:spPr>
          <a:xfrm>
            <a:off x="5870448" y="2980944"/>
            <a:ext cx="2779776" cy="329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Calibri"/>
                <a:ea typeface="Calibri"/>
                <a:cs typeface="Calibri"/>
                <a:sym typeface="Calibri"/>
              </a:rPr>
              <a:t>Keep personal preferences out</a:t>
            </a:r>
            <a:endParaRPr/>
          </a:p>
        </p:txBody>
      </p:sp>
      <p:sp>
        <p:nvSpPr>
          <p:cNvPr id="936" name="Google Shape;936;p75"/>
          <p:cNvSpPr txBox="1"/>
          <p:nvPr/>
        </p:nvSpPr>
        <p:spPr>
          <a:xfrm>
            <a:off x="5870448" y="3328416"/>
            <a:ext cx="2779776"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Each tester's own ~/.claude/CLAUDE.md, not in the repo.</a:t>
            </a:r>
            <a:endParaRPr/>
          </a:p>
        </p:txBody>
      </p:sp>
      <p:sp>
        <p:nvSpPr>
          <p:cNvPr id="937" name="Google Shape;937;p75"/>
          <p:cNvSpPr/>
          <p:nvPr/>
        </p:nvSpPr>
        <p:spPr>
          <a:xfrm>
            <a:off x="493776" y="4160520"/>
            <a:ext cx="8156448" cy="420624"/>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rgbClr val="4FB0EA"/>
                </a:solidFill>
                <a:latin typeface="Calibri"/>
                <a:ea typeface="Calibri"/>
                <a:cs typeface="Calibri"/>
                <a:sym typeface="Calibri"/>
              </a:rPr>
              <a:t>Why first:  </a:t>
            </a:r>
            <a:r>
              <a:rPr lang="en-GB" sz="1200" b="0" i="0" u="none" strike="noStrike" cap="none">
                <a:solidFill>
                  <a:srgbClr val="EAF1F7"/>
                </a:solidFill>
                <a:latin typeface="Calibri"/>
                <a:ea typeface="Calibri"/>
                <a:cs typeface="Calibri"/>
                <a:sym typeface="Calibri"/>
              </a:rPr>
              <a:t>every tester's Claude now starts with the same rules, skills and tools.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42"/>
        <p:cNvGrpSpPr/>
        <p:nvPr/>
      </p:nvGrpSpPr>
      <p:grpSpPr>
        <a:xfrm>
          <a:off x="0" y="0"/>
          <a:ext cx="0" cy="0"/>
          <a:chOff x="0" y="0"/>
          <a:chExt cx="0" cy="0"/>
        </a:xfrm>
      </p:grpSpPr>
      <p:sp>
        <p:nvSpPr>
          <p:cNvPr id="943" name="Google Shape;943;p76"/>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Step 2: without your docs, Claude can only guess</a:t>
            </a:r>
            <a:endParaRPr/>
          </a:p>
        </p:txBody>
      </p:sp>
      <p:sp>
        <p:nvSpPr>
          <p:cNvPr id="944" name="Google Shape;944;p76"/>
          <p:cNvSpPr txBox="1"/>
          <p:nvPr/>
        </p:nvSpPr>
        <p:spPr>
          <a:xfrm>
            <a:off x="493776" y="914400"/>
            <a:ext cx="8138160" cy="5486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EAF1F7"/>
                </a:solidFill>
                <a:latin typeface="Calibri"/>
                <a:ea typeface="Calibri"/>
                <a:cs typeface="Calibri"/>
                <a:sym typeface="Calibri"/>
              </a:rPr>
              <a:t>The bug: payment takes 1–8 s, but the test checks once after 2 s. </a:t>
            </a:r>
            <a:r>
              <a:rPr lang="en-GB" sz="1400" b="0" i="0" u="none" strike="noStrike" cap="none">
                <a:solidFill>
                  <a:srgbClr val="93A9C0"/>
                </a:solidFill>
                <a:latin typeface="Calibri"/>
                <a:ea typeface="Calibri"/>
                <a:cs typeface="Calibri"/>
                <a:sym typeface="Calibri"/>
              </a:rPr>
              <a:t>We asked Claude to fix it with no team docs, twice.</a:t>
            </a:r>
            <a:endParaRPr sz="1400" b="0" i="0" u="none" strike="noStrike" cap="none">
              <a:solidFill>
                <a:srgbClr val="000000"/>
              </a:solidFill>
              <a:latin typeface="Arial"/>
              <a:ea typeface="Arial"/>
              <a:cs typeface="Arial"/>
              <a:sym typeface="Arial"/>
            </a:endParaRPr>
          </a:p>
        </p:txBody>
      </p:sp>
      <p:sp>
        <p:nvSpPr>
          <p:cNvPr id="945" name="Google Shape;945;p76"/>
          <p:cNvSpPr/>
          <p:nvPr/>
        </p:nvSpPr>
        <p:spPr>
          <a:xfrm>
            <a:off x="1363980" y="1856232"/>
            <a:ext cx="1264920" cy="128016"/>
          </a:xfrm>
          <a:prstGeom prst="rect">
            <a:avLst/>
          </a:prstGeom>
          <a:solidFill>
            <a:srgbClr val="1F5A3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946" name="Google Shape;946;p76"/>
          <p:cNvSpPr/>
          <p:nvPr/>
        </p:nvSpPr>
        <p:spPr>
          <a:xfrm>
            <a:off x="2628900" y="1856232"/>
            <a:ext cx="3162299" cy="128016"/>
          </a:xfrm>
          <a:prstGeom prst="rect">
            <a:avLst/>
          </a:prstGeom>
          <a:solidFill>
            <a:srgbClr val="5A431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947" name="Google Shape;947;p76"/>
          <p:cNvCxnSpPr/>
          <p:nvPr/>
        </p:nvCxnSpPr>
        <p:spPr>
          <a:xfrm>
            <a:off x="731520" y="1920240"/>
            <a:ext cx="7589520" cy="0"/>
          </a:xfrm>
          <a:prstGeom prst="straightConnector1">
            <a:avLst/>
          </a:prstGeom>
          <a:noFill/>
          <a:ln w="12700" cap="flat" cmpd="sng">
            <a:solidFill>
              <a:srgbClr val="93A9C0"/>
            </a:solidFill>
            <a:prstDash val="solid"/>
            <a:round/>
            <a:headEnd type="none" w="sm" len="sm"/>
            <a:tailEnd type="none" w="sm" len="sm"/>
          </a:ln>
          <a:effectLst>
            <a:outerShdw blurRad="40000" dist="20000" dir="5400000" rotWithShape="0">
              <a:srgbClr val="000000">
                <a:alpha val="38039"/>
              </a:srgbClr>
            </a:outerShdw>
          </a:effectLst>
        </p:spPr>
      </p:cxnSp>
      <p:sp>
        <p:nvSpPr>
          <p:cNvPr id="948" name="Google Shape;948;p76"/>
          <p:cNvSpPr txBox="1"/>
          <p:nvPr/>
        </p:nvSpPr>
        <p:spPr>
          <a:xfrm>
            <a:off x="457200" y="2029968"/>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0 s</a:t>
            </a:r>
            <a:endParaRPr sz="1400" b="0" i="0" u="none" strike="noStrike" cap="none">
              <a:solidFill>
                <a:srgbClr val="000000"/>
              </a:solidFill>
              <a:latin typeface="Arial"/>
              <a:ea typeface="Arial"/>
              <a:cs typeface="Arial"/>
              <a:sym typeface="Arial"/>
            </a:endParaRPr>
          </a:p>
        </p:txBody>
      </p:sp>
      <p:sp>
        <p:nvSpPr>
          <p:cNvPr id="949" name="Google Shape;949;p76"/>
          <p:cNvSpPr txBox="1"/>
          <p:nvPr/>
        </p:nvSpPr>
        <p:spPr>
          <a:xfrm>
            <a:off x="2987040" y="2029968"/>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4 s</a:t>
            </a:r>
            <a:endParaRPr sz="1400" b="0" i="0" u="none" strike="noStrike" cap="none">
              <a:solidFill>
                <a:srgbClr val="000000"/>
              </a:solidFill>
              <a:latin typeface="Arial"/>
              <a:ea typeface="Arial"/>
              <a:cs typeface="Arial"/>
              <a:sym typeface="Arial"/>
            </a:endParaRPr>
          </a:p>
        </p:txBody>
      </p:sp>
      <p:sp>
        <p:nvSpPr>
          <p:cNvPr id="950" name="Google Shape;950;p76"/>
          <p:cNvSpPr txBox="1"/>
          <p:nvPr/>
        </p:nvSpPr>
        <p:spPr>
          <a:xfrm>
            <a:off x="4251959" y="2029968"/>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6 s</a:t>
            </a:r>
            <a:endParaRPr sz="1400" b="0" i="0" u="none" strike="noStrike" cap="none">
              <a:solidFill>
                <a:srgbClr val="000000"/>
              </a:solidFill>
              <a:latin typeface="Arial"/>
              <a:ea typeface="Arial"/>
              <a:cs typeface="Arial"/>
              <a:sym typeface="Arial"/>
            </a:endParaRPr>
          </a:p>
        </p:txBody>
      </p:sp>
      <p:sp>
        <p:nvSpPr>
          <p:cNvPr id="951" name="Google Shape;951;p76"/>
          <p:cNvSpPr txBox="1"/>
          <p:nvPr/>
        </p:nvSpPr>
        <p:spPr>
          <a:xfrm>
            <a:off x="5516879" y="2029968"/>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8 s</a:t>
            </a:r>
            <a:endParaRPr sz="1400" b="0" i="0" u="none" strike="noStrike" cap="none">
              <a:solidFill>
                <a:srgbClr val="000000"/>
              </a:solidFill>
              <a:latin typeface="Arial"/>
              <a:ea typeface="Arial"/>
              <a:cs typeface="Arial"/>
              <a:sym typeface="Arial"/>
            </a:endParaRPr>
          </a:p>
        </p:txBody>
      </p:sp>
      <p:sp>
        <p:nvSpPr>
          <p:cNvPr id="952" name="Google Shape;952;p76"/>
          <p:cNvSpPr txBox="1"/>
          <p:nvPr/>
        </p:nvSpPr>
        <p:spPr>
          <a:xfrm>
            <a:off x="8046719" y="2029968"/>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12 s</a:t>
            </a:r>
            <a:endParaRPr sz="1400" b="0" i="0" u="none" strike="noStrike" cap="none">
              <a:solidFill>
                <a:srgbClr val="000000"/>
              </a:solidFill>
              <a:latin typeface="Arial"/>
              <a:ea typeface="Arial"/>
              <a:cs typeface="Arial"/>
              <a:sym typeface="Arial"/>
            </a:endParaRPr>
          </a:p>
        </p:txBody>
      </p:sp>
      <p:sp>
        <p:nvSpPr>
          <p:cNvPr id="953" name="Google Shape;953;p76"/>
          <p:cNvSpPr txBox="1"/>
          <p:nvPr/>
        </p:nvSpPr>
        <p:spPr>
          <a:xfrm>
            <a:off x="1363980" y="1591056"/>
            <a:ext cx="126492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50"/>
              <a:buFont typeface="Arial"/>
              <a:buNone/>
            </a:pPr>
            <a:r>
              <a:rPr lang="en-GB" sz="950" b="1" i="0" u="none" strike="noStrike" cap="none">
                <a:solidFill>
                  <a:srgbClr val="5FD08A"/>
                </a:solidFill>
                <a:latin typeface="Calibri"/>
                <a:ea typeface="Calibri"/>
                <a:cs typeface="Calibri"/>
                <a:sym typeface="Calibri"/>
              </a:rPr>
              <a:t>usual 1–3 s</a:t>
            </a:r>
            <a:endParaRPr sz="1400" b="0" i="0" u="none" strike="noStrike" cap="none">
              <a:solidFill>
                <a:srgbClr val="000000"/>
              </a:solidFill>
              <a:latin typeface="Arial"/>
              <a:ea typeface="Arial"/>
              <a:cs typeface="Arial"/>
              <a:sym typeface="Arial"/>
            </a:endParaRPr>
          </a:p>
        </p:txBody>
      </p:sp>
      <p:sp>
        <p:nvSpPr>
          <p:cNvPr id="954" name="Google Shape;954;p76"/>
          <p:cNvSpPr txBox="1"/>
          <p:nvPr/>
        </p:nvSpPr>
        <p:spPr>
          <a:xfrm>
            <a:off x="2628900" y="1591056"/>
            <a:ext cx="3162299"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50"/>
              <a:buFont typeface="Arial"/>
              <a:buNone/>
            </a:pPr>
            <a:r>
              <a:rPr lang="en-GB" sz="950" b="1" i="0" u="none" strike="noStrike" cap="none">
                <a:solidFill>
                  <a:srgbClr val="7FC6F3"/>
                </a:solidFill>
                <a:latin typeface="Calibri"/>
                <a:ea typeface="Calibri"/>
                <a:cs typeface="Calibri"/>
                <a:sym typeface="Calibri"/>
              </a:rPr>
              <a:t>busy hours: up to 8 s (our runbook)</a:t>
            </a:r>
            <a:endParaRPr sz="1400" b="0" i="0" u="none" strike="noStrike" cap="none">
              <a:solidFill>
                <a:srgbClr val="000000"/>
              </a:solidFill>
              <a:latin typeface="Arial"/>
              <a:ea typeface="Arial"/>
              <a:cs typeface="Arial"/>
              <a:sym typeface="Arial"/>
            </a:endParaRPr>
          </a:p>
        </p:txBody>
      </p:sp>
      <p:cxnSp>
        <p:nvCxnSpPr>
          <p:cNvPr id="955" name="Google Shape;955;p76"/>
          <p:cNvCxnSpPr/>
          <p:nvPr/>
        </p:nvCxnSpPr>
        <p:spPr>
          <a:xfrm>
            <a:off x="1996439" y="1719072"/>
            <a:ext cx="0" cy="566928"/>
          </a:xfrm>
          <a:prstGeom prst="straightConnector1">
            <a:avLst/>
          </a:prstGeom>
          <a:noFill/>
          <a:ln w="28575" cap="flat" cmpd="sng">
            <a:solidFill>
              <a:srgbClr val="F06A5F"/>
            </a:solidFill>
            <a:prstDash val="solid"/>
            <a:round/>
            <a:headEnd type="none" w="sm" len="sm"/>
            <a:tailEnd type="none" w="sm" len="sm"/>
          </a:ln>
          <a:effectLst>
            <a:outerShdw blurRad="40000" dist="20000" dir="5400000" rotWithShape="0">
              <a:srgbClr val="000000">
                <a:alpha val="38039"/>
              </a:srgbClr>
            </a:outerShdw>
          </a:effectLst>
        </p:spPr>
      </p:cxnSp>
      <p:sp>
        <p:nvSpPr>
          <p:cNvPr id="956" name="Google Shape;956;p76"/>
          <p:cNvSpPr txBox="1"/>
          <p:nvPr/>
        </p:nvSpPr>
        <p:spPr>
          <a:xfrm>
            <a:off x="1173480" y="2304288"/>
            <a:ext cx="1645920" cy="27432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F06A5F"/>
                </a:solidFill>
                <a:latin typeface="Calibri"/>
                <a:ea typeface="Calibri"/>
                <a:cs typeface="Calibri"/>
                <a:sym typeface="Calibri"/>
              </a:rPr>
              <a:t>old test checks (2 s)</a:t>
            </a:r>
            <a:endParaRPr sz="1400" b="0" i="0" u="none" strike="noStrike" cap="none">
              <a:solidFill>
                <a:srgbClr val="000000"/>
              </a:solidFill>
              <a:latin typeface="Arial"/>
              <a:ea typeface="Arial"/>
              <a:cs typeface="Arial"/>
              <a:sym typeface="Arial"/>
            </a:endParaRPr>
          </a:p>
        </p:txBody>
      </p:sp>
      <p:cxnSp>
        <p:nvCxnSpPr>
          <p:cNvPr id="957" name="Google Shape;957;p76"/>
          <p:cNvCxnSpPr/>
          <p:nvPr/>
        </p:nvCxnSpPr>
        <p:spPr>
          <a:xfrm>
            <a:off x="3893819" y="1719072"/>
            <a:ext cx="0" cy="566928"/>
          </a:xfrm>
          <a:prstGeom prst="straightConnector1">
            <a:avLst/>
          </a:prstGeom>
          <a:noFill/>
          <a:ln w="28575" cap="flat" cmpd="sng">
            <a:solidFill>
              <a:srgbClr val="4FB0EA"/>
            </a:solidFill>
            <a:prstDash val="solid"/>
            <a:round/>
            <a:headEnd type="none" w="sm" len="sm"/>
            <a:tailEnd type="none" w="sm" len="sm"/>
          </a:ln>
          <a:effectLst>
            <a:outerShdw blurRad="40000" dist="20000" dir="5400000" rotWithShape="0">
              <a:srgbClr val="000000">
                <a:alpha val="38039"/>
              </a:srgbClr>
            </a:outerShdw>
          </a:effectLst>
        </p:spPr>
      </p:cxnSp>
      <p:sp>
        <p:nvSpPr>
          <p:cNvPr id="958" name="Google Shape;958;p76"/>
          <p:cNvSpPr txBox="1"/>
          <p:nvPr/>
        </p:nvSpPr>
        <p:spPr>
          <a:xfrm>
            <a:off x="2770859" y="2304288"/>
            <a:ext cx="2245920" cy="27432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A and B give up (5 s)</a:t>
            </a:r>
            <a:endParaRPr sz="1400" b="0" i="0" u="none" strike="noStrike" cap="none">
              <a:solidFill>
                <a:srgbClr val="000000"/>
              </a:solidFill>
              <a:latin typeface="Arial"/>
              <a:ea typeface="Arial"/>
              <a:cs typeface="Arial"/>
              <a:sym typeface="Arial"/>
            </a:endParaRPr>
          </a:p>
        </p:txBody>
      </p:sp>
      <p:sp>
        <p:nvSpPr>
          <p:cNvPr id="961" name="Google Shape;961;p76"/>
          <p:cNvSpPr/>
          <p:nvPr/>
        </p:nvSpPr>
        <p:spPr>
          <a:xfrm>
            <a:off x="493776" y="2697480"/>
            <a:ext cx="4005072" cy="1234440"/>
          </a:xfrm>
          <a:prstGeom prst="roundRect">
            <a:avLst>
              <a:gd name="adj" fmla="val 8000"/>
            </a:avLst>
          </a:prstGeom>
          <a:solidFill>
            <a:srgbClr val="0A131E"/>
          </a:solidFill>
          <a:ln w="15875" cap="flat" cmpd="sng">
            <a:solidFill>
              <a:srgbClr val="7FC6F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962" name="Google Shape;962;p76"/>
          <p:cNvSpPr txBox="1"/>
          <p:nvPr/>
        </p:nvSpPr>
        <p:spPr>
          <a:xfrm>
            <a:off x="630936" y="2761488"/>
            <a:ext cx="3749039" cy="114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EAF1F7"/>
                </a:solidFill>
                <a:latin typeface="Century Schoolbook"/>
                <a:ea typeface="Century Schoolbook"/>
                <a:cs typeface="Century Schoolbook"/>
                <a:sym typeface="Century Schoolbook"/>
              </a:rPr>
              <a:t>A · Plain prompt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300"/>
              <a:buFont typeface="Arial"/>
              <a:buNone/>
            </a:pPr>
            <a:r>
              <a:rPr lang="en-GB" sz="1300" b="1" i="0" u="none" strike="noStrike" cap="none">
                <a:solidFill>
                  <a:srgbClr val="7FC6F3"/>
                </a:solidFill>
                <a:latin typeface="Courier New"/>
                <a:ea typeface="Courier New"/>
                <a:cs typeface="Courier New"/>
                <a:sym typeface="Courier New"/>
              </a:rPr>
              <a:t>toHaveText(checkoutTexts.paymentDone)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Removed the sleep (Playwright waits up to 5 s). Ran it on this laptop and said “Fixed.”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150"/>
              <a:buFont typeface="Arial"/>
              <a:buNone/>
            </a:pPr>
            <a:r>
              <a:rPr lang="en-GB" sz="1150" b="1" i="0" u="none" strike="noStrike" cap="none">
                <a:solidFill>
                  <a:srgbClr val="F06A5F"/>
                </a:solidFill>
                <a:latin typeface="Calibri"/>
                <a:ea typeface="Calibri"/>
                <a:cs typeface="Calibri"/>
                <a:sym typeface="Calibri"/>
              </a:rPr>
              <a:t>✗  Fails when payment takes 8 s.</a:t>
            </a:r>
            <a:endParaRPr sz="1400" b="0" i="0" u="none" strike="noStrike" cap="none">
              <a:solidFill>
                <a:srgbClr val="000000"/>
              </a:solidFill>
              <a:latin typeface="Arial"/>
              <a:ea typeface="Arial"/>
              <a:cs typeface="Arial"/>
              <a:sym typeface="Arial"/>
            </a:endParaRPr>
          </a:p>
        </p:txBody>
      </p:sp>
      <p:sp>
        <p:nvSpPr>
          <p:cNvPr id="963" name="Google Shape;963;p76"/>
          <p:cNvSpPr/>
          <p:nvPr/>
        </p:nvSpPr>
        <p:spPr>
          <a:xfrm>
            <a:off x="4645152" y="2697480"/>
            <a:ext cx="4005072" cy="1234440"/>
          </a:xfrm>
          <a:prstGeom prst="roundRect">
            <a:avLst>
              <a:gd name="adj" fmla="val 8000"/>
            </a:avLst>
          </a:prstGeom>
          <a:solidFill>
            <a:srgbClr val="0A131E"/>
          </a:solidFill>
          <a:ln w="15875" cap="flat" cmpd="sng">
            <a:solidFill>
              <a:srgbClr val="4FB0EA"/>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964" name="Google Shape;964;p76"/>
          <p:cNvSpPr txBox="1"/>
          <p:nvPr/>
        </p:nvSpPr>
        <p:spPr>
          <a:xfrm>
            <a:off x="4782312" y="2761488"/>
            <a:ext cx="3749039" cy="114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EAF1F7"/>
                </a:solidFill>
                <a:latin typeface="Century Schoolbook"/>
                <a:ea typeface="Century Schoolbook"/>
                <a:cs typeface="Century Schoolbook"/>
                <a:sym typeface="Century Schoolbook"/>
              </a:rPr>
              <a:t>B · + /karpathy-guidelines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300"/>
              <a:buFont typeface="Arial"/>
              <a:buNone/>
            </a:pPr>
            <a:r>
              <a:rPr lang="en-GB" sz="1300" b="1" i="0" u="none" strike="noStrike" cap="none">
                <a:solidFill>
                  <a:srgbClr val="7FC6F3"/>
                </a:solidFill>
                <a:latin typeface="Courier New"/>
                <a:ea typeface="Courier New"/>
                <a:cs typeface="Courier New"/>
                <a:sym typeface="Courier New"/>
              </a:rPr>
              <a:t>the same change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…and it warned us: “only 1.5 s of slack… I haven't seen CI timings. Say if you want 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150"/>
              <a:buFont typeface="Arial"/>
              <a:buNone/>
            </a:pPr>
            <a:r>
              <a:rPr lang="en-GB" sz="1150" b="1" i="0" u="none" strike="noStrike" cap="none">
                <a:solidFill>
                  <a:srgbClr val="C98A2E"/>
                </a:solidFill>
                <a:latin typeface="Calibri"/>
                <a:ea typeface="Calibri"/>
                <a:cs typeface="Calibri"/>
                <a:sym typeface="Calibri"/>
              </a:rPr>
              <a:t>Honest, but still fails at 8 s.</a:t>
            </a:r>
            <a:endParaRPr sz="1400" b="0" i="0" u="none" strike="noStrike" cap="none">
              <a:solidFill>
                <a:srgbClr val="000000"/>
              </a:solidFill>
              <a:latin typeface="Arial"/>
              <a:ea typeface="Arial"/>
              <a:cs typeface="Arial"/>
              <a:sym typeface="Arial"/>
            </a:endParaRPr>
          </a:p>
        </p:txBody>
      </p:sp>
      <p:sp>
        <p:nvSpPr>
          <p:cNvPr id="965" name="Google Shape;965;p76"/>
          <p:cNvSpPr txBox="1"/>
          <p:nvPr/>
        </p:nvSpPr>
        <p:spPr>
          <a:xfrm>
            <a:off x="493776" y="4114800"/>
            <a:ext cx="8138160" cy="3657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GB" sz="1300" b="1" i="1" u="none" strike="noStrike" cap="none">
                <a:solidFill>
                  <a:srgbClr val="7FC6F3"/>
                </a:solidFill>
                <a:latin typeface="Century Schoolbook"/>
                <a:ea typeface="Century Schoolbook"/>
                <a:cs typeface="Century Schoolbook"/>
                <a:sym typeface="Century Schoolbook"/>
              </a:rPr>
              <a:t>Same code, different answers. Only your docs know the real answer: wait for “confirmed”, not a time.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1900" b="1">
                <a:solidFill>
                  <a:srgbClr val="EAF1F6"/>
                </a:solidFill>
                <a:latin typeface="Century Schoolbook"/>
              </a:rPr>
              <a:t>One more layer: the karpathy rules + your team's knowledge</a:t>
            </a:r>
          </a:p>
        </p:txBody>
      </p:sp>
      <p:sp>
        <p:nvSpPr>
          <p:cNvPr id="4" name="Rounded Rectangle 3"/>
          <p:cNvSpPr/>
          <p:nvPr/>
        </p:nvSpPr>
        <p:spPr>
          <a:xfrm>
            <a:off x="493776" y="960120"/>
            <a:ext cx="4572000" cy="566928"/>
          </a:xfrm>
          <a:prstGeom prst="roundRect">
            <a:avLst>
              <a:gd name="adj" fmla="val 8000"/>
            </a:avLst>
          </a:prstGeom>
          <a:solidFill>
            <a:srgbClr val="0E141B"/>
          </a:solidFill>
          <a:ln w="19050">
            <a:solidFill>
              <a:srgbClr val="4FA8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40080" y="1014984"/>
            <a:ext cx="4343400" cy="475488"/>
          </a:xfrm>
          <a:prstGeom prst="rect">
            <a:avLst/>
          </a:prstGeom>
          <a:noFill/>
        </p:spPr>
        <p:txBody>
          <a:bodyPr wrap="square" lIns="0" tIns="0" rIns="0" bIns="0" anchor="t">
            <a:spAutoFit/>
          </a:bodyPr>
          <a:lstStyle/>
          <a:p>
            <a:pPr algn="l"/>
            <a:r>
              <a:rPr sz="1300" b="1" i="0">
                <a:solidFill>
                  <a:srgbClr val="EAF1F6"/>
                </a:solidFill>
                <a:latin typeface="Century Schoolbook"/>
              </a:rPr>
              <a:t>Karpathy's four rules</a:t>
            </a:r>
            <a:r>
              <a:rPr sz="1050" b="1" i="0">
                <a:solidFill>
                  <a:srgbClr val="4FA8E0"/>
                </a:solidFill>
                <a:latin typeface="Calibri"/>
              </a:rPr>
              <a:t>   HOW TO WORK</a:t>
            </a:r>
          </a:p>
          <a:p>
            <a:pPr algn="l">
              <a:spcBef>
                <a:spcPts val="100"/>
              </a:spcBef>
            </a:pPr>
            <a:r>
              <a:rPr sz="1050" b="0" i="0">
                <a:solidFill>
                  <a:srgbClr val="8FA0AE"/>
                </a:solidFill>
                <a:latin typeface="Calibri"/>
              </a:rPr>
              <a:t>think first · keep it simple · touch only the task · prove it</a:t>
            </a:r>
          </a:p>
        </p:txBody>
      </p:sp>
      <p:sp>
        <p:nvSpPr>
          <p:cNvPr id="6" name="TextBox 5"/>
          <p:cNvSpPr txBox="1"/>
          <p:nvPr/>
        </p:nvSpPr>
        <p:spPr>
          <a:xfrm>
            <a:off x="493776" y="1527048"/>
            <a:ext cx="4572000" cy="237744"/>
          </a:xfrm>
          <a:prstGeom prst="rect">
            <a:avLst/>
          </a:prstGeom>
          <a:noFill/>
        </p:spPr>
        <p:txBody>
          <a:bodyPr wrap="square" lIns="0" tIns="0" rIns="0" bIns="0" anchor="t">
            <a:spAutoFit/>
          </a:bodyPr>
          <a:lstStyle/>
          <a:p>
            <a:pPr algn="ctr"/>
            <a:r>
              <a:rPr sz="1500" b="1" i="0">
                <a:solidFill>
                  <a:srgbClr val="8FA0AE"/>
                </a:solidFill>
                <a:latin typeface="Calibri"/>
              </a:rPr>
              <a:t>+</a:t>
            </a:r>
          </a:p>
        </p:txBody>
      </p:sp>
      <p:sp>
        <p:nvSpPr>
          <p:cNvPr id="7" name="Rounded Rectangle 6"/>
          <p:cNvSpPr/>
          <p:nvPr/>
        </p:nvSpPr>
        <p:spPr>
          <a:xfrm>
            <a:off x="493776" y="1764792"/>
            <a:ext cx="4572000" cy="566928"/>
          </a:xfrm>
          <a:prstGeom prst="roundRect">
            <a:avLst>
              <a:gd name="adj" fmla="val 8000"/>
            </a:avLst>
          </a:prstGeom>
          <a:solidFill>
            <a:srgbClr val="0E141B"/>
          </a:solidFill>
          <a:ln w="19050">
            <a:solidFill>
              <a:srgbClr val="E6B1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0080" y="1819656"/>
            <a:ext cx="4343400" cy="475488"/>
          </a:xfrm>
          <a:prstGeom prst="rect">
            <a:avLst/>
          </a:prstGeom>
          <a:noFill/>
        </p:spPr>
        <p:txBody>
          <a:bodyPr wrap="square" lIns="0" tIns="0" rIns="0" bIns="0" anchor="t">
            <a:spAutoFit/>
          </a:bodyPr>
          <a:lstStyle/>
          <a:p>
            <a:pPr algn="l"/>
            <a:r>
              <a:rPr sz="1300" b="1" i="0">
                <a:solidFill>
                  <a:srgbClr val="EAF1F6"/>
                </a:solidFill>
                <a:latin typeface="Century Schoolbook"/>
              </a:rPr>
              <a:t>Your team's docs (RAG)</a:t>
            </a:r>
            <a:r>
              <a:rPr sz="1050" b="1" i="0">
                <a:solidFill>
                  <a:srgbClr val="E6B15E"/>
                </a:solidFill>
                <a:latin typeface="Calibri"/>
              </a:rPr>
              <a:t>   WHAT IS TRUE</a:t>
            </a:r>
          </a:p>
          <a:p>
            <a:pPr algn="l">
              <a:spcBef>
                <a:spcPts val="100"/>
              </a:spcBef>
            </a:pPr>
            <a:r>
              <a:rPr sz="1050" b="0" i="0">
                <a:solidFill>
                  <a:srgbClr val="8FA0AE"/>
                </a:solidFill>
                <a:latin typeface="Calibri"/>
              </a:rPr>
              <a:t>search_docs via MCP finds the runbook: wait for “confirmed”, up to 8 s</a:t>
            </a:r>
          </a:p>
        </p:txBody>
      </p:sp>
      <p:sp>
        <p:nvSpPr>
          <p:cNvPr id="9" name="TextBox 8"/>
          <p:cNvSpPr txBox="1"/>
          <p:nvPr/>
        </p:nvSpPr>
        <p:spPr>
          <a:xfrm>
            <a:off x="493776" y="2331720"/>
            <a:ext cx="4572000" cy="237744"/>
          </a:xfrm>
          <a:prstGeom prst="rect">
            <a:avLst/>
          </a:prstGeom>
          <a:noFill/>
        </p:spPr>
        <p:txBody>
          <a:bodyPr wrap="square" lIns="0" tIns="0" rIns="0" bIns="0" anchor="t">
            <a:spAutoFit/>
          </a:bodyPr>
          <a:lstStyle/>
          <a:p>
            <a:pPr algn="ctr"/>
            <a:r>
              <a:rPr sz="1500" b="1" i="0">
                <a:solidFill>
                  <a:srgbClr val="8FA0AE"/>
                </a:solidFill>
                <a:latin typeface="Calibri"/>
              </a:rPr>
              <a:t>+</a:t>
            </a:r>
          </a:p>
        </p:txBody>
      </p:sp>
      <p:sp>
        <p:nvSpPr>
          <p:cNvPr id="10" name="Rounded Rectangle 9"/>
          <p:cNvSpPr/>
          <p:nvPr/>
        </p:nvSpPr>
        <p:spPr>
          <a:xfrm>
            <a:off x="493776" y="2569464"/>
            <a:ext cx="4572000" cy="566928"/>
          </a:xfrm>
          <a:prstGeom prst="roundRect">
            <a:avLst>
              <a:gd name="adj" fmla="val 8000"/>
            </a:avLst>
          </a:prstGeom>
          <a:solidFill>
            <a:srgbClr val="0E141B"/>
          </a:solidFill>
          <a:ln w="19050">
            <a:solidFill>
              <a:srgbClr val="3FC8B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40080" y="2624328"/>
            <a:ext cx="4343400" cy="475488"/>
          </a:xfrm>
          <a:prstGeom prst="rect">
            <a:avLst/>
          </a:prstGeom>
          <a:noFill/>
        </p:spPr>
        <p:txBody>
          <a:bodyPr wrap="square" lIns="0" tIns="0" rIns="0" bIns="0" anchor="t">
            <a:spAutoFit/>
          </a:bodyPr>
          <a:lstStyle/>
          <a:p>
            <a:pPr algn="l"/>
            <a:r>
              <a:rPr sz="1300" b="1" i="0">
                <a:solidFill>
                  <a:srgbClr val="EAF1F6"/>
                </a:solidFill>
                <a:latin typeface="Century Schoolbook"/>
              </a:rPr>
              <a:t>A real browser</a:t>
            </a:r>
            <a:r>
              <a:rPr sz="1050" b="1" i="0">
                <a:solidFill>
                  <a:srgbClr val="3FC8B8"/>
                </a:solidFill>
                <a:latin typeface="Calibri"/>
              </a:rPr>
              <a:t>   WHAT REALLY HAPPENS</a:t>
            </a:r>
          </a:p>
          <a:p>
            <a:pPr algn="l">
              <a:spcBef>
                <a:spcPts val="100"/>
              </a:spcBef>
            </a:pPr>
            <a:r>
              <a:rPr sz="1050" b="0" i="0">
                <a:solidFill>
                  <a:srgbClr val="8FA0AE"/>
                </a:solidFill>
                <a:latin typeface="Calibri"/>
              </a:rPr>
              <a:t>Playwright MCP watches the page: Pay → 202 → pending → confirmed</a:t>
            </a:r>
          </a:p>
        </p:txBody>
      </p:sp>
      <p:sp>
        <p:nvSpPr>
          <p:cNvPr id="12" name="TextBox 11"/>
          <p:cNvSpPr txBox="1"/>
          <p:nvPr/>
        </p:nvSpPr>
        <p:spPr>
          <a:xfrm>
            <a:off x="493776" y="3136392"/>
            <a:ext cx="4572000" cy="237744"/>
          </a:xfrm>
          <a:prstGeom prst="rect">
            <a:avLst/>
          </a:prstGeom>
          <a:noFill/>
        </p:spPr>
        <p:txBody>
          <a:bodyPr wrap="square" lIns="0" tIns="0" rIns="0" bIns="0" anchor="t">
            <a:spAutoFit/>
          </a:bodyPr>
          <a:lstStyle/>
          <a:p>
            <a:pPr algn="ctr"/>
            <a:r>
              <a:rPr sz="1500" b="1" i="0">
                <a:solidFill>
                  <a:srgbClr val="8FA0AE"/>
                </a:solidFill>
                <a:latin typeface="Calibri"/>
              </a:rPr>
              <a:t>=</a:t>
            </a:r>
          </a:p>
        </p:txBody>
      </p:sp>
      <p:sp>
        <p:nvSpPr>
          <p:cNvPr id="13" name="Rounded Rectangle 12"/>
          <p:cNvSpPr/>
          <p:nvPr/>
        </p:nvSpPr>
        <p:spPr>
          <a:xfrm>
            <a:off x="493776" y="3383280"/>
            <a:ext cx="4572000" cy="566928"/>
          </a:xfrm>
          <a:prstGeom prst="roundRect">
            <a:avLst>
              <a:gd name="adj" fmla="val 8000"/>
            </a:avLst>
          </a:prstGeom>
          <a:solidFill>
            <a:srgbClr val="1B2A3D"/>
          </a:solidFill>
          <a:ln w="25400">
            <a:solidFill>
              <a:srgbClr val="E6B1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3383280"/>
            <a:ext cx="4343400" cy="566928"/>
          </a:xfrm>
          <a:prstGeom prst="rect">
            <a:avLst/>
          </a:prstGeom>
          <a:noFill/>
        </p:spPr>
        <p:txBody>
          <a:bodyPr wrap="square" lIns="0" tIns="0" rIns="0" bIns="0" anchor="ctr">
            <a:spAutoFit/>
          </a:bodyPr>
          <a:lstStyle/>
          <a:p>
            <a:pPr algn="l"/>
            <a:r>
              <a:rPr sz="1600" b="1" i="0">
                <a:solidFill>
                  <a:srgbClr val="E6B15E"/>
                </a:solidFill>
                <a:latin typeface="Courier New"/>
              </a:rPr>
              <a:t>/fix-flaky</a:t>
            </a:r>
            <a:r>
              <a:rPr sz="1200" b="0" i="0">
                <a:solidFill>
                  <a:srgbClr val="EAF1F6"/>
                </a:solidFill>
                <a:latin typeface="Calibri"/>
              </a:rPr>
              <a:t>   one command, every tester</a:t>
            </a:r>
          </a:p>
        </p:txBody>
      </p:sp>
      <p:sp>
        <p:nvSpPr>
          <p:cNvPr id="15" name="TextBox 14"/>
          <p:cNvSpPr txBox="1"/>
          <p:nvPr/>
        </p:nvSpPr>
        <p:spPr>
          <a:xfrm>
            <a:off x="493776" y="4069080"/>
            <a:ext cx="4663440" cy="548640"/>
          </a:xfrm>
          <a:prstGeom prst="rect">
            <a:avLst/>
          </a:prstGeom>
          <a:noFill/>
        </p:spPr>
        <p:txBody>
          <a:bodyPr wrap="square" lIns="0" tIns="0" rIns="0" bIns="0" anchor="t">
            <a:spAutoFit/>
          </a:bodyPr>
          <a:lstStyle/>
          <a:p>
            <a:pPr algn="l"/>
            <a:r>
              <a:rPr sz="1250" b="1" i="1">
                <a:solidFill>
                  <a:srgbClr val="E6B15E"/>
                </a:solidFill>
                <a:latin typeface="Century Schoolbook"/>
              </a:rPr>
              <a:t>Rules alone made Claude honest. Rules + docs made it right.</a:t>
            </a:r>
          </a:p>
        </p:txBody>
      </p:sp>
      <p:sp>
        <p:nvSpPr>
          <p:cNvPr id="16" name="TextBox 15"/>
          <p:cNvSpPr txBox="1"/>
          <p:nvPr/>
        </p:nvSpPr>
        <p:spPr>
          <a:xfrm>
            <a:off x="5349240" y="914400"/>
            <a:ext cx="3291840" cy="274320"/>
          </a:xfrm>
          <a:prstGeom prst="rect">
            <a:avLst/>
          </a:prstGeom>
          <a:noFill/>
        </p:spPr>
        <p:txBody>
          <a:bodyPr wrap="square" lIns="0" tIns="0" rIns="0" bIns="0" anchor="t">
            <a:spAutoFit/>
          </a:bodyPr>
          <a:lstStyle/>
          <a:p>
            <a:pPr algn="l"/>
            <a:r>
              <a:rPr sz="1100" b="1" i="0">
                <a:solidFill>
                  <a:srgbClr val="4FA8E0"/>
                </a:solidFill>
                <a:latin typeface="Calibri"/>
              </a:rPr>
              <a:t>READ MORE</a:t>
            </a:r>
          </a:p>
        </p:txBody>
      </p:sp>
      <p:pic>
        <p:nvPicPr>
          <p:cNvPr id="17" name="Picture 16" descr="qr-x.png"/>
          <p:cNvPicPr>
            <a:picLocks noChangeAspect="1"/>
          </p:cNvPicPr>
          <p:nvPr/>
        </p:nvPicPr>
        <p:blipFill>
          <a:blip r:embed="rId3"/>
          <a:stretch>
            <a:fillRect/>
          </a:stretch>
        </p:blipFill>
        <p:spPr>
          <a:xfrm>
            <a:off x="5349240" y="1207008"/>
            <a:ext cx="896112" cy="896112"/>
          </a:xfrm>
          <a:prstGeom prst="rect">
            <a:avLst/>
          </a:prstGeom>
        </p:spPr>
      </p:pic>
      <p:sp>
        <p:nvSpPr>
          <p:cNvPr id="18" name="TextBox 17"/>
          <p:cNvSpPr txBox="1"/>
          <p:nvPr/>
        </p:nvSpPr>
        <p:spPr>
          <a:xfrm>
            <a:off x="5349240" y="2121408"/>
            <a:ext cx="1600200" cy="548640"/>
          </a:xfrm>
          <a:prstGeom prst="rect">
            <a:avLst/>
          </a:prstGeom>
          <a:noFill/>
        </p:spPr>
        <p:txBody>
          <a:bodyPr wrap="square" lIns="0" tIns="0" rIns="0" bIns="0" anchor="t">
            <a:spAutoFit/>
          </a:bodyPr>
          <a:lstStyle/>
          <a:p>
            <a:pPr algn="l"/>
            <a:r>
              <a:rPr sz="950" b="1" i="0">
                <a:solidFill>
                  <a:srgbClr val="EAF1F6"/>
                </a:solidFill>
                <a:latin typeface="Calibri"/>
              </a:rPr>
              <a:t>1  Karpathy's notes</a:t>
            </a:r>
          </a:p>
          <a:p>
            <a:pPr algn="l"/>
            <a:r>
              <a:rPr sz="850" b="0" i="0">
                <a:solidFill>
                  <a:srgbClr val="8FA0AE"/>
                </a:solidFill>
                <a:latin typeface="Calibri"/>
              </a:rPr>
              <a:t>x.com/karpathy</a:t>
            </a:r>
          </a:p>
        </p:txBody>
      </p:sp>
      <p:pic>
        <p:nvPicPr>
          <p:cNvPr id="19" name="Picture 18" descr="qr-skill.png"/>
          <p:cNvPicPr>
            <a:picLocks noChangeAspect="1"/>
          </p:cNvPicPr>
          <p:nvPr/>
        </p:nvPicPr>
        <p:blipFill>
          <a:blip r:embed="rId4"/>
          <a:stretch>
            <a:fillRect/>
          </a:stretch>
        </p:blipFill>
        <p:spPr>
          <a:xfrm>
            <a:off x="7040879" y="1207008"/>
            <a:ext cx="896112" cy="896112"/>
          </a:xfrm>
          <a:prstGeom prst="rect">
            <a:avLst/>
          </a:prstGeom>
        </p:spPr>
      </p:pic>
      <p:sp>
        <p:nvSpPr>
          <p:cNvPr id="20" name="TextBox 19"/>
          <p:cNvSpPr txBox="1"/>
          <p:nvPr/>
        </p:nvSpPr>
        <p:spPr>
          <a:xfrm>
            <a:off x="7040879" y="2121408"/>
            <a:ext cx="1600200" cy="548640"/>
          </a:xfrm>
          <a:prstGeom prst="rect">
            <a:avLst/>
          </a:prstGeom>
          <a:noFill/>
        </p:spPr>
        <p:txBody>
          <a:bodyPr wrap="square" lIns="0" tIns="0" rIns="0" bIns="0" anchor="t">
            <a:spAutoFit/>
          </a:bodyPr>
          <a:lstStyle/>
          <a:p>
            <a:pPr algn="l"/>
            <a:r>
              <a:rPr sz="950" b="1" i="0">
                <a:solidFill>
                  <a:srgbClr val="EAF1F6"/>
                </a:solidFill>
                <a:latin typeface="Calibri"/>
              </a:rPr>
              <a:t>2  The skill file</a:t>
            </a:r>
          </a:p>
          <a:p>
            <a:pPr algn="l"/>
            <a:r>
              <a:rPr sz="850" b="0" i="0">
                <a:solidFill>
                  <a:srgbClr val="8FA0AE"/>
                </a:solidFill>
                <a:latin typeface="Calibri"/>
              </a:rPr>
              <a:t>github.com/multica-ai/…</a:t>
            </a:r>
          </a:p>
        </p:txBody>
      </p:sp>
      <p:pic>
        <p:nvPicPr>
          <p:cNvPr id="21" name="Picture 20" descr="qr-medium.png"/>
          <p:cNvPicPr>
            <a:picLocks noChangeAspect="1"/>
          </p:cNvPicPr>
          <p:nvPr/>
        </p:nvPicPr>
        <p:blipFill>
          <a:blip r:embed="rId5"/>
          <a:stretch>
            <a:fillRect/>
          </a:stretch>
        </p:blipFill>
        <p:spPr>
          <a:xfrm>
            <a:off x="5349240" y="2779776"/>
            <a:ext cx="896112" cy="896112"/>
          </a:xfrm>
          <a:prstGeom prst="rect">
            <a:avLst/>
          </a:prstGeom>
        </p:spPr>
      </p:pic>
      <p:sp>
        <p:nvSpPr>
          <p:cNvPr id="22" name="TextBox 21"/>
          <p:cNvSpPr txBox="1"/>
          <p:nvPr/>
        </p:nvSpPr>
        <p:spPr>
          <a:xfrm>
            <a:off x="5349240" y="3694176"/>
            <a:ext cx="1600200" cy="548640"/>
          </a:xfrm>
          <a:prstGeom prst="rect">
            <a:avLst/>
          </a:prstGeom>
          <a:noFill/>
        </p:spPr>
        <p:txBody>
          <a:bodyPr wrap="square" lIns="0" tIns="0" rIns="0" bIns="0" anchor="t">
            <a:spAutoFit/>
          </a:bodyPr>
          <a:lstStyle/>
          <a:p>
            <a:pPr algn="l"/>
            <a:r>
              <a:rPr sz="950" b="1" i="0">
                <a:solidFill>
                  <a:srgbClr val="EAF1F6"/>
                </a:solidFill>
                <a:latin typeface="Calibri"/>
              </a:rPr>
              <a:t>3  Why it took off</a:t>
            </a:r>
          </a:p>
          <a:p>
            <a:pPr algn="l"/>
            <a:r>
              <a:rPr sz="850" b="0" i="0">
                <a:solidFill>
                  <a:srgbClr val="8FA0AE"/>
                </a:solidFill>
                <a:latin typeface="Calibri"/>
              </a:rPr>
              <a:t>Medium</a:t>
            </a:r>
          </a:p>
        </p:txBody>
      </p:sp>
      <p:pic>
        <p:nvPicPr>
          <p:cNvPr id="23" name="Picture 22" descr="qr-devto.png"/>
          <p:cNvPicPr>
            <a:picLocks noChangeAspect="1"/>
          </p:cNvPicPr>
          <p:nvPr/>
        </p:nvPicPr>
        <p:blipFill>
          <a:blip r:embed="rId6"/>
          <a:stretch>
            <a:fillRect/>
          </a:stretch>
        </p:blipFill>
        <p:spPr>
          <a:xfrm>
            <a:off x="7040879" y="2779776"/>
            <a:ext cx="896112" cy="896112"/>
          </a:xfrm>
          <a:prstGeom prst="rect">
            <a:avLst/>
          </a:prstGeom>
        </p:spPr>
      </p:pic>
      <p:sp>
        <p:nvSpPr>
          <p:cNvPr id="24" name="TextBox 23"/>
          <p:cNvSpPr txBox="1"/>
          <p:nvPr/>
        </p:nvSpPr>
        <p:spPr>
          <a:xfrm>
            <a:off x="7040879" y="3694176"/>
            <a:ext cx="1600200" cy="548640"/>
          </a:xfrm>
          <a:prstGeom prst="rect">
            <a:avLst/>
          </a:prstGeom>
          <a:noFill/>
        </p:spPr>
        <p:txBody>
          <a:bodyPr wrap="square" lIns="0" tIns="0" rIns="0" bIns="0" anchor="t">
            <a:spAutoFit/>
          </a:bodyPr>
          <a:lstStyle/>
          <a:p>
            <a:pPr algn="l"/>
            <a:r>
              <a:rPr sz="950" b="1" i="0">
                <a:solidFill>
                  <a:srgbClr val="EAF1F6"/>
                </a:solidFill>
                <a:latin typeface="Calibri"/>
              </a:rPr>
              <a:t>4  Most popular AI coding skills</a:t>
            </a:r>
          </a:p>
          <a:p>
            <a:pPr algn="l"/>
            <a:r>
              <a:rPr sz="850" b="0" i="0">
                <a:solidFill>
                  <a:srgbClr val="8FA0AE"/>
                </a:solidFill>
                <a:latin typeface="Calibri"/>
              </a:rPr>
              <a:t>dev.to/aws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70"/>
        <p:cNvGrpSpPr/>
        <p:nvPr/>
      </p:nvGrpSpPr>
      <p:grpSpPr>
        <a:xfrm>
          <a:off x="0" y="0"/>
          <a:ext cx="0" cy="0"/>
          <a:chOff x="0" y="0"/>
          <a:chExt cx="0" cy="0"/>
        </a:xfrm>
      </p:grpSpPr>
      <p:sp>
        <p:nvSpPr>
          <p:cNvPr id="971" name="Google Shape;971;p77"/>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Step 3: write the four rules down once, as a team skill</a:t>
            </a:r>
            <a:endParaRPr sz="1900"/>
          </a:p>
        </p:txBody>
      </p:sp>
      <p:sp>
        <p:nvSpPr>
          <p:cNvPr id="972" name="Google Shape;972;p77"/>
          <p:cNvSpPr/>
          <p:nvPr/>
        </p:nvSpPr>
        <p:spPr>
          <a:xfrm>
            <a:off x="493776" y="1051560"/>
            <a:ext cx="4892040" cy="3154680"/>
          </a:xfrm>
          <a:prstGeom prst="roundRect">
            <a:avLst>
              <a:gd name="adj" fmla="val 4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77"/>
          <p:cNvSpPr/>
          <p:nvPr/>
        </p:nvSpPr>
        <p:spPr>
          <a:xfrm>
            <a:off x="676656" y="1197864"/>
            <a:ext cx="91440" cy="91440"/>
          </a:xfrm>
          <a:prstGeom prst="ellipse">
            <a:avLst/>
          </a:prstGeom>
          <a:solidFill>
            <a:srgbClr val="FF5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77"/>
          <p:cNvSpPr/>
          <p:nvPr/>
        </p:nvSpPr>
        <p:spPr>
          <a:xfrm>
            <a:off x="832104" y="1197864"/>
            <a:ext cx="91440" cy="91440"/>
          </a:xfrm>
          <a:prstGeom prst="ellipse">
            <a:avLst/>
          </a:prstGeom>
          <a:solidFill>
            <a:srgbClr val="FEB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77"/>
          <p:cNvSpPr/>
          <p:nvPr/>
        </p:nvSpPr>
        <p:spPr>
          <a:xfrm>
            <a:off x="987552" y="1197864"/>
            <a:ext cx="91440" cy="91440"/>
          </a:xfrm>
          <a:prstGeom prst="ellipse">
            <a:avLst/>
          </a:prstGeom>
          <a:solidFill>
            <a:srgbClr val="28C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77"/>
          <p:cNvSpPr txBox="1"/>
          <p:nvPr/>
        </p:nvSpPr>
        <p:spPr>
          <a:xfrm>
            <a:off x="1179576" y="1124712"/>
            <a:ext cx="3977640" cy="2377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93A9C0"/>
                </a:solidFill>
                <a:latin typeface="Courier New"/>
                <a:ea typeface="Courier New"/>
                <a:cs typeface="Courier New"/>
                <a:sym typeface="Courier New"/>
              </a:rPr>
              <a:t>.claude/skills/fix-flaky/SKILL.md</a:t>
            </a:r>
            <a:endParaRPr/>
          </a:p>
        </p:txBody>
      </p:sp>
      <p:cxnSp>
        <p:nvCxnSpPr>
          <p:cNvPr id="977" name="Google Shape;977;p77"/>
          <p:cNvCxnSpPr/>
          <p:nvPr/>
        </p:nvCxnSpPr>
        <p:spPr>
          <a:xfrm>
            <a:off x="493776" y="1435608"/>
            <a:ext cx="4892040" cy="0"/>
          </a:xfrm>
          <a:prstGeom prst="straightConnector1">
            <a:avLst/>
          </a:prstGeom>
          <a:noFill/>
          <a:ln w="9525" cap="flat" cmpd="sng">
            <a:solidFill>
              <a:srgbClr val="1E3044"/>
            </a:solidFill>
            <a:prstDash val="solid"/>
            <a:round/>
            <a:headEnd type="none" w="sm" len="sm"/>
            <a:tailEnd type="none" w="sm" len="sm"/>
          </a:ln>
        </p:spPr>
      </p:cxnSp>
      <p:sp>
        <p:nvSpPr>
          <p:cNvPr id="978" name="Google Shape;978;p77"/>
          <p:cNvSpPr/>
          <p:nvPr/>
        </p:nvSpPr>
        <p:spPr>
          <a:xfrm>
            <a:off x="722376" y="1618488"/>
            <a:ext cx="292608" cy="292608"/>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1</a:t>
            </a:r>
            <a:endParaRPr/>
          </a:p>
        </p:txBody>
      </p:sp>
      <p:sp>
        <p:nvSpPr>
          <p:cNvPr id="979" name="Google Shape;979;p77"/>
          <p:cNvSpPr txBox="1"/>
          <p:nvPr/>
        </p:nvSpPr>
        <p:spPr>
          <a:xfrm>
            <a:off x="1179576" y="1563624"/>
            <a:ext cx="4023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7FC6F3"/>
                </a:solidFill>
                <a:latin typeface="Courier New"/>
                <a:ea typeface="Courier New"/>
                <a:cs typeface="Courier New"/>
                <a:sym typeface="Courier New"/>
              </a:rPr>
              <a:t>Think first</a:t>
            </a:r>
            <a:endParaRPr/>
          </a:p>
        </p:txBody>
      </p:sp>
      <p:sp>
        <p:nvSpPr>
          <p:cNvPr id="980" name="Google Shape;980;p77"/>
          <p:cNvSpPr txBox="1"/>
          <p:nvPr/>
        </p:nvSpPr>
        <p:spPr>
          <a:xfrm>
            <a:off x="1179576" y="1847088"/>
            <a:ext cx="4023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Reproduce it, watch it in the browser, search the docs.</a:t>
            </a:r>
            <a:endParaRPr/>
          </a:p>
        </p:txBody>
      </p:sp>
      <p:sp>
        <p:nvSpPr>
          <p:cNvPr id="981" name="Google Shape;981;p77"/>
          <p:cNvSpPr/>
          <p:nvPr/>
        </p:nvSpPr>
        <p:spPr>
          <a:xfrm>
            <a:off x="722376" y="2267712"/>
            <a:ext cx="292608" cy="292608"/>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2</a:t>
            </a:r>
            <a:endParaRPr/>
          </a:p>
        </p:txBody>
      </p:sp>
      <p:sp>
        <p:nvSpPr>
          <p:cNvPr id="982" name="Google Shape;982;p77"/>
          <p:cNvSpPr txBox="1"/>
          <p:nvPr/>
        </p:nvSpPr>
        <p:spPr>
          <a:xfrm>
            <a:off x="1179576" y="2212848"/>
            <a:ext cx="4023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7FC6F3"/>
                </a:solidFill>
                <a:latin typeface="Courier New"/>
                <a:ea typeface="Courier New"/>
                <a:cs typeface="Courier New"/>
                <a:sym typeface="Courier New"/>
              </a:rPr>
              <a:t>Keep it simple</a:t>
            </a:r>
            <a:endParaRPr/>
          </a:p>
        </p:txBody>
      </p:sp>
      <p:sp>
        <p:nvSpPr>
          <p:cNvPr id="983" name="Google Shape;983;p77"/>
          <p:cNvSpPr txBox="1"/>
          <p:nvPr/>
        </p:nvSpPr>
        <p:spPr>
          <a:xfrm>
            <a:off x="1179576" y="2496312"/>
            <a:ext cx="4023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Wait for the real event, never a timeout.</a:t>
            </a:r>
            <a:endParaRPr/>
          </a:p>
        </p:txBody>
      </p:sp>
      <p:sp>
        <p:nvSpPr>
          <p:cNvPr id="984" name="Google Shape;984;p77"/>
          <p:cNvSpPr/>
          <p:nvPr/>
        </p:nvSpPr>
        <p:spPr>
          <a:xfrm>
            <a:off x="722376" y="2916936"/>
            <a:ext cx="292608" cy="292608"/>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3</a:t>
            </a:r>
            <a:endParaRPr/>
          </a:p>
        </p:txBody>
      </p:sp>
      <p:sp>
        <p:nvSpPr>
          <p:cNvPr id="985" name="Google Shape;985;p77"/>
          <p:cNvSpPr txBox="1"/>
          <p:nvPr/>
        </p:nvSpPr>
        <p:spPr>
          <a:xfrm>
            <a:off x="1179576" y="2862072"/>
            <a:ext cx="4023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7FC6F3"/>
                </a:solidFill>
                <a:latin typeface="Courier New"/>
                <a:ea typeface="Courier New"/>
                <a:cs typeface="Courier New"/>
                <a:sym typeface="Courier New"/>
              </a:rPr>
              <a:t>Touch only the task</a:t>
            </a:r>
            <a:endParaRPr/>
          </a:p>
        </p:txBody>
      </p:sp>
      <p:sp>
        <p:nvSpPr>
          <p:cNvPr id="986" name="Google Shape;986;p77"/>
          <p:cNvSpPr txBox="1"/>
          <p:nvPr/>
        </p:nvSpPr>
        <p:spPr>
          <a:xfrm>
            <a:off x="1179576" y="3145536"/>
            <a:ext cx="4023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Change only the test, in our existing style.</a:t>
            </a:r>
            <a:endParaRPr/>
          </a:p>
        </p:txBody>
      </p:sp>
      <p:sp>
        <p:nvSpPr>
          <p:cNvPr id="987" name="Google Shape;987;p77"/>
          <p:cNvSpPr/>
          <p:nvPr/>
        </p:nvSpPr>
        <p:spPr>
          <a:xfrm>
            <a:off x="722376" y="3566160"/>
            <a:ext cx="292608" cy="292608"/>
          </a:xfrm>
          <a:prstGeom prst="ellipse">
            <a:avLst/>
          </a:prstGeom>
          <a:solidFill>
            <a:srgbClr val="0272B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FFFFFF"/>
                </a:solidFill>
                <a:latin typeface="Calibri"/>
                <a:ea typeface="Calibri"/>
                <a:cs typeface="Calibri"/>
                <a:sym typeface="Calibri"/>
              </a:rPr>
              <a:t>4</a:t>
            </a:r>
            <a:endParaRPr/>
          </a:p>
        </p:txBody>
      </p:sp>
      <p:sp>
        <p:nvSpPr>
          <p:cNvPr id="988" name="Google Shape;988;p77"/>
          <p:cNvSpPr txBox="1"/>
          <p:nvPr/>
        </p:nvSpPr>
        <p:spPr>
          <a:xfrm>
            <a:off x="1179576" y="3511296"/>
            <a:ext cx="4023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7FC6F3"/>
                </a:solidFill>
                <a:latin typeface="Courier New"/>
                <a:ea typeface="Courier New"/>
                <a:cs typeface="Courier New"/>
                <a:sym typeface="Courier New"/>
              </a:rPr>
              <a:t>Prove it</a:t>
            </a:r>
            <a:endParaRPr/>
          </a:p>
        </p:txBody>
      </p:sp>
      <p:sp>
        <p:nvSpPr>
          <p:cNvPr id="989" name="Google Shape;989;p77"/>
          <p:cNvSpPr txBox="1"/>
          <p:nvPr/>
        </p:nvSpPr>
        <p:spPr>
          <a:xfrm>
            <a:off x="1179576" y="3794760"/>
            <a:ext cx="4023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EAF1F7"/>
                </a:solidFill>
                <a:latin typeface="Calibri"/>
                <a:ea typeface="Calibri"/>
                <a:cs typeface="Calibri"/>
                <a:sym typeface="Calibri"/>
              </a:rPr>
              <a:t>Run it 10 times, name the docs you used.</a:t>
            </a:r>
            <a:endParaRPr/>
          </a:p>
        </p:txBody>
      </p:sp>
      <p:sp>
        <p:nvSpPr>
          <p:cNvPr id="990" name="Google Shape;990;p77"/>
          <p:cNvSpPr txBox="1"/>
          <p:nvPr/>
        </p:nvSpPr>
        <p:spPr>
          <a:xfrm>
            <a:off x="5669280" y="1051560"/>
            <a:ext cx="298094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4FB0EA"/>
                </a:solidFill>
                <a:latin typeface="Calibri"/>
                <a:ea typeface="Calibri"/>
                <a:cs typeface="Calibri"/>
                <a:sym typeface="Calibri"/>
              </a:rPr>
              <a:t>NOW EVERY TESTER TYPES</a:t>
            </a:r>
            <a:endParaRPr/>
          </a:p>
        </p:txBody>
      </p:sp>
      <p:sp>
        <p:nvSpPr>
          <p:cNvPr id="991" name="Google Shape;991;p77"/>
          <p:cNvSpPr/>
          <p:nvPr/>
        </p:nvSpPr>
        <p:spPr>
          <a:xfrm>
            <a:off x="5669280" y="1344168"/>
            <a:ext cx="2980944" cy="1005840"/>
          </a:xfrm>
          <a:prstGeom prst="roundRect">
            <a:avLst>
              <a:gd name="adj" fmla="val 8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77"/>
          <p:cNvSpPr/>
          <p:nvPr/>
        </p:nvSpPr>
        <p:spPr>
          <a:xfrm>
            <a:off x="5833872" y="1472184"/>
            <a:ext cx="82296" cy="82296"/>
          </a:xfrm>
          <a:prstGeom prst="ellipse">
            <a:avLst/>
          </a:prstGeom>
          <a:solidFill>
            <a:srgbClr val="FF5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77"/>
          <p:cNvSpPr/>
          <p:nvPr/>
        </p:nvSpPr>
        <p:spPr>
          <a:xfrm>
            <a:off x="5980176" y="1472184"/>
            <a:ext cx="82296" cy="82296"/>
          </a:xfrm>
          <a:prstGeom prst="ellipse">
            <a:avLst/>
          </a:prstGeom>
          <a:solidFill>
            <a:srgbClr val="FEB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77"/>
          <p:cNvSpPr/>
          <p:nvPr/>
        </p:nvSpPr>
        <p:spPr>
          <a:xfrm>
            <a:off x="6126480" y="1472184"/>
            <a:ext cx="82296" cy="82296"/>
          </a:xfrm>
          <a:prstGeom prst="ellipse">
            <a:avLst/>
          </a:prstGeom>
          <a:solidFill>
            <a:srgbClr val="28C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77"/>
          <p:cNvSpPr txBox="1"/>
          <p:nvPr/>
        </p:nvSpPr>
        <p:spPr>
          <a:xfrm>
            <a:off x="5870448" y="1673352"/>
            <a:ext cx="2660904" cy="6217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4FB0EA"/>
                </a:solidFill>
                <a:latin typeface="Courier New"/>
                <a:ea typeface="Courier New"/>
                <a:cs typeface="Courier New"/>
                <a:sym typeface="Courier New"/>
              </a:rPr>
              <a:t>&gt; </a:t>
            </a:r>
            <a:r>
              <a:rPr lang="en-GB" sz="2000" b="1" i="0" u="none" strike="noStrike" cap="none">
                <a:solidFill>
                  <a:srgbClr val="FFFFFF"/>
                </a:solidFill>
                <a:latin typeface="Courier New"/>
                <a:ea typeface="Courier New"/>
                <a:cs typeface="Courier New"/>
                <a:sym typeface="Courier New"/>
              </a:rPr>
              <a:t>/fix-flaky</a:t>
            </a:r>
            <a:endParaRPr/>
          </a:p>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93A9C0"/>
                </a:solidFill>
                <a:latin typeface="Courier New"/>
                <a:ea typeface="Courier New"/>
                <a:cs typeface="Courier New"/>
                <a:sym typeface="Courier New"/>
              </a:rPr>
              <a:t>  the checkout test</a:t>
            </a:r>
            <a:endParaRPr/>
          </a:p>
        </p:txBody>
      </p:sp>
      <p:sp>
        <p:nvSpPr>
          <p:cNvPr id="996" name="Google Shape;996;p77"/>
          <p:cNvSpPr txBox="1"/>
          <p:nvPr/>
        </p:nvSpPr>
        <p:spPr>
          <a:xfrm>
            <a:off x="5669280" y="2551176"/>
            <a:ext cx="2980944"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b="0" i="1" u="none" strike="noStrike" cap="none">
                <a:solidFill>
                  <a:srgbClr val="7FC6F3"/>
                </a:solidFill>
                <a:latin typeface="Century Schoolbook"/>
                <a:ea typeface="Century Schoolbook"/>
                <a:cs typeface="Century Schoolbook"/>
                <a:sym typeface="Century Schoolbook"/>
              </a:rPr>
              <a:t>Same command, same quality, for everyone on the team.</a:t>
            </a:r>
            <a:endParaRPr/>
          </a:p>
        </p:txBody>
      </p:sp>
      <p:sp>
        <p:nvSpPr>
          <p:cNvPr id="997" name="Google Shape;997;p77"/>
          <p:cNvSpPr/>
          <p:nvPr/>
        </p:nvSpPr>
        <p:spPr>
          <a:xfrm>
            <a:off x="5669280" y="3639312"/>
            <a:ext cx="2980944" cy="566928"/>
          </a:xfrm>
          <a:prstGeom prst="roundRect">
            <a:avLst>
              <a:gd name="adj" fmla="val 18000"/>
            </a:avLst>
          </a:prstGeom>
          <a:solidFill>
            <a:srgbClr val="06223A"/>
          </a:solidFill>
          <a:ln w="9525" cap="flat" cmpd="sng">
            <a:solidFill>
              <a:srgbClr val="0272B4"/>
            </a:solidFill>
            <a:prstDash val="solid"/>
            <a:round/>
            <a:headEnd type="none" w="sm" len="sm"/>
            <a:tailEnd type="none" w="sm" len="sm"/>
          </a:ln>
        </p:spPr>
        <p:txBody>
          <a:bodyPr spcFirstLastPara="1" wrap="square" lIns="109725" tIns="109725" rIns="109725" bIns="109725"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EAF1F7"/>
                </a:solidFill>
                <a:latin typeface="Calibri"/>
                <a:ea typeface="Calibri"/>
                <a:cs typeface="Calibri"/>
                <a:sym typeface="Calibri"/>
              </a:rPr>
              <a:t>The four /karpathy-guidelines rules, written once as steps your whole team runs.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02"/>
        <p:cNvGrpSpPr/>
        <p:nvPr/>
      </p:nvGrpSpPr>
      <p:grpSpPr>
        <a:xfrm>
          <a:off x="0" y="0"/>
          <a:ext cx="0" cy="0"/>
          <a:chOff x="0" y="0"/>
          <a:chExt cx="0" cy="0"/>
        </a:xfrm>
      </p:grpSpPr>
      <p:sp>
        <p:nvSpPr>
          <p:cNvPr id="1003" name="Google Shape;1003;p78"/>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Step 6: four testers, four Claudes, one repo</a:t>
            </a:r>
            <a:endParaRPr sz="1900"/>
          </a:p>
        </p:txBody>
      </p:sp>
      <p:sp>
        <p:nvSpPr>
          <p:cNvPr id="1004" name="Google Shape;1004;p78"/>
          <p:cNvSpPr txBox="1"/>
          <p:nvPr/>
        </p:nvSpPr>
        <p:spPr>
          <a:xfrm>
            <a:off x="493776" y="1028700"/>
            <a:ext cx="8161020" cy="24003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000"/>
              <a:buFont typeface="Calibri"/>
              <a:buNone/>
            </a:pPr>
            <a:r>
              <a:rPr lang="en-GB" sz="1000" b="0" i="0" u="none" strike="noStrike" cap="none">
                <a:solidFill>
                  <a:srgbClr val="EAF1F7"/>
                </a:solidFill>
                <a:latin typeface="Calibri"/>
                <a:ea typeface="Calibri"/>
                <a:cs typeface="Calibri"/>
                <a:sym typeface="Calibri"/>
              </a:rPr>
              <a:t>All four testers now use these skills at the same time. How they avoid breaking each other's work:</a:t>
            </a:r>
            <a:endParaRPr sz="1000" b="0" i="0" u="none" strike="noStrike" cap="none">
              <a:solidFill>
                <a:schemeClr val="dk1"/>
              </a:solidFill>
              <a:latin typeface="Calibri"/>
              <a:ea typeface="Calibri"/>
              <a:cs typeface="Calibri"/>
              <a:sym typeface="Calibri"/>
            </a:endParaRPr>
          </a:p>
        </p:txBody>
      </p:sp>
      <p:sp>
        <p:nvSpPr>
          <p:cNvPr id="1005" name="Google Shape;1005;p78"/>
          <p:cNvSpPr/>
          <p:nvPr/>
        </p:nvSpPr>
        <p:spPr>
          <a:xfrm>
            <a:off x="973836" y="1440180"/>
            <a:ext cx="617220" cy="617220"/>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chemeClr val="dk1"/>
              </a:solidFill>
              <a:latin typeface="Calibri"/>
              <a:ea typeface="Calibri"/>
              <a:cs typeface="Calibri"/>
              <a:sym typeface="Calibri"/>
            </a:endParaRPr>
          </a:p>
        </p:txBody>
      </p:sp>
      <p:pic>
        <p:nvPicPr>
          <p:cNvPr id="1006" name="Google Shape;1006;p78" descr="/home/claude/work/assets/ic_branch_bone.png"/>
          <p:cNvPicPr preferRelativeResize="0"/>
          <p:nvPr/>
        </p:nvPicPr>
        <p:blipFill rotWithShape="1">
          <a:blip r:embed="rId3">
            <a:alphaModFix/>
          </a:blip>
          <a:srcRect/>
          <a:stretch/>
        </p:blipFill>
        <p:spPr>
          <a:xfrm>
            <a:off x="1128141" y="1594485"/>
            <a:ext cx="308610" cy="308610"/>
          </a:xfrm>
          <a:prstGeom prst="rect">
            <a:avLst/>
          </a:prstGeom>
          <a:noFill/>
          <a:ln>
            <a:noFill/>
          </a:ln>
        </p:spPr>
      </p:pic>
      <p:sp>
        <p:nvSpPr>
          <p:cNvPr id="1007" name="Google Shape;1007;p78"/>
          <p:cNvSpPr txBox="1"/>
          <p:nvPr/>
        </p:nvSpPr>
        <p:spPr>
          <a:xfrm>
            <a:off x="493776" y="2091690"/>
            <a:ext cx="1577340" cy="2057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25A8F"/>
              </a:buClr>
              <a:buSzPts val="1000"/>
              <a:buFont typeface="Century Schoolbook"/>
              <a:buNone/>
            </a:pPr>
            <a:r>
              <a:rPr lang="en-GB" sz="1000" b="1" i="0" u="none" strike="noStrike" cap="none">
                <a:solidFill>
                  <a:srgbClr val="4FB0EA"/>
                </a:solidFill>
                <a:latin typeface="Century Schoolbook"/>
                <a:ea typeface="Century Schoolbook"/>
                <a:cs typeface="Century Schoolbook"/>
                <a:sym typeface="Century Schoolbook"/>
              </a:rPr>
              <a:t>1</a:t>
            </a:r>
            <a:endParaRPr sz="1000" b="0" i="0" u="none" strike="noStrike" cap="none">
              <a:solidFill>
                <a:schemeClr val="dk1"/>
              </a:solidFill>
              <a:latin typeface="Calibri"/>
              <a:ea typeface="Calibri"/>
              <a:cs typeface="Calibri"/>
              <a:sym typeface="Calibri"/>
            </a:endParaRPr>
          </a:p>
        </p:txBody>
      </p:sp>
      <p:sp>
        <p:nvSpPr>
          <p:cNvPr id="1008" name="Google Shape;1008;p78"/>
          <p:cNvSpPr txBox="1"/>
          <p:nvPr/>
        </p:nvSpPr>
        <p:spPr>
          <a:xfrm>
            <a:off x="459486" y="2276856"/>
            <a:ext cx="1645920" cy="342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Rules via PR</a:t>
            </a:r>
            <a:endParaRPr sz="1000" b="0" i="0" u="none" strike="noStrike" cap="none">
              <a:solidFill>
                <a:schemeClr val="dk1"/>
              </a:solidFill>
              <a:latin typeface="Calibri"/>
              <a:ea typeface="Calibri"/>
              <a:cs typeface="Calibri"/>
              <a:sym typeface="Calibri"/>
            </a:endParaRPr>
          </a:p>
        </p:txBody>
      </p:sp>
      <p:sp>
        <p:nvSpPr>
          <p:cNvPr id="1009" name="Google Shape;1009;p78"/>
          <p:cNvSpPr txBox="1"/>
          <p:nvPr/>
        </p:nvSpPr>
        <p:spPr>
          <a:xfrm>
            <a:off x="459486" y="2640330"/>
            <a:ext cx="1645920" cy="89154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Edits to CLAUDE.md, skills and hooks get reviewed like code.</a:t>
            </a:r>
            <a:endParaRPr sz="800" b="0" i="0" u="none" strike="noStrike" cap="none">
              <a:solidFill>
                <a:schemeClr val="dk1"/>
              </a:solidFill>
              <a:latin typeface="Calibri"/>
              <a:ea typeface="Calibri"/>
              <a:cs typeface="Calibri"/>
              <a:sym typeface="Calibri"/>
            </a:endParaRPr>
          </a:p>
        </p:txBody>
      </p:sp>
      <p:sp>
        <p:nvSpPr>
          <p:cNvPr id="1010" name="Google Shape;1010;p78"/>
          <p:cNvSpPr/>
          <p:nvPr/>
        </p:nvSpPr>
        <p:spPr>
          <a:xfrm>
            <a:off x="2592324" y="1440180"/>
            <a:ext cx="617220" cy="617220"/>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chemeClr val="dk1"/>
              </a:solidFill>
              <a:latin typeface="Calibri"/>
              <a:ea typeface="Calibri"/>
              <a:cs typeface="Calibri"/>
              <a:sym typeface="Calibri"/>
            </a:endParaRPr>
          </a:p>
        </p:txBody>
      </p:sp>
      <p:pic>
        <p:nvPicPr>
          <p:cNvPr id="1011" name="Google Shape;1011;p78" descr="/home/claude/work/assets/ic_branch_bone.png"/>
          <p:cNvPicPr preferRelativeResize="0"/>
          <p:nvPr/>
        </p:nvPicPr>
        <p:blipFill rotWithShape="1">
          <a:blip r:embed="rId3">
            <a:alphaModFix/>
          </a:blip>
          <a:srcRect/>
          <a:stretch/>
        </p:blipFill>
        <p:spPr>
          <a:xfrm>
            <a:off x="2746629" y="1594485"/>
            <a:ext cx="308610" cy="308610"/>
          </a:xfrm>
          <a:prstGeom prst="rect">
            <a:avLst/>
          </a:prstGeom>
          <a:noFill/>
          <a:ln>
            <a:noFill/>
          </a:ln>
        </p:spPr>
      </p:pic>
      <p:sp>
        <p:nvSpPr>
          <p:cNvPr id="1012" name="Google Shape;1012;p78"/>
          <p:cNvSpPr txBox="1"/>
          <p:nvPr/>
        </p:nvSpPr>
        <p:spPr>
          <a:xfrm>
            <a:off x="2112264" y="2091690"/>
            <a:ext cx="1577340" cy="2057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25A8F"/>
              </a:buClr>
              <a:buSzPts val="1000"/>
              <a:buFont typeface="Century Schoolbook"/>
              <a:buNone/>
            </a:pPr>
            <a:r>
              <a:rPr lang="en-GB" sz="1000" b="1" i="0" u="none" strike="noStrike" cap="none">
                <a:solidFill>
                  <a:srgbClr val="4FB0EA"/>
                </a:solidFill>
                <a:latin typeface="Century Schoolbook"/>
                <a:ea typeface="Century Schoolbook"/>
                <a:cs typeface="Century Schoolbook"/>
                <a:sym typeface="Century Schoolbook"/>
              </a:rPr>
              <a:t>2</a:t>
            </a:r>
            <a:endParaRPr sz="1000" b="0" i="0" u="none" strike="noStrike" cap="none">
              <a:solidFill>
                <a:schemeClr val="dk1"/>
              </a:solidFill>
              <a:latin typeface="Calibri"/>
              <a:ea typeface="Calibri"/>
              <a:cs typeface="Calibri"/>
              <a:sym typeface="Calibri"/>
            </a:endParaRPr>
          </a:p>
        </p:txBody>
      </p:sp>
      <p:sp>
        <p:nvSpPr>
          <p:cNvPr id="1013" name="Google Shape;1013;p78"/>
          <p:cNvSpPr txBox="1"/>
          <p:nvPr/>
        </p:nvSpPr>
        <p:spPr>
          <a:xfrm>
            <a:off x="2077974" y="2276856"/>
            <a:ext cx="1645920" cy="342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One task, one branch</a:t>
            </a:r>
            <a:endParaRPr sz="1000" b="0" i="0" u="none" strike="noStrike" cap="none">
              <a:solidFill>
                <a:schemeClr val="dk1"/>
              </a:solidFill>
              <a:latin typeface="Calibri"/>
              <a:ea typeface="Calibri"/>
              <a:cs typeface="Calibri"/>
              <a:sym typeface="Calibri"/>
            </a:endParaRPr>
          </a:p>
        </p:txBody>
      </p:sp>
      <p:sp>
        <p:nvSpPr>
          <p:cNvPr id="1014" name="Google Shape;1014;p78"/>
          <p:cNvSpPr txBox="1"/>
          <p:nvPr/>
        </p:nvSpPr>
        <p:spPr>
          <a:xfrm>
            <a:off x="2077974" y="2640330"/>
            <a:ext cx="1645920" cy="89154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Two agents at once? claude --worktree gives each its own repo copy.</a:t>
            </a:r>
            <a:endParaRPr sz="800" b="0" i="0" u="none" strike="noStrike" cap="none">
              <a:solidFill>
                <a:schemeClr val="dk1"/>
              </a:solidFill>
              <a:latin typeface="Calibri"/>
              <a:ea typeface="Calibri"/>
              <a:cs typeface="Calibri"/>
              <a:sym typeface="Calibri"/>
            </a:endParaRPr>
          </a:p>
        </p:txBody>
      </p:sp>
      <p:sp>
        <p:nvSpPr>
          <p:cNvPr id="1015" name="Google Shape;1015;p78"/>
          <p:cNvSpPr/>
          <p:nvPr/>
        </p:nvSpPr>
        <p:spPr>
          <a:xfrm>
            <a:off x="4210812" y="1440180"/>
            <a:ext cx="617220" cy="617220"/>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chemeClr val="dk1"/>
              </a:solidFill>
              <a:latin typeface="Calibri"/>
              <a:ea typeface="Calibri"/>
              <a:cs typeface="Calibri"/>
              <a:sym typeface="Calibri"/>
            </a:endParaRPr>
          </a:p>
        </p:txBody>
      </p:sp>
      <p:pic>
        <p:nvPicPr>
          <p:cNvPr id="1016" name="Google Shape;1016;p78" descr="/home/claude/work/assets/ic_guard_bone.png"/>
          <p:cNvPicPr preferRelativeResize="0"/>
          <p:nvPr/>
        </p:nvPicPr>
        <p:blipFill rotWithShape="1">
          <a:blip r:embed="rId4">
            <a:alphaModFix/>
          </a:blip>
          <a:srcRect/>
          <a:stretch/>
        </p:blipFill>
        <p:spPr>
          <a:xfrm>
            <a:off x="4365117" y="1594485"/>
            <a:ext cx="308610" cy="308610"/>
          </a:xfrm>
          <a:prstGeom prst="rect">
            <a:avLst/>
          </a:prstGeom>
          <a:noFill/>
          <a:ln>
            <a:noFill/>
          </a:ln>
        </p:spPr>
      </p:pic>
      <p:sp>
        <p:nvSpPr>
          <p:cNvPr id="1017" name="Google Shape;1017;p78"/>
          <p:cNvSpPr txBox="1"/>
          <p:nvPr/>
        </p:nvSpPr>
        <p:spPr>
          <a:xfrm>
            <a:off x="3730752" y="2091690"/>
            <a:ext cx="1577340" cy="2057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25A8F"/>
              </a:buClr>
              <a:buSzPts val="1000"/>
              <a:buFont typeface="Century Schoolbook"/>
              <a:buNone/>
            </a:pPr>
            <a:r>
              <a:rPr lang="en-GB" sz="1000" b="1" i="0" u="none" strike="noStrike" cap="none">
                <a:solidFill>
                  <a:srgbClr val="4FB0EA"/>
                </a:solidFill>
                <a:latin typeface="Century Schoolbook"/>
                <a:ea typeface="Century Schoolbook"/>
                <a:cs typeface="Century Schoolbook"/>
                <a:sym typeface="Century Schoolbook"/>
              </a:rPr>
              <a:t>3</a:t>
            </a:r>
            <a:endParaRPr sz="1000" b="0" i="0" u="none" strike="noStrike" cap="none">
              <a:solidFill>
                <a:schemeClr val="dk1"/>
              </a:solidFill>
              <a:latin typeface="Calibri"/>
              <a:ea typeface="Calibri"/>
              <a:cs typeface="Calibri"/>
              <a:sym typeface="Calibri"/>
            </a:endParaRPr>
          </a:p>
        </p:txBody>
      </p:sp>
      <p:sp>
        <p:nvSpPr>
          <p:cNvPr id="1018" name="Google Shape;1018;p78"/>
          <p:cNvSpPr txBox="1"/>
          <p:nvPr/>
        </p:nvSpPr>
        <p:spPr>
          <a:xfrm>
            <a:off x="3696462" y="2276856"/>
            <a:ext cx="1645920" cy="342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Same guardrails for all</a:t>
            </a:r>
            <a:endParaRPr sz="1000" b="0" i="0" u="none" strike="noStrike" cap="none">
              <a:solidFill>
                <a:schemeClr val="dk1"/>
              </a:solidFill>
              <a:latin typeface="Calibri"/>
              <a:ea typeface="Calibri"/>
              <a:cs typeface="Calibri"/>
              <a:sym typeface="Calibri"/>
            </a:endParaRPr>
          </a:p>
        </p:txBody>
      </p:sp>
      <p:sp>
        <p:nvSpPr>
          <p:cNvPr id="1019" name="Google Shape;1019;p78"/>
          <p:cNvSpPr txBox="1"/>
          <p:nvPr/>
        </p:nvSpPr>
        <p:spPr>
          <a:xfrm>
            <a:off x="3696462" y="2640330"/>
            <a:ext cx="1645920" cy="89154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Hooks (automatic checks) live in the shared settings and run for everyone.</a:t>
            </a:r>
            <a:endParaRPr sz="800" b="0" i="0" u="none" strike="noStrike" cap="none">
              <a:solidFill>
                <a:schemeClr val="dk1"/>
              </a:solidFill>
              <a:latin typeface="Calibri"/>
              <a:ea typeface="Calibri"/>
              <a:cs typeface="Calibri"/>
              <a:sym typeface="Calibri"/>
            </a:endParaRPr>
          </a:p>
        </p:txBody>
      </p:sp>
      <p:sp>
        <p:nvSpPr>
          <p:cNvPr id="1020" name="Google Shape;1020;p78"/>
          <p:cNvSpPr/>
          <p:nvPr/>
        </p:nvSpPr>
        <p:spPr>
          <a:xfrm>
            <a:off x="5829300" y="1440180"/>
            <a:ext cx="617220" cy="617220"/>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chemeClr val="dk1"/>
              </a:solidFill>
              <a:latin typeface="Calibri"/>
              <a:ea typeface="Calibri"/>
              <a:cs typeface="Calibri"/>
              <a:sym typeface="Calibri"/>
            </a:endParaRPr>
          </a:p>
        </p:txBody>
      </p:sp>
      <p:pic>
        <p:nvPicPr>
          <p:cNvPr id="1021" name="Google Shape;1021;p78" descr="/home/claude/work/assets/ic_verify_bone.png"/>
          <p:cNvPicPr preferRelativeResize="0"/>
          <p:nvPr/>
        </p:nvPicPr>
        <p:blipFill rotWithShape="1">
          <a:blip r:embed="rId5">
            <a:alphaModFix/>
          </a:blip>
          <a:srcRect/>
          <a:stretch/>
        </p:blipFill>
        <p:spPr>
          <a:xfrm>
            <a:off x="5983605" y="1594485"/>
            <a:ext cx="308610" cy="308610"/>
          </a:xfrm>
          <a:prstGeom prst="rect">
            <a:avLst/>
          </a:prstGeom>
          <a:noFill/>
          <a:ln>
            <a:noFill/>
          </a:ln>
        </p:spPr>
      </p:pic>
      <p:sp>
        <p:nvSpPr>
          <p:cNvPr id="1022" name="Google Shape;1022;p78"/>
          <p:cNvSpPr txBox="1"/>
          <p:nvPr/>
        </p:nvSpPr>
        <p:spPr>
          <a:xfrm>
            <a:off x="5349240" y="2091690"/>
            <a:ext cx="1577340" cy="2057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25A8F"/>
              </a:buClr>
              <a:buSzPts val="1000"/>
              <a:buFont typeface="Century Schoolbook"/>
              <a:buNone/>
            </a:pPr>
            <a:r>
              <a:rPr lang="en-GB" sz="1000" b="1" i="0" u="none" strike="noStrike" cap="none">
                <a:solidFill>
                  <a:srgbClr val="4FB0EA"/>
                </a:solidFill>
                <a:latin typeface="Century Schoolbook"/>
                <a:ea typeface="Century Schoolbook"/>
                <a:cs typeface="Century Schoolbook"/>
                <a:sym typeface="Century Schoolbook"/>
              </a:rPr>
              <a:t>4</a:t>
            </a:r>
            <a:endParaRPr sz="1000" b="0" i="0" u="none" strike="noStrike" cap="none">
              <a:solidFill>
                <a:schemeClr val="dk1"/>
              </a:solidFill>
              <a:latin typeface="Calibri"/>
              <a:ea typeface="Calibri"/>
              <a:cs typeface="Calibri"/>
              <a:sym typeface="Calibri"/>
            </a:endParaRPr>
          </a:p>
        </p:txBody>
      </p:sp>
      <p:sp>
        <p:nvSpPr>
          <p:cNvPr id="1023" name="Google Shape;1023;p78"/>
          <p:cNvSpPr txBox="1"/>
          <p:nvPr/>
        </p:nvSpPr>
        <p:spPr>
          <a:xfrm>
            <a:off x="5314950" y="2276856"/>
            <a:ext cx="1645920" cy="342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Every PR is reviewed</a:t>
            </a:r>
            <a:endParaRPr sz="1000" b="0" i="0" u="none" strike="noStrike" cap="none">
              <a:solidFill>
                <a:schemeClr val="dk1"/>
              </a:solidFill>
              <a:latin typeface="Calibri"/>
              <a:ea typeface="Calibri"/>
              <a:cs typeface="Calibri"/>
              <a:sym typeface="Calibri"/>
            </a:endParaRPr>
          </a:p>
        </p:txBody>
      </p:sp>
      <p:sp>
        <p:nvSpPr>
          <p:cNvPr id="1024" name="Google Shape;1024;p78"/>
          <p:cNvSpPr txBox="1"/>
          <p:nvPr/>
        </p:nvSpPr>
        <p:spPr>
          <a:xfrm>
            <a:off x="5314950" y="2640330"/>
            <a:ext cx="1645920" cy="89154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Claude in your CI (GitHub Action) plus a human reviewer.</a:t>
            </a:r>
            <a:endParaRPr sz="800" b="0" i="0" u="none" strike="noStrike" cap="none">
              <a:solidFill>
                <a:schemeClr val="dk1"/>
              </a:solidFill>
              <a:latin typeface="Calibri"/>
              <a:ea typeface="Calibri"/>
              <a:cs typeface="Calibri"/>
              <a:sym typeface="Calibri"/>
            </a:endParaRPr>
          </a:p>
        </p:txBody>
      </p:sp>
      <p:sp>
        <p:nvSpPr>
          <p:cNvPr id="1025" name="Google Shape;1025;p78"/>
          <p:cNvSpPr/>
          <p:nvPr/>
        </p:nvSpPr>
        <p:spPr>
          <a:xfrm>
            <a:off x="7447788" y="1440180"/>
            <a:ext cx="617220" cy="617220"/>
          </a:xfrm>
          <a:prstGeom prst="ellipse">
            <a:avLst/>
          </a:prstGeom>
          <a:solidFill>
            <a:srgbClr val="0272B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chemeClr val="dk1"/>
              </a:solidFill>
              <a:latin typeface="Calibri"/>
              <a:ea typeface="Calibri"/>
              <a:cs typeface="Calibri"/>
              <a:sym typeface="Calibri"/>
            </a:endParaRPr>
          </a:p>
        </p:txBody>
      </p:sp>
      <p:pic>
        <p:nvPicPr>
          <p:cNvPr id="1026" name="Google Shape;1026;p78" descr="/home/claude/work/assets/ic_memory_bone.png"/>
          <p:cNvPicPr preferRelativeResize="0"/>
          <p:nvPr/>
        </p:nvPicPr>
        <p:blipFill rotWithShape="1">
          <a:blip r:embed="rId6">
            <a:alphaModFix/>
          </a:blip>
          <a:srcRect/>
          <a:stretch/>
        </p:blipFill>
        <p:spPr>
          <a:xfrm>
            <a:off x="7602093" y="1594485"/>
            <a:ext cx="308610" cy="308610"/>
          </a:xfrm>
          <a:prstGeom prst="rect">
            <a:avLst/>
          </a:prstGeom>
          <a:noFill/>
          <a:ln>
            <a:noFill/>
          </a:ln>
        </p:spPr>
      </p:pic>
      <p:sp>
        <p:nvSpPr>
          <p:cNvPr id="1027" name="Google Shape;1027;p78"/>
          <p:cNvSpPr txBox="1"/>
          <p:nvPr/>
        </p:nvSpPr>
        <p:spPr>
          <a:xfrm>
            <a:off x="6967728" y="2091690"/>
            <a:ext cx="1577340" cy="2057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25A8F"/>
              </a:buClr>
              <a:buSzPts val="1000"/>
              <a:buFont typeface="Century Schoolbook"/>
              <a:buNone/>
            </a:pPr>
            <a:r>
              <a:rPr lang="en-GB" sz="1000" b="1" i="0" u="none" strike="noStrike" cap="none">
                <a:solidFill>
                  <a:srgbClr val="4FB0EA"/>
                </a:solidFill>
                <a:latin typeface="Century Schoolbook"/>
                <a:ea typeface="Century Schoolbook"/>
                <a:cs typeface="Century Schoolbook"/>
                <a:sym typeface="Century Schoolbook"/>
              </a:rPr>
              <a:t>5</a:t>
            </a:r>
            <a:endParaRPr sz="1000" b="0" i="0" u="none" strike="noStrike" cap="none">
              <a:solidFill>
                <a:schemeClr val="dk1"/>
              </a:solidFill>
              <a:latin typeface="Calibri"/>
              <a:ea typeface="Calibri"/>
              <a:cs typeface="Calibri"/>
              <a:sym typeface="Calibri"/>
            </a:endParaRPr>
          </a:p>
        </p:txBody>
      </p:sp>
      <p:sp>
        <p:nvSpPr>
          <p:cNvPr id="1028" name="Google Shape;1028;p78"/>
          <p:cNvSpPr txBox="1"/>
          <p:nvPr/>
        </p:nvSpPr>
        <p:spPr>
          <a:xfrm>
            <a:off x="6933438" y="2276856"/>
            <a:ext cx="1645920" cy="342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AF1F7"/>
              </a:buClr>
              <a:buSzPts val="1000"/>
              <a:buFont typeface="Century Schoolbook"/>
              <a:buNone/>
            </a:pPr>
            <a:r>
              <a:rPr lang="en-GB" sz="1000" b="1" i="0" u="none" strike="noStrike" cap="none">
                <a:solidFill>
                  <a:srgbClr val="EAF1F7"/>
                </a:solidFill>
                <a:latin typeface="Century Schoolbook"/>
                <a:ea typeface="Century Schoolbook"/>
                <a:cs typeface="Century Schoolbook"/>
                <a:sym typeface="Century Schoolbook"/>
              </a:rPr>
              <a:t>Learnings go back</a:t>
            </a:r>
            <a:endParaRPr sz="1000" b="0" i="0" u="none" strike="noStrike" cap="none">
              <a:solidFill>
                <a:schemeClr val="dk1"/>
              </a:solidFill>
              <a:latin typeface="Calibri"/>
              <a:ea typeface="Calibri"/>
              <a:cs typeface="Calibri"/>
              <a:sym typeface="Calibri"/>
            </a:endParaRPr>
          </a:p>
        </p:txBody>
      </p:sp>
      <p:sp>
        <p:nvSpPr>
          <p:cNvPr id="1029" name="Google Shape;1029;p78"/>
          <p:cNvSpPr txBox="1"/>
          <p:nvPr/>
        </p:nvSpPr>
        <p:spPr>
          <a:xfrm>
            <a:off x="6933438" y="2640330"/>
            <a:ext cx="1645920" cy="891540"/>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93A9C0"/>
              </a:buClr>
              <a:buSzPts val="800"/>
              <a:buFont typeface="Calibri"/>
              <a:buNone/>
            </a:pPr>
            <a:r>
              <a:rPr lang="en-GB" sz="800" b="0" i="0" u="none" strike="noStrike" cap="none">
                <a:solidFill>
                  <a:srgbClr val="93A9C0"/>
                </a:solidFill>
                <a:latin typeface="Calibri"/>
                <a:ea typeface="Calibri"/>
                <a:cs typeface="Calibri"/>
                <a:sym typeface="Calibri"/>
              </a:rPr>
              <a:t>A new team decision becomes a line in CLAUDE.md.</a:t>
            </a:r>
            <a:endParaRPr sz="800" b="0" i="0" u="none" strike="noStrike" cap="none">
              <a:solidFill>
                <a:schemeClr val="dk1"/>
              </a:solidFill>
              <a:latin typeface="Calibri"/>
              <a:ea typeface="Calibri"/>
              <a:cs typeface="Calibri"/>
              <a:sym typeface="Calibri"/>
            </a:endParaRPr>
          </a:p>
        </p:txBody>
      </p:sp>
      <p:sp>
        <p:nvSpPr>
          <p:cNvPr id="1030" name="Google Shape;1030;p78"/>
          <p:cNvSpPr/>
          <p:nvPr/>
        </p:nvSpPr>
        <p:spPr>
          <a:xfrm>
            <a:off x="493776" y="3943350"/>
            <a:ext cx="8161020" cy="685800"/>
          </a:xfrm>
          <a:prstGeom prst="roundRect">
            <a:avLst>
              <a:gd name="adj" fmla="val 8000"/>
            </a:avLst>
          </a:prstGeom>
          <a:solidFill>
            <a:srgbClr val="111D2B"/>
          </a:solidFill>
          <a:ln w="12700" cap="flat" cmpd="sng">
            <a:solidFill>
              <a:srgbClr val="0272B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1" name="Google Shape;1031;p78"/>
          <p:cNvSpPr txBox="1"/>
          <p:nvPr/>
        </p:nvSpPr>
        <p:spPr>
          <a:xfrm>
            <a:off x="685800" y="4080510"/>
            <a:ext cx="7818120" cy="4800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EAF1F7"/>
              </a:buClr>
              <a:buSzPts val="1100"/>
              <a:buFont typeface="Century Schoolbook"/>
              <a:buNone/>
            </a:pPr>
            <a:r>
              <a:rPr lang="en-GB" sz="1100" b="0" i="1" u="none" strike="noStrike" cap="none">
                <a:solidFill>
                  <a:srgbClr val="EAF1F7"/>
                </a:solidFill>
                <a:latin typeface="Century Schoolbook"/>
                <a:ea typeface="Century Schoolbook"/>
                <a:cs typeface="Century Schoolbook"/>
                <a:sym typeface="Century Schoolbook"/>
              </a:rPr>
              <a:t>Git keeps collisions small and visible: separate branches or worktrees, small tasks. Two people editing CLAUDE.md? A normal merge conflict, solved in review.</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36"/>
        <p:cNvGrpSpPr/>
        <p:nvPr/>
      </p:nvGrpSpPr>
      <p:grpSpPr>
        <a:xfrm>
          <a:off x="0" y="0"/>
          <a:ext cx="0" cy="0"/>
          <a:chOff x="0" y="0"/>
          <a:chExt cx="0" cy="0"/>
        </a:xfrm>
      </p:grpSpPr>
      <p:sp>
        <p:nvSpPr>
          <p:cNvPr id="1037" name="Google Shape;1037;p79"/>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The result: the fix waits for the real event, not a number</a:t>
            </a:r>
            <a:endParaRPr sz="1900"/>
          </a:p>
        </p:txBody>
      </p:sp>
      <p:sp>
        <p:nvSpPr>
          <p:cNvPr id="1038" name="Google Shape;1038;p79"/>
          <p:cNvSpPr txBox="1"/>
          <p:nvPr/>
        </p:nvSpPr>
        <p:spPr>
          <a:xfrm>
            <a:off x="493776" y="941832"/>
            <a:ext cx="2011680" cy="29260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i="0" u="none" strike="noStrike" cap="none">
                <a:solidFill>
                  <a:srgbClr val="EAF1F7"/>
                </a:solidFill>
                <a:latin typeface="Century Schoolbook"/>
                <a:ea typeface="Century Schoolbook"/>
                <a:cs typeface="Century Schoolbook"/>
                <a:sym typeface="Century Schoolbook"/>
              </a:rPr>
              <a:t>Before</a:t>
            </a:r>
            <a:endParaRPr sz="1400" b="0" i="0" u="none" strike="noStrike" cap="none">
              <a:solidFill>
                <a:srgbClr val="000000"/>
              </a:solidFill>
              <a:latin typeface="Arial"/>
              <a:ea typeface="Arial"/>
              <a:cs typeface="Arial"/>
              <a:sym typeface="Arial"/>
            </a:endParaRPr>
          </a:p>
        </p:txBody>
      </p:sp>
      <p:sp>
        <p:nvSpPr>
          <p:cNvPr id="1039" name="Google Shape;1039;p79"/>
          <p:cNvSpPr txBox="1"/>
          <p:nvPr/>
        </p:nvSpPr>
        <p:spPr>
          <a:xfrm>
            <a:off x="493776" y="1207008"/>
            <a:ext cx="201168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the original test, 10 runs</a:t>
            </a:r>
            <a:endParaRPr sz="1400" b="0" i="0" u="none" strike="noStrike" cap="none">
              <a:solidFill>
                <a:srgbClr val="000000"/>
              </a:solidFill>
              <a:latin typeface="Arial"/>
              <a:ea typeface="Arial"/>
              <a:cs typeface="Arial"/>
              <a:sym typeface="Arial"/>
            </a:endParaRPr>
          </a:p>
        </p:txBody>
      </p:sp>
      <p:sp>
        <p:nvSpPr>
          <p:cNvPr id="1040" name="Google Shape;1040;p79"/>
          <p:cNvSpPr/>
          <p:nvPr/>
        </p:nvSpPr>
        <p:spPr>
          <a:xfrm>
            <a:off x="2514600" y="99669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1" name="Google Shape;1041;p79"/>
          <p:cNvSpPr/>
          <p:nvPr/>
        </p:nvSpPr>
        <p:spPr>
          <a:xfrm>
            <a:off x="2820924" y="996696"/>
            <a:ext cx="246888" cy="246888"/>
          </a:xfrm>
          <a:prstGeom prst="roundRect">
            <a:avLst>
              <a:gd name="adj" fmla="val 8000"/>
            </a:avLst>
          </a:prstGeom>
          <a:solidFill>
            <a:srgbClr val="E05A4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2" name="Google Shape;1042;p79"/>
          <p:cNvSpPr/>
          <p:nvPr/>
        </p:nvSpPr>
        <p:spPr>
          <a:xfrm>
            <a:off x="3127248" y="99669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3" name="Google Shape;1043;p79"/>
          <p:cNvSpPr/>
          <p:nvPr/>
        </p:nvSpPr>
        <p:spPr>
          <a:xfrm>
            <a:off x="3433572" y="99669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4" name="Google Shape;1044;p79"/>
          <p:cNvSpPr/>
          <p:nvPr/>
        </p:nvSpPr>
        <p:spPr>
          <a:xfrm>
            <a:off x="3739896" y="996696"/>
            <a:ext cx="246888" cy="246888"/>
          </a:xfrm>
          <a:prstGeom prst="roundRect">
            <a:avLst>
              <a:gd name="adj" fmla="val 8000"/>
            </a:avLst>
          </a:prstGeom>
          <a:solidFill>
            <a:srgbClr val="E05A4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5" name="Google Shape;1045;p79"/>
          <p:cNvSpPr/>
          <p:nvPr/>
        </p:nvSpPr>
        <p:spPr>
          <a:xfrm>
            <a:off x="4046220" y="99669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6" name="Google Shape;1046;p79"/>
          <p:cNvSpPr/>
          <p:nvPr/>
        </p:nvSpPr>
        <p:spPr>
          <a:xfrm>
            <a:off x="4352544" y="996696"/>
            <a:ext cx="246888" cy="246888"/>
          </a:xfrm>
          <a:prstGeom prst="roundRect">
            <a:avLst>
              <a:gd name="adj" fmla="val 8000"/>
            </a:avLst>
          </a:prstGeom>
          <a:solidFill>
            <a:srgbClr val="E05A4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7" name="Google Shape;1047;p79"/>
          <p:cNvSpPr/>
          <p:nvPr/>
        </p:nvSpPr>
        <p:spPr>
          <a:xfrm>
            <a:off x="4658868" y="99669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8" name="Google Shape;1048;p79"/>
          <p:cNvSpPr/>
          <p:nvPr/>
        </p:nvSpPr>
        <p:spPr>
          <a:xfrm>
            <a:off x="4965192" y="99669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49" name="Google Shape;1049;p79"/>
          <p:cNvSpPr/>
          <p:nvPr/>
        </p:nvSpPr>
        <p:spPr>
          <a:xfrm>
            <a:off x="5271516" y="996696"/>
            <a:ext cx="246888" cy="246888"/>
          </a:xfrm>
          <a:prstGeom prst="roundRect">
            <a:avLst>
              <a:gd name="adj" fmla="val 8000"/>
            </a:avLst>
          </a:prstGeom>
          <a:solidFill>
            <a:srgbClr val="E05A4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50" name="Google Shape;1050;p79"/>
          <p:cNvSpPr txBox="1"/>
          <p:nvPr/>
        </p:nvSpPr>
        <p:spPr>
          <a:xfrm>
            <a:off x="5669279" y="987552"/>
            <a:ext cx="30175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E05A4F"/>
                </a:solidFill>
                <a:latin typeface="Calibri"/>
                <a:ea typeface="Calibri"/>
                <a:cs typeface="Calibri"/>
                <a:sym typeface="Calibri"/>
              </a:rPr>
              <a:t>fails about 4 in every 10</a:t>
            </a:r>
            <a:endParaRPr sz="1400" b="0" i="0" u="none" strike="noStrike" cap="none">
              <a:solidFill>
                <a:srgbClr val="000000"/>
              </a:solidFill>
              <a:latin typeface="Arial"/>
              <a:ea typeface="Arial"/>
              <a:cs typeface="Arial"/>
              <a:sym typeface="Arial"/>
            </a:endParaRPr>
          </a:p>
        </p:txBody>
      </p:sp>
      <p:sp>
        <p:nvSpPr>
          <p:cNvPr id="1051" name="Google Shape;1051;p79"/>
          <p:cNvSpPr txBox="1"/>
          <p:nvPr/>
        </p:nvSpPr>
        <p:spPr>
          <a:xfrm>
            <a:off x="493776" y="1581912"/>
            <a:ext cx="2011680" cy="29260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i="0" u="none" strike="noStrike" cap="none">
                <a:solidFill>
                  <a:srgbClr val="EAF1F7"/>
                </a:solidFill>
                <a:latin typeface="Century Schoolbook"/>
                <a:ea typeface="Century Schoolbook"/>
                <a:cs typeface="Century Schoolbook"/>
                <a:sym typeface="Century Schoolbook"/>
              </a:rPr>
              <a:t>After /fix-flaky</a:t>
            </a:r>
            <a:endParaRPr sz="1400" b="0" i="0" u="none" strike="noStrike" cap="none">
              <a:solidFill>
                <a:srgbClr val="000000"/>
              </a:solidFill>
              <a:latin typeface="Arial"/>
              <a:ea typeface="Arial"/>
              <a:cs typeface="Arial"/>
              <a:sym typeface="Arial"/>
            </a:endParaRPr>
          </a:p>
        </p:txBody>
      </p:sp>
      <p:sp>
        <p:nvSpPr>
          <p:cNvPr id="1052" name="Google Shape;1052;p79"/>
          <p:cNvSpPr txBox="1"/>
          <p:nvPr/>
        </p:nvSpPr>
        <p:spPr>
          <a:xfrm>
            <a:off x="493776" y="1847088"/>
            <a:ext cx="201168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93A9C0"/>
                </a:solidFill>
                <a:latin typeface="Calibri"/>
                <a:ea typeface="Calibri"/>
                <a:cs typeface="Calibri"/>
                <a:sym typeface="Calibri"/>
              </a:rPr>
              <a:t>re-run by us, 20 runs</a:t>
            </a:r>
            <a:endParaRPr sz="1400" b="0" i="0" u="none" strike="noStrike" cap="none">
              <a:solidFill>
                <a:srgbClr val="000000"/>
              </a:solidFill>
              <a:latin typeface="Arial"/>
              <a:ea typeface="Arial"/>
              <a:cs typeface="Arial"/>
              <a:sym typeface="Arial"/>
            </a:endParaRPr>
          </a:p>
        </p:txBody>
      </p:sp>
      <p:sp>
        <p:nvSpPr>
          <p:cNvPr id="1053" name="Google Shape;1053;p79"/>
          <p:cNvSpPr/>
          <p:nvPr/>
        </p:nvSpPr>
        <p:spPr>
          <a:xfrm>
            <a:off x="2514600"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54" name="Google Shape;1054;p79"/>
          <p:cNvSpPr/>
          <p:nvPr/>
        </p:nvSpPr>
        <p:spPr>
          <a:xfrm>
            <a:off x="2820924"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55" name="Google Shape;1055;p79"/>
          <p:cNvSpPr/>
          <p:nvPr/>
        </p:nvSpPr>
        <p:spPr>
          <a:xfrm>
            <a:off x="3127248"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56" name="Google Shape;1056;p79"/>
          <p:cNvSpPr/>
          <p:nvPr/>
        </p:nvSpPr>
        <p:spPr>
          <a:xfrm>
            <a:off x="3433572"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57" name="Google Shape;1057;p79"/>
          <p:cNvSpPr/>
          <p:nvPr/>
        </p:nvSpPr>
        <p:spPr>
          <a:xfrm>
            <a:off x="3739896"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58" name="Google Shape;1058;p79"/>
          <p:cNvSpPr/>
          <p:nvPr/>
        </p:nvSpPr>
        <p:spPr>
          <a:xfrm>
            <a:off x="4046220"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59" name="Google Shape;1059;p79"/>
          <p:cNvSpPr/>
          <p:nvPr/>
        </p:nvSpPr>
        <p:spPr>
          <a:xfrm>
            <a:off x="4352544"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0" name="Google Shape;1060;p79"/>
          <p:cNvSpPr/>
          <p:nvPr/>
        </p:nvSpPr>
        <p:spPr>
          <a:xfrm>
            <a:off x="4658868"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1" name="Google Shape;1061;p79"/>
          <p:cNvSpPr/>
          <p:nvPr/>
        </p:nvSpPr>
        <p:spPr>
          <a:xfrm>
            <a:off x="4965192"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2" name="Google Shape;1062;p79"/>
          <p:cNvSpPr/>
          <p:nvPr/>
        </p:nvSpPr>
        <p:spPr>
          <a:xfrm>
            <a:off x="5271516"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3" name="Google Shape;1063;p79"/>
          <p:cNvSpPr/>
          <p:nvPr/>
        </p:nvSpPr>
        <p:spPr>
          <a:xfrm>
            <a:off x="5577840"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4" name="Google Shape;1064;p79"/>
          <p:cNvSpPr/>
          <p:nvPr/>
        </p:nvSpPr>
        <p:spPr>
          <a:xfrm>
            <a:off x="5884164"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5" name="Google Shape;1065;p79"/>
          <p:cNvSpPr/>
          <p:nvPr/>
        </p:nvSpPr>
        <p:spPr>
          <a:xfrm>
            <a:off x="6190488"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6" name="Google Shape;1066;p79"/>
          <p:cNvSpPr/>
          <p:nvPr/>
        </p:nvSpPr>
        <p:spPr>
          <a:xfrm>
            <a:off x="6496812"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7" name="Google Shape;1067;p79"/>
          <p:cNvSpPr/>
          <p:nvPr/>
        </p:nvSpPr>
        <p:spPr>
          <a:xfrm>
            <a:off x="6803136"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8" name="Google Shape;1068;p79"/>
          <p:cNvSpPr/>
          <p:nvPr/>
        </p:nvSpPr>
        <p:spPr>
          <a:xfrm>
            <a:off x="7109460"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69" name="Google Shape;1069;p79"/>
          <p:cNvSpPr/>
          <p:nvPr/>
        </p:nvSpPr>
        <p:spPr>
          <a:xfrm>
            <a:off x="7415783"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70" name="Google Shape;1070;p79"/>
          <p:cNvSpPr/>
          <p:nvPr/>
        </p:nvSpPr>
        <p:spPr>
          <a:xfrm>
            <a:off x="7722108"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71" name="Google Shape;1071;p79"/>
          <p:cNvSpPr/>
          <p:nvPr/>
        </p:nvSpPr>
        <p:spPr>
          <a:xfrm>
            <a:off x="8028432"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72" name="Google Shape;1072;p79"/>
          <p:cNvSpPr/>
          <p:nvPr/>
        </p:nvSpPr>
        <p:spPr>
          <a:xfrm>
            <a:off x="8334756" y="1636776"/>
            <a:ext cx="246888" cy="246888"/>
          </a:xfrm>
          <a:prstGeom prst="roundRect">
            <a:avLst>
              <a:gd name="adj" fmla="val 8000"/>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73" name="Google Shape;1073;p79"/>
          <p:cNvSpPr txBox="1"/>
          <p:nvPr/>
        </p:nvSpPr>
        <p:spPr>
          <a:xfrm>
            <a:off x="2514600" y="1938528"/>
            <a:ext cx="612648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4CC07A"/>
                </a:solidFill>
                <a:latin typeface="Calibri"/>
                <a:ea typeface="Calibri"/>
                <a:cs typeface="Calibri"/>
                <a:sym typeface="Calibri"/>
              </a:rPr>
              <a:t>20/20</a:t>
            </a:r>
            <a:r>
              <a:rPr lang="en-GB" sz="1100" b="0" i="0" u="none" strike="noStrike" cap="none">
                <a:solidFill>
                  <a:srgbClr val="93A9C0"/>
                </a:solidFill>
                <a:latin typeface="Calibri"/>
                <a:ea typeface="Calibri"/>
                <a:cs typeface="Calibri"/>
                <a:sym typeface="Calibri"/>
              </a:rPr>
              <a:t>  ·  also passes when payment takes 8 s and 12 s</a:t>
            </a:r>
            <a:endParaRPr sz="1400" b="0" i="0" u="none" strike="noStrike" cap="none">
              <a:solidFill>
                <a:srgbClr val="000000"/>
              </a:solidFill>
              <a:latin typeface="Arial"/>
              <a:ea typeface="Arial"/>
              <a:cs typeface="Arial"/>
              <a:sym typeface="Arial"/>
            </a:endParaRPr>
          </a:p>
        </p:txBody>
      </p:sp>
      <p:cxnSp>
        <p:nvCxnSpPr>
          <p:cNvPr id="1074" name="Google Shape;1074;p79"/>
          <p:cNvCxnSpPr/>
          <p:nvPr/>
        </p:nvCxnSpPr>
        <p:spPr>
          <a:xfrm>
            <a:off x="731520" y="2606040"/>
            <a:ext cx="7589520" cy="0"/>
          </a:xfrm>
          <a:prstGeom prst="straightConnector1">
            <a:avLst/>
          </a:prstGeom>
          <a:noFill/>
          <a:ln w="12700" cap="flat" cmpd="sng">
            <a:solidFill>
              <a:srgbClr val="93A9C0"/>
            </a:solidFill>
            <a:prstDash val="solid"/>
            <a:round/>
            <a:headEnd type="none" w="sm" len="sm"/>
            <a:tailEnd type="none" w="sm" len="sm"/>
          </a:ln>
          <a:effectLst>
            <a:outerShdw blurRad="40000" dist="20000" dir="5400000" rotWithShape="0">
              <a:srgbClr val="000000">
                <a:alpha val="38039"/>
              </a:srgbClr>
            </a:outerShdw>
          </a:effectLst>
        </p:spPr>
      </p:cxnSp>
      <p:sp>
        <p:nvSpPr>
          <p:cNvPr id="1075" name="Google Shape;1075;p79"/>
          <p:cNvSpPr/>
          <p:nvPr/>
        </p:nvSpPr>
        <p:spPr>
          <a:xfrm>
            <a:off x="921258" y="2551176"/>
            <a:ext cx="7399781" cy="109728"/>
          </a:xfrm>
          <a:prstGeom prst="rect">
            <a:avLst/>
          </a:prstGeom>
          <a:solidFill>
            <a:srgbClr val="1F5A3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76" name="Google Shape;1076;p79"/>
          <p:cNvSpPr txBox="1"/>
          <p:nvPr/>
        </p:nvSpPr>
        <p:spPr>
          <a:xfrm>
            <a:off x="731520" y="2276856"/>
            <a:ext cx="7589519" cy="2560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4CC07A"/>
                </a:solidFill>
                <a:latin typeface="Calibri"/>
                <a:ea typeface="Calibri"/>
                <a:cs typeface="Calibri"/>
                <a:sym typeface="Calibri"/>
              </a:rPr>
              <a:t>waits for the “confirmed” message, however long payment takes</a:t>
            </a:r>
            <a:endParaRPr sz="1400" b="0" i="0" u="none" strike="noStrike" cap="none">
              <a:solidFill>
                <a:srgbClr val="000000"/>
              </a:solidFill>
              <a:latin typeface="Arial"/>
              <a:ea typeface="Arial"/>
              <a:cs typeface="Arial"/>
              <a:sym typeface="Arial"/>
            </a:endParaRPr>
          </a:p>
        </p:txBody>
      </p:sp>
      <p:sp>
        <p:nvSpPr>
          <p:cNvPr id="1077" name="Google Shape;1077;p79"/>
          <p:cNvSpPr txBox="1"/>
          <p:nvPr/>
        </p:nvSpPr>
        <p:spPr>
          <a:xfrm>
            <a:off x="457200" y="2697480"/>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0 s</a:t>
            </a:r>
            <a:endParaRPr sz="1400" b="0" i="0" u="none" strike="noStrike" cap="none">
              <a:solidFill>
                <a:srgbClr val="000000"/>
              </a:solidFill>
              <a:latin typeface="Arial"/>
              <a:ea typeface="Arial"/>
              <a:cs typeface="Arial"/>
              <a:sym typeface="Arial"/>
            </a:endParaRPr>
          </a:p>
        </p:txBody>
      </p:sp>
      <p:sp>
        <p:nvSpPr>
          <p:cNvPr id="1078" name="Google Shape;1078;p79"/>
          <p:cNvSpPr txBox="1"/>
          <p:nvPr/>
        </p:nvSpPr>
        <p:spPr>
          <a:xfrm>
            <a:off x="1722119" y="2697480"/>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2 s</a:t>
            </a:r>
            <a:endParaRPr sz="1400" b="0" i="0" u="none" strike="noStrike" cap="none">
              <a:solidFill>
                <a:srgbClr val="000000"/>
              </a:solidFill>
              <a:latin typeface="Arial"/>
              <a:ea typeface="Arial"/>
              <a:cs typeface="Arial"/>
              <a:sym typeface="Arial"/>
            </a:endParaRPr>
          </a:p>
        </p:txBody>
      </p:sp>
      <p:sp>
        <p:nvSpPr>
          <p:cNvPr id="1079" name="Google Shape;1079;p79"/>
          <p:cNvSpPr txBox="1"/>
          <p:nvPr/>
        </p:nvSpPr>
        <p:spPr>
          <a:xfrm>
            <a:off x="2987040" y="2697480"/>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4 s</a:t>
            </a:r>
            <a:endParaRPr sz="1400" b="0" i="0" u="none" strike="noStrike" cap="none">
              <a:solidFill>
                <a:srgbClr val="000000"/>
              </a:solidFill>
              <a:latin typeface="Arial"/>
              <a:ea typeface="Arial"/>
              <a:cs typeface="Arial"/>
              <a:sym typeface="Arial"/>
            </a:endParaRPr>
          </a:p>
        </p:txBody>
      </p:sp>
      <p:sp>
        <p:nvSpPr>
          <p:cNvPr id="1080" name="Google Shape;1080;p79"/>
          <p:cNvSpPr txBox="1"/>
          <p:nvPr/>
        </p:nvSpPr>
        <p:spPr>
          <a:xfrm>
            <a:off x="4251959" y="2697480"/>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6 s</a:t>
            </a:r>
            <a:endParaRPr sz="1400" b="0" i="0" u="none" strike="noStrike" cap="none">
              <a:solidFill>
                <a:srgbClr val="000000"/>
              </a:solidFill>
              <a:latin typeface="Arial"/>
              <a:ea typeface="Arial"/>
              <a:cs typeface="Arial"/>
              <a:sym typeface="Arial"/>
            </a:endParaRPr>
          </a:p>
        </p:txBody>
      </p:sp>
      <p:sp>
        <p:nvSpPr>
          <p:cNvPr id="1081" name="Google Shape;1081;p79"/>
          <p:cNvSpPr txBox="1"/>
          <p:nvPr/>
        </p:nvSpPr>
        <p:spPr>
          <a:xfrm>
            <a:off x="5516879" y="2697480"/>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8 s</a:t>
            </a:r>
            <a:endParaRPr sz="1400" b="0" i="0" u="none" strike="noStrike" cap="none">
              <a:solidFill>
                <a:srgbClr val="000000"/>
              </a:solidFill>
              <a:latin typeface="Arial"/>
              <a:ea typeface="Arial"/>
              <a:cs typeface="Arial"/>
              <a:sym typeface="Arial"/>
            </a:endParaRPr>
          </a:p>
        </p:txBody>
      </p:sp>
      <p:sp>
        <p:nvSpPr>
          <p:cNvPr id="1082" name="Google Shape;1082;p79"/>
          <p:cNvSpPr txBox="1"/>
          <p:nvPr/>
        </p:nvSpPr>
        <p:spPr>
          <a:xfrm>
            <a:off x="6781799" y="2697480"/>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10 s</a:t>
            </a:r>
            <a:endParaRPr sz="1400" b="0" i="0" u="none" strike="noStrike" cap="none">
              <a:solidFill>
                <a:srgbClr val="000000"/>
              </a:solidFill>
              <a:latin typeface="Arial"/>
              <a:ea typeface="Arial"/>
              <a:cs typeface="Arial"/>
              <a:sym typeface="Arial"/>
            </a:endParaRPr>
          </a:p>
        </p:txBody>
      </p:sp>
      <p:sp>
        <p:nvSpPr>
          <p:cNvPr id="1083" name="Google Shape;1083;p79"/>
          <p:cNvSpPr txBox="1"/>
          <p:nvPr/>
        </p:nvSpPr>
        <p:spPr>
          <a:xfrm>
            <a:off x="8046719" y="2697480"/>
            <a:ext cx="54864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93A9C0"/>
                </a:solidFill>
                <a:latin typeface="Calibri"/>
                <a:ea typeface="Calibri"/>
                <a:cs typeface="Calibri"/>
                <a:sym typeface="Calibri"/>
              </a:rPr>
              <a:t>12 s</a:t>
            </a:r>
            <a:endParaRPr sz="1400" b="0" i="0" u="none" strike="noStrike" cap="none">
              <a:solidFill>
                <a:srgbClr val="000000"/>
              </a:solidFill>
              <a:latin typeface="Arial"/>
              <a:ea typeface="Arial"/>
              <a:cs typeface="Arial"/>
              <a:sym typeface="Arial"/>
            </a:endParaRPr>
          </a:p>
        </p:txBody>
      </p:sp>
      <p:sp>
        <p:nvSpPr>
          <p:cNvPr id="1084" name="Google Shape;1084;p79"/>
          <p:cNvSpPr/>
          <p:nvPr/>
        </p:nvSpPr>
        <p:spPr>
          <a:xfrm>
            <a:off x="5681471" y="2496312"/>
            <a:ext cx="219456" cy="219456"/>
          </a:xfrm>
          <a:prstGeom prst="ellipse">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85" name="Google Shape;1085;p79"/>
          <p:cNvSpPr txBox="1"/>
          <p:nvPr/>
        </p:nvSpPr>
        <p:spPr>
          <a:xfrm>
            <a:off x="5681471" y="2496312"/>
            <a:ext cx="219456" cy="219456"/>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0B1A12"/>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086" name="Google Shape;1086;p79"/>
          <p:cNvSpPr/>
          <p:nvPr/>
        </p:nvSpPr>
        <p:spPr>
          <a:xfrm>
            <a:off x="8211312" y="2496312"/>
            <a:ext cx="219456" cy="219456"/>
          </a:xfrm>
          <a:prstGeom prst="ellipse">
            <a:avLst/>
          </a:prstGeom>
          <a:solidFill>
            <a:srgbClr val="4CC07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87" name="Google Shape;1087;p79"/>
          <p:cNvSpPr txBox="1"/>
          <p:nvPr/>
        </p:nvSpPr>
        <p:spPr>
          <a:xfrm>
            <a:off x="8211312" y="2496312"/>
            <a:ext cx="219456" cy="219456"/>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0B1A12"/>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098" name="Google Shape;1098;p79"/>
          <p:cNvSpPr/>
          <p:nvPr/>
        </p:nvSpPr>
        <p:spPr>
          <a:xfrm>
            <a:off x="493776" y="4315968"/>
            <a:ext cx="8156448" cy="457200"/>
          </a:xfrm>
          <a:prstGeom prst="roundRect">
            <a:avLst>
              <a:gd name="adj" fmla="val 8000"/>
            </a:avLst>
          </a:prstGeom>
          <a:solidFill>
            <a:srgbClr val="0A131E"/>
          </a:solidFill>
          <a:ln w="19050" cap="flat" cmpd="sng">
            <a:solidFill>
              <a:srgbClr val="7FC6F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99" name="Google Shape;1099;p79"/>
          <p:cNvSpPr txBox="1"/>
          <p:nvPr/>
        </p:nvSpPr>
        <p:spPr>
          <a:xfrm>
            <a:off x="640080" y="4315968"/>
            <a:ext cx="7863840" cy="4572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300"/>
              <a:buFont typeface="Arial"/>
              <a:buNone/>
            </a:pPr>
            <a:r>
              <a:rPr lang="en-GB" sz="1300" b="1" i="0" u="none" strike="noStrike" cap="none">
                <a:solidFill>
                  <a:srgbClr val="7FC6F3"/>
                </a:solidFill>
                <a:latin typeface="Century Schoolbook"/>
                <a:ea typeface="Century Schoolbook"/>
                <a:cs typeface="Century Schoolbook"/>
                <a:sym typeface="Century Schoolbook"/>
              </a:rPr>
              <a:t>Your repo, same result: </a:t>
            </a:r>
            <a:r>
              <a:rPr lang="en-GB" sz="1250" b="0" i="0" u="none" strike="noStrike" cap="none">
                <a:solidFill>
                  <a:srgbClr val="EAF1F7"/>
                </a:solidFill>
                <a:latin typeface="Calibri"/>
                <a:ea typeface="Calibri"/>
                <a:cs typeface="Calibri"/>
                <a:sym typeface="Calibri"/>
              </a:rPr>
              <a:t>rules in CLAUDE.md + your docs connected + a /fix-flaky skill. Every tester gets this fix.</a:t>
            </a:r>
            <a:endParaRPr sz="1400" b="0" i="0" u="none" strike="noStrike" cap="none">
              <a:solidFill>
                <a:srgbClr val="000000"/>
              </a:solidFill>
              <a:latin typeface="Arial"/>
              <a:ea typeface="Arial"/>
              <a:cs typeface="Arial"/>
              <a:sym typeface="Arial"/>
            </a:endParaRPr>
          </a:p>
        </p:txBody>
      </p:sp>
      <p:sp>
        <p:nvSpPr>
          <p:cNvPr id="1100" name="TextBox 1099"/>
          <p:cNvSpPr txBox="1"/>
          <p:nvPr/>
        </p:nvSpPr>
        <p:spPr>
          <a:xfrm>
            <a:off x="493776" y="2889504"/>
            <a:ext cx="868680" cy="310896"/>
          </a:xfrm>
          <a:prstGeom prst="rect">
            <a:avLst/>
          </a:prstGeom>
          <a:noFill/>
        </p:spPr>
        <p:txBody>
          <a:bodyPr wrap="square" lIns="0" rIns="0" tIns="0" bIns="0" anchor="ctr">
            <a:spAutoFit/>
          </a:bodyPr>
          <a:lstStyle/>
          <a:p>
            <a:pPr algn="l"/>
            <a:r>
              <a:rPr sz="1100" b="1" i="0">
                <a:solidFill>
                  <a:srgbClr val="E05A4F"/>
                </a:solidFill>
                <a:latin typeface="Calibri"/>
              </a:rPr>
              <a:t>BEFORE</a:t>
            </a:r>
          </a:p>
        </p:txBody>
      </p:sp>
      <p:sp>
        <p:nvSpPr>
          <p:cNvPr id="1101" name="Rounded Rectangle 1100"/>
          <p:cNvSpPr/>
          <p:nvPr/>
        </p:nvSpPr>
        <p:spPr>
          <a:xfrm>
            <a:off x="1371600" y="2889504"/>
            <a:ext cx="914400" cy="310896"/>
          </a:xfrm>
          <a:prstGeom prst="roundRect">
            <a:avLst>
              <a:gd name="adj" fmla="val 8000"/>
            </a:avLst>
          </a:prstGeom>
          <a:solidFill>
            <a:srgbClr val="2E1618"/>
          </a:solidFill>
          <a:ln w="12700">
            <a:solidFill>
              <a:srgbClr val="E05A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2" name="TextBox 1101"/>
          <p:cNvSpPr txBox="1"/>
          <p:nvPr/>
        </p:nvSpPr>
        <p:spPr>
          <a:xfrm>
            <a:off x="1371600" y="2889504"/>
            <a:ext cx="914400" cy="310896"/>
          </a:xfrm>
          <a:prstGeom prst="rect">
            <a:avLst/>
          </a:prstGeom>
          <a:noFill/>
        </p:spPr>
        <p:txBody>
          <a:bodyPr wrap="square" lIns="0" rIns="0" tIns="0" bIns="0" anchor="ctr">
            <a:spAutoFit/>
          </a:bodyPr>
          <a:lstStyle/>
          <a:p>
            <a:pPr algn="ctr"/>
            <a:r>
              <a:rPr sz="1050" b="1" i="0">
                <a:solidFill>
                  <a:srgbClr val="F2B8B2"/>
                </a:solidFill>
                <a:latin typeface="Calibri"/>
              </a:rPr>
              <a:t>Click Pay</a:t>
            </a:r>
          </a:p>
        </p:txBody>
      </p:sp>
      <p:cxnSp>
        <p:nvCxnSpPr>
          <p:cNvPr id="1103" name="Connector 1102"/>
          <p:cNvCxnSpPr/>
          <p:nvPr/>
        </p:nvCxnSpPr>
        <p:spPr>
          <a:xfrm>
            <a:off x="2313432" y="3044952"/>
            <a:ext cx="182880" cy="0"/>
          </a:xfrm>
          <a:prstGeom prst="line">
            <a:avLst/>
          </a:prstGeom>
          <a:ln w="19050">
            <a:solidFill>
              <a:srgbClr val="8FA0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04" name="Rounded Rectangle 1103"/>
          <p:cNvSpPr/>
          <p:nvPr/>
        </p:nvSpPr>
        <p:spPr>
          <a:xfrm>
            <a:off x="2523744" y="2889504"/>
            <a:ext cx="914400" cy="310896"/>
          </a:xfrm>
          <a:prstGeom prst="roundRect">
            <a:avLst>
              <a:gd name="adj" fmla="val 8000"/>
            </a:avLst>
          </a:prstGeom>
          <a:solidFill>
            <a:srgbClr val="2E1618"/>
          </a:solidFill>
          <a:ln w="12700">
            <a:solidFill>
              <a:srgbClr val="E05A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5" name="TextBox 1104"/>
          <p:cNvSpPr txBox="1"/>
          <p:nvPr/>
        </p:nvSpPr>
        <p:spPr>
          <a:xfrm>
            <a:off x="2523744" y="2889504"/>
            <a:ext cx="914400" cy="310896"/>
          </a:xfrm>
          <a:prstGeom prst="rect">
            <a:avLst/>
          </a:prstGeom>
          <a:noFill/>
        </p:spPr>
        <p:txBody>
          <a:bodyPr wrap="square" lIns="0" rIns="0" tIns="0" bIns="0" anchor="ctr">
            <a:spAutoFit/>
          </a:bodyPr>
          <a:lstStyle/>
          <a:p>
            <a:pPr algn="ctr"/>
            <a:r>
              <a:rPr sz="1050" b="1" i="0">
                <a:solidFill>
                  <a:srgbClr val="F2B8B2"/>
                </a:solidFill>
                <a:latin typeface="Calibri"/>
              </a:rPr>
              <a:t>Sleep 2 s</a:t>
            </a:r>
          </a:p>
        </p:txBody>
      </p:sp>
      <p:cxnSp>
        <p:nvCxnSpPr>
          <p:cNvPr id="1106" name="Connector 1105"/>
          <p:cNvCxnSpPr/>
          <p:nvPr/>
        </p:nvCxnSpPr>
        <p:spPr>
          <a:xfrm>
            <a:off x="3465575" y="3044952"/>
            <a:ext cx="182881" cy="0"/>
          </a:xfrm>
          <a:prstGeom prst="line">
            <a:avLst/>
          </a:prstGeom>
          <a:ln w="19050">
            <a:solidFill>
              <a:srgbClr val="8FA0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07" name="Rounded Rectangle 1106"/>
          <p:cNvSpPr/>
          <p:nvPr/>
        </p:nvSpPr>
        <p:spPr>
          <a:xfrm>
            <a:off x="3675887" y="2889504"/>
            <a:ext cx="1600200" cy="310896"/>
          </a:xfrm>
          <a:prstGeom prst="roundRect">
            <a:avLst>
              <a:gd name="adj" fmla="val 8000"/>
            </a:avLst>
          </a:prstGeom>
          <a:solidFill>
            <a:srgbClr val="2E1618"/>
          </a:solidFill>
          <a:ln w="12700">
            <a:solidFill>
              <a:srgbClr val="E05A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8" name="TextBox 1107"/>
          <p:cNvSpPr txBox="1"/>
          <p:nvPr/>
        </p:nvSpPr>
        <p:spPr>
          <a:xfrm>
            <a:off x="3675887" y="2889504"/>
            <a:ext cx="1600200" cy="310896"/>
          </a:xfrm>
          <a:prstGeom prst="rect">
            <a:avLst/>
          </a:prstGeom>
          <a:noFill/>
        </p:spPr>
        <p:txBody>
          <a:bodyPr wrap="square" lIns="0" rIns="0" tIns="0" bIns="0" anchor="ctr">
            <a:spAutoFit/>
          </a:bodyPr>
          <a:lstStyle/>
          <a:p>
            <a:pPr algn="ctr"/>
            <a:r>
              <a:rPr sz="1050" b="1" i="0">
                <a:solidFill>
                  <a:srgbClr val="F2B8B2"/>
                </a:solidFill>
                <a:latin typeface="Calibri"/>
              </a:rPr>
              <a:t>Read the status once</a:t>
            </a:r>
          </a:p>
        </p:txBody>
      </p:sp>
      <p:cxnSp>
        <p:nvCxnSpPr>
          <p:cNvPr id="1109" name="Connector 1108"/>
          <p:cNvCxnSpPr/>
          <p:nvPr/>
        </p:nvCxnSpPr>
        <p:spPr>
          <a:xfrm>
            <a:off x="5303520" y="3044952"/>
            <a:ext cx="182879" cy="0"/>
          </a:xfrm>
          <a:prstGeom prst="line">
            <a:avLst/>
          </a:prstGeom>
          <a:ln w="19050">
            <a:solidFill>
              <a:srgbClr val="8FA0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0" name="Rounded Rectangle 1109"/>
          <p:cNvSpPr/>
          <p:nvPr/>
        </p:nvSpPr>
        <p:spPr>
          <a:xfrm>
            <a:off x="5513831" y="2889504"/>
            <a:ext cx="1600200" cy="310896"/>
          </a:xfrm>
          <a:prstGeom prst="roundRect">
            <a:avLst>
              <a:gd name="adj" fmla="val 8000"/>
            </a:avLst>
          </a:prstGeom>
          <a:solidFill>
            <a:srgbClr val="2E1618"/>
          </a:solidFill>
          <a:ln w="12700">
            <a:solidFill>
              <a:srgbClr val="E05A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1" name="TextBox 1110"/>
          <p:cNvSpPr txBox="1"/>
          <p:nvPr/>
        </p:nvSpPr>
        <p:spPr>
          <a:xfrm>
            <a:off x="5513831" y="2889504"/>
            <a:ext cx="1600200" cy="310896"/>
          </a:xfrm>
          <a:prstGeom prst="rect">
            <a:avLst/>
          </a:prstGeom>
          <a:noFill/>
        </p:spPr>
        <p:txBody>
          <a:bodyPr wrap="square" lIns="0" rIns="0" tIns="0" bIns="0" anchor="ctr">
            <a:spAutoFit/>
          </a:bodyPr>
          <a:lstStyle/>
          <a:p>
            <a:pPr algn="ctr"/>
            <a:r>
              <a:rPr sz="1050" b="1" i="0">
                <a:solidFill>
                  <a:srgbClr val="F2B8B2"/>
                </a:solidFill>
                <a:latin typeface="Calibri"/>
              </a:rPr>
              <a:t>Hope it says “Done.”</a:t>
            </a:r>
          </a:p>
        </p:txBody>
      </p:sp>
      <p:sp>
        <p:nvSpPr>
          <p:cNvPr id="1112" name="TextBox 1111"/>
          <p:cNvSpPr txBox="1"/>
          <p:nvPr/>
        </p:nvSpPr>
        <p:spPr>
          <a:xfrm>
            <a:off x="493776" y="3310128"/>
            <a:ext cx="868680" cy="310896"/>
          </a:xfrm>
          <a:prstGeom prst="rect">
            <a:avLst/>
          </a:prstGeom>
          <a:noFill/>
        </p:spPr>
        <p:txBody>
          <a:bodyPr wrap="square" lIns="0" rIns="0" tIns="0" bIns="0" anchor="ctr">
            <a:spAutoFit/>
          </a:bodyPr>
          <a:lstStyle/>
          <a:p>
            <a:pPr algn="l"/>
            <a:r>
              <a:rPr sz="1100" b="1" i="0">
                <a:solidFill>
                  <a:srgbClr val="4CC07A"/>
                </a:solidFill>
                <a:latin typeface="Calibri"/>
              </a:rPr>
              <a:t>AFTER</a:t>
            </a:r>
          </a:p>
        </p:txBody>
      </p:sp>
      <p:sp>
        <p:nvSpPr>
          <p:cNvPr id="1113" name="Rounded Rectangle 1112"/>
          <p:cNvSpPr/>
          <p:nvPr/>
        </p:nvSpPr>
        <p:spPr>
          <a:xfrm>
            <a:off x="1371600" y="3310128"/>
            <a:ext cx="914400" cy="310896"/>
          </a:xfrm>
          <a:prstGeom prst="roundRect">
            <a:avLst>
              <a:gd name="adj" fmla="val 8000"/>
            </a:avLst>
          </a:prstGeom>
          <a:solidFill>
            <a:srgbClr val="122A1C"/>
          </a:solidFill>
          <a:ln w="12700">
            <a:solidFill>
              <a:srgbClr val="4CC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4" name="TextBox 1113"/>
          <p:cNvSpPr txBox="1"/>
          <p:nvPr/>
        </p:nvSpPr>
        <p:spPr>
          <a:xfrm>
            <a:off x="1371600" y="3310128"/>
            <a:ext cx="914400" cy="310896"/>
          </a:xfrm>
          <a:prstGeom prst="rect">
            <a:avLst/>
          </a:prstGeom>
          <a:noFill/>
        </p:spPr>
        <p:txBody>
          <a:bodyPr wrap="square" lIns="0" rIns="0" tIns="0" bIns="0" anchor="ctr">
            <a:spAutoFit/>
          </a:bodyPr>
          <a:lstStyle/>
          <a:p>
            <a:pPr algn="ctr"/>
            <a:r>
              <a:rPr sz="1050" b="1" i="0">
                <a:solidFill>
                  <a:srgbClr val="BFEBCF"/>
                </a:solidFill>
                <a:latin typeface="Calibri"/>
              </a:rPr>
              <a:t>Click Pay</a:t>
            </a:r>
          </a:p>
        </p:txBody>
      </p:sp>
      <p:cxnSp>
        <p:nvCxnSpPr>
          <p:cNvPr id="1115" name="Connector 1114"/>
          <p:cNvCxnSpPr/>
          <p:nvPr/>
        </p:nvCxnSpPr>
        <p:spPr>
          <a:xfrm>
            <a:off x="2313432" y="3465576"/>
            <a:ext cx="182880" cy="0"/>
          </a:xfrm>
          <a:prstGeom prst="line">
            <a:avLst/>
          </a:prstGeom>
          <a:ln w="19050">
            <a:solidFill>
              <a:srgbClr val="8FA0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6" name="Rounded Rectangle 1115"/>
          <p:cNvSpPr/>
          <p:nvPr/>
        </p:nvSpPr>
        <p:spPr>
          <a:xfrm>
            <a:off x="2523744" y="3310128"/>
            <a:ext cx="2651760" cy="310896"/>
          </a:xfrm>
          <a:prstGeom prst="roundRect">
            <a:avLst>
              <a:gd name="adj" fmla="val 8000"/>
            </a:avLst>
          </a:prstGeom>
          <a:solidFill>
            <a:srgbClr val="122A1C"/>
          </a:solidFill>
          <a:ln w="12700">
            <a:solidFill>
              <a:srgbClr val="4CC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7" name="TextBox 1116"/>
          <p:cNvSpPr txBox="1"/>
          <p:nvPr/>
        </p:nvSpPr>
        <p:spPr>
          <a:xfrm>
            <a:off x="2523744" y="3310128"/>
            <a:ext cx="2651760" cy="310896"/>
          </a:xfrm>
          <a:prstGeom prst="rect">
            <a:avLst/>
          </a:prstGeom>
          <a:noFill/>
        </p:spPr>
        <p:txBody>
          <a:bodyPr wrap="square" lIns="0" rIns="0" tIns="0" bIns="0" anchor="ctr">
            <a:spAutoFit/>
          </a:bodyPr>
          <a:lstStyle/>
          <a:p>
            <a:pPr algn="ctr"/>
            <a:r>
              <a:rPr sz="1050" b="1" i="0">
                <a:solidFill>
                  <a:srgbClr val="BFEBCF"/>
                </a:solidFill>
                <a:latin typeface="Calibri"/>
              </a:rPr>
              <a:t>Wait for the server’s “confirmed” reply</a:t>
            </a:r>
          </a:p>
        </p:txBody>
      </p:sp>
      <p:cxnSp>
        <p:nvCxnSpPr>
          <p:cNvPr id="1118" name="Connector 1117"/>
          <p:cNvCxnSpPr/>
          <p:nvPr/>
        </p:nvCxnSpPr>
        <p:spPr>
          <a:xfrm>
            <a:off x="5202936" y="3465576"/>
            <a:ext cx="182880" cy="0"/>
          </a:xfrm>
          <a:prstGeom prst="line">
            <a:avLst/>
          </a:prstGeom>
          <a:ln w="19050">
            <a:solidFill>
              <a:srgbClr val="8FA0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9" name="Rounded Rectangle 1118"/>
          <p:cNvSpPr/>
          <p:nvPr/>
        </p:nvSpPr>
        <p:spPr>
          <a:xfrm>
            <a:off x="5413248" y="3310128"/>
            <a:ext cx="2788920" cy="310896"/>
          </a:xfrm>
          <a:prstGeom prst="roundRect">
            <a:avLst>
              <a:gd name="adj" fmla="val 8000"/>
            </a:avLst>
          </a:prstGeom>
          <a:solidFill>
            <a:srgbClr val="122A1C"/>
          </a:solidFill>
          <a:ln w="12700">
            <a:solidFill>
              <a:srgbClr val="4CC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0" name="TextBox 1119"/>
          <p:cNvSpPr txBox="1"/>
          <p:nvPr/>
        </p:nvSpPr>
        <p:spPr>
          <a:xfrm>
            <a:off x="5413248" y="3310128"/>
            <a:ext cx="2788920" cy="310896"/>
          </a:xfrm>
          <a:prstGeom prst="rect">
            <a:avLst/>
          </a:prstGeom>
          <a:noFill/>
        </p:spPr>
        <p:txBody>
          <a:bodyPr wrap="square" lIns="0" rIns="0" tIns="0" bIns="0" anchor="ctr">
            <a:spAutoFit/>
          </a:bodyPr>
          <a:lstStyle/>
          <a:p>
            <a:pPr algn="ctr"/>
            <a:r>
              <a:rPr sz="1050" b="1" i="0">
                <a:solidFill>
                  <a:srgbClr val="BFEBCF"/>
                </a:solidFill>
                <a:latin typeface="Calibri"/>
              </a:rPr>
              <a:t>Check the page says “Done.” (keeps checking)</a:t>
            </a:r>
          </a:p>
        </p:txBody>
      </p:sp>
      <p:sp>
        <p:nvSpPr>
          <p:cNvPr id="1121" name="Rounded Rectangle 1120"/>
          <p:cNvSpPr/>
          <p:nvPr/>
        </p:nvSpPr>
        <p:spPr>
          <a:xfrm>
            <a:off x="493776" y="3749039"/>
            <a:ext cx="8156448" cy="384048"/>
          </a:xfrm>
          <a:prstGeom prst="roundRect">
            <a:avLst>
              <a:gd name="adj" fmla="val 8000"/>
            </a:avLst>
          </a:prstGeom>
          <a:solidFill>
            <a:srgbClr val="0D131B"/>
          </a:solidFill>
          <a:ln w="12700">
            <a:solidFill>
              <a:srgbClr val="2A3A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2" name="TextBox 1121"/>
          <p:cNvSpPr txBox="1"/>
          <p:nvPr/>
        </p:nvSpPr>
        <p:spPr>
          <a:xfrm>
            <a:off x="621792" y="3749039"/>
            <a:ext cx="7955279" cy="384048"/>
          </a:xfrm>
          <a:prstGeom prst="rect">
            <a:avLst/>
          </a:prstGeom>
          <a:noFill/>
        </p:spPr>
        <p:txBody>
          <a:bodyPr wrap="square" lIns="0" rIns="0" tIns="0" bIns="0" anchor="ctr">
            <a:spAutoFit/>
          </a:bodyPr>
          <a:lstStyle/>
          <a:p>
            <a:pPr algn="l"/>
            <a:r>
              <a:rPr sz="900" b="1" i="0">
                <a:solidFill>
                  <a:srgbClr val="4FA8E0"/>
                </a:solidFill>
                <a:latin typeface="Roboto Mono"/>
              </a:rPr>
              <a:t>pages/checkout.page.ts   </a:t>
            </a:r>
            <a:r>
              <a:rPr sz="1050" b="0" i="0">
                <a:solidFill>
                  <a:srgbClr val="F2B8B2"/>
                </a:solidFill>
                <a:latin typeface="Roboto Mono"/>
              </a:rPr>
              <a:t>waitForTimeout(2000)</a:t>
            </a:r>
            <a:r>
              <a:rPr sz="1050" b="1" i="0">
                <a:solidFill>
                  <a:srgbClr val="8FA0AE"/>
                </a:solidFill>
                <a:latin typeface="Roboto Mono"/>
              </a:rPr>
              <a:t>   →   </a:t>
            </a:r>
            <a:r>
              <a:rPr sz="1050" b="0" i="0">
                <a:solidFill>
                  <a:srgbClr val="82AAFF"/>
                </a:solidFill>
                <a:latin typeface="Roboto Mono"/>
              </a:rPr>
              <a:t>waitForResponse(</a:t>
            </a:r>
            <a:r>
              <a:rPr sz="1050" b="0" i="0">
                <a:solidFill>
                  <a:srgbClr val="BFEBCF"/>
                </a:solidFill>
                <a:latin typeface="Roboto Mono"/>
              </a:rPr>
              <a:t>… status === </a:t>
            </a:r>
            <a:r>
              <a:rPr sz="1050" b="0" i="0">
                <a:solidFill>
                  <a:srgbClr val="E6B15E"/>
                </a:solidFill>
                <a:latin typeface="Roboto Mono"/>
              </a:rPr>
              <a:t>"confirmed"</a:t>
            </a:r>
            <a:r>
              <a:rPr sz="1050" b="0" i="0">
                <a:solidFill>
                  <a:srgbClr val="82AAFF"/>
                </a:solidFill>
                <a:latin typeface="Roboto Mono"/>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900" b="1">
                <a:solidFill>
                  <a:srgbClr val="EAF1F6"/>
                </a:solidFill>
                <a:latin typeface="Century Schoolbook"/>
              </a:rPr>
              <a:t>What made the difference</a:t>
            </a:r>
          </a:p>
        </p:txBody>
      </p:sp>
      <p:sp>
        <p:nvSpPr>
          <p:cNvPr id="4" name="TextBox 3"/>
          <p:cNvSpPr txBox="1"/>
          <p:nvPr/>
        </p:nvSpPr>
        <p:spPr>
          <a:xfrm>
            <a:off x="603504" y="932688"/>
            <a:ext cx="3108960" cy="237744"/>
          </a:xfrm>
          <a:prstGeom prst="rect">
            <a:avLst/>
          </a:prstGeom>
          <a:noFill/>
        </p:spPr>
        <p:txBody>
          <a:bodyPr wrap="square" lIns="0" rIns="0" tIns="0" bIns="0" anchor="t">
            <a:spAutoFit/>
          </a:bodyPr>
          <a:lstStyle/>
          <a:p>
            <a:pPr algn="l"/>
            <a:r>
              <a:rPr sz="1000" b="1" i="0">
                <a:solidFill>
                  <a:srgbClr val="4FA8E0"/>
                </a:solidFill>
                <a:latin typeface="Calibri"/>
              </a:rPr>
              <a:t>WHAT CLAUDE HAD</a:t>
            </a:r>
          </a:p>
        </p:txBody>
      </p:sp>
      <p:sp>
        <p:nvSpPr>
          <p:cNvPr id="5" name="TextBox 4"/>
          <p:cNvSpPr txBox="1"/>
          <p:nvPr/>
        </p:nvSpPr>
        <p:spPr>
          <a:xfrm>
            <a:off x="3813048" y="932688"/>
            <a:ext cx="2926080" cy="237744"/>
          </a:xfrm>
          <a:prstGeom prst="rect">
            <a:avLst/>
          </a:prstGeom>
          <a:noFill/>
        </p:spPr>
        <p:txBody>
          <a:bodyPr wrap="square" lIns="0" rIns="0" tIns="0" bIns="0" anchor="t">
            <a:spAutoFit/>
          </a:bodyPr>
          <a:lstStyle/>
          <a:p>
            <a:pPr algn="l"/>
            <a:r>
              <a:rPr sz="1000" b="1" i="0">
                <a:solidFill>
                  <a:srgbClr val="4FA8E0"/>
                </a:solidFill>
                <a:latin typeface="Calibri"/>
              </a:rPr>
              <a:t>WHAT IT DID</a:t>
            </a:r>
          </a:p>
        </p:txBody>
      </p:sp>
      <p:sp>
        <p:nvSpPr>
          <p:cNvPr id="6" name="TextBox 5"/>
          <p:cNvSpPr txBox="1"/>
          <p:nvPr/>
        </p:nvSpPr>
        <p:spPr>
          <a:xfrm>
            <a:off x="6830568" y="932688"/>
            <a:ext cx="1920240" cy="237744"/>
          </a:xfrm>
          <a:prstGeom prst="rect">
            <a:avLst/>
          </a:prstGeom>
          <a:noFill/>
        </p:spPr>
        <p:txBody>
          <a:bodyPr wrap="square" lIns="0" rIns="0" tIns="0" bIns="0" anchor="t">
            <a:spAutoFit/>
          </a:bodyPr>
          <a:lstStyle/>
          <a:p>
            <a:pPr algn="l"/>
            <a:r>
              <a:rPr sz="1000" b="1" i="0">
                <a:solidFill>
                  <a:srgbClr val="4FA8E0"/>
                </a:solidFill>
                <a:latin typeface="Calibri"/>
              </a:rPr>
              <a:t>RESULT</a:t>
            </a:r>
          </a:p>
        </p:txBody>
      </p:sp>
      <p:sp>
        <p:nvSpPr>
          <p:cNvPr id="7" name="Rounded Rectangle 6"/>
          <p:cNvSpPr/>
          <p:nvPr/>
        </p:nvSpPr>
        <p:spPr>
          <a:xfrm>
            <a:off x="493776" y="1207008"/>
            <a:ext cx="8156448" cy="786384"/>
          </a:xfrm>
          <a:prstGeom prst="roundRect">
            <a:avLst>
              <a:gd name="adj" fmla="val 8000"/>
            </a:avLst>
          </a:prstGeom>
          <a:solidFill>
            <a:srgbClr val="0E141B"/>
          </a:solidFill>
          <a:ln w="19050">
            <a:solidFill>
              <a:srgbClr val="E05A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93776" y="1207008"/>
            <a:ext cx="73152" cy="786384"/>
          </a:xfrm>
          <a:prstGeom prst="rect">
            <a:avLst/>
          </a:prstGeom>
          <a:solidFill>
            <a:srgbClr val="E05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76656" y="1426464"/>
            <a:ext cx="894283" cy="310896"/>
          </a:xfrm>
          <a:prstGeom prst="roundRect">
            <a:avLst>
              <a:gd name="adj" fmla="val 8000"/>
            </a:avLst>
          </a:prstGeom>
          <a:solidFill>
            <a:srgbClr val="141E2A"/>
          </a:solidFill>
          <a:ln w="12700">
            <a:solidFill>
              <a:srgbClr val="E05A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426464"/>
            <a:ext cx="894283" cy="310896"/>
          </a:xfrm>
          <a:prstGeom prst="rect">
            <a:avLst/>
          </a:prstGeom>
          <a:noFill/>
        </p:spPr>
        <p:txBody>
          <a:bodyPr wrap="square" lIns="0" rIns="0" tIns="0" bIns="0" anchor="ctr">
            <a:spAutoFit/>
          </a:bodyPr>
          <a:lstStyle/>
          <a:p>
            <a:pPr algn="ctr"/>
            <a:r>
              <a:rPr sz="950" b="1" i="0">
                <a:solidFill>
                  <a:srgbClr val="EAF1F6"/>
                </a:solidFill>
                <a:latin typeface="Calibri"/>
              </a:rPr>
              <a:t>Just a prompt</a:t>
            </a:r>
          </a:p>
        </p:txBody>
      </p:sp>
      <p:sp>
        <p:nvSpPr>
          <p:cNvPr id="11" name="TextBox 10"/>
          <p:cNvSpPr txBox="1"/>
          <p:nvPr/>
        </p:nvSpPr>
        <p:spPr>
          <a:xfrm>
            <a:off x="3813048" y="1261872"/>
            <a:ext cx="2834640" cy="676656"/>
          </a:xfrm>
          <a:prstGeom prst="rect">
            <a:avLst/>
          </a:prstGeom>
          <a:noFill/>
        </p:spPr>
        <p:txBody>
          <a:bodyPr wrap="square" lIns="0" rIns="0" tIns="0" bIns="0" anchor="ctr">
            <a:spAutoFit/>
          </a:bodyPr>
          <a:lstStyle/>
          <a:p>
            <a:pPr algn="l"/>
            <a:r>
              <a:rPr sz="1150" b="0" i="0">
                <a:solidFill>
                  <a:srgbClr val="8FA0AE"/>
                </a:solidFill>
                <a:latin typeface="Calibri"/>
              </a:rPr>
              <a:t>Removed the sleep and said “Fixed.”</a:t>
            </a:r>
          </a:p>
        </p:txBody>
      </p:sp>
      <p:sp>
        <p:nvSpPr>
          <p:cNvPr id="12" name="TextBox 11"/>
          <p:cNvSpPr txBox="1"/>
          <p:nvPr/>
        </p:nvSpPr>
        <p:spPr>
          <a:xfrm>
            <a:off x="6812279" y="1261872"/>
            <a:ext cx="1783080" cy="676656"/>
          </a:xfrm>
          <a:prstGeom prst="rect">
            <a:avLst/>
          </a:prstGeom>
          <a:noFill/>
        </p:spPr>
        <p:txBody>
          <a:bodyPr wrap="square" lIns="0" rIns="0" tIns="0" bIns="0" anchor="ctr">
            <a:spAutoFit/>
          </a:bodyPr>
          <a:lstStyle/>
          <a:p>
            <a:pPr algn="l"/>
            <a:r>
              <a:rPr sz="1200" b="1" i="0">
                <a:solidFill>
                  <a:srgbClr val="E05A4F"/>
                </a:solidFill>
                <a:latin typeface="Calibri"/>
              </a:rPr>
              <a:t>✗  Fails on a busy day (8 s)</a:t>
            </a:r>
          </a:p>
        </p:txBody>
      </p:sp>
      <p:sp>
        <p:nvSpPr>
          <p:cNvPr id="13" name="Rounded Rectangle 12"/>
          <p:cNvSpPr/>
          <p:nvPr/>
        </p:nvSpPr>
        <p:spPr>
          <a:xfrm>
            <a:off x="493776" y="2103120"/>
            <a:ext cx="8156448" cy="786384"/>
          </a:xfrm>
          <a:prstGeom prst="roundRect">
            <a:avLst>
              <a:gd name="adj" fmla="val 8000"/>
            </a:avLst>
          </a:prstGeom>
          <a:solidFill>
            <a:srgbClr val="0E141B"/>
          </a:solidFill>
          <a:ln w="19050">
            <a:solidFill>
              <a:srgbClr val="E6A2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93776" y="2103120"/>
            <a:ext cx="73152" cy="786384"/>
          </a:xfrm>
          <a:prstGeom prst="rect">
            <a:avLst/>
          </a:prstGeom>
          <a:solidFill>
            <a:srgbClr val="E6A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76656" y="2322576"/>
            <a:ext cx="471830" cy="310896"/>
          </a:xfrm>
          <a:prstGeom prst="roundRect">
            <a:avLst>
              <a:gd name="adj" fmla="val 8000"/>
            </a:avLst>
          </a:prstGeom>
          <a:solidFill>
            <a:srgbClr val="141E2A"/>
          </a:solidFill>
          <a:ln w="12700">
            <a:solidFill>
              <a:srgbClr val="E6A2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6656" y="2322576"/>
            <a:ext cx="471830" cy="310896"/>
          </a:xfrm>
          <a:prstGeom prst="rect">
            <a:avLst/>
          </a:prstGeom>
          <a:noFill/>
        </p:spPr>
        <p:txBody>
          <a:bodyPr wrap="square" lIns="0" rIns="0" tIns="0" bIns="0" anchor="ctr">
            <a:spAutoFit/>
          </a:bodyPr>
          <a:lstStyle/>
          <a:p>
            <a:pPr algn="ctr"/>
            <a:r>
              <a:rPr sz="950" b="1" i="0">
                <a:solidFill>
                  <a:srgbClr val="EAF1F6"/>
                </a:solidFill>
                <a:latin typeface="Calibri"/>
              </a:rPr>
              <a:t>Prompt</a:t>
            </a:r>
          </a:p>
        </p:txBody>
      </p:sp>
      <p:sp>
        <p:nvSpPr>
          <p:cNvPr id="17" name="Rounded Rectangle 16"/>
          <p:cNvSpPr/>
          <p:nvPr/>
        </p:nvSpPr>
        <p:spPr>
          <a:xfrm>
            <a:off x="1221638" y="2322576"/>
            <a:ext cx="1075334" cy="310896"/>
          </a:xfrm>
          <a:prstGeom prst="roundRect">
            <a:avLst>
              <a:gd name="adj" fmla="val 8000"/>
            </a:avLst>
          </a:prstGeom>
          <a:solidFill>
            <a:srgbClr val="141E2A"/>
          </a:solidFill>
          <a:ln w="12700">
            <a:solidFill>
              <a:srgbClr val="E6A2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21638" y="2322576"/>
            <a:ext cx="1075334" cy="310896"/>
          </a:xfrm>
          <a:prstGeom prst="rect">
            <a:avLst/>
          </a:prstGeom>
          <a:noFill/>
        </p:spPr>
        <p:txBody>
          <a:bodyPr wrap="square" lIns="0" rIns="0" tIns="0" bIns="0" anchor="ctr">
            <a:spAutoFit/>
          </a:bodyPr>
          <a:lstStyle/>
          <a:p>
            <a:pPr algn="ctr"/>
            <a:r>
              <a:rPr sz="950" b="1" i="0">
                <a:solidFill>
                  <a:srgbClr val="EAF1F6"/>
                </a:solidFill>
                <a:latin typeface="Calibri"/>
              </a:rPr>
              <a:t>+ karpathy rules</a:t>
            </a:r>
          </a:p>
        </p:txBody>
      </p:sp>
      <p:sp>
        <p:nvSpPr>
          <p:cNvPr id="19" name="TextBox 18"/>
          <p:cNvSpPr txBox="1"/>
          <p:nvPr/>
        </p:nvSpPr>
        <p:spPr>
          <a:xfrm>
            <a:off x="3813048" y="2157984"/>
            <a:ext cx="2834640" cy="676656"/>
          </a:xfrm>
          <a:prstGeom prst="rect">
            <a:avLst/>
          </a:prstGeom>
          <a:noFill/>
        </p:spPr>
        <p:txBody>
          <a:bodyPr wrap="square" lIns="0" rIns="0" tIns="0" bIns="0" anchor="ctr">
            <a:spAutoFit/>
          </a:bodyPr>
          <a:lstStyle/>
          <a:p>
            <a:pPr algn="l"/>
            <a:r>
              <a:rPr sz="1150" b="0" i="0">
                <a:solidFill>
                  <a:srgbClr val="8FA0AE"/>
                </a:solidFill>
                <a:latin typeface="Calibri"/>
              </a:rPr>
              <a:t>The same fix, but warned us it didn’t know the CI timings.</a:t>
            </a:r>
          </a:p>
        </p:txBody>
      </p:sp>
      <p:sp>
        <p:nvSpPr>
          <p:cNvPr id="20" name="TextBox 19"/>
          <p:cNvSpPr txBox="1"/>
          <p:nvPr/>
        </p:nvSpPr>
        <p:spPr>
          <a:xfrm>
            <a:off x="6812279" y="2157984"/>
            <a:ext cx="1783080" cy="676656"/>
          </a:xfrm>
          <a:prstGeom prst="rect">
            <a:avLst/>
          </a:prstGeom>
          <a:noFill/>
        </p:spPr>
        <p:txBody>
          <a:bodyPr wrap="square" lIns="0" rIns="0" tIns="0" bIns="0" anchor="ctr">
            <a:spAutoFit/>
          </a:bodyPr>
          <a:lstStyle/>
          <a:p>
            <a:pPr algn="l"/>
            <a:r>
              <a:rPr sz="1200" b="1" i="0">
                <a:solidFill>
                  <a:srgbClr val="E6A23C"/>
                </a:solidFill>
                <a:latin typeface="Calibri"/>
              </a:rPr>
              <a:t>✗  Still fails at 8 s, but honest</a:t>
            </a:r>
          </a:p>
        </p:txBody>
      </p:sp>
      <p:sp>
        <p:nvSpPr>
          <p:cNvPr id="21" name="Rounded Rectangle 20"/>
          <p:cNvSpPr/>
          <p:nvPr/>
        </p:nvSpPr>
        <p:spPr>
          <a:xfrm>
            <a:off x="493776" y="2999232"/>
            <a:ext cx="8156448" cy="786384"/>
          </a:xfrm>
          <a:prstGeom prst="roundRect">
            <a:avLst>
              <a:gd name="adj" fmla="val 8000"/>
            </a:avLst>
          </a:prstGeom>
          <a:solidFill>
            <a:srgbClr val="0E141B"/>
          </a:solidFill>
          <a:ln w="19050">
            <a:solidFill>
              <a:srgbClr val="4CC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93776" y="2999232"/>
            <a:ext cx="73152" cy="786384"/>
          </a:xfrm>
          <a:prstGeom prst="rect">
            <a:avLst/>
          </a:prstGeom>
          <a:solidFill>
            <a:srgbClr val="4CC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76656" y="3218687"/>
            <a:ext cx="954633" cy="310896"/>
          </a:xfrm>
          <a:prstGeom prst="roundRect">
            <a:avLst>
              <a:gd name="adj" fmla="val 8000"/>
            </a:avLst>
          </a:prstGeom>
          <a:solidFill>
            <a:srgbClr val="141E2A"/>
          </a:solidFill>
          <a:ln w="12700">
            <a:solidFill>
              <a:srgbClr val="4CC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6656" y="3218687"/>
            <a:ext cx="954633" cy="310896"/>
          </a:xfrm>
          <a:prstGeom prst="rect">
            <a:avLst/>
          </a:prstGeom>
          <a:noFill/>
        </p:spPr>
        <p:txBody>
          <a:bodyPr wrap="square" lIns="0" rIns="0" tIns="0" bIns="0" anchor="ctr">
            <a:spAutoFit/>
          </a:bodyPr>
          <a:lstStyle/>
          <a:p>
            <a:pPr algn="ctr"/>
            <a:r>
              <a:rPr sz="950" b="1" i="0">
                <a:solidFill>
                  <a:srgbClr val="EAF1F6"/>
                </a:solidFill>
                <a:latin typeface="Calibri"/>
              </a:rPr>
              <a:t>karpathy rules</a:t>
            </a:r>
          </a:p>
        </p:txBody>
      </p:sp>
      <p:sp>
        <p:nvSpPr>
          <p:cNvPr id="25" name="Rounded Rectangle 24"/>
          <p:cNvSpPr/>
          <p:nvPr/>
        </p:nvSpPr>
        <p:spPr>
          <a:xfrm>
            <a:off x="1704441" y="3218687"/>
            <a:ext cx="1075334" cy="310896"/>
          </a:xfrm>
          <a:prstGeom prst="roundRect">
            <a:avLst>
              <a:gd name="adj" fmla="val 8000"/>
            </a:avLst>
          </a:prstGeom>
          <a:solidFill>
            <a:srgbClr val="141E2A"/>
          </a:solidFill>
          <a:ln w="12700">
            <a:solidFill>
              <a:srgbClr val="4CC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704441" y="3218687"/>
            <a:ext cx="1075334" cy="310896"/>
          </a:xfrm>
          <a:prstGeom prst="rect">
            <a:avLst/>
          </a:prstGeom>
          <a:noFill/>
        </p:spPr>
        <p:txBody>
          <a:bodyPr wrap="square" lIns="0" rIns="0" tIns="0" bIns="0" anchor="ctr">
            <a:spAutoFit/>
          </a:bodyPr>
          <a:lstStyle/>
          <a:p>
            <a:pPr algn="ctr"/>
            <a:r>
              <a:rPr sz="950" b="1" i="0">
                <a:solidFill>
                  <a:srgbClr val="EAF1F6"/>
                </a:solidFill>
                <a:latin typeface="Calibri"/>
              </a:rPr>
              <a:t>+ our docs (RAG)</a:t>
            </a:r>
          </a:p>
        </p:txBody>
      </p:sp>
      <p:sp>
        <p:nvSpPr>
          <p:cNvPr id="27" name="Rounded Rectangle 26"/>
          <p:cNvSpPr/>
          <p:nvPr/>
        </p:nvSpPr>
        <p:spPr>
          <a:xfrm>
            <a:off x="2852928" y="3218687"/>
            <a:ext cx="652881" cy="310896"/>
          </a:xfrm>
          <a:prstGeom prst="roundRect">
            <a:avLst>
              <a:gd name="adj" fmla="val 8000"/>
            </a:avLst>
          </a:prstGeom>
          <a:solidFill>
            <a:srgbClr val="141E2A"/>
          </a:solidFill>
          <a:ln w="12700">
            <a:solidFill>
              <a:srgbClr val="4CC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852928" y="3218687"/>
            <a:ext cx="652881" cy="310896"/>
          </a:xfrm>
          <a:prstGeom prst="rect">
            <a:avLst/>
          </a:prstGeom>
          <a:noFill/>
        </p:spPr>
        <p:txBody>
          <a:bodyPr wrap="square" lIns="0" rIns="0" tIns="0" bIns="0" anchor="ctr">
            <a:spAutoFit/>
          </a:bodyPr>
          <a:lstStyle/>
          <a:p>
            <a:pPr algn="ctr"/>
            <a:r>
              <a:rPr sz="950" b="1" i="0">
                <a:solidFill>
                  <a:srgbClr val="EAF1F6"/>
                </a:solidFill>
                <a:latin typeface="Calibri"/>
              </a:rPr>
              <a:t>+ browser</a:t>
            </a:r>
          </a:p>
        </p:txBody>
      </p:sp>
      <p:sp>
        <p:nvSpPr>
          <p:cNvPr id="29" name="TextBox 28"/>
          <p:cNvSpPr txBox="1"/>
          <p:nvPr/>
        </p:nvSpPr>
        <p:spPr>
          <a:xfrm>
            <a:off x="3813048" y="3054096"/>
            <a:ext cx="2834640" cy="676656"/>
          </a:xfrm>
          <a:prstGeom prst="rect">
            <a:avLst/>
          </a:prstGeom>
          <a:noFill/>
        </p:spPr>
        <p:txBody>
          <a:bodyPr wrap="square" lIns="0" rIns="0" tIns="0" bIns="0" anchor="ctr">
            <a:spAutoFit/>
          </a:bodyPr>
          <a:lstStyle/>
          <a:p>
            <a:pPr algn="l"/>
            <a:r>
              <a:rPr sz="1150" b="0" i="0">
                <a:solidFill>
                  <a:srgbClr val="8FA0AE"/>
                </a:solidFill>
                <a:latin typeface="Calibri"/>
              </a:rPr>
              <a:t>/fix-flaky waited for the real “confirmed” reply, in our page object, in our style.</a:t>
            </a:r>
          </a:p>
        </p:txBody>
      </p:sp>
      <p:sp>
        <p:nvSpPr>
          <p:cNvPr id="30" name="TextBox 29"/>
          <p:cNvSpPr txBox="1"/>
          <p:nvPr/>
        </p:nvSpPr>
        <p:spPr>
          <a:xfrm>
            <a:off x="6812279" y="3054096"/>
            <a:ext cx="1783080" cy="676656"/>
          </a:xfrm>
          <a:prstGeom prst="rect">
            <a:avLst/>
          </a:prstGeom>
          <a:noFill/>
        </p:spPr>
        <p:txBody>
          <a:bodyPr wrap="square" lIns="0" rIns="0" tIns="0" bIns="0" anchor="ctr">
            <a:spAutoFit/>
          </a:bodyPr>
          <a:lstStyle/>
          <a:p>
            <a:pPr algn="l"/>
            <a:r>
              <a:rPr sz="1200" b="1" i="0">
                <a:solidFill>
                  <a:srgbClr val="4CC07A"/>
                </a:solidFill>
                <a:latin typeface="Calibri"/>
              </a:rPr>
              <a:t>✓  20/20, passes at 8 s and 12 s</a:t>
            </a:r>
          </a:p>
        </p:txBody>
      </p:sp>
      <p:sp>
        <p:nvSpPr>
          <p:cNvPr id="31" name="TextBox 30"/>
          <p:cNvSpPr txBox="1"/>
          <p:nvPr/>
        </p:nvSpPr>
        <p:spPr>
          <a:xfrm>
            <a:off x="493776" y="4041648"/>
            <a:ext cx="8156448" cy="548640"/>
          </a:xfrm>
          <a:prstGeom prst="rect">
            <a:avLst/>
          </a:prstGeom>
          <a:noFill/>
        </p:spPr>
        <p:txBody>
          <a:bodyPr wrap="square" lIns="0" rIns="0" tIns="0" bIns="0" anchor="t">
            <a:spAutoFit/>
          </a:bodyPr>
          <a:lstStyle/>
          <a:p>
            <a:pPr algn="ctr"/>
            <a:r>
              <a:rPr sz="1500" b="1" i="1">
                <a:solidFill>
                  <a:srgbClr val="E6B15E"/>
                </a:solidFill>
                <a:latin typeface="Century Schoolbook"/>
              </a:rPr>
              <a:t>Rules make Claude honest. Your docs make it right. </a:t>
            </a:r>
            <a:r>
              <a:rPr sz="1500" b="0" i="1">
                <a:solidFill>
                  <a:srgbClr val="E6B15E"/>
                </a:solidFill>
                <a:latin typeface="Century Schoolbook"/>
              </a:rPr>
              <a:t>A team skill makes it the same for everyone.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272B4"/>
        </a:solidFill>
        <a:effectLst/>
      </p:bgPr>
    </p:bg>
    <p:spTree>
      <p:nvGrpSpPr>
        <p:cNvPr id="1" name="Shape 1104"/>
        <p:cNvGrpSpPr/>
        <p:nvPr/>
      </p:nvGrpSpPr>
      <p:grpSpPr>
        <a:xfrm>
          <a:off x="0" y="0"/>
          <a:ext cx="0" cy="0"/>
          <a:chOff x="0" y="0"/>
          <a:chExt cx="0" cy="0"/>
        </a:xfrm>
      </p:grpSpPr>
      <p:sp>
        <p:nvSpPr>
          <p:cNvPr id="1105" name="Google Shape;1105;p80"/>
          <p:cNvSpPr txBox="1">
            <a:spLocks noGrp="1"/>
          </p:cNvSpPr>
          <p:nvPr>
            <p:ph type="title"/>
          </p:nvPr>
        </p:nvSpPr>
        <p:spPr>
          <a:xfrm>
            <a:off x="685800" y="2057400"/>
            <a:ext cx="7772400" cy="10287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rgbClr val="EAF1F7"/>
              </a:buClr>
              <a:buSzPts val="1900"/>
              <a:buFont typeface="Century Schoolbook"/>
              <a:buNone/>
            </a:pPr>
            <a:r>
              <a:rPr lang="en-GB" sz="4000" b="1">
                <a:solidFill>
                  <a:srgbClr val="FFFFFF"/>
                </a:solidFill>
                <a:latin typeface="Century Schoolbook"/>
                <a:ea typeface="Century Schoolbook"/>
                <a:cs typeface="Century Schoolbook"/>
                <a:sym typeface="Century Schoolbook"/>
              </a:rPr>
              <a:t>Talk is Cheap, Show me the code</a:t>
            </a:r>
            <a:endParaRPr sz="1900"/>
          </a:p>
        </p:txBody>
      </p:sp>
      <p:sp>
        <p:nvSpPr>
          <p:cNvPr id="1106" name="Google Shape;1106;p80"/>
          <p:cNvSpPr txBox="1"/>
          <p:nvPr/>
        </p:nvSpPr>
        <p:spPr>
          <a:xfrm>
            <a:off x="685800" y="1737360"/>
            <a:ext cx="7772400" cy="27432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rgbClr val="CFE6F8"/>
                </a:solidFill>
                <a:latin typeface="Calibri"/>
                <a:ea typeface="Calibri"/>
                <a:cs typeface="Calibri"/>
                <a:sym typeface="Calibri"/>
              </a:rPr>
              <a:t>PART 3</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11"/>
        <p:cNvGrpSpPr/>
        <p:nvPr/>
      </p:nvGrpSpPr>
      <p:grpSpPr>
        <a:xfrm>
          <a:off x="0" y="0"/>
          <a:ext cx="0" cy="0"/>
          <a:chOff x="0" y="0"/>
          <a:chExt cx="0" cy="0"/>
        </a:xfrm>
      </p:grpSpPr>
      <p:pic>
        <p:nvPicPr>
          <p:cNvPr id="1112" name="Google Shape;1112;p81" descr="/home/claude/work/assets/clappy_wave.png"/>
          <p:cNvPicPr preferRelativeResize="0"/>
          <p:nvPr/>
        </p:nvPicPr>
        <p:blipFill rotWithShape="1">
          <a:blip r:embed="rId3">
            <a:alphaModFix/>
          </a:blip>
          <a:srcRect/>
          <a:stretch/>
        </p:blipFill>
        <p:spPr>
          <a:xfrm>
            <a:off x="6172200" y="1474470"/>
            <a:ext cx="2297430" cy="2527173"/>
          </a:xfrm>
          <a:prstGeom prst="rect">
            <a:avLst/>
          </a:prstGeom>
          <a:noFill/>
          <a:ln>
            <a:noFill/>
          </a:ln>
        </p:spPr>
      </p:pic>
      <p:sp>
        <p:nvSpPr>
          <p:cNvPr id="1113" name="Google Shape;1113;p81"/>
          <p:cNvSpPr/>
          <p:nvPr/>
        </p:nvSpPr>
        <p:spPr>
          <a:xfrm>
            <a:off x="5795010" y="925830"/>
            <a:ext cx="1885950" cy="438912"/>
          </a:xfrm>
          <a:prstGeom prst="roundRect">
            <a:avLst>
              <a:gd name="adj" fmla="val 45455"/>
            </a:avLst>
          </a:prstGeom>
          <a:solidFill>
            <a:srgbClr val="EAF1F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4" name="Google Shape;1114;p81"/>
          <p:cNvSpPr/>
          <p:nvPr/>
        </p:nvSpPr>
        <p:spPr>
          <a:xfrm rot="10800000">
            <a:off x="6446520" y="1351026"/>
            <a:ext cx="205740" cy="178308"/>
          </a:xfrm>
          <a:prstGeom prst="triangle">
            <a:avLst>
              <a:gd name="adj" fmla="val 50000"/>
            </a:avLst>
          </a:prstGeom>
          <a:solidFill>
            <a:srgbClr val="EAF1F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5" name="Google Shape;1115;p81"/>
          <p:cNvSpPr txBox="1"/>
          <p:nvPr/>
        </p:nvSpPr>
        <p:spPr>
          <a:xfrm>
            <a:off x="5877306" y="925830"/>
            <a:ext cx="1721358" cy="43891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Century Schoolbook"/>
              <a:buNone/>
            </a:pPr>
            <a:r>
              <a:rPr lang="en-GB" sz="1100" b="1" i="1" u="none" strike="noStrike" cap="none">
                <a:solidFill>
                  <a:srgbClr val="000000"/>
                </a:solidFill>
                <a:latin typeface="Century Schoolbook"/>
                <a:ea typeface="Century Schoolbook"/>
                <a:cs typeface="Century Schoolbook"/>
                <a:sym typeface="Century Schoolbook"/>
              </a:rPr>
              <a:t>I'm the one we built.</a:t>
            </a:r>
            <a:endParaRPr sz="1100" b="0" i="0" u="none" strike="noStrike" cap="none">
              <a:solidFill>
                <a:schemeClr val="dk1"/>
              </a:solidFill>
              <a:latin typeface="Calibri"/>
              <a:ea typeface="Calibri"/>
              <a:cs typeface="Calibri"/>
              <a:sym typeface="Calibri"/>
            </a:endParaRPr>
          </a:p>
        </p:txBody>
      </p:sp>
      <p:sp>
        <p:nvSpPr>
          <p:cNvPr id="1116" name="Google Shape;1116;p81"/>
          <p:cNvSpPr txBox="1"/>
          <p:nvPr/>
        </p:nvSpPr>
        <p:spPr>
          <a:xfrm>
            <a:off x="548640" y="1128760"/>
            <a:ext cx="5212080" cy="8229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4100"/>
              <a:buFont typeface="Century Schoolbook"/>
              <a:buNone/>
            </a:pPr>
            <a:r>
              <a:rPr lang="en-GB" sz="4100" b="1" i="0" u="none" strike="noStrike" cap="none">
                <a:solidFill>
                  <a:srgbClr val="EAF1F7"/>
                </a:solidFill>
                <a:latin typeface="Century Schoolbook"/>
                <a:ea typeface="Century Schoolbook"/>
                <a:cs typeface="Century Schoolbook"/>
                <a:sym typeface="Century Schoolbook"/>
              </a:rPr>
              <a:t>Meet Clappy</a:t>
            </a:r>
            <a:endParaRPr sz="4100" b="0" i="0" u="none" strike="noStrike" cap="none">
              <a:solidFill>
                <a:schemeClr val="dk1"/>
              </a:solidFill>
              <a:latin typeface="Calibri"/>
              <a:ea typeface="Calibri"/>
              <a:cs typeface="Calibri"/>
              <a:sym typeface="Calibri"/>
            </a:endParaRPr>
          </a:p>
        </p:txBody>
      </p:sp>
      <p:cxnSp>
        <p:nvCxnSpPr>
          <p:cNvPr id="1117" name="Google Shape;1117;p81"/>
          <p:cNvCxnSpPr/>
          <p:nvPr/>
        </p:nvCxnSpPr>
        <p:spPr>
          <a:xfrm>
            <a:off x="562356" y="2088880"/>
            <a:ext cx="4389120" cy="0"/>
          </a:xfrm>
          <a:prstGeom prst="straightConnector1">
            <a:avLst/>
          </a:prstGeom>
          <a:noFill/>
          <a:ln w="19050" cap="flat" cmpd="sng">
            <a:solidFill>
              <a:srgbClr val="1E3044"/>
            </a:solidFill>
            <a:prstDash val="solid"/>
            <a:round/>
            <a:headEnd type="none" w="sm" len="sm"/>
            <a:tailEnd type="none" w="sm" len="sm"/>
          </a:ln>
        </p:spPr>
      </p:cxnSp>
      <p:sp>
        <p:nvSpPr>
          <p:cNvPr id="1118" name="Google Shape;1118;p81"/>
          <p:cNvSpPr txBox="1"/>
          <p:nvPr/>
        </p:nvSpPr>
        <p:spPr>
          <a:xfrm>
            <a:off x="562356" y="2260330"/>
            <a:ext cx="4800600" cy="19716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0272B4"/>
              </a:buClr>
              <a:buSzPts val="1400"/>
              <a:buFont typeface="Calibri"/>
              <a:buNone/>
            </a:pPr>
            <a:r>
              <a:rPr lang="en-GB" sz="1400" b="1" i="0" u="none" strike="noStrike" cap="none">
                <a:solidFill>
                  <a:srgbClr val="4FB0EA"/>
                </a:solidFill>
                <a:latin typeface="Calibri"/>
                <a:ea typeface="Calibri"/>
                <a:cs typeface="Calibri"/>
                <a:sym typeface="Calibri"/>
              </a:rPr>
              <a:t>The SDK we built at Applause. </a:t>
            </a:r>
            <a:r>
              <a:rPr lang="en-GB" sz="1400" b="0" i="0" u="none" strike="noStrike" cap="none">
                <a:solidFill>
                  <a:srgbClr val="93A9C0"/>
                </a:solidFill>
                <a:latin typeface="Calibri"/>
                <a:ea typeface="Calibri"/>
                <a:cs typeface="Calibri"/>
                <a:sym typeface="Calibri"/>
              </a:rPr>
              <a:t>It does three jobs:</a:t>
            </a:r>
            <a:endParaRPr sz="1400" b="0" i="0" u="none" strike="noStrike" cap="none">
              <a:solidFill>
                <a:schemeClr val="dk1"/>
              </a:solidFill>
              <a:latin typeface="Calibri"/>
              <a:ea typeface="Calibri"/>
              <a:cs typeface="Calibri"/>
              <a:sym typeface="Calibri"/>
            </a:endParaRPr>
          </a:p>
          <a:p>
            <a:pPr marL="0" marR="0" lvl="0" indent="0" algn="l" rtl="0">
              <a:lnSpc>
                <a:spcPct val="125000"/>
              </a:lnSpc>
              <a:spcBef>
                <a:spcPts val="600"/>
              </a:spcBef>
              <a:spcAft>
                <a:spcPts val="0"/>
              </a:spcAft>
              <a:buClr>
                <a:srgbClr val="0272B4"/>
              </a:buClr>
              <a:buSzPts val="1400"/>
              <a:buFont typeface="Calibri"/>
              <a:buNone/>
            </a:pPr>
            <a:r>
              <a:rPr lang="en-GB" sz="1400" b="1" i="0" u="none" strike="noStrike" cap="none">
                <a:solidFill>
                  <a:srgbClr val="4FB0EA"/>
                </a:solidFill>
                <a:latin typeface="Calibri"/>
                <a:ea typeface="Calibri"/>
                <a:cs typeface="Calibri"/>
                <a:sym typeface="Calibri"/>
              </a:rPr>
              <a:t>1  Writes tests from plain English. </a:t>
            </a:r>
            <a:r>
              <a:rPr lang="en-GB" sz="1400" b="0" i="0" u="none" strike="noStrike" cap="none">
                <a:solidFill>
                  <a:srgbClr val="93A9C0"/>
                </a:solidFill>
                <a:latin typeface="Calibri"/>
                <a:ea typeface="Calibri"/>
                <a:cs typeface="Calibri"/>
                <a:sym typeface="Calibri"/>
              </a:rPr>
              <a:t>Describe it; it drives a real browser or phone (web, Android, iOS) and saves the code.</a:t>
            </a:r>
            <a:endParaRPr sz="1400" b="0" i="0" u="none" strike="noStrike" cap="none">
              <a:solidFill>
                <a:schemeClr val="dk1"/>
              </a:solidFill>
              <a:latin typeface="Calibri"/>
              <a:ea typeface="Calibri"/>
              <a:cs typeface="Calibri"/>
              <a:sym typeface="Calibri"/>
            </a:endParaRPr>
          </a:p>
          <a:p>
            <a:pPr marL="0" marR="0" lvl="0" indent="0" algn="l" rtl="0">
              <a:lnSpc>
                <a:spcPct val="125000"/>
              </a:lnSpc>
              <a:spcBef>
                <a:spcPts val="600"/>
              </a:spcBef>
              <a:spcAft>
                <a:spcPts val="0"/>
              </a:spcAft>
              <a:buClr>
                <a:srgbClr val="0272B4"/>
              </a:buClr>
              <a:buSzPts val="1400"/>
              <a:buFont typeface="Calibri"/>
              <a:buNone/>
            </a:pPr>
            <a:r>
              <a:rPr lang="en-GB" sz="1400" b="1" i="0" u="none" strike="noStrike" cap="none">
                <a:solidFill>
                  <a:srgbClr val="4FB0EA"/>
                </a:solidFill>
                <a:latin typeface="Calibri"/>
                <a:ea typeface="Calibri"/>
                <a:cs typeface="Calibri"/>
                <a:sym typeface="Calibri"/>
              </a:rPr>
              <a:t>2  Keeps them running. </a:t>
            </a:r>
            <a:r>
              <a:rPr lang="en-GB" sz="1400" b="0" i="0" u="none" strike="noStrike" cap="none">
                <a:solidFill>
                  <a:srgbClr val="93A9C0"/>
                </a:solidFill>
                <a:latin typeface="Calibri"/>
                <a:ea typeface="Calibri"/>
                <a:cs typeface="Calibri"/>
                <a:sym typeface="Calibri"/>
              </a:rPr>
              <a:t>It replays them and fixes broken locators itself.</a:t>
            </a:r>
            <a:endParaRPr sz="1400" b="0" i="0" u="none" strike="noStrike" cap="none">
              <a:solidFill>
                <a:schemeClr val="dk1"/>
              </a:solidFill>
              <a:latin typeface="Calibri"/>
              <a:ea typeface="Calibri"/>
              <a:cs typeface="Calibri"/>
              <a:sym typeface="Calibri"/>
            </a:endParaRPr>
          </a:p>
          <a:p>
            <a:pPr marL="0" marR="0" lvl="0" indent="0" algn="l" rtl="0">
              <a:lnSpc>
                <a:spcPct val="125000"/>
              </a:lnSpc>
              <a:spcBef>
                <a:spcPts val="600"/>
              </a:spcBef>
              <a:spcAft>
                <a:spcPts val="0"/>
              </a:spcAft>
              <a:buClr>
                <a:srgbClr val="0272B4"/>
              </a:buClr>
              <a:buSzPts val="1400"/>
              <a:buFont typeface="Calibri"/>
              <a:buNone/>
            </a:pPr>
            <a:r>
              <a:rPr lang="en-GB" sz="1400" b="1" i="0" u="none" strike="noStrike" cap="none">
                <a:solidFill>
                  <a:srgbClr val="4FB0EA"/>
                </a:solidFill>
                <a:latin typeface="Calibri"/>
                <a:ea typeface="Calibri"/>
                <a:cs typeface="Calibri"/>
                <a:sym typeface="Calibri"/>
              </a:rPr>
              <a:t>3  Builds your framework. </a:t>
            </a:r>
            <a:r>
              <a:rPr lang="en-GB" sz="1400" b="0" i="0" u="none" strike="noStrike" cap="none">
                <a:solidFill>
                  <a:srgbClr val="93A9C0"/>
                </a:solidFill>
                <a:latin typeface="Calibri"/>
                <a:ea typeface="Calibri"/>
                <a:cs typeface="Calibri"/>
                <a:sym typeface="Calibri"/>
              </a:rPr>
              <a:t>It turns everyone's tests into one consistent Playwright framework.</a:t>
            </a:r>
            <a:endParaRPr sz="1400" b="0" i="0" u="none" strike="noStrike" cap="none">
              <a:solidFill>
                <a:schemeClr val="dk1"/>
              </a:solidFill>
              <a:latin typeface="Calibri"/>
              <a:ea typeface="Calibri"/>
              <a:cs typeface="Calibri"/>
              <a:sym typeface="Calibri"/>
            </a:endParaRPr>
          </a:p>
        </p:txBody>
      </p:sp>
      <p:pic>
        <p:nvPicPr>
          <p:cNvPr id="1119" name="Google Shape;1119;p81" descr="clappy-logo-dark.png"/>
          <p:cNvPicPr preferRelativeResize="0"/>
          <p:nvPr/>
        </p:nvPicPr>
        <p:blipFill rotWithShape="1">
          <a:blip r:embed="rId4">
            <a:alphaModFix/>
          </a:blip>
          <a:srcRect/>
          <a:stretch/>
        </p:blipFill>
        <p:spPr>
          <a:xfrm>
            <a:off x="548640" y="500000"/>
            <a:ext cx="2180492" cy="56692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24"/>
        <p:cNvGrpSpPr/>
        <p:nvPr/>
      </p:nvGrpSpPr>
      <p:grpSpPr>
        <a:xfrm>
          <a:off x="0" y="0"/>
          <a:ext cx="0" cy="0"/>
          <a:chOff x="0" y="0"/>
          <a:chExt cx="0" cy="0"/>
        </a:xfrm>
      </p:grpSpPr>
      <p:sp>
        <p:nvSpPr>
          <p:cNvPr id="1125" name="Google Shape;1125;p82"/>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When the login page changes, how many places do you fix?</a:t>
            </a:r>
            <a:endParaRPr sz="1900"/>
          </a:p>
        </p:txBody>
      </p:sp>
      <p:sp>
        <p:nvSpPr>
          <p:cNvPr id="1126" name="Google Shape;1126;p82"/>
          <p:cNvSpPr txBox="1"/>
          <p:nvPr/>
        </p:nvSpPr>
        <p:spPr>
          <a:xfrm>
            <a:off x="493776" y="960120"/>
            <a:ext cx="374903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F06A5F"/>
                </a:solidFill>
                <a:latin typeface="Calibri"/>
                <a:ea typeface="Calibri"/>
                <a:cs typeface="Calibri"/>
                <a:sym typeface="Calibri"/>
              </a:rPr>
              <a:t>TODAY: EVERY TEST HAS ITS OWN COPY</a:t>
            </a:r>
            <a:endParaRPr sz="1400" b="0" i="0" u="none" strike="noStrike" cap="none">
              <a:solidFill>
                <a:srgbClr val="000000"/>
              </a:solidFill>
              <a:latin typeface="Arial"/>
              <a:ea typeface="Arial"/>
              <a:cs typeface="Arial"/>
              <a:sym typeface="Arial"/>
            </a:endParaRPr>
          </a:p>
        </p:txBody>
      </p:sp>
      <p:sp>
        <p:nvSpPr>
          <p:cNvPr id="1127" name="Google Shape;1127;p82"/>
          <p:cNvSpPr/>
          <p:nvPr/>
        </p:nvSpPr>
        <p:spPr>
          <a:xfrm>
            <a:off x="493776" y="1280160"/>
            <a:ext cx="3749039" cy="713232"/>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28" name="Google Shape;1128;p82"/>
          <p:cNvSpPr txBox="1"/>
          <p:nvPr/>
        </p:nvSpPr>
        <p:spPr>
          <a:xfrm>
            <a:off x="621792" y="1344168"/>
            <a:ext cx="347472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EAF1F7"/>
                </a:solidFill>
                <a:latin typeface="Century Schoolbook"/>
                <a:ea typeface="Century Schoolbook"/>
                <a:cs typeface="Century Schoolbook"/>
                <a:sym typeface="Century Schoolbook"/>
              </a:rPr>
              <a:t>Anna's cart test</a:t>
            </a:r>
            <a:endParaRPr sz="1400" b="0" i="0" u="none" strike="noStrike" cap="none">
              <a:solidFill>
                <a:srgbClr val="000000"/>
              </a:solidFill>
              <a:latin typeface="Arial"/>
              <a:ea typeface="Arial"/>
              <a:cs typeface="Arial"/>
              <a:sym typeface="Arial"/>
            </a:endParaRPr>
          </a:p>
        </p:txBody>
      </p:sp>
      <p:sp>
        <p:nvSpPr>
          <p:cNvPr id="1129" name="Google Shape;1129;p82"/>
          <p:cNvSpPr/>
          <p:nvPr/>
        </p:nvSpPr>
        <p:spPr>
          <a:xfrm>
            <a:off x="621792" y="1627631"/>
            <a:ext cx="804672" cy="256032"/>
          </a:xfrm>
          <a:prstGeom prst="roundRect">
            <a:avLst>
              <a:gd name="adj" fmla="val 8000"/>
            </a:avLst>
          </a:prstGeom>
          <a:solidFill>
            <a:srgbClr val="0A131E"/>
          </a:solidFill>
          <a:ln w="12700" cap="flat" cmpd="sng">
            <a:solidFill>
              <a:srgbClr val="7FC6F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30" name="Google Shape;1130;p82"/>
          <p:cNvSpPr txBox="1"/>
          <p:nvPr/>
        </p:nvSpPr>
        <p:spPr>
          <a:xfrm>
            <a:off x="621792" y="1627631"/>
            <a:ext cx="804672"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alibri"/>
                <a:ea typeface="Calibri"/>
                <a:cs typeface="Calibri"/>
                <a:sym typeface="Calibri"/>
              </a:rPr>
              <a:t>Login form</a:t>
            </a:r>
            <a:endParaRPr sz="1400" b="0" i="0" u="none" strike="noStrike" cap="none">
              <a:solidFill>
                <a:srgbClr val="000000"/>
              </a:solidFill>
              <a:latin typeface="Arial"/>
              <a:ea typeface="Arial"/>
              <a:cs typeface="Arial"/>
              <a:sym typeface="Arial"/>
            </a:endParaRPr>
          </a:p>
        </p:txBody>
      </p:sp>
      <p:sp>
        <p:nvSpPr>
          <p:cNvPr id="1131" name="Google Shape;1131;p82"/>
          <p:cNvSpPr/>
          <p:nvPr/>
        </p:nvSpPr>
        <p:spPr>
          <a:xfrm>
            <a:off x="1517904" y="1627631"/>
            <a:ext cx="873252" cy="256032"/>
          </a:xfrm>
          <a:prstGeom prst="roundRect">
            <a:avLst>
              <a:gd name="adj" fmla="val 8000"/>
            </a:avLst>
          </a:prstGeom>
          <a:solidFill>
            <a:srgbClr val="0A131E"/>
          </a:solidFill>
          <a:ln w="12700" cap="flat" cmpd="sng">
            <a:solidFill>
              <a:srgbClr val="4FB0EA"/>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32" name="Google Shape;1132;p82"/>
          <p:cNvSpPr txBox="1"/>
          <p:nvPr/>
        </p:nvSpPr>
        <p:spPr>
          <a:xfrm>
            <a:off x="1517904" y="1627631"/>
            <a:ext cx="873252"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Add to cart</a:t>
            </a:r>
            <a:endParaRPr sz="1400" b="0" i="0" u="none" strike="noStrike" cap="none">
              <a:solidFill>
                <a:srgbClr val="000000"/>
              </a:solidFill>
              <a:latin typeface="Arial"/>
              <a:ea typeface="Arial"/>
              <a:cs typeface="Arial"/>
              <a:sym typeface="Arial"/>
            </a:endParaRPr>
          </a:p>
        </p:txBody>
      </p:sp>
      <p:sp>
        <p:nvSpPr>
          <p:cNvPr id="1133" name="Google Shape;1133;p82"/>
          <p:cNvSpPr/>
          <p:nvPr/>
        </p:nvSpPr>
        <p:spPr>
          <a:xfrm>
            <a:off x="493776" y="2084831"/>
            <a:ext cx="3749039" cy="713232"/>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34" name="Google Shape;1134;p82"/>
          <p:cNvSpPr txBox="1"/>
          <p:nvPr/>
        </p:nvSpPr>
        <p:spPr>
          <a:xfrm>
            <a:off x="621792" y="2148839"/>
            <a:ext cx="347472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EAF1F7"/>
                </a:solidFill>
                <a:latin typeface="Century Schoolbook"/>
                <a:ea typeface="Century Schoolbook"/>
                <a:cs typeface="Century Schoolbook"/>
                <a:sym typeface="Century Schoolbook"/>
              </a:rPr>
              <a:t>Ben's sorting test</a:t>
            </a:r>
            <a:endParaRPr sz="1400" b="0" i="0" u="none" strike="noStrike" cap="none">
              <a:solidFill>
                <a:srgbClr val="000000"/>
              </a:solidFill>
              <a:latin typeface="Arial"/>
              <a:ea typeface="Arial"/>
              <a:cs typeface="Arial"/>
              <a:sym typeface="Arial"/>
            </a:endParaRPr>
          </a:p>
        </p:txBody>
      </p:sp>
      <p:sp>
        <p:nvSpPr>
          <p:cNvPr id="1135" name="Google Shape;1135;p82"/>
          <p:cNvSpPr/>
          <p:nvPr/>
        </p:nvSpPr>
        <p:spPr>
          <a:xfrm>
            <a:off x="621792" y="2432303"/>
            <a:ext cx="804672" cy="256032"/>
          </a:xfrm>
          <a:prstGeom prst="roundRect">
            <a:avLst>
              <a:gd name="adj" fmla="val 8000"/>
            </a:avLst>
          </a:prstGeom>
          <a:solidFill>
            <a:srgbClr val="0A131E"/>
          </a:solidFill>
          <a:ln w="12700" cap="flat" cmpd="sng">
            <a:solidFill>
              <a:srgbClr val="7FC6F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36" name="Google Shape;1136;p82"/>
          <p:cNvSpPr txBox="1"/>
          <p:nvPr/>
        </p:nvSpPr>
        <p:spPr>
          <a:xfrm>
            <a:off x="621792" y="2432303"/>
            <a:ext cx="804672"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alibri"/>
                <a:ea typeface="Calibri"/>
                <a:cs typeface="Calibri"/>
                <a:sym typeface="Calibri"/>
              </a:rPr>
              <a:t>Login form</a:t>
            </a:r>
            <a:endParaRPr sz="1400" b="0" i="0" u="none" strike="noStrike" cap="none">
              <a:solidFill>
                <a:srgbClr val="000000"/>
              </a:solidFill>
              <a:latin typeface="Arial"/>
              <a:ea typeface="Arial"/>
              <a:cs typeface="Arial"/>
              <a:sym typeface="Arial"/>
            </a:endParaRPr>
          </a:p>
        </p:txBody>
      </p:sp>
      <p:sp>
        <p:nvSpPr>
          <p:cNvPr id="1137" name="Google Shape;1137;p82"/>
          <p:cNvSpPr/>
          <p:nvPr/>
        </p:nvSpPr>
        <p:spPr>
          <a:xfrm>
            <a:off x="493776" y="2889503"/>
            <a:ext cx="3749039" cy="713232"/>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38" name="Google Shape;1138;p82"/>
          <p:cNvSpPr txBox="1"/>
          <p:nvPr/>
        </p:nvSpPr>
        <p:spPr>
          <a:xfrm>
            <a:off x="621792" y="2953511"/>
            <a:ext cx="347472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GB" sz="1050" b="1" i="0" u="none" strike="noStrike" cap="none">
                <a:solidFill>
                  <a:srgbClr val="EAF1F7"/>
                </a:solidFill>
                <a:latin typeface="Century Schoolbook"/>
                <a:ea typeface="Century Schoolbook"/>
                <a:cs typeface="Century Schoolbook"/>
                <a:sym typeface="Century Schoolbook"/>
              </a:rPr>
              <a:t>Chris's checkout test</a:t>
            </a:r>
            <a:endParaRPr sz="1400" b="0" i="0" u="none" strike="noStrike" cap="none">
              <a:solidFill>
                <a:srgbClr val="000000"/>
              </a:solidFill>
              <a:latin typeface="Arial"/>
              <a:ea typeface="Arial"/>
              <a:cs typeface="Arial"/>
              <a:sym typeface="Arial"/>
            </a:endParaRPr>
          </a:p>
        </p:txBody>
      </p:sp>
      <p:sp>
        <p:nvSpPr>
          <p:cNvPr id="1139" name="Google Shape;1139;p82"/>
          <p:cNvSpPr/>
          <p:nvPr/>
        </p:nvSpPr>
        <p:spPr>
          <a:xfrm>
            <a:off x="621792" y="3236975"/>
            <a:ext cx="804672" cy="256032"/>
          </a:xfrm>
          <a:prstGeom prst="roundRect">
            <a:avLst>
              <a:gd name="adj" fmla="val 8000"/>
            </a:avLst>
          </a:prstGeom>
          <a:solidFill>
            <a:srgbClr val="0A131E"/>
          </a:solidFill>
          <a:ln w="12700" cap="flat" cmpd="sng">
            <a:solidFill>
              <a:srgbClr val="7FC6F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40" name="Google Shape;1140;p82"/>
          <p:cNvSpPr txBox="1"/>
          <p:nvPr/>
        </p:nvSpPr>
        <p:spPr>
          <a:xfrm>
            <a:off x="621792" y="3236975"/>
            <a:ext cx="804672"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alibri"/>
                <a:ea typeface="Calibri"/>
                <a:cs typeface="Calibri"/>
                <a:sym typeface="Calibri"/>
              </a:rPr>
              <a:t>Login form</a:t>
            </a:r>
            <a:endParaRPr sz="1400" b="0" i="0" u="none" strike="noStrike" cap="none">
              <a:solidFill>
                <a:srgbClr val="000000"/>
              </a:solidFill>
              <a:latin typeface="Arial"/>
              <a:ea typeface="Arial"/>
              <a:cs typeface="Arial"/>
              <a:sym typeface="Arial"/>
            </a:endParaRPr>
          </a:p>
        </p:txBody>
      </p:sp>
      <p:sp>
        <p:nvSpPr>
          <p:cNvPr id="1141" name="Google Shape;1141;p82"/>
          <p:cNvSpPr/>
          <p:nvPr/>
        </p:nvSpPr>
        <p:spPr>
          <a:xfrm>
            <a:off x="1517904" y="3236975"/>
            <a:ext cx="873252" cy="256032"/>
          </a:xfrm>
          <a:prstGeom prst="roundRect">
            <a:avLst>
              <a:gd name="adj" fmla="val 8000"/>
            </a:avLst>
          </a:prstGeom>
          <a:solidFill>
            <a:srgbClr val="0A131E"/>
          </a:solidFill>
          <a:ln w="12700" cap="flat" cmpd="sng">
            <a:solidFill>
              <a:srgbClr val="4FB0EA"/>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42" name="Google Shape;1142;p82"/>
          <p:cNvSpPr txBox="1"/>
          <p:nvPr/>
        </p:nvSpPr>
        <p:spPr>
          <a:xfrm>
            <a:off x="1517904" y="3236975"/>
            <a:ext cx="873252"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Add to cart</a:t>
            </a:r>
            <a:endParaRPr sz="1400" b="0" i="0" u="none" strike="noStrike" cap="none">
              <a:solidFill>
                <a:srgbClr val="000000"/>
              </a:solidFill>
              <a:latin typeface="Arial"/>
              <a:ea typeface="Arial"/>
              <a:cs typeface="Arial"/>
              <a:sym typeface="Arial"/>
            </a:endParaRPr>
          </a:p>
        </p:txBody>
      </p:sp>
      <p:sp>
        <p:nvSpPr>
          <p:cNvPr id="1143" name="Google Shape;1143;p82"/>
          <p:cNvSpPr/>
          <p:nvPr/>
        </p:nvSpPr>
        <p:spPr>
          <a:xfrm>
            <a:off x="2482596" y="3236975"/>
            <a:ext cx="736092" cy="256032"/>
          </a:xfrm>
          <a:prstGeom prst="roundRect">
            <a:avLst>
              <a:gd name="adj" fmla="val 8000"/>
            </a:avLst>
          </a:prstGeom>
          <a:solidFill>
            <a:srgbClr val="122B3D"/>
          </a:solidFill>
          <a:ln w="12700" cap="flat" cmpd="sng">
            <a:solidFill>
              <a:srgbClr val="4FB0EA"/>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44" name="Google Shape;1144;p82"/>
          <p:cNvSpPr txBox="1"/>
          <p:nvPr/>
        </p:nvSpPr>
        <p:spPr>
          <a:xfrm>
            <a:off x="2482596" y="3236975"/>
            <a:ext cx="736092"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Cart icon</a:t>
            </a:r>
            <a:endParaRPr sz="1400" b="0" i="0" u="none" strike="noStrike" cap="none">
              <a:solidFill>
                <a:srgbClr val="000000"/>
              </a:solidFill>
              <a:latin typeface="Arial"/>
              <a:ea typeface="Arial"/>
              <a:cs typeface="Arial"/>
              <a:sym typeface="Arial"/>
            </a:endParaRPr>
          </a:p>
        </p:txBody>
      </p:sp>
      <p:sp>
        <p:nvSpPr>
          <p:cNvPr id="1145" name="Google Shape;1145;p82"/>
          <p:cNvSpPr txBox="1"/>
          <p:nvPr/>
        </p:nvSpPr>
        <p:spPr>
          <a:xfrm>
            <a:off x="493776" y="3730752"/>
            <a:ext cx="3749039"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F06A5F"/>
                </a:solidFill>
                <a:latin typeface="Calibri"/>
                <a:ea typeface="Calibri"/>
                <a:cs typeface="Calibri"/>
                <a:sym typeface="Calibri"/>
              </a:rPr>
              <a:t>Login changes → </a:t>
            </a:r>
            <a:r>
              <a:rPr lang="en-GB" sz="1100" b="0" i="0" u="none" strike="noStrike" cap="none">
                <a:solidFill>
                  <a:srgbClr val="B9C8D8"/>
                </a:solidFill>
                <a:latin typeface="Calibri"/>
                <a:ea typeface="Calibri"/>
                <a:cs typeface="Calibri"/>
                <a:sym typeface="Calibri"/>
              </a:rPr>
              <a:t>fix it in every test that logs in, one copy per test.</a:t>
            </a:r>
            <a:endParaRPr sz="1400" b="0" i="0" u="none" strike="noStrike" cap="none">
              <a:solidFill>
                <a:srgbClr val="000000"/>
              </a:solidFill>
              <a:latin typeface="Arial"/>
              <a:ea typeface="Arial"/>
              <a:cs typeface="Arial"/>
              <a:sym typeface="Arial"/>
            </a:endParaRPr>
          </a:p>
        </p:txBody>
      </p:sp>
      <p:pic>
        <p:nvPicPr>
          <p:cNvPr id="1146" name="Google Shape;1146;p82" descr="image.png"/>
          <p:cNvPicPr preferRelativeResize="0"/>
          <p:nvPr/>
        </p:nvPicPr>
        <p:blipFill rotWithShape="1">
          <a:blip r:embed="rId3">
            <a:alphaModFix/>
          </a:blip>
          <a:srcRect/>
          <a:stretch/>
        </p:blipFill>
        <p:spPr>
          <a:xfrm>
            <a:off x="4425696" y="2057400"/>
            <a:ext cx="566928" cy="566928"/>
          </a:xfrm>
          <a:prstGeom prst="rect">
            <a:avLst/>
          </a:prstGeom>
          <a:noFill/>
          <a:ln>
            <a:noFill/>
          </a:ln>
        </p:spPr>
      </p:pic>
      <p:cxnSp>
        <p:nvCxnSpPr>
          <p:cNvPr id="1147" name="Google Shape;1147;p82"/>
          <p:cNvCxnSpPr/>
          <p:nvPr/>
        </p:nvCxnSpPr>
        <p:spPr>
          <a:xfrm>
            <a:off x="4315968" y="2761488"/>
            <a:ext cx="822960" cy="0"/>
          </a:xfrm>
          <a:prstGeom prst="straightConnector1">
            <a:avLst/>
          </a:prstGeom>
          <a:noFill/>
          <a:ln w="19050" cap="flat" cmpd="sng">
            <a:solidFill>
              <a:srgbClr val="7FC6F3"/>
            </a:solidFill>
            <a:prstDash val="solid"/>
            <a:round/>
            <a:headEnd type="none" w="sm" len="sm"/>
            <a:tailEnd type="triangle" w="med" len="med"/>
          </a:ln>
          <a:effectLst>
            <a:outerShdw blurRad="40000" dist="20000" dir="5400000" rotWithShape="0">
              <a:srgbClr val="000000">
                <a:alpha val="38039"/>
              </a:srgbClr>
            </a:outerShdw>
          </a:effectLst>
        </p:spPr>
      </p:cxnSp>
      <p:sp>
        <p:nvSpPr>
          <p:cNvPr id="1148" name="Google Shape;1148;p82"/>
          <p:cNvSpPr txBox="1"/>
          <p:nvPr/>
        </p:nvSpPr>
        <p:spPr>
          <a:xfrm>
            <a:off x="4261104" y="2834640"/>
            <a:ext cx="914400" cy="27432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alibri"/>
                <a:ea typeface="Calibri"/>
                <a:cs typeface="Calibri"/>
                <a:sym typeface="Calibri"/>
              </a:rPr>
              <a:t>Clappy SDK</a:t>
            </a:r>
            <a:endParaRPr sz="1400" b="0" i="0" u="none" strike="noStrike" cap="none">
              <a:solidFill>
                <a:srgbClr val="000000"/>
              </a:solidFill>
              <a:latin typeface="Arial"/>
              <a:ea typeface="Arial"/>
              <a:cs typeface="Arial"/>
              <a:sym typeface="Arial"/>
            </a:endParaRPr>
          </a:p>
        </p:txBody>
      </p:sp>
      <p:sp>
        <p:nvSpPr>
          <p:cNvPr id="1149" name="Google Shape;1149;p82"/>
          <p:cNvSpPr txBox="1"/>
          <p:nvPr/>
        </p:nvSpPr>
        <p:spPr>
          <a:xfrm>
            <a:off x="5257800" y="960120"/>
            <a:ext cx="3392424"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5FD08A"/>
                </a:solidFill>
                <a:latin typeface="Calibri"/>
                <a:ea typeface="Calibri"/>
                <a:cs typeface="Calibri"/>
                <a:sym typeface="Calibri"/>
              </a:rPr>
              <a:t>WITH CLAPPY: ONE PAGE OBJECT</a:t>
            </a:r>
            <a:endParaRPr sz="1400" b="0" i="0" u="none" strike="noStrike" cap="none">
              <a:solidFill>
                <a:srgbClr val="000000"/>
              </a:solidFill>
              <a:latin typeface="Arial"/>
              <a:ea typeface="Arial"/>
              <a:cs typeface="Arial"/>
              <a:sym typeface="Arial"/>
            </a:endParaRPr>
          </a:p>
        </p:txBody>
      </p:sp>
      <p:sp>
        <p:nvSpPr>
          <p:cNvPr id="1150" name="Google Shape;1150;p82"/>
          <p:cNvSpPr/>
          <p:nvPr/>
        </p:nvSpPr>
        <p:spPr>
          <a:xfrm>
            <a:off x="5257800" y="1280160"/>
            <a:ext cx="1069848" cy="384048"/>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51" name="Google Shape;1151;p82"/>
          <p:cNvSpPr txBox="1"/>
          <p:nvPr/>
        </p:nvSpPr>
        <p:spPr>
          <a:xfrm>
            <a:off x="5257800" y="1280160"/>
            <a:ext cx="1069848" cy="38404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GB" sz="950" b="1" i="0" u="none" strike="noStrike" cap="none">
                <a:solidFill>
                  <a:srgbClr val="EAF1F7"/>
                </a:solidFill>
                <a:latin typeface="Century Schoolbook"/>
                <a:ea typeface="Century Schoolbook"/>
                <a:cs typeface="Century Schoolbook"/>
                <a:sym typeface="Century Schoolbook"/>
              </a:rPr>
              <a:t>Anna's test</a:t>
            </a:r>
            <a:endParaRPr sz="1400" b="0" i="0" u="none" strike="noStrike" cap="none">
              <a:solidFill>
                <a:srgbClr val="000000"/>
              </a:solidFill>
              <a:latin typeface="Arial"/>
              <a:ea typeface="Arial"/>
              <a:cs typeface="Arial"/>
              <a:sym typeface="Arial"/>
            </a:endParaRPr>
          </a:p>
        </p:txBody>
      </p:sp>
      <p:cxnSp>
        <p:nvCxnSpPr>
          <p:cNvPr id="1152" name="Google Shape;1152;p82"/>
          <p:cNvCxnSpPr/>
          <p:nvPr/>
        </p:nvCxnSpPr>
        <p:spPr>
          <a:xfrm>
            <a:off x="5792724" y="1682496"/>
            <a:ext cx="0" cy="329184"/>
          </a:xfrm>
          <a:prstGeom prst="straightConnector1">
            <a:avLst/>
          </a:prstGeom>
          <a:noFill/>
          <a:ln w="19050" cap="flat" cmpd="sng">
            <a:solidFill>
              <a:srgbClr val="93A9C0"/>
            </a:solidFill>
            <a:prstDash val="solid"/>
            <a:round/>
            <a:headEnd type="none" w="sm" len="sm"/>
            <a:tailEnd type="triangle" w="med" len="med"/>
          </a:ln>
          <a:effectLst>
            <a:outerShdw blurRad="40000" dist="20000" dir="5400000" rotWithShape="0">
              <a:srgbClr val="000000">
                <a:alpha val="38039"/>
              </a:srgbClr>
            </a:outerShdw>
          </a:effectLst>
        </p:spPr>
      </p:cxnSp>
      <p:sp>
        <p:nvSpPr>
          <p:cNvPr id="1153" name="Google Shape;1153;p82"/>
          <p:cNvSpPr/>
          <p:nvPr/>
        </p:nvSpPr>
        <p:spPr>
          <a:xfrm>
            <a:off x="6419088" y="1280160"/>
            <a:ext cx="1069848" cy="384048"/>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54" name="Google Shape;1154;p82"/>
          <p:cNvSpPr txBox="1"/>
          <p:nvPr/>
        </p:nvSpPr>
        <p:spPr>
          <a:xfrm>
            <a:off x="6419088" y="1280160"/>
            <a:ext cx="1069848" cy="38404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GB" sz="950" b="1" i="0" u="none" strike="noStrike" cap="none">
                <a:solidFill>
                  <a:srgbClr val="EAF1F7"/>
                </a:solidFill>
                <a:latin typeface="Century Schoolbook"/>
                <a:ea typeface="Century Schoolbook"/>
                <a:cs typeface="Century Schoolbook"/>
                <a:sym typeface="Century Schoolbook"/>
              </a:rPr>
              <a:t>Ben's test</a:t>
            </a:r>
            <a:endParaRPr sz="1400" b="0" i="0" u="none" strike="noStrike" cap="none">
              <a:solidFill>
                <a:srgbClr val="000000"/>
              </a:solidFill>
              <a:latin typeface="Arial"/>
              <a:ea typeface="Arial"/>
              <a:cs typeface="Arial"/>
              <a:sym typeface="Arial"/>
            </a:endParaRPr>
          </a:p>
        </p:txBody>
      </p:sp>
      <p:cxnSp>
        <p:nvCxnSpPr>
          <p:cNvPr id="1155" name="Google Shape;1155;p82"/>
          <p:cNvCxnSpPr/>
          <p:nvPr/>
        </p:nvCxnSpPr>
        <p:spPr>
          <a:xfrm>
            <a:off x="6954012" y="1682496"/>
            <a:ext cx="0" cy="329184"/>
          </a:xfrm>
          <a:prstGeom prst="straightConnector1">
            <a:avLst/>
          </a:prstGeom>
          <a:noFill/>
          <a:ln w="19050" cap="flat" cmpd="sng">
            <a:solidFill>
              <a:srgbClr val="93A9C0"/>
            </a:solidFill>
            <a:prstDash val="solid"/>
            <a:round/>
            <a:headEnd type="none" w="sm" len="sm"/>
            <a:tailEnd type="triangle" w="med" len="med"/>
          </a:ln>
          <a:effectLst>
            <a:outerShdw blurRad="40000" dist="20000" dir="5400000" rotWithShape="0">
              <a:srgbClr val="000000">
                <a:alpha val="38039"/>
              </a:srgbClr>
            </a:outerShdw>
          </a:effectLst>
        </p:spPr>
      </p:cxnSp>
      <p:sp>
        <p:nvSpPr>
          <p:cNvPr id="1156" name="Google Shape;1156;p82"/>
          <p:cNvSpPr/>
          <p:nvPr/>
        </p:nvSpPr>
        <p:spPr>
          <a:xfrm>
            <a:off x="7580375" y="1280160"/>
            <a:ext cx="1069848" cy="384048"/>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57" name="Google Shape;1157;p82"/>
          <p:cNvSpPr txBox="1"/>
          <p:nvPr/>
        </p:nvSpPr>
        <p:spPr>
          <a:xfrm>
            <a:off x="7580375" y="1280160"/>
            <a:ext cx="1069848" cy="38404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GB" sz="950" b="1" i="0" u="none" strike="noStrike" cap="none">
                <a:solidFill>
                  <a:srgbClr val="EAF1F7"/>
                </a:solidFill>
                <a:latin typeface="Century Schoolbook"/>
                <a:ea typeface="Century Schoolbook"/>
                <a:cs typeface="Century Schoolbook"/>
                <a:sym typeface="Century Schoolbook"/>
              </a:rPr>
              <a:t>Chris's test</a:t>
            </a:r>
            <a:endParaRPr sz="1400" b="0" i="0" u="none" strike="noStrike" cap="none">
              <a:solidFill>
                <a:srgbClr val="000000"/>
              </a:solidFill>
              <a:latin typeface="Arial"/>
              <a:ea typeface="Arial"/>
              <a:cs typeface="Arial"/>
              <a:sym typeface="Arial"/>
            </a:endParaRPr>
          </a:p>
        </p:txBody>
      </p:sp>
      <p:cxnSp>
        <p:nvCxnSpPr>
          <p:cNvPr id="1158" name="Google Shape;1158;p82"/>
          <p:cNvCxnSpPr/>
          <p:nvPr/>
        </p:nvCxnSpPr>
        <p:spPr>
          <a:xfrm>
            <a:off x="8115300" y="1682496"/>
            <a:ext cx="0" cy="329184"/>
          </a:xfrm>
          <a:prstGeom prst="straightConnector1">
            <a:avLst/>
          </a:prstGeom>
          <a:noFill/>
          <a:ln w="19050" cap="flat" cmpd="sng">
            <a:solidFill>
              <a:srgbClr val="93A9C0"/>
            </a:solidFill>
            <a:prstDash val="solid"/>
            <a:round/>
            <a:headEnd type="none" w="sm" len="sm"/>
            <a:tailEnd type="triangle" w="med" len="med"/>
          </a:ln>
          <a:effectLst>
            <a:outerShdw blurRad="40000" dist="20000" dir="5400000" rotWithShape="0">
              <a:srgbClr val="000000">
                <a:alpha val="38039"/>
              </a:srgbClr>
            </a:outerShdw>
          </a:effectLst>
        </p:spPr>
      </p:cxnSp>
      <p:sp>
        <p:nvSpPr>
          <p:cNvPr id="1159" name="Google Shape;1159;p82"/>
          <p:cNvSpPr/>
          <p:nvPr/>
        </p:nvSpPr>
        <p:spPr>
          <a:xfrm>
            <a:off x="5257800" y="2048256"/>
            <a:ext cx="3392424" cy="1572768"/>
          </a:xfrm>
          <a:prstGeom prst="roundRect">
            <a:avLst>
              <a:gd name="adj" fmla="val 8000"/>
            </a:avLst>
          </a:prstGeom>
          <a:solidFill>
            <a:srgbClr val="0A131E"/>
          </a:solidFill>
          <a:ln w="19050" cap="flat" cmpd="sng">
            <a:solidFill>
              <a:srgbClr val="5FD08A"/>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0" name="Google Shape;1160;p82"/>
          <p:cNvSpPr txBox="1"/>
          <p:nvPr/>
        </p:nvSpPr>
        <p:spPr>
          <a:xfrm>
            <a:off x="5394960" y="2121408"/>
            <a:ext cx="3118104"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EAF1F7"/>
                </a:solidFill>
                <a:latin typeface="Century Schoolbook"/>
                <a:ea typeface="Century Schoolbook"/>
                <a:cs typeface="Century Schoolbook"/>
                <a:sym typeface="Century Schoolbook"/>
              </a:rPr>
              <a:t>The page object</a:t>
            </a:r>
            <a:r>
              <a:rPr lang="en-GB" sz="950" b="0" i="0" u="none" strike="noStrike" cap="none">
                <a:solidFill>
                  <a:srgbClr val="B9C8D8"/>
                </a:solidFill>
                <a:latin typeface="Calibri"/>
                <a:ea typeface="Calibri"/>
                <a:cs typeface="Calibri"/>
                <a:sym typeface="Calibri"/>
              </a:rPr>
              <a:t>   each element written once</a:t>
            </a:r>
            <a:endParaRPr sz="1400" b="0" i="0" u="none" strike="noStrike" cap="none">
              <a:solidFill>
                <a:srgbClr val="000000"/>
              </a:solidFill>
              <a:latin typeface="Arial"/>
              <a:ea typeface="Arial"/>
              <a:cs typeface="Arial"/>
              <a:sym typeface="Arial"/>
            </a:endParaRPr>
          </a:p>
        </p:txBody>
      </p:sp>
      <p:sp>
        <p:nvSpPr>
          <p:cNvPr id="1161" name="Google Shape;1161;p82"/>
          <p:cNvSpPr/>
          <p:nvPr/>
        </p:nvSpPr>
        <p:spPr>
          <a:xfrm>
            <a:off x="5394960" y="2487168"/>
            <a:ext cx="1417320" cy="256032"/>
          </a:xfrm>
          <a:prstGeom prst="roundRect">
            <a:avLst>
              <a:gd name="adj" fmla="val 8000"/>
            </a:avLst>
          </a:prstGeom>
          <a:solidFill>
            <a:srgbClr val="0A131E"/>
          </a:solidFill>
          <a:ln w="12700" cap="flat" cmpd="sng">
            <a:solidFill>
              <a:srgbClr val="7FC6F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2" name="Google Shape;1162;p82"/>
          <p:cNvSpPr txBox="1"/>
          <p:nvPr/>
        </p:nvSpPr>
        <p:spPr>
          <a:xfrm>
            <a:off x="5394960" y="2487168"/>
            <a:ext cx="1417320"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7FC6F3"/>
                </a:solidFill>
                <a:latin typeface="Calibri"/>
                <a:ea typeface="Calibri"/>
                <a:cs typeface="Calibri"/>
                <a:sym typeface="Calibri"/>
              </a:rPr>
              <a:t>Login form</a:t>
            </a:r>
            <a:endParaRPr sz="1400" b="0" i="0" u="none" strike="noStrike" cap="none">
              <a:solidFill>
                <a:srgbClr val="000000"/>
              </a:solidFill>
              <a:latin typeface="Arial"/>
              <a:ea typeface="Arial"/>
              <a:cs typeface="Arial"/>
              <a:sym typeface="Arial"/>
            </a:endParaRPr>
          </a:p>
        </p:txBody>
      </p:sp>
      <p:sp>
        <p:nvSpPr>
          <p:cNvPr id="1163" name="Google Shape;1163;p82"/>
          <p:cNvSpPr/>
          <p:nvPr/>
        </p:nvSpPr>
        <p:spPr>
          <a:xfrm>
            <a:off x="5394960" y="2816352"/>
            <a:ext cx="1417320" cy="256032"/>
          </a:xfrm>
          <a:prstGeom prst="roundRect">
            <a:avLst>
              <a:gd name="adj" fmla="val 8000"/>
            </a:avLst>
          </a:prstGeom>
          <a:solidFill>
            <a:srgbClr val="0A131E"/>
          </a:solidFill>
          <a:ln w="12700" cap="flat" cmpd="sng">
            <a:solidFill>
              <a:srgbClr val="4FB0EA"/>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4" name="Google Shape;1164;p82"/>
          <p:cNvSpPr txBox="1"/>
          <p:nvPr/>
        </p:nvSpPr>
        <p:spPr>
          <a:xfrm>
            <a:off x="5394960" y="2816352"/>
            <a:ext cx="1417320"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Add to cart</a:t>
            </a:r>
            <a:endParaRPr sz="1400" b="0" i="0" u="none" strike="noStrike" cap="none">
              <a:solidFill>
                <a:srgbClr val="000000"/>
              </a:solidFill>
              <a:latin typeface="Arial"/>
              <a:ea typeface="Arial"/>
              <a:cs typeface="Arial"/>
              <a:sym typeface="Arial"/>
            </a:endParaRPr>
          </a:p>
        </p:txBody>
      </p:sp>
      <p:sp>
        <p:nvSpPr>
          <p:cNvPr id="1165" name="Google Shape;1165;p82"/>
          <p:cNvSpPr/>
          <p:nvPr/>
        </p:nvSpPr>
        <p:spPr>
          <a:xfrm>
            <a:off x="5394960" y="3145536"/>
            <a:ext cx="1417320" cy="256032"/>
          </a:xfrm>
          <a:prstGeom prst="roundRect">
            <a:avLst>
              <a:gd name="adj" fmla="val 8000"/>
            </a:avLst>
          </a:prstGeom>
          <a:solidFill>
            <a:srgbClr val="122B3D"/>
          </a:solidFill>
          <a:ln w="12700" cap="flat" cmpd="sng">
            <a:solidFill>
              <a:srgbClr val="4FB0EA"/>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6" name="Google Shape;1166;p82"/>
          <p:cNvSpPr txBox="1"/>
          <p:nvPr/>
        </p:nvSpPr>
        <p:spPr>
          <a:xfrm>
            <a:off x="5394960" y="3145536"/>
            <a:ext cx="1417320" cy="2560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1" i="0" u="none" strike="noStrike" cap="none">
                <a:solidFill>
                  <a:srgbClr val="4FB0EA"/>
                </a:solidFill>
                <a:latin typeface="Calibri"/>
                <a:ea typeface="Calibri"/>
                <a:cs typeface="Calibri"/>
                <a:sym typeface="Calibri"/>
              </a:rPr>
              <a:t>Cart icon</a:t>
            </a:r>
            <a:endParaRPr sz="1400" b="0" i="0" u="none" strike="noStrike" cap="none">
              <a:solidFill>
                <a:srgbClr val="000000"/>
              </a:solidFill>
              <a:latin typeface="Arial"/>
              <a:ea typeface="Arial"/>
              <a:cs typeface="Arial"/>
              <a:sym typeface="Arial"/>
            </a:endParaRPr>
          </a:p>
        </p:txBody>
      </p:sp>
      <p:sp>
        <p:nvSpPr>
          <p:cNvPr id="1167" name="Google Shape;1167;p82"/>
          <p:cNvSpPr txBox="1"/>
          <p:nvPr/>
        </p:nvSpPr>
        <p:spPr>
          <a:xfrm>
            <a:off x="6949440" y="2487168"/>
            <a:ext cx="1563624" cy="914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GB" sz="950" b="0" i="0" u="none" strike="noStrike" cap="none">
                <a:solidFill>
                  <a:srgbClr val="B9C8D8"/>
                </a:solidFill>
                <a:latin typeface="Calibri"/>
                <a:ea typeface="Calibri"/>
                <a:cs typeface="Calibri"/>
                <a:sym typeface="Calibri"/>
              </a:rPr>
              <a:t>+ 10 more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rgbClr val="000000"/>
              </a:buClr>
              <a:buSzPts val="950"/>
              <a:buFont typeface="Arial"/>
              <a:buNone/>
            </a:pPr>
            <a:r>
              <a:rPr lang="en-GB" sz="950" b="0" i="0" u="none" strike="noStrike" cap="none">
                <a:solidFill>
                  <a:srgbClr val="B9C8D8"/>
                </a:solidFill>
                <a:latin typeface="Calibri"/>
                <a:ea typeface="Calibri"/>
                <a:cs typeface="Calibri"/>
                <a:sym typeface="Calibri"/>
              </a:rPr>
              <a:t>Specs call its methods instead of repeating locators.</a:t>
            </a:r>
            <a:endParaRPr sz="1400" b="0" i="0" u="none" strike="noStrike" cap="none">
              <a:solidFill>
                <a:srgbClr val="000000"/>
              </a:solidFill>
              <a:latin typeface="Arial"/>
              <a:ea typeface="Arial"/>
              <a:cs typeface="Arial"/>
              <a:sym typeface="Arial"/>
            </a:endParaRPr>
          </a:p>
        </p:txBody>
      </p:sp>
      <p:sp>
        <p:nvSpPr>
          <p:cNvPr id="1168" name="Google Shape;1168;p82"/>
          <p:cNvSpPr txBox="1"/>
          <p:nvPr/>
        </p:nvSpPr>
        <p:spPr>
          <a:xfrm>
            <a:off x="5257800" y="3730752"/>
            <a:ext cx="3392424"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1" i="0" u="none" strike="noStrike" cap="none">
                <a:solidFill>
                  <a:srgbClr val="5FD08A"/>
                </a:solidFill>
                <a:latin typeface="Calibri"/>
                <a:ea typeface="Calibri"/>
                <a:cs typeface="Calibri"/>
                <a:sym typeface="Calibri"/>
              </a:rPr>
              <a:t>Login changes → </a:t>
            </a:r>
            <a:r>
              <a:rPr lang="en-GB" sz="1100" b="0" i="0" u="none" strike="noStrike" cap="none">
                <a:solidFill>
                  <a:srgbClr val="B9C8D8"/>
                </a:solidFill>
                <a:latin typeface="Calibri"/>
                <a:ea typeface="Calibri"/>
                <a:cs typeface="Calibri"/>
                <a:sym typeface="Calibri"/>
              </a:rPr>
              <a:t>fix it once, every test is fixed.</a:t>
            </a:r>
            <a:endParaRPr sz="1400" b="0" i="0" u="none" strike="noStrike" cap="none">
              <a:solidFill>
                <a:srgbClr val="000000"/>
              </a:solidFill>
              <a:latin typeface="Arial"/>
              <a:ea typeface="Arial"/>
              <a:cs typeface="Arial"/>
              <a:sym typeface="Arial"/>
            </a:endParaRPr>
          </a:p>
        </p:txBody>
      </p:sp>
      <p:sp>
        <p:nvSpPr>
          <p:cNvPr id="1169" name="Google Shape;1169;p82"/>
          <p:cNvSpPr txBox="1"/>
          <p:nvPr/>
        </p:nvSpPr>
        <p:spPr>
          <a:xfrm>
            <a:off x="493776" y="4315968"/>
            <a:ext cx="8156448" cy="3657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1" i="1" u="none" strike="noStrike" cap="none">
                <a:solidFill>
                  <a:srgbClr val="7FC6F3"/>
                </a:solidFill>
                <a:latin typeface="Century Schoolbook"/>
                <a:ea typeface="Century Schoolbook"/>
                <a:cs typeface="Century Schoolbook"/>
                <a:sym typeface="Century Schoolbook"/>
              </a:rPr>
              <a:t>Clappy turns tests written by different people into one framework: </a:t>
            </a:r>
            <a:r>
              <a:rPr lang="en-GB" sz="1100" b="0" i="1" u="none" strike="noStrike" cap="none">
                <a:solidFill>
                  <a:srgbClr val="7FC6F3"/>
                </a:solidFill>
                <a:latin typeface="Century Schoolbook"/>
                <a:ea typeface="Century Schoolbook"/>
                <a:cs typeface="Century Schoolbook"/>
                <a:sym typeface="Century Schoolbook"/>
              </a:rPr>
              <a:t>page objects, specs, configs and CI, in standard Playwright you review like any pull request.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74"/>
        <p:cNvGrpSpPr/>
        <p:nvPr/>
      </p:nvGrpSpPr>
      <p:grpSpPr>
        <a:xfrm>
          <a:off x="0" y="0"/>
          <a:ext cx="0" cy="0"/>
          <a:chOff x="0" y="0"/>
          <a:chExt cx="0" cy="0"/>
        </a:xfrm>
      </p:grpSpPr>
      <p:sp>
        <p:nvSpPr>
          <p:cNvPr id="1175" name="Google Shape;1175;p83"/>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How Clappy builds the framework</a:t>
            </a:r>
            <a:endParaRPr sz="1900"/>
          </a:p>
        </p:txBody>
      </p:sp>
      <p:sp>
        <p:nvSpPr>
          <p:cNvPr id="1176" name="Google Shape;1176;p83"/>
          <p:cNvSpPr txBox="1"/>
          <p:nvPr/>
        </p:nvSpPr>
        <p:spPr>
          <a:xfrm>
            <a:off x="493776" y="914400"/>
            <a:ext cx="8156448"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GB" sz="1100" b="0" i="0" u="none" strike="noStrike" cap="none">
                <a:solidFill>
                  <a:srgbClr val="B9C8D8"/>
                </a:solidFill>
                <a:latin typeface="Calibri"/>
                <a:ea typeface="Calibri"/>
                <a:cs typeface="Calibri"/>
                <a:sym typeface="Calibri"/>
              </a:rPr>
              <a:t>Your tests go in on the left. A framework your team would have written by hand comes out on the right.</a:t>
            </a:r>
            <a:endParaRPr sz="1400" b="0" i="0" u="none" strike="noStrike" cap="none">
              <a:solidFill>
                <a:srgbClr val="000000"/>
              </a:solidFill>
              <a:latin typeface="Calibri"/>
              <a:ea typeface="Calibri"/>
              <a:cs typeface="Calibri"/>
              <a:sym typeface="Calibri"/>
            </a:endParaRPr>
          </a:p>
        </p:txBody>
      </p:sp>
      <p:sp>
        <p:nvSpPr>
          <p:cNvPr id="1177" name="Google Shape;1177;p83"/>
          <p:cNvSpPr/>
          <p:nvPr/>
        </p:nvSpPr>
        <p:spPr>
          <a:xfrm>
            <a:off x="5120640" y="1298448"/>
            <a:ext cx="2377440" cy="457200"/>
          </a:xfrm>
          <a:prstGeom prst="roundRect">
            <a:avLst>
              <a:gd name="adj" fmla="val 8000"/>
            </a:avLst>
          </a:prstGeom>
          <a:solidFill>
            <a:srgbClr val="0A131E"/>
          </a:solidFill>
          <a:ln w="12700" cap="flat" cmpd="sng">
            <a:solidFill>
              <a:srgbClr val="2E8FC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178" name="Google Shape;1178;p83"/>
          <p:cNvSpPr txBox="1"/>
          <p:nvPr/>
        </p:nvSpPr>
        <p:spPr>
          <a:xfrm>
            <a:off x="5212080" y="1325880"/>
            <a:ext cx="2194560" cy="41148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Calibri"/>
              <a:buNone/>
            </a:pPr>
            <a:r>
              <a:rPr lang="en-GB" sz="1000" b="1" i="0" u="none" strike="noStrike" cap="none">
                <a:solidFill>
                  <a:srgbClr val="4FB0EA"/>
                </a:solidFill>
                <a:latin typeface="Century Schoolbook"/>
                <a:ea typeface="Century Schoolbook"/>
                <a:cs typeface="Century Schoolbook"/>
                <a:sym typeface="Century Schoolbook"/>
              </a:rPr>
              <a:t>Your team's skeleton</a:t>
            </a:r>
            <a:endParaRPr sz="14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800"/>
              <a:buFont typeface="Calibri"/>
              <a:buNone/>
            </a:pPr>
            <a:r>
              <a:rPr lang="en-GB" sz="800" b="0" i="0" u="none" strike="noStrike" cap="none">
                <a:solidFill>
                  <a:srgbClr val="B9C8D8"/>
                </a:solidFill>
                <a:latin typeface="Calibri"/>
                <a:ea typeface="Calibri"/>
                <a:cs typeface="Calibri"/>
                <a:sym typeface="Calibri"/>
              </a:rPr>
              <a:t>folders, base page, fixtures, configs, CI</a:t>
            </a:r>
            <a:endParaRPr sz="1400" b="0" i="0" u="none" strike="noStrike" cap="none">
              <a:solidFill>
                <a:srgbClr val="000000"/>
              </a:solidFill>
              <a:latin typeface="Calibri"/>
              <a:ea typeface="Calibri"/>
              <a:cs typeface="Calibri"/>
              <a:sym typeface="Calibri"/>
            </a:endParaRPr>
          </a:p>
        </p:txBody>
      </p:sp>
      <p:sp>
        <p:nvSpPr>
          <p:cNvPr id="1179" name="Google Shape;1179;p83"/>
          <p:cNvSpPr/>
          <p:nvPr/>
        </p:nvSpPr>
        <p:spPr>
          <a:xfrm>
            <a:off x="493776" y="2057400"/>
            <a:ext cx="1216152" cy="1143000"/>
          </a:xfrm>
          <a:prstGeom prst="roundRect">
            <a:avLst>
              <a:gd name="adj" fmla="val 8000"/>
            </a:avLst>
          </a:prstGeom>
          <a:solidFill>
            <a:srgbClr val="0A131E"/>
          </a:solidFill>
          <a:ln w="15875" cap="flat" cmpd="sng">
            <a:solidFill>
              <a:srgbClr val="0272B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180" name="Google Shape;1180;p83"/>
          <p:cNvSpPr txBox="1"/>
          <p:nvPr/>
        </p:nvSpPr>
        <p:spPr>
          <a:xfrm>
            <a:off x="585216" y="2148840"/>
            <a:ext cx="1051560" cy="10058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GB" sz="1600" b="1" i="0" u="none" strike="noStrike" cap="none">
                <a:solidFill>
                  <a:srgbClr val="4FB0EA"/>
                </a:solidFill>
                <a:latin typeface="Century Schoolbook"/>
                <a:ea typeface="Century Schoolbook"/>
                <a:cs typeface="Century Schoolbook"/>
                <a:sym typeface="Century Schoolbook"/>
              </a:rPr>
              <a:t>1</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1050"/>
              <a:buFont typeface="Calibri"/>
              <a:buNone/>
            </a:pPr>
            <a:r>
              <a:rPr lang="en-GB" sz="1050" b="1" i="0" u="none" strike="noStrike" cap="none">
                <a:solidFill>
                  <a:srgbClr val="EAF1F7"/>
                </a:solidFill>
                <a:latin typeface="Century Schoolbook"/>
                <a:ea typeface="Century Schoolbook"/>
                <a:cs typeface="Century Schoolbook"/>
                <a:sym typeface="Century Schoolbook"/>
              </a:rPr>
              <a:t>Read the tests</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850"/>
              <a:buFont typeface="Calibri"/>
              <a:buNone/>
            </a:pPr>
            <a:r>
              <a:rPr lang="en-GB" sz="850" b="0" i="0" u="none" strike="noStrike" cap="none">
                <a:solidFill>
                  <a:srgbClr val="B9C8D8"/>
                </a:solidFill>
                <a:latin typeface="Calibri"/>
                <a:ea typeface="Calibri"/>
                <a:cs typeface="Calibri"/>
                <a:sym typeface="Calibri"/>
              </a:rPr>
              <a:t>from plain English (Clappy), recorded, or by hand; web or mobile</a:t>
            </a:r>
            <a:endParaRPr sz="1400" b="0" i="0" u="none" strike="noStrike" cap="none">
              <a:solidFill>
                <a:srgbClr val="000000"/>
              </a:solidFill>
              <a:latin typeface="Calibri"/>
              <a:ea typeface="Calibri"/>
              <a:cs typeface="Calibri"/>
              <a:sym typeface="Calibri"/>
            </a:endParaRPr>
          </a:p>
        </p:txBody>
      </p:sp>
      <p:cxnSp>
        <p:nvCxnSpPr>
          <p:cNvPr id="1181" name="Google Shape;1181;p83"/>
          <p:cNvCxnSpPr/>
          <p:nvPr/>
        </p:nvCxnSpPr>
        <p:spPr>
          <a:xfrm>
            <a:off x="1728216" y="2628900"/>
            <a:ext cx="135331" cy="0"/>
          </a:xfrm>
          <a:prstGeom prst="straightConnector1">
            <a:avLst/>
          </a:prstGeom>
          <a:noFill/>
          <a:ln w="19050" cap="flat" cmpd="sng">
            <a:solidFill>
              <a:srgbClr val="93A9C0"/>
            </a:solidFill>
            <a:prstDash val="solid"/>
            <a:round/>
            <a:headEnd type="none" w="sm" len="sm"/>
            <a:tailEnd type="triangle" w="med" len="med"/>
          </a:ln>
          <a:effectLst>
            <a:outerShdw blurRad="40000" dist="20000" dir="5400000" rotWithShape="0">
              <a:srgbClr val="000000">
                <a:alpha val="38039"/>
              </a:srgbClr>
            </a:outerShdw>
          </a:effectLst>
        </p:spPr>
      </p:cxnSp>
      <p:sp>
        <p:nvSpPr>
          <p:cNvPr id="1182" name="Google Shape;1182;p83"/>
          <p:cNvSpPr/>
          <p:nvPr/>
        </p:nvSpPr>
        <p:spPr>
          <a:xfrm>
            <a:off x="1881835" y="2057400"/>
            <a:ext cx="1216152" cy="1143000"/>
          </a:xfrm>
          <a:prstGeom prst="roundRect">
            <a:avLst>
              <a:gd name="adj" fmla="val 8000"/>
            </a:avLst>
          </a:prstGeom>
          <a:solidFill>
            <a:srgbClr val="0A131E"/>
          </a:solidFill>
          <a:ln w="15875" cap="flat" cmpd="sng">
            <a:solidFill>
              <a:srgbClr val="0272B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183" name="Google Shape;1183;p83"/>
          <p:cNvSpPr txBox="1"/>
          <p:nvPr/>
        </p:nvSpPr>
        <p:spPr>
          <a:xfrm>
            <a:off x="1973275" y="2148840"/>
            <a:ext cx="1051560" cy="10058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GB" sz="1600" b="1" i="0" u="none" strike="noStrike" cap="none">
                <a:solidFill>
                  <a:srgbClr val="4FB0EA"/>
                </a:solidFill>
                <a:latin typeface="Century Schoolbook"/>
                <a:ea typeface="Century Schoolbook"/>
                <a:cs typeface="Century Schoolbook"/>
                <a:sym typeface="Century Schoolbook"/>
              </a:rPr>
              <a:t>2</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1050"/>
              <a:buFont typeface="Calibri"/>
              <a:buNone/>
            </a:pPr>
            <a:r>
              <a:rPr lang="en-GB" sz="1050" b="1" i="0" u="none" strike="noStrike" cap="none">
                <a:solidFill>
                  <a:srgbClr val="EAF1F7"/>
                </a:solidFill>
                <a:latin typeface="Century Schoolbook"/>
                <a:ea typeface="Century Schoolbook"/>
                <a:cs typeface="Century Schoolbook"/>
                <a:sym typeface="Century Schoolbook"/>
              </a:rPr>
              <a:t>Find the pages</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850"/>
              <a:buFont typeface="Calibri"/>
              <a:buNone/>
            </a:pPr>
            <a:r>
              <a:rPr lang="en-GB" sz="850" b="0" i="0" u="none" strike="noStrike" cap="none">
                <a:solidFill>
                  <a:srgbClr val="B9C8D8"/>
                </a:solidFill>
                <a:latin typeface="Calibri"/>
                <a:ea typeface="Calibri"/>
                <a:cs typeface="Calibri"/>
                <a:sym typeface="Calibri"/>
              </a:rPr>
              <a:t>the AI groups steps by screen</a:t>
            </a:r>
            <a:endParaRPr sz="1400" b="0" i="0" u="none" strike="noStrike" cap="none">
              <a:solidFill>
                <a:srgbClr val="000000"/>
              </a:solidFill>
              <a:latin typeface="Calibri"/>
              <a:ea typeface="Calibri"/>
              <a:cs typeface="Calibri"/>
              <a:sym typeface="Calibri"/>
            </a:endParaRPr>
          </a:p>
        </p:txBody>
      </p:sp>
      <p:cxnSp>
        <p:nvCxnSpPr>
          <p:cNvPr id="1184" name="Google Shape;1184;p83"/>
          <p:cNvCxnSpPr/>
          <p:nvPr/>
        </p:nvCxnSpPr>
        <p:spPr>
          <a:xfrm>
            <a:off x="3116275" y="2628900"/>
            <a:ext cx="135331" cy="0"/>
          </a:xfrm>
          <a:prstGeom prst="straightConnector1">
            <a:avLst/>
          </a:prstGeom>
          <a:noFill/>
          <a:ln w="19050" cap="flat" cmpd="sng">
            <a:solidFill>
              <a:srgbClr val="93A9C0"/>
            </a:solidFill>
            <a:prstDash val="solid"/>
            <a:round/>
            <a:headEnd type="none" w="sm" len="sm"/>
            <a:tailEnd type="triangle" w="med" len="med"/>
          </a:ln>
          <a:effectLst>
            <a:outerShdw blurRad="40000" dist="20000" dir="5400000" rotWithShape="0">
              <a:srgbClr val="000000">
                <a:alpha val="38039"/>
              </a:srgbClr>
            </a:outerShdw>
          </a:effectLst>
        </p:spPr>
      </p:cxnSp>
      <p:sp>
        <p:nvSpPr>
          <p:cNvPr id="1185" name="Google Shape;1185;p83"/>
          <p:cNvSpPr/>
          <p:nvPr/>
        </p:nvSpPr>
        <p:spPr>
          <a:xfrm>
            <a:off x="3269894" y="2057400"/>
            <a:ext cx="1216152" cy="1143000"/>
          </a:xfrm>
          <a:prstGeom prst="roundRect">
            <a:avLst>
              <a:gd name="adj" fmla="val 8000"/>
            </a:avLst>
          </a:prstGeom>
          <a:solidFill>
            <a:srgbClr val="0A131E"/>
          </a:solidFill>
          <a:ln w="15875" cap="flat" cmpd="sng">
            <a:solidFill>
              <a:srgbClr val="0272B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186" name="Google Shape;1186;p83"/>
          <p:cNvSpPr txBox="1"/>
          <p:nvPr/>
        </p:nvSpPr>
        <p:spPr>
          <a:xfrm>
            <a:off x="3361334" y="2148840"/>
            <a:ext cx="1051560" cy="10058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GB" sz="1600" b="1" i="0" u="none" strike="noStrike" cap="none">
                <a:solidFill>
                  <a:srgbClr val="4FB0EA"/>
                </a:solidFill>
                <a:latin typeface="Century Schoolbook"/>
                <a:ea typeface="Century Schoolbook"/>
                <a:cs typeface="Century Schoolbook"/>
                <a:sym typeface="Century Schoolbook"/>
              </a:rPr>
              <a:t>3</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1050"/>
              <a:buFont typeface="Calibri"/>
              <a:buNone/>
            </a:pPr>
            <a:r>
              <a:rPr lang="en-GB" sz="1050" b="1" i="0" u="none" strike="noStrike" cap="none">
                <a:solidFill>
                  <a:srgbClr val="EAF1F7"/>
                </a:solidFill>
                <a:latin typeface="Century Schoolbook"/>
                <a:ea typeface="Century Schoolbook"/>
                <a:cs typeface="Century Schoolbook"/>
                <a:sym typeface="Century Schoolbook"/>
              </a:rPr>
              <a:t>Page objects</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850"/>
              <a:buFont typeface="Calibri"/>
              <a:buNone/>
            </a:pPr>
            <a:r>
              <a:rPr lang="en-GB" sz="850" b="0" i="0" u="none" strike="noStrike" cap="none">
                <a:solidFill>
                  <a:srgbClr val="B9C8D8"/>
                </a:solidFill>
                <a:latin typeface="Calibri"/>
                <a:ea typeface="Calibri"/>
                <a:cs typeface="Calibri"/>
                <a:sym typeface="Calibri"/>
              </a:rPr>
              <a:t>each element once; shared parts become components</a:t>
            </a:r>
            <a:endParaRPr sz="1400" b="0" i="0" u="none" strike="noStrike" cap="none">
              <a:solidFill>
                <a:srgbClr val="000000"/>
              </a:solidFill>
              <a:latin typeface="Calibri"/>
              <a:ea typeface="Calibri"/>
              <a:cs typeface="Calibri"/>
              <a:sym typeface="Calibri"/>
            </a:endParaRPr>
          </a:p>
        </p:txBody>
      </p:sp>
      <p:cxnSp>
        <p:nvCxnSpPr>
          <p:cNvPr id="1187" name="Google Shape;1187;p83"/>
          <p:cNvCxnSpPr/>
          <p:nvPr/>
        </p:nvCxnSpPr>
        <p:spPr>
          <a:xfrm>
            <a:off x="4504334" y="2628900"/>
            <a:ext cx="135331" cy="0"/>
          </a:xfrm>
          <a:prstGeom prst="straightConnector1">
            <a:avLst/>
          </a:prstGeom>
          <a:noFill/>
          <a:ln w="19050" cap="flat" cmpd="sng">
            <a:solidFill>
              <a:srgbClr val="93A9C0"/>
            </a:solidFill>
            <a:prstDash val="solid"/>
            <a:round/>
            <a:headEnd type="none" w="sm" len="sm"/>
            <a:tailEnd type="triangle" w="med" len="med"/>
          </a:ln>
          <a:effectLst>
            <a:outerShdw blurRad="40000" dist="20000" dir="5400000" rotWithShape="0">
              <a:srgbClr val="000000">
                <a:alpha val="38039"/>
              </a:srgbClr>
            </a:outerShdw>
          </a:effectLst>
        </p:spPr>
      </p:cxnSp>
      <p:sp>
        <p:nvSpPr>
          <p:cNvPr id="1188" name="Google Shape;1188;p83"/>
          <p:cNvSpPr/>
          <p:nvPr/>
        </p:nvSpPr>
        <p:spPr>
          <a:xfrm>
            <a:off x="4657953" y="2057400"/>
            <a:ext cx="1216152" cy="1143000"/>
          </a:xfrm>
          <a:prstGeom prst="roundRect">
            <a:avLst>
              <a:gd name="adj" fmla="val 8000"/>
            </a:avLst>
          </a:prstGeom>
          <a:solidFill>
            <a:srgbClr val="0A131E"/>
          </a:solidFill>
          <a:ln w="15875" cap="flat" cmpd="sng">
            <a:solidFill>
              <a:srgbClr val="0272B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189" name="Google Shape;1189;p83"/>
          <p:cNvSpPr txBox="1"/>
          <p:nvPr/>
        </p:nvSpPr>
        <p:spPr>
          <a:xfrm>
            <a:off x="4749393" y="2148840"/>
            <a:ext cx="1051560" cy="10058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GB" sz="1600" b="1" i="0" u="none" strike="noStrike" cap="none">
                <a:solidFill>
                  <a:srgbClr val="4FB0EA"/>
                </a:solidFill>
                <a:latin typeface="Century Schoolbook"/>
                <a:ea typeface="Century Schoolbook"/>
                <a:cs typeface="Century Schoolbook"/>
                <a:sym typeface="Century Schoolbook"/>
              </a:rPr>
              <a:t>4</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1050"/>
              <a:buFont typeface="Calibri"/>
              <a:buNone/>
            </a:pPr>
            <a:r>
              <a:rPr lang="en-GB" sz="1050" b="1" i="0" u="none" strike="noStrike" cap="none">
                <a:solidFill>
                  <a:srgbClr val="EAF1F7"/>
                </a:solidFill>
                <a:latin typeface="Century Schoolbook"/>
                <a:ea typeface="Century Schoolbook"/>
                <a:cs typeface="Century Schoolbook"/>
                <a:sym typeface="Century Schoolbook"/>
              </a:rPr>
              <a:t>Name things</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850"/>
              <a:buFont typeface="Calibri"/>
              <a:buNone/>
            </a:pPr>
            <a:r>
              <a:rPr lang="en-GB" sz="850" b="0" i="0" u="none" strike="noStrike" cap="none">
                <a:solidFill>
                  <a:srgbClr val="B9C8D8"/>
                </a:solidFill>
                <a:latin typeface="Calibri"/>
                <a:ea typeface="Calibri"/>
                <a:cs typeface="Calibri"/>
                <a:sym typeface="Calibri"/>
              </a:rPr>
              <a:t>readable names from the AI; plain fallback without a key</a:t>
            </a:r>
            <a:endParaRPr sz="1400" b="0" i="0" u="none" strike="noStrike" cap="none">
              <a:solidFill>
                <a:srgbClr val="000000"/>
              </a:solidFill>
              <a:latin typeface="Calibri"/>
              <a:ea typeface="Calibri"/>
              <a:cs typeface="Calibri"/>
              <a:sym typeface="Calibri"/>
            </a:endParaRPr>
          </a:p>
        </p:txBody>
      </p:sp>
      <p:cxnSp>
        <p:nvCxnSpPr>
          <p:cNvPr id="1190" name="Google Shape;1190;p83"/>
          <p:cNvCxnSpPr/>
          <p:nvPr/>
        </p:nvCxnSpPr>
        <p:spPr>
          <a:xfrm>
            <a:off x="5892393" y="2628900"/>
            <a:ext cx="135331" cy="0"/>
          </a:xfrm>
          <a:prstGeom prst="straightConnector1">
            <a:avLst/>
          </a:prstGeom>
          <a:noFill/>
          <a:ln w="19050" cap="flat" cmpd="sng">
            <a:solidFill>
              <a:srgbClr val="93A9C0"/>
            </a:solidFill>
            <a:prstDash val="solid"/>
            <a:round/>
            <a:headEnd type="none" w="sm" len="sm"/>
            <a:tailEnd type="triangle" w="med" len="med"/>
          </a:ln>
          <a:effectLst>
            <a:outerShdw blurRad="40000" dist="20000" dir="5400000" rotWithShape="0">
              <a:srgbClr val="000000">
                <a:alpha val="38039"/>
              </a:srgbClr>
            </a:outerShdw>
          </a:effectLst>
        </p:spPr>
      </p:cxnSp>
      <p:sp>
        <p:nvSpPr>
          <p:cNvPr id="1191" name="Google Shape;1191;p83"/>
          <p:cNvSpPr/>
          <p:nvPr/>
        </p:nvSpPr>
        <p:spPr>
          <a:xfrm>
            <a:off x="6046012" y="2057400"/>
            <a:ext cx="1216152" cy="1143000"/>
          </a:xfrm>
          <a:prstGeom prst="roundRect">
            <a:avLst>
              <a:gd name="adj" fmla="val 8000"/>
            </a:avLst>
          </a:prstGeom>
          <a:solidFill>
            <a:srgbClr val="0A131E"/>
          </a:solidFill>
          <a:ln w="15875" cap="flat" cmpd="sng">
            <a:solidFill>
              <a:srgbClr val="0272B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192" name="Google Shape;1192;p83"/>
          <p:cNvSpPr txBox="1"/>
          <p:nvPr/>
        </p:nvSpPr>
        <p:spPr>
          <a:xfrm>
            <a:off x="6137452" y="2148840"/>
            <a:ext cx="1051560" cy="10058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GB" sz="1600" b="1" i="0" u="none" strike="noStrike" cap="none">
                <a:solidFill>
                  <a:srgbClr val="4FB0EA"/>
                </a:solidFill>
                <a:latin typeface="Century Schoolbook"/>
                <a:ea typeface="Century Schoolbook"/>
                <a:cs typeface="Century Schoolbook"/>
                <a:sym typeface="Century Schoolbook"/>
              </a:rPr>
              <a:t>5</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1050"/>
              <a:buFont typeface="Calibri"/>
              <a:buNone/>
            </a:pPr>
            <a:r>
              <a:rPr lang="en-GB" sz="1050" b="1" i="0" u="none" strike="noStrike" cap="none">
                <a:solidFill>
                  <a:srgbClr val="EAF1F7"/>
                </a:solidFill>
                <a:latin typeface="Century Schoolbook"/>
                <a:ea typeface="Century Schoolbook"/>
                <a:cs typeface="Century Schoolbook"/>
                <a:sym typeface="Century Schoolbook"/>
              </a:rPr>
              <a:t>Fill the skeleton</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850"/>
              <a:buFont typeface="Calibri"/>
              <a:buNone/>
            </a:pPr>
            <a:r>
              <a:rPr lang="en-GB" sz="850" b="0" i="0" u="none" strike="noStrike" cap="none">
                <a:solidFill>
                  <a:srgbClr val="B9C8D8"/>
                </a:solidFill>
                <a:latin typeface="Calibri"/>
                <a:ea typeface="Calibri"/>
                <a:cs typeface="Calibri"/>
                <a:sym typeface="Calibri"/>
              </a:rPr>
              <a:t>only the framework files the tests use</a:t>
            </a:r>
            <a:endParaRPr sz="1400" b="0" i="0" u="none" strike="noStrike" cap="none">
              <a:solidFill>
                <a:srgbClr val="000000"/>
              </a:solidFill>
              <a:latin typeface="Calibri"/>
              <a:ea typeface="Calibri"/>
              <a:cs typeface="Calibri"/>
              <a:sym typeface="Calibri"/>
            </a:endParaRPr>
          </a:p>
        </p:txBody>
      </p:sp>
      <p:cxnSp>
        <p:nvCxnSpPr>
          <p:cNvPr id="1193" name="Google Shape;1193;p83"/>
          <p:cNvCxnSpPr/>
          <p:nvPr/>
        </p:nvCxnSpPr>
        <p:spPr>
          <a:xfrm>
            <a:off x="7280452" y="2628900"/>
            <a:ext cx="135332" cy="0"/>
          </a:xfrm>
          <a:prstGeom prst="straightConnector1">
            <a:avLst/>
          </a:prstGeom>
          <a:noFill/>
          <a:ln w="19050" cap="flat" cmpd="sng">
            <a:solidFill>
              <a:srgbClr val="93A9C0"/>
            </a:solidFill>
            <a:prstDash val="solid"/>
            <a:round/>
            <a:headEnd type="none" w="sm" len="sm"/>
            <a:tailEnd type="triangle" w="med" len="med"/>
          </a:ln>
          <a:effectLst>
            <a:outerShdw blurRad="40000" dist="20000" dir="5400000" rotWithShape="0">
              <a:srgbClr val="000000">
                <a:alpha val="38039"/>
              </a:srgbClr>
            </a:outerShdw>
          </a:effectLst>
        </p:spPr>
      </p:cxnSp>
      <p:sp>
        <p:nvSpPr>
          <p:cNvPr id="1194" name="Google Shape;1194;p83"/>
          <p:cNvSpPr/>
          <p:nvPr/>
        </p:nvSpPr>
        <p:spPr>
          <a:xfrm>
            <a:off x="7434071" y="2057400"/>
            <a:ext cx="1216152" cy="1143000"/>
          </a:xfrm>
          <a:prstGeom prst="roundRect">
            <a:avLst>
              <a:gd name="adj" fmla="val 8000"/>
            </a:avLst>
          </a:prstGeom>
          <a:solidFill>
            <a:srgbClr val="0A131E"/>
          </a:solidFill>
          <a:ln w="15875" cap="flat" cmpd="sng">
            <a:solidFill>
              <a:srgbClr val="7FC6F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195" name="Google Shape;1195;p83"/>
          <p:cNvSpPr txBox="1"/>
          <p:nvPr/>
        </p:nvSpPr>
        <p:spPr>
          <a:xfrm>
            <a:off x="7525511" y="2148840"/>
            <a:ext cx="1051560" cy="10058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GB" sz="1600" b="1" i="0" u="none" strike="noStrike" cap="none">
                <a:solidFill>
                  <a:srgbClr val="7FC6F3"/>
                </a:solidFill>
                <a:latin typeface="Century Schoolbook"/>
                <a:ea typeface="Century Schoolbook"/>
                <a:cs typeface="Century Schoolbook"/>
                <a:sym typeface="Century Schoolbook"/>
              </a:rPr>
              <a:t>6</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1050"/>
              <a:buFont typeface="Calibri"/>
              <a:buNone/>
            </a:pPr>
            <a:r>
              <a:rPr lang="en-GB" sz="1050" b="1" i="0" u="none" strike="noStrike" cap="none">
                <a:solidFill>
                  <a:srgbClr val="EAF1F7"/>
                </a:solidFill>
                <a:latin typeface="Century Schoolbook"/>
                <a:ea typeface="Century Schoolbook"/>
                <a:cs typeface="Century Schoolbook"/>
                <a:sym typeface="Century Schoolbook"/>
              </a:rPr>
              <a:t>Type check</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200"/>
              </a:spcBef>
              <a:spcAft>
                <a:spcPts val="0"/>
              </a:spcAft>
              <a:buClr>
                <a:srgbClr val="000000"/>
              </a:buClr>
              <a:buSzPts val="850"/>
              <a:buFont typeface="Calibri"/>
              <a:buNone/>
            </a:pPr>
            <a:r>
              <a:rPr lang="en-GB" sz="850" b="0" i="0" u="none" strike="noStrike" cap="none">
                <a:solidFill>
                  <a:srgbClr val="B9C8D8"/>
                </a:solidFill>
                <a:latin typeface="Calibri"/>
                <a:ea typeface="Calibri"/>
                <a:cs typeface="Calibri"/>
                <a:sym typeface="Calibri"/>
              </a:rPr>
              <a:t>before you see it; anything missing is listed as a TODO</a:t>
            </a:r>
            <a:endParaRPr sz="1400" b="0" i="0" u="none" strike="noStrike" cap="none">
              <a:solidFill>
                <a:srgbClr val="000000"/>
              </a:solidFill>
              <a:latin typeface="Calibri"/>
              <a:ea typeface="Calibri"/>
              <a:cs typeface="Calibri"/>
              <a:sym typeface="Calibri"/>
            </a:endParaRPr>
          </a:p>
        </p:txBody>
      </p:sp>
      <p:cxnSp>
        <p:nvCxnSpPr>
          <p:cNvPr id="1196" name="Google Shape;1196;p83"/>
          <p:cNvCxnSpPr/>
          <p:nvPr/>
        </p:nvCxnSpPr>
        <p:spPr>
          <a:xfrm>
            <a:off x="6654088" y="1764792"/>
            <a:ext cx="0" cy="274320"/>
          </a:xfrm>
          <a:prstGeom prst="straightConnector1">
            <a:avLst/>
          </a:prstGeom>
          <a:noFill/>
          <a:ln w="19050" cap="flat" cmpd="sng">
            <a:solidFill>
              <a:srgbClr val="2E8FCB"/>
            </a:solidFill>
            <a:prstDash val="solid"/>
            <a:round/>
            <a:headEnd type="none" w="sm" len="sm"/>
            <a:tailEnd type="triangle" w="med" len="med"/>
          </a:ln>
          <a:effectLst>
            <a:outerShdw blurRad="40000" dist="20000" dir="5400000" rotWithShape="0">
              <a:srgbClr val="000000">
                <a:alpha val="38039"/>
              </a:srgbClr>
            </a:outerShdw>
          </a:effectLst>
        </p:spPr>
      </p:cxnSp>
      <p:sp>
        <p:nvSpPr>
          <p:cNvPr id="1197" name="Google Shape;1197;p83"/>
          <p:cNvSpPr txBox="1"/>
          <p:nvPr/>
        </p:nvSpPr>
        <p:spPr>
          <a:xfrm>
            <a:off x="493776" y="3310128"/>
            <a:ext cx="8156448"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Calibri"/>
              <a:buNone/>
            </a:pPr>
            <a:r>
              <a:rPr lang="en-GB" sz="1050" b="1" i="0" u="none" strike="noStrike" cap="none">
                <a:solidFill>
                  <a:srgbClr val="7FC6F3"/>
                </a:solidFill>
                <a:latin typeface="Calibri"/>
                <a:ea typeface="Calibri"/>
                <a:cs typeface="Calibri"/>
                <a:sym typeface="Calibri"/>
              </a:rPr>
              <a:t>Out: </a:t>
            </a:r>
            <a:r>
              <a:rPr lang="en-GB" sz="1050" b="0" i="0" u="none" strike="noStrike" cap="none">
                <a:solidFill>
                  <a:srgbClr val="EAF1F7"/>
                </a:solidFill>
                <a:latin typeface="Calibri"/>
                <a:ea typeface="Calibri"/>
                <a:cs typeface="Calibri"/>
                <a:sym typeface="Calibri"/>
              </a:rPr>
              <a:t>page objects, specs, env configs and a CI workflow, as a pull request on your GitHub repo or a zip.</a:t>
            </a:r>
            <a:endParaRPr sz="1400" b="0" i="0" u="none" strike="noStrike" cap="none">
              <a:solidFill>
                <a:srgbClr val="000000"/>
              </a:solidFill>
              <a:latin typeface="Calibri"/>
              <a:ea typeface="Calibri"/>
              <a:cs typeface="Calibri"/>
              <a:sym typeface="Calibri"/>
            </a:endParaRPr>
          </a:p>
        </p:txBody>
      </p:sp>
      <p:sp>
        <p:nvSpPr>
          <p:cNvPr id="1198" name="Google Shape;1198;p83"/>
          <p:cNvSpPr/>
          <p:nvPr/>
        </p:nvSpPr>
        <p:spPr>
          <a:xfrm>
            <a:off x="493776" y="3703320"/>
            <a:ext cx="1936242" cy="566928"/>
          </a:xfrm>
          <a:prstGeom prst="roundRect">
            <a:avLst>
              <a:gd name="adj" fmla="val 8000"/>
            </a:avLst>
          </a:prstGeom>
          <a:solidFill>
            <a:srgbClr val="0A131E"/>
          </a:solidFill>
          <a:ln w="12700" cap="flat" cmpd="sng">
            <a:solidFill>
              <a:srgbClr val="0272B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199" name="Google Shape;1199;p83"/>
          <p:cNvSpPr txBox="1"/>
          <p:nvPr/>
        </p:nvSpPr>
        <p:spPr>
          <a:xfrm>
            <a:off x="603504" y="3730752"/>
            <a:ext cx="1753362" cy="53035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Calibri"/>
              <a:buNone/>
            </a:pPr>
            <a:r>
              <a:rPr lang="en-GB" sz="1100" b="1" i="0" u="none" strike="noStrike" cap="none">
                <a:solidFill>
                  <a:srgbClr val="4FB0EA"/>
                </a:solidFill>
                <a:latin typeface="Century Schoolbook"/>
                <a:ea typeface="Century Schoolbook"/>
                <a:cs typeface="Century Schoolbook"/>
                <a:sym typeface="Century Schoolbook"/>
              </a:rPr>
              <a:t>Our test platform</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Calibri"/>
              <a:buNone/>
            </a:pPr>
            <a:r>
              <a:rPr lang="en-GB" sz="900" b="0" i="0" u="none" strike="noStrike" cap="none">
                <a:solidFill>
                  <a:srgbClr val="B9C8D8"/>
                </a:solidFill>
                <a:latin typeface="Calibri"/>
                <a:ea typeface="Calibri"/>
                <a:cs typeface="Calibri"/>
                <a:sym typeface="Calibri"/>
              </a:rPr>
              <a:t>one click (the live demo)</a:t>
            </a:r>
            <a:endParaRPr sz="1400" b="0" i="0" u="none" strike="noStrike" cap="none">
              <a:solidFill>
                <a:srgbClr val="000000"/>
              </a:solidFill>
              <a:latin typeface="Calibri"/>
              <a:ea typeface="Calibri"/>
              <a:cs typeface="Calibri"/>
              <a:sym typeface="Calibri"/>
            </a:endParaRPr>
          </a:p>
        </p:txBody>
      </p:sp>
      <p:sp>
        <p:nvSpPr>
          <p:cNvPr id="1200" name="Google Shape;1200;p83"/>
          <p:cNvSpPr/>
          <p:nvPr/>
        </p:nvSpPr>
        <p:spPr>
          <a:xfrm>
            <a:off x="2567178" y="3703320"/>
            <a:ext cx="1936242" cy="566928"/>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01" name="Google Shape;1201;p83"/>
          <p:cNvSpPr txBox="1"/>
          <p:nvPr/>
        </p:nvSpPr>
        <p:spPr>
          <a:xfrm>
            <a:off x="2676906" y="3730752"/>
            <a:ext cx="1753362" cy="53035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Calibri"/>
              <a:buNone/>
            </a:pPr>
            <a:r>
              <a:rPr lang="en-GB" sz="1100" b="1" i="0" u="none" strike="noStrike" cap="none">
                <a:solidFill>
                  <a:srgbClr val="EAF1F7"/>
                </a:solidFill>
                <a:latin typeface="Century Schoolbook"/>
                <a:ea typeface="Century Schoolbook"/>
                <a:cs typeface="Century Schoolbook"/>
                <a:sym typeface="Century Schoolbook"/>
              </a:rPr>
              <a:t>Claude Code</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Calibri"/>
              <a:buNone/>
            </a:pPr>
            <a:r>
              <a:rPr lang="en-GB" sz="900" b="0" i="0" u="none" strike="noStrike" cap="none">
                <a:solidFill>
                  <a:srgbClr val="B9C8D8"/>
                </a:solidFill>
                <a:latin typeface="Calibri"/>
                <a:ea typeface="Calibri"/>
                <a:cs typeface="Calibri"/>
                <a:sym typeface="Calibri"/>
              </a:rPr>
              <a:t>as an MCP server</a:t>
            </a:r>
            <a:endParaRPr sz="1400" b="0" i="0" u="none" strike="noStrike" cap="none">
              <a:solidFill>
                <a:srgbClr val="000000"/>
              </a:solidFill>
              <a:latin typeface="Calibri"/>
              <a:ea typeface="Calibri"/>
              <a:cs typeface="Calibri"/>
              <a:sym typeface="Calibri"/>
            </a:endParaRPr>
          </a:p>
        </p:txBody>
      </p:sp>
      <p:sp>
        <p:nvSpPr>
          <p:cNvPr id="1202" name="Google Shape;1202;p83"/>
          <p:cNvSpPr/>
          <p:nvPr/>
        </p:nvSpPr>
        <p:spPr>
          <a:xfrm>
            <a:off x="4640580" y="3703320"/>
            <a:ext cx="1936242" cy="566928"/>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03" name="Google Shape;1203;p83"/>
          <p:cNvSpPr txBox="1"/>
          <p:nvPr/>
        </p:nvSpPr>
        <p:spPr>
          <a:xfrm>
            <a:off x="4750308" y="3730752"/>
            <a:ext cx="1753362" cy="53035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Calibri"/>
              <a:buNone/>
            </a:pPr>
            <a:r>
              <a:rPr lang="en-GB" sz="1100" b="1" i="0" u="none" strike="noStrike" cap="none">
                <a:solidFill>
                  <a:srgbClr val="EAF1F7"/>
                </a:solidFill>
                <a:latin typeface="Century Schoolbook"/>
                <a:ea typeface="Century Schoolbook"/>
                <a:cs typeface="Century Schoolbook"/>
                <a:sym typeface="Century Schoolbook"/>
              </a:rPr>
              <a:t>CI pipelines</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Calibri"/>
              <a:buNone/>
            </a:pPr>
            <a:r>
              <a:rPr lang="en-GB" sz="900" b="0" i="0" u="none" strike="noStrike" cap="none">
                <a:solidFill>
                  <a:srgbClr val="B9C8D8"/>
                </a:solidFill>
                <a:latin typeface="Calibri"/>
                <a:ea typeface="Calibri"/>
                <a:cs typeface="Calibri"/>
                <a:sym typeface="Calibri"/>
              </a:rPr>
              <a:t>the clappy CLI</a:t>
            </a:r>
            <a:endParaRPr sz="1400" b="0" i="0" u="none" strike="noStrike" cap="none">
              <a:solidFill>
                <a:srgbClr val="000000"/>
              </a:solidFill>
              <a:latin typeface="Calibri"/>
              <a:ea typeface="Calibri"/>
              <a:cs typeface="Calibri"/>
              <a:sym typeface="Calibri"/>
            </a:endParaRPr>
          </a:p>
        </p:txBody>
      </p:sp>
      <p:sp>
        <p:nvSpPr>
          <p:cNvPr id="1204" name="Google Shape;1204;p83"/>
          <p:cNvSpPr/>
          <p:nvPr/>
        </p:nvSpPr>
        <p:spPr>
          <a:xfrm>
            <a:off x="6713982" y="3703320"/>
            <a:ext cx="1936242" cy="566928"/>
          </a:xfrm>
          <a:prstGeom prst="roundRect">
            <a:avLst>
              <a:gd name="adj" fmla="val 8000"/>
            </a:avLst>
          </a:prstGeom>
          <a:solidFill>
            <a:srgbClr val="0A131E"/>
          </a:solidFill>
          <a:ln w="12700" cap="flat" cmpd="sng">
            <a:solidFill>
              <a:srgbClr val="1E304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205" name="Google Shape;1205;p83"/>
          <p:cNvSpPr txBox="1"/>
          <p:nvPr/>
        </p:nvSpPr>
        <p:spPr>
          <a:xfrm>
            <a:off x="6823710" y="3730752"/>
            <a:ext cx="1753362" cy="53035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Calibri"/>
              <a:buNone/>
            </a:pPr>
            <a:r>
              <a:rPr lang="en-GB" sz="1100" b="1" i="0" u="none" strike="noStrike" cap="none">
                <a:solidFill>
                  <a:srgbClr val="EAF1F7"/>
                </a:solidFill>
                <a:latin typeface="Century Schoolbook"/>
                <a:ea typeface="Century Schoolbook"/>
                <a:cs typeface="Century Schoolbook"/>
                <a:sym typeface="Century Schoolbook"/>
              </a:rPr>
              <a:t>Your own tools</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Calibri"/>
              <a:buNone/>
            </a:pPr>
            <a:r>
              <a:rPr lang="en-GB" sz="900" b="0" i="0" u="none" strike="noStrike" cap="none">
                <a:solidFill>
                  <a:srgbClr val="B9C8D8"/>
                </a:solidFill>
                <a:latin typeface="Calibri"/>
                <a:ea typeface="Calibri"/>
                <a:cs typeface="Calibri"/>
                <a:sym typeface="Calibri"/>
              </a:rPr>
              <a:t>the clappy-core library</a:t>
            </a:r>
            <a:endParaRPr sz="1400" b="0" i="0" u="none" strike="noStrike" cap="none">
              <a:solidFill>
                <a:srgbClr val="000000"/>
              </a:solidFill>
              <a:latin typeface="Calibri"/>
              <a:ea typeface="Calibri"/>
              <a:cs typeface="Calibri"/>
              <a:sym typeface="Calibri"/>
            </a:endParaRPr>
          </a:p>
        </p:txBody>
      </p:sp>
      <p:sp>
        <p:nvSpPr>
          <p:cNvPr id="1206" name="Google Shape;1206;p83"/>
          <p:cNvSpPr txBox="1"/>
          <p:nvPr/>
        </p:nvSpPr>
        <p:spPr>
          <a:xfrm>
            <a:off x="493776" y="4434840"/>
            <a:ext cx="8156448"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50"/>
              <a:buFont typeface="Calibri"/>
              <a:buNone/>
            </a:pPr>
            <a:r>
              <a:rPr lang="en-GB" sz="850" b="0" i="1" u="none" strike="noStrike" cap="none">
                <a:solidFill>
                  <a:srgbClr val="93A9C0"/>
                </a:solidFill>
                <a:latin typeface="Calibri"/>
                <a:ea typeface="Calibri"/>
                <a:cs typeface="Calibri"/>
                <a:sym typeface="Calibri"/>
              </a:rPr>
              <a:t>Built with Claude Code. When tests replay, the Clappy runtime self-heals broken locators. Packages are internal for now.</a:t>
            </a: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11"/>
        <p:cNvGrpSpPr/>
        <p:nvPr/>
      </p:nvGrpSpPr>
      <p:grpSpPr>
        <a:xfrm>
          <a:off x="0" y="0"/>
          <a:ext cx="0" cy="0"/>
          <a:chOff x="0" y="0"/>
          <a:chExt cx="0" cy="0"/>
        </a:xfrm>
      </p:grpSpPr>
      <p:sp>
        <p:nvSpPr>
          <p:cNvPr id="1212" name="Google Shape;1212;p84"/>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Live demo: one click in our test platform</a:t>
            </a:r>
            <a:endParaRPr sz="1900"/>
          </a:p>
        </p:txBody>
      </p:sp>
      <p:pic>
        <p:nvPicPr>
          <p:cNvPr id="1230" name="Picture 1229" descr="s34_blur.png"/>
          <p:cNvPicPr>
            <a:picLocks noChangeAspect="1"/>
          </p:cNvPicPr>
          <p:nvPr/>
        </p:nvPicPr>
        <p:blipFill>
          <a:blip r:embed="rId4"/>
          <a:stretch>
            <a:fillRect/>
          </a:stretch>
        </p:blipFill>
        <p:spPr>
          <a:xfrm>
            <a:off x="411480" y="914400"/>
            <a:ext cx="5037667" cy="3886200"/>
          </a:xfrm>
          <a:prstGeom prst="rect">
            <a:avLst/>
          </a:prstGeom>
          <a:ln w="12700">
            <a:solidFill>
              <a:srgbClr val="243240"/>
            </a:solidFill>
          </a:ln>
        </p:spPr>
      </p:pic>
      <p:sp>
        <p:nvSpPr>
          <p:cNvPr id="1214" name="Google Shape;1214;p84"/>
          <p:cNvSpPr/>
          <p:nvPr/>
        </p:nvSpPr>
        <p:spPr>
          <a:xfrm>
            <a:off x="2535569" y="1779072"/>
            <a:ext cx="237744" cy="237744"/>
          </a:xfrm>
          <a:prstGeom prst="ellipse">
            <a:avLst/>
          </a:prstGeom>
          <a:solidFill>
            <a:srgbClr val="7FC6F3"/>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15" name="Google Shape;1215;p84"/>
          <p:cNvSpPr txBox="1"/>
          <p:nvPr/>
        </p:nvSpPr>
        <p:spPr>
          <a:xfrm>
            <a:off x="2535569" y="1779072"/>
            <a:ext cx="237744" cy="2377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000000"/>
                </a:solidFill>
                <a:latin typeface="Calibri"/>
                <a:ea typeface="Calibri"/>
                <a:cs typeface="Calibri"/>
                <a:sym typeface="Calibri"/>
              </a:rPr>
              <a:t>1</a:t>
            </a:r>
            <a:endParaRPr sz="1400" b="0" i="0" u="none" strike="noStrike" cap="none">
              <a:solidFill>
                <a:srgbClr val="000000"/>
              </a:solidFill>
              <a:latin typeface="Arial"/>
              <a:ea typeface="Arial"/>
              <a:cs typeface="Arial"/>
              <a:sym typeface="Arial"/>
            </a:endParaRPr>
          </a:p>
        </p:txBody>
      </p:sp>
      <p:sp>
        <p:nvSpPr>
          <p:cNvPr id="1216" name="Google Shape;1216;p84"/>
          <p:cNvSpPr/>
          <p:nvPr/>
        </p:nvSpPr>
        <p:spPr>
          <a:xfrm>
            <a:off x="5006424" y="2474750"/>
            <a:ext cx="237744" cy="237744"/>
          </a:xfrm>
          <a:prstGeom prst="ellipse">
            <a:avLst/>
          </a:prstGeom>
          <a:solidFill>
            <a:srgbClr val="7FC6F3"/>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17" name="Google Shape;1217;p84"/>
          <p:cNvSpPr txBox="1"/>
          <p:nvPr/>
        </p:nvSpPr>
        <p:spPr>
          <a:xfrm>
            <a:off x="5006424" y="2474750"/>
            <a:ext cx="237744" cy="2377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000000"/>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
        <p:nvSpPr>
          <p:cNvPr id="1218" name="Google Shape;1218;p84"/>
          <p:cNvSpPr/>
          <p:nvPr/>
        </p:nvSpPr>
        <p:spPr>
          <a:xfrm>
            <a:off x="2463602" y="3947668"/>
            <a:ext cx="237744" cy="237744"/>
          </a:xfrm>
          <a:prstGeom prst="ellipse">
            <a:avLst/>
          </a:prstGeom>
          <a:solidFill>
            <a:srgbClr val="7FC6F3"/>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19" name="Google Shape;1219;p84"/>
          <p:cNvSpPr txBox="1"/>
          <p:nvPr/>
        </p:nvSpPr>
        <p:spPr>
          <a:xfrm>
            <a:off x="2463602" y="3947668"/>
            <a:ext cx="237744" cy="2377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000000"/>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1220" name="Google Shape;1220;p84"/>
          <p:cNvSpPr/>
          <p:nvPr/>
        </p:nvSpPr>
        <p:spPr>
          <a:xfrm>
            <a:off x="3890941" y="1779072"/>
            <a:ext cx="237744" cy="237744"/>
          </a:xfrm>
          <a:prstGeom prst="ellipse">
            <a:avLst/>
          </a:prstGeom>
          <a:solidFill>
            <a:srgbClr val="7FC6F3"/>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21" name="Google Shape;1221;p84"/>
          <p:cNvSpPr txBox="1"/>
          <p:nvPr/>
        </p:nvSpPr>
        <p:spPr>
          <a:xfrm>
            <a:off x="3890941" y="1779072"/>
            <a:ext cx="237744" cy="2377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rgbClr val="000000"/>
                </a:solidFill>
                <a:latin typeface="Calibri"/>
                <a:ea typeface="Calibri"/>
                <a:cs typeface="Calibri"/>
                <a:sym typeface="Calibri"/>
              </a:rPr>
              <a:t>4</a:t>
            </a:r>
            <a:endParaRPr sz="1400" b="0" i="0" u="none" strike="noStrike" cap="none">
              <a:solidFill>
                <a:srgbClr val="000000"/>
              </a:solidFill>
              <a:latin typeface="Arial"/>
              <a:ea typeface="Arial"/>
              <a:cs typeface="Arial"/>
              <a:sym typeface="Arial"/>
            </a:endParaRPr>
          </a:p>
        </p:txBody>
      </p:sp>
      <p:sp>
        <p:nvSpPr>
          <p:cNvPr id="1222" name="Google Shape;1222;p84"/>
          <p:cNvSpPr txBox="1"/>
          <p:nvPr/>
        </p:nvSpPr>
        <p:spPr>
          <a:xfrm>
            <a:off x="5723467" y="960120"/>
            <a:ext cx="411480"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7FC6F3"/>
                </a:solidFill>
                <a:latin typeface="Century Schoolbook"/>
                <a:ea typeface="Century Schoolbook"/>
                <a:cs typeface="Century Schoolbook"/>
                <a:sym typeface="Century Schoolbook"/>
              </a:rPr>
              <a:t>1</a:t>
            </a:r>
            <a:endParaRPr sz="1400" b="0" i="0" u="none" strike="noStrike" cap="none">
              <a:solidFill>
                <a:srgbClr val="000000"/>
              </a:solidFill>
              <a:latin typeface="Arial"/>
              <a:ea typeface="Arial"/>
              <a:cs typeface="Arial"/>
              <a:sym typeface="Arial"/>
            </a:endParaRPr>
          </a:p>
        </p:txBody>
      </p:sp>
      <p:sp>
        <p:nvSpPr>
          <p:cNvPr id="1223" name="Google Shape;1223;p84"/>
          <p:cNvSpPr txBox="1"/>
          <p:nvPr/>
        </p:nvSpPr>
        <p:spPr>
          <a:xfrm>
            <a:off x="6134947" y="996696"/>
            <a:ext cx="2597573" cy="8686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i="0" u="none" strike="noStrike" cap="none">
                <a:solidFill>
                  <a:srgbClr val="EAF1F7"/>
                </a:solidFill>
                <a:latin typeface="Century Schoolbook"/>
                <a:ea typeface="Century Schoolbook"/>
                <a:cs typeface="Century Schoolbook"/>
                <a:sym typeface="Century Schoolbook"/>
              </a:rPr>
              <a:t>Generate TAF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1000"/>
              <a:buFont typeface="Arial"/>
              <a:buNone/>
            </a:pPr>
            <a:r>
              <a:rPr lang="en-GB" sz="1000" b="0" i="0" u="none" strike="noStrike" cap="none">
                <a:solidFill>
                  <a:srgbClr val="B9C8D8"/>
                </a:solidFill>
                <a:latin typeface="Calibri"/>
                <a:ea typeface="Calibri"/>
                <a:cs typeface="Calibri"/>
                <a:sym typeface="Calibri"/>
              </a:rPr>
              <a:t>Anna's, Ben's and Chris's tests on saucedemo.com go in. About a minute.</a:t>
            </a:r>
            <a:endParaRPr sz="1400" b="0" i="0" u="none" strike="noStrike" cap="none">
              <a:solidFill>
                <a:srgbClr val="000000"/>
              </a:solidFill>
              <a:latin typeface="Arial"/>
              <a:ea typeface="Arial"/>
              <a:cs typeface="Arial"/>
              <a:sym typeface="Arial"/>
            </a:endParaRPr>
          </a:p>
        </p:txBody>
      </p:sp>
      <p:sp>
        <p:nvSpPr>
          <p:cNvPr id="1224" name="Google Shape;1224;p84"/>
          <p:cNvSpPr txBox="1"/>
          <p:nvPr/>
        </p:nvSpPr>
        <p:spPr>
          <a:xfrm>
            <a:off x="5723467" y="1892808"/>
            <a:ext cx="411480"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7FC6F3"/>
                </a:solidFill>
                <a:latin typeface="Century Schoolbook"/>
                <a:ea typeface="Century Schoolbook"/>
                <a:cs typeface="Century Schoolbook"/>
                <a:sym typeface="Century Schoolbook"/>
              </a:rPr>
              <a:t>2</a:t>
            </a:r>
            <a:endParaRPr sz="1400" b="0" i="0" u="none" strike="noStrike" cap="none">
              <a:solidFill>
                <a:srgbClr val="000000"/>
              </a:solidFill>
              <a:latin typeface="Arial"/>
              <a:ea typeface="Arial"/>
              <a:cs typeface="Arial"/>
              <a:sym typeface="Arial"/>
            </a:endParaRPr>
          </a:p>
        </p:txBody>
      </p:sp>
      <p:sp>
        <p:nvSpPr>
          <p:cNvPr id="1225" name="Google Shape;1225;p84"/>
          <p:cNvSpPr txBox="1"/>
          <p:nvPr/>
        </p:nvSpPr>
        <p:spPr>
          <a:xfrm>
            <a:off x="6134947" y="1929384"/>
            <a:ext cx="2597573" cy="8686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i="0" u="none" strike="noStrike" cap="none">
                <a:solidFill>
                  <a:srgbClr val="EAF1F7"/>
                </a:solidFill>
                <a:latin typeface="Century Schoolbook"/>
                <a:ea typeface="Century Schoolbook"/>
                <a:cs typeface="Century Schoolbook"/>
                <a:sym typeface="Century Schoolbook"/>
              </a:rPr>
              <a:t>Read the report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1000"/>
              <a:buFont typeface="Arial"/>
              <a:buNone/>
            </a:pPr>
            <a:r>
              <a:rPr lang="en-GB" sz="1000" b="0" i="0" u="none" strike="noStrike" cap="none">
                <a:solidFill>
                  <a:srgbClr val="B9C8D8"/>
                </a:solidFill>
                <a:latin typeface="Calibri"/>
                <a:ea typeface="Calibri"/>
                <a:cs typeface="Calibri"/>
                <a:sym typeface="Calibri"/>
              </a:rPr>
              <a:t>Type check passed. 15 elements, 15 methods, all new.</a:t>
            </a:r>
            <a:endParaRPr sz="1400" b="0" i="0" u="none" strike="noStrike" cap="none">
              <a:solidFill>
                <a:srgbClr val="000000"/>
              </a:solidFill>
              <a:latin typeface="Arial"/>
              <a:ea typeface="Arial"/>
              <a:cs typeface="Arial"/>
              <a:sym typeface="Arial"/>
            </a:endParaRPr>
          </a:p>
        </p:txBody>
      </p:sp>
      <p:sp>
        <p:nvSpPr>
          <p:cNvPr id="1226" name="Google Shape;1226;p84"/>
          <p:cNvSpPr txBox="1"/>
          <p:nvPr/>
        </p:nvSpPr>
        <p:spPr>
          <a:xfrm>
            <a:off x="5723467" y="2825496"/>
            <a:ext cx="411480"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7FC6F3"/>
                </a:solidFill>
                <a:latin typeface="Century Schoolbook"/>
                <a:ea typeface="Century Schoolbook"/>
                <a:cs typeface="Century Schoolbook"/>
                <a:sym typeface="Century Schoolbook"/>
              </a:rPr>
              <a:t>3</a:t>
            </a:r>
            <a:endParaRPr sz="1400" b="0" i="0" u="none" strike="noStrike" cap="none">
              <a:solidFill>
                <a:srgbClr val="000000"/>
              </a:solidFill>
              <a:latin typeface="Arial"/>
              <a:ea typeface="Arial"/>
              <a:cs typeface="Arial"/>
              <a:sym typeface="Arial"/>
            </a:endParaRPr>
          </a:p>
        </p:txBody>
      </p:sp>
      <p:sp>
        <p:nvSpPr>
          <p:cNvPr id="1227" name="Google Shape;1227;p84"/>
          <p:cNvSpPr txBox="1"/>
          <p:nvPr/>
        </p:nvSpPr>
        <p:spPr>
          <a:xfrm>
            <a:off x="6134947" y="2862072"/>
            <a:ext cx="2597573" cy="8686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i="0" u="none" strike="noStrike" cap="none">
                <a:solidFill>
                  <a:srgbClr val="EAF1F7"/>
                </a:solidFill>
                <a:latin typeface="Century Schoolbook"/>
                <a:ea typeface="Century Schoolbook"/>
                <a:cs typeface="Century Schoolbook"/>
                <a:sym typeface="Century Schoolbook"/>
              </a:rPr>
              <a:t>Open the page object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1000"/>
              <a:buFont typeface="Arial"/>
              <a:buNone/>
            </a:pPr>
            <a:r>
              <a:rPr lang="en-GB" sz="1000" b="0" i="0" u="none" strike="noStrike" cap="none">
                <a:solidFill>
                  <a:srgbClr val="B9C8D8"/>
                </a:solidFill>
                <a:latin typeface="Calibri"/>
                <a:ea typeface="Calibri"/>
                <a:cs typeface="Calibri"/>
                <a:sym typeface="Calibri"/>
              </a:rPr>
              <a:t>The login (username, password, Login button) is written once, used by all three tests.</a:t>
            </a:r>
            <a:endParaRPr sz="1400" b="0" i="0" u="none" strike="noStrike" cap="none">
              <a:solidFill>
                <a:srgbClr val="000000"/>
              </a:solidFill>
              <a:latin typeface="Arial"/>
              <a:ea typeface="Arial"/>
              <a:cs typeface="Arial"/>
              <a:sym typeface="Arial"/>
            </a:endParaRPr>
          </a:p>
        </p:txBody>
      </p:sp>
      <p:sp>
        <p:nvSpPr>
          <p:cNvPr id="1228" name="Google Shape;1228;p84"/>
          <p:cNvSpPr txBox="1"/>
          <p:nvPr/>
        </p:nvSpPr>
        <p:spPr>
          <a:xfrm>
            <a:off x="5723467" y="3758184"/>
            <a:ext cx="411480"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7FC6F3"/>
                </a:solidFill>
                <a:latin typeface="Century Schoolbook"/>
                <a:ea typeface="Century Schoolbook"/>
                <a:cs typeface="Century Schoolbook"/>
                <a:sym typeface="Century Schoolbook"/>
              </a:rPr>
              <a:t>4</a:t>
            </a:r>
            <a:endParaRPr sz="1400" b="0" i="0" u="none" strike="noStrike" cap="none">
              <a:solidFill>
                <a:srgbClr val="000000"/>
              </a:solidFill>
              <a:latin typeface="Arial"/>
              <a:ea typeface="Arial"/>
              <a:cs typeface="Arial"/>
              <a:sym typeface="Arial"/>
            </a:endParaRPr>
          </a:p>
        </p:txBody>
      </p:sp>
      <p:sp>
        <p:nvSpPr>
          <p:cNvPr id="1229" name="Google Shape;1229;p84"/>
          <p:cNvSpPr txBox="1"/>
          <p:nvPr/>
        </p:nvSpPr>
        <p:spPr>
          <a:xfrm>
            <a:off x="6134947" y="3794760"/>
            <a:ext cx="2597573" cy="8686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i="0" u="none" strike="noStrike" cap="none">
                <a:solidFill>
                  <a:srgbClr val="EAF1F7"/>
                </a:solidFill>
                <a:latin typeface="Century Schoolbook"/>
                <a:ea typeface="Century Schoolbook"/>
                <a:cs typeface="Century Schoolbook"/>
                <a:sym typeface="Century Schoolbook"/>
              </a:rPr>
              <a:t>Sync to GitHub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00"/>
              </a:spcBef>
              <a:spcAft>
                <a:spcPts val="0"/>
              </a:spcAft>
              <a:buClr>
                <a:srgbClr val="000000"/>
              </a:buClr>
              <a:buSzPts val="1000"/>
              <a:buFont typeface="Arial"/>
              <a:buNone/>
            </a:pPr>
            <a:r>
              <a:rPr lang="en-GB" sz="1000" b="0" i="0" u="none" strike="noStrike" cap="none">
                <a:solidFill>
                  <a:srgbClr val="B9C8D8"/>
                </a:solidFill>
                <a:latin typeface="Calibri"/>
                <a:ea typeface="Calibri"/>
                <a:cs typeface="Calibri"/>
                <a:sym typeface="Calibri"/>
              </a:rPr>
              <a:t>All 35 files land as one pull request, reviewed like any code.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34"/>
        <p:cNvGrpSpPr/>
        <p:nvPr/>
      </p:nvGrpSpPr>
      <p:grpSpPr>
        <a:xfrm>
          <a:off x="0" y="0"/>
          <a:ext cx="0" cy="0"/>
          <a:chOff x="0" y="0"/>
          <a:chExt cx="0" cy="0"/>
        </a:xfrm>
      </p:grpSpPr>
      <p:sp>
        <p:nvSpPr>
          <p:cNvPr id="1235" name="Google Shape;1235;p85"/>
          <p:cNvSpPr txBox="1">
            <a:spLocks noGrp="1"/>
          </p:cNvSpPr>
          <p:nvPr>
            <p:ph type="title"/>
          </p:nvPr>
        </p:nvSpPr>
        <p:spPr>
          <a:xfrm>
            <a:off x="480060" y="411480"/>
            <a:ext cx="8195310" cy="630936"/>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EAF1F7"/>
              </a:buClr>
              <a:buSzPts val="1900"/>
              <a:buFont typeface="Century Schoolbook"/>
              <a:buNone/>
            </a:pPr>
            <a:r>
              <a:rPr lang="en-GB" sz="2000" b="1">
                <a:solidFill>
                  <a:srgbClr val="FFFFFF"/>
                </a:solidFill>
                <a:latin typeface="Century Schoolbook"/>
                <a:ea typeface="Century Schoolbook"/>
                <a:cs typeface="Century Schoolbook"/>
                <a:sym typeface="Century Schoolbook"/>
              </a:rPr>
              <a:t>Three things to remember</a:t>
            </a:r>
            <a:endParaRPr sz="1900"/>
          </a:p>
        </p:txBody>
      </p:sp>
      <p:sp>
        <p:nvSpPr>
          <p:cNvPr id="1236" name="Google Shape;1236;p85"/>
          <p:cNvSpPr/>
          <p:nvPr/>
        </p:nvSpPr>
        <p:spPr>
          <a:xfrm>
            <a:off x="457200" y="1097280"/>
            <a:ext cx="2621280" cy="2880360"/>
          </a:xfrm>
          <a:prstGeom prst="roundRect">
            <a:avLst>
              <a:gd name="adj" fmla="val 5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85"/>
          <p:cNvSpPr txBox="1"/>
          <p:nvPr/>
        </p:nvSpPr>
        <p:spPr>
          <a:xfrm>
            <a:off x="685800" y="1261872"/>
            <a:ext cx="914400" cy="7315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400"/>
              <a:buFont typeface="Arial"/>
              <a:buNone/>
            </a:pPr>
            <a:r>
              <a:rPr lang="en-GB" sz="5400" b="1" i="0" u="none" strike="noStrike" cap="none">
                <a:solidFill>
                  <a:srgbClr val="4FB0EA"/>
                </a:solidFill>
                <a:latin typeface="Century Schoolbook"/>
                <a:ea typeface="Century Schoolbook"/>
                <a:cs typeface="Century Schoolbook"/>
                <a:sym typeface="Century Schoolbook"/>
              </a:rPr>
              <a:t>1</a:t>
            </a:r>
            <a:endParaRPr/>
          </a:p>
        </p:txBody>
      </p:sp>
      <p:sp>
        <p:nvSpPr>
          <p:cNvPr id="1238" name="Google Shape;1238;p85"/>
          <p:cNvSpPr txBox="1"/>
          <p:nvPr/>
        </p:nvSpPr>
        <p:spPr>
          <a:xfrm>
            <a:off x="685800" y="2029968"/>
            <a:ext cx="2164080"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Century Schoolbook"/>
                <a:ea typeface="Century Schoolbook"/>
                <a:cs typeface="Century Schoolbook"/>
                <a:sym typeface="Century Schoolbook"/>
              </a:rPr>
              <a:t>Ground it in your docs</a:t>
            </a:r>
            <a:endParaRPr/>
          </a:p>
        </p:txBody>
      </p:sp>
      <p:sp>
        <p:nvSpPr>
          <p:cNvPr id="1239" name="Google Shape;1239;p85"/>
          <p:cNvSpPr txBox="1"/>
          <p:nvPr/>
        </p:nvSpPr>
        <p:spPr>
          <a:xfrm>
            <a:off x="685800" y="2670048"/>
            <a:ext cx="2164080" cy="7132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Without them, Claude can only guess. With them, it waits for the real event.</a:t>
            </a:r>
            <a:endParaRPr/>
          </a:p>
        </p:txBody>
      </p:sp>
      <p:sp>
        <p:nvSpPr>
          <p:cNvPr id="1240" name="Google Shape;1240;p85"/>
          <p:cNvSpPr/>
          <p:nvPr/>
        </p:nvSpPr>
        <p:spPr>
          <a:xfrm>
            <a:off x="685800" y="3502152"/>
            <a:ext cx="2164080" cy="310896"/>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7FC6F3"/>
                </a:solidFill>
                <a:latin typeface="Courier New"/>
                <a:ea typeface="Courier New"/>
                <a:cs typeface="Courier New"/>
                <a:sym typeface="Courier New"/>
              </a:rPr>
              <a:t>a guess  →  “confirmed”</a:t>
            </a:r>
            <a:endParaRPr/>
          </a:p>
        </p:txBody>
      </p:sp>
      <p:sp>
        <p:nvSpPr>
          <p:cNvPr id="1241" name="Google Shape;1241;p85"/>
          <p:cNvSpPr/>
          <p:nvPr/>
        </p:nvSpPr>
        <p:spPr>
          <a:xfrm>
            <a:off x="3261360" y="1097280"/>
            <a:ext cx="2621280" cy="2880360"/>
          </a:xfrm>
          <a:prstGeom prst="roundRect">
            <a:avLst>
              <a:gd name="adj" fmla="val 5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85"/>
          <p:cNvSpPr txBox="1"/>
          <p:nvPr/>
        </p:nvSpPr>
        <p:spPr>
          <a:xfrm>
            <a:off x="3489960" y="1261872"/>
            <a:ext cx="914400" cy="7315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400"/>
              <a:buFont typeface="Arial"/>
              <a:buNone/>
            </a:pPr>
            <a:r>
              <a:rPr lang="en-GB" sz="5400" b="1" i="0" u="none" strike="noStrike" cap="none">
                <a:solidFill>
                  <a:srgbClr val="4FB0EA"/>
                </a:solidFill>
                <a:latin typeface="Century Schoolbook"/>
                <a:ea typeface="Century Schoolbook"/>
                <a:cs typeface="Century Schoolbook"/>
                <a:sym typeface="Century Schoolbook"/>
              </a:rPr>
              <a:t>2</a:t>
            </a:r>
            <a:endParaRPr/>
          </a:p>
        </p:txBody>
      </p:sp>
      <p:sp>
        <p:nvSpPr>
          <p:cNvPr id="1243" name="Google Shape;1243;p85"/>
          <p:cNvSpPr txBox="1"/>
          <p:nvPr/>
        </p:nvSpPr>
        <p:spPr>
          <a:xfrm>
            <a:off x="3489960" y="2029968"/>
            <a:ext cx="2164080"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Century Schoolbook"/>
                <a:ea typeface="Century Schoolbook"/>
                <a:cs typeface="Century Schoolbook"/>
                <a:sym typeface="Century Schoolbook"/>
              </a:rPr>
              <a:t>Write the rules down once</a:t>
            </a:r>
            <a:endParaRPr/>
          </a:p>
        </p:txBody>
      </p:sp>
      <p:sp>
        <p:nvSpPr>
          <p:cNvPr id="1244" name="Google Shape;1244;p85"/>
          <p:cNvSpPr txBox="1"/>
          <p:nvPr/>
        </p:nvSpPr>
        <p:spPr>
          <a:xfrm>
            <a:off x="3489960" y="2670048"/>
            <a:ext cx="2164080" cy="7132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Think first, keep it simple, touch only the task, prove it. One team skill, same quality for everyone.</a:t>
            </a:r>
            <a:endParaRPr/>
          </a:p>
        </p:txBody>
      </p:sp>
      <p:sp>
        <p:nvSpPr>
          <p:cNvPr id="1245" name="Google Shape;1245;p85"/>
          <p:cNvSpPr/>
          <p:nvPr/>
        </p:nvSpPr>
        <p:spPr>
          <a:xfrm>
            <a:off x="3489960" y="3502152"/>
            <a:ext cx="2164080" cy="310896"/>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7FC6F3"/>
                </a:solidFill>
                <a:latin typeface="Courier New"/>
                <a:ea typeface="Courier New"/>
                <a:cs typeface="Courier New"/>
                <a:sym typeface="Courier New"/>
              </a:rPr>
              <a:t>/fix-flaky</a:t>
            </a:r>
            <a:endParaRPr/>
          </a:p>
        </p:txBody>
      </p:sp>
      <p:sp>
        <p:nvSpPr>
          <p:cNvPr id="1246" name="Google Shape;1246;p85"/>
          <p:cNvSpPr/>
          <p:nvPr/>
        </p:nvSpPr>
        <p:spPr>
          <a:xfrm>
            <a:off x="6065520" y="1097280"/>
            <a:ext cx="2621280" cy="2880360"/>
          </a:xfrm>
          <a:prstGeom prst="roundRect">
            <a:avLst>
              <a:gd name="adj" fmla="val 5000"/>
            </a:avLst>
          </a:prstGeom>
          <a:solidFill>
            <a:srgbClr val="0A131E"/>
          </a:solidFill>
          <a:ln w="9525" cap="flat" cmpd="sng">
            <a:solidFill>
              <a:srgbClr val="1E3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85"/>
          <p:cNvSpPr txBox="1"/>
          <p:nvPr/>
        </p:nvSpPr>
        <p:spPr>
          <a:xfrm>
            <a:off x="6294120" y="1261872"/>
            <a:ext cx="914400" cy="7315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400"/>
              <a:buFont typeface="Arial"/>
              <a:buNone/>
            </a:pPr>
            <a:r>
              <a:rPr lang="en-GB" sz="5400" b="1" i="0" u="none" strike="noStrike" cap="none">
                <a:solidFill>
                  <a:srgbClr val="4FB0EA"/>
                </a:solidFill>
                <a:latin typeface="Century Schoolbook"/>
                <a:ea typeface="Century Schoolbook"/>
                <a:cs typeface="Century Schoolbook"/>
                <a:sym typeface="Century Schoolbook"/>
              </a:rPr>
              <a:t>3</a:t>
            </a:r>
            <a:endParaRPr/>
          </a:p>
        </p:txBody>
      </p:sp>
      <p:sp>
        <p:nvSpPr>
          <p:cNvPr id="1248" name="Google Shape;1248;p85"/>
          <p:cNvSpPr txBox="1"/>
          <p:nvPr/>
        </p:nvSpPr>
        <p:spPr>
          <a:xfrm>
            <a:off x="6294120" y="2029968"/>
            <a:ext cx="2164080"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Century Schoolbook"/>
                <a:ea typeface="Century Schoolbook"/>
                <a:cs typeface="Century Schoolbook"/>
                <a:sym typeface="Century Schoolbook"/>
              </a:rPr>
              <a:t>Keep a human on the last mile</a:t>
            </a:r>
            <a:endParaRPr/>
          </a:p>
        </p:txBody>
      </p:sp>
      <p:sp>
        <p:nvSpPr>
          <p:cNvPr id="1249" name="Google Shape;1249;p85"/>
          <p:cNvSpPr txBox="1"/>
          <p:nvPr/>
        </p:nvSpPr>
        <p:spPr>
          <a:xfrm>
            <a:off x="6294120" y="2670048"/>
            <a:ext cx="2164080" cy="7132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GB" sz="1150" b="0" i="0" u="none" strike="noStrike" cap="none">
                <a:solidFill>
                  <a:srgbClr val="93A9C0"/>
                </a:solidFill>
                <a:latin typeface="Calibri"/>
                <a:ea typeface="Calibri"/>
                <a:cs typeface="Calibri"/>
                <a:sym typeface="Calibri"/>
              </a:rPr>
              <a:t>Rules and fixes go through pull requests. Ask for evidence, not “done”.</a:t>
            </a:r>
            <a:endParaRPr/>
          </a:p>
        </p:txBody>
      </p:sp>
      <p:sp>
        <p:nvSpPr>
          <p:cNvPr id="1250" name="Google Shape;1250;p85"/>
          <p:cNvSpPr/>
          <p:nvPr/>
        </p:nvSpPr>
        <p:spPr>
          <a:xfrm>
            <a:off x="6294120" y="3502152"/>
            <a:ext cx="2164080" cy="310896"/>
          </a:xfrm>
          <a:prstGeom prst="roundRect">
            <a:avLst>
              <a:gd name="adj" fmla="val 50000"/>
            </a:avLst>
          </a:prstGeom>
          <a:solidFill>
            <a:srgbClr val="06223A"/>
          </a:solidFill>
          <a:ln w="9525" cap="flat" cmpd="sng">
            <a:solidFill>
              <a:srgbClr val="0272B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7FC6F3"/>
                </a:solidFill>
                <a:latin typeface="Courier New"/>
                <a:ea typeface="Courier New"/>
                <a:cs typeface="Courier New"/>
                <a:sym typeface="Courier New"/>
              </a:rPr>
              <a:t>20/20  ·  reviewed PR</a:t>
            </a:r>
            <a:endParaRPr/>
          </a:p>
        </p:txBody>
      </p:sp>
      <p:sp>
        <p:nvSpPr>
          <p:cNvPr id="1251" name="Google Shape;1251;p85"/>
          <p:cNvSpPr txBox="1"/>
          <p:nvPr/>
        </p:nvSpPr>
        <p:spPr>
          <a:xfrm>
            <a:off x="457200" y="4160520"/>
            <a:ext cx="8229600" cy="4114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1" u="none" strike="noStrike" cap="none">
                <a:solidFill>
                  <a:srgbClr val="7FC6F3"/>
                </a:solidFill>
                <a:latin typeface="Century Schoolbook"/>
                <a:ea typeface="Century Schoolbook"/>
                <a:cs typeface="Century Schoolbook"/>
                <a:sym typeface="Century Schoolbook"/>
              </a:rPr>
              <a:t>Speed is easy. Reliability is the real challenge.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56"/>
        <p:cNvGrpSpPr/>
        <p:nvPr/>
      </p:nvGrpSpPr>
      <p:grpSpPr>
        <a:xfrm>
          <a:off x="0" y="0"/>
          <a:ext cx="0" cy="0"/>
          <a:chOff x="0" y="0"/>
          <a:chExt cx="0" cy="0"/>
        </a:xfrm>
      </p:grpSpPr>
      <p:pic>
        <p:nvPicPr>
          <p:cNvPr id="1257" name="Google Shape;1257;p86" descr="/home/claude/work/assets/clappy_grad.png"/>
          <p:cNvPicPr preferRelativeResize="0"/>
          <p:nvPr/>
        </p:nvPicPr>
        <p:blipFill rotWithShape="1">
          <a:blip r:embed="rId3">
            <a:alphaModFix/>
          </a:blip>
          <a:srcRect/>
          <a:stretch/>
        </p:blipFill>
        <p:spPr>
          <a:xfrm>
            <a:off x="6652260" y="1024128"/>
            <a:ext cx="1988820" cy="2187702"/>
          </a:xfrm>
          <a:prstGeom prst="rect">
            <a:avLst/>
          </a:prstGeom>
          <a:noFill/>
          <a:ln>
            <a:noFill/>
          </a:ln>
        </p:spPr>
      </p:pic>
      <p:sp>
        <p:nvSpPr>
          <p:cNvPr id="1258" name="Google Shape;1258;p86"/>
          <p:cNvSpPr txBox="1"/>
          <p:nvPr/>
        </p:nvSpPr>
        <p:spPr>
          <a:xfrm>
            <a:off x="548640" y="1097280"/>
            <a:ext cx="5486400" cy="7543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3900"/>
              <a:buFont typeface="Century Schoolbook"/>
              <a:buNone/>
            </a:pPr>
            <a:r>
              <a:rPr lang="en-GB" sz="3900" b="1" i="0" u="none" strike="noStrike" cap="none">
                <a:solidFill>
                  <a:srgbClr val="EAF1F7"/>
                </a:solidFill>
                <a:latin typeface="Century Schoolbook"/>
                <a:ea typeface="Century Schoolbook"/>
                <a:cs typeface="Century Schoolbook"/>
                <a:sym typeface="Century Schoolbook"/>
              </a:rPr>
              <a:t>Questions?</a:t>
            </a:r>
            <a:endParaRPr sz="3900" b="0" i="0" u="none" strike="noStrike" cap="none">
              <a:solidFill>
                <a:schemeClr val="dk1"/>
              </a:solidFill>
              <a:latin typeface="Calibri"/>
              <a:ea typeface="Calibri"/>
              <a:cs typeface="Calibri"/>
              <a:sym typeface="Calibri"/>
            </a:endParaRPr>
          </a:p>
        </p:txBody>
      </p:sp>
      <p:sp>
        <p:nvSpPr>
          <p:cNvPr id="1259" name="Google Shape;1259;p86"/>
          <p:cNvSpPr txBox="1"/>
          <p:nvPr/>
        </p:nvSpPr>
        <p:spPr>
          <a:xfrm>
            <a:off x="562356" y="2057400"/>
            <a:ext cx="5349240" cy="685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93A9C0"/>
              </a:buClr>
              <a:buSzPts val="1400"/>
              <a:buFont typeface="Calibri"/>
              <a:buNone/>
            </a:pPr>
            <a:r>
              <a:rPr lang="en-GB" sz="1400" b="0" i="0" u="none" strike="noStrike" cap="none">
                <a:solidFill>
                  <a:srgbClr val="93A9C0"/>
                </a:solidFill>
                <a:latin typeface="Calibri"/>
                <a:ea typeface="Calibri"/>
                <a:cs typeface="Calibri"/>
                <a:sym typeface="Calibri"/>
              </a:rPr>
              <a:t>Set it up, connect it to your app and your knowledge, give it rules, and keep a human in the loop.</a:t>
            </a:r>
            <a:endParaRPr sz="1400" b="0" i="0" u="none" strike="noStrike" cap="none">
              <a:solidFill>
                <a:schemeClr val="dk1"/>
              </a:solidFill>
              <a:latin typeface="Calibri"/>
              <a:ea typeface="Calibri"/>
              <a:cs typeface="Calibri"/>
              <a:sym typeface="Calibri"/>
            </a:endParaRPr>
          </a:p>
        </p:txBody>
      </p:sp>
      <p:cxnSp>
        <p:nvCxnSpPr>
          <p:cNvPr id="1260" name="Google Shape;1260;p86"/>
          <p:cNvCxnSpPr/>
          <p:nvPr/>
        </p:nvCxnSpPr>
        <p:spPr>
          <a:xfrm>
            <a:off x="562356" y="3086100"/>
            <a:ext cx="5212080" cy="0"/>
          </a:xfrm>
          <a:prstGeom prst="straightConnector1">
            <a:avLst/>
          </a:prstGeom>
          <a:noFill/>
          <a:ln w="19050" cap="flat" cmpd="sng">
            <a:solidFill>
              <a:srgbClr val="1E3044"/>
            </a:solidFill>
            <a:prstDash val="solid"/>
            <a:round/>
            <a:headEnd type="none" w="sm" len="sm"/>
            <a:tailEnd type="none" w="sm" len="sm"/>
          </a:ln>
        </p:spPr>
      </p:cxnSp>
      <p:sp>
        <p:nvSpPr>
          <p:cNvPr id="1261" name="Google Shape;1261;p86"/>
          <p:cNvSpPr txBox="1"/>
          <p:nvPr/>
        </p:nvSpPr>
        <p:spPr>
          <a:xfrm>
            <a:off x="562356" y="3223260"/>
            <a:ext cx="6172200"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EAF1F7"/>
              </a:buClr>
              <a:buSzPts val="1200"/>
              <a:buFont typeface="Calibri"/>
              <a:buNone/>
            </a:pPr>
            <a:r>
              <a:rPr lang="en-GB" sz="1200" b="1" i="0" u="none" strike="noStrike" cap="none">
                <a:solidFill>
                  <a:srgbClr val="EAF1F7"/>
                </a:solidFill>
                <a:latin typeface="Calibri"/>
                <a:ea typeface="Calibri"/>
                <a:cs typeface="Calibri"/>
                <a:sym typeface="Calibri"/>
              </a:rPr>
              <a:t>Adonis Celestine</a:t>
            </a:r>
            <a:r>
              <a:rPr lang="en-GB" sz="1150" b="0" i="0" u="none" strike="noStrike" cap="none">
                <a:solidFill>
                  <a:srgbClr val="93A9C0"/>
                </a:solidFill>
                <a:latin typeface="Calibri"/>
                <a:ea typeface="Calibri"/>
                <a:cs typeface="Calibri"/>
                <a:sym typeface="Calibri"/>
              </a:rPr>
              <a:t>   Global Head of Automation, Applause</a:t>
            </a:r>
            <a:endParaRPr sz="1200" b="0" i="0" u="none" strike="noStrike" cap="none">
              <a:solidFill>
                <a:schemeClr val="dk1"/>
              </a:solidFill>
              <a:latin typeface="Calibri"/>
              <a:ea typeface="Calibri"/>
              <a:cs typeface="Calibri"/>
              <a:sym typeface="Calibri"/>
            </a:endParaRPr>
          </a:p>
        </p:txBody>
      </p:sp>
      <p:sp>
        <p:nvSpPr>
          <p:cNvPr id="1262" name="Google Shape;1262;p86"/>
          <p:cNvSpPr txBox="1"/>
          <p:nvPr/>
        </p:nvSpPr>
        <p:spPr>
          <a:xfrm>
            <a:off x="562356" y="3497580"/>
            <a:ext cx="6172200"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3A9C0"/>
              </a:buClr>
              <a:buSzPts val="1100"/>
              <a:buFont typeface="Calibri"/>
              <a:buNone/>
            </a:pPr>
            <a:r>
              <a:rPr lang="en-GB" sz="1200" b="1" i="0" u="none" strike="noStrike" cap="none">
                <a:solidFill>
                  <a:srgbClr val="EAF1F7"/>
                </a:solidFill>
                <a:latin typeface="Calibri"/>
                <a:ea typeface="Calibri"/>
                <a:cs typeface="Calibri"/>
                <a:sym typeface="Calibri"/>
              </a:rPr>
              <a:t>Taras Lytvyn</a:t>
            </a:r>
            <a:r>
              <a:rPr lang="en-GB" sz="1150" b="0" i="0" u="none" strike="noStrike" cap="none">
                <a:solidFill>
                  <a:srgbClr val="93A9C0"/>
                </a:solidFill>
                <a:latin typeface="Calibri"/>
                <a:ea typeface="Calibri"/>
                <a:cs typeface="Calibri"/>
                <a:sym typeface="Calibri"/>
              </a:rPr>
              <a:t>   AI-first Test Automation Architect, Lead SDET, Applause</a:t>
            </a:r>
            <a:endParaRPr sz="1100" b="0" i="0" u="none" strike="noStrike" cap="none">
              <a:solidFill>
                <a:schemeClr val="dk1"/>
              </a:solidFill>
              <a:latin typeface="Calibri"/>
              <a:ea typeface="Calibri"/>
              <a:cs typeface="Calibri"/>
              <a:sym typeface="Calibri"/>
            </a:endParaRPr>
          </a:p>
        </p:txBody>
      </p:sp>
      <p:sp>
        <p:nvSpPr>
          <p:cNvPr id="1263" name="Google Shape;1263;p86"/>
          <p:cNvSpPr txBox="1"/>
          <p:nvPr/>
        </p:nvSpPr>
        <p:spPr>
          <a:xfrm>
            <a:off x="562356" y="4046220"/>
            <a:ext cx="6309360"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272B4"/>
              </a:buClr>
              <a:buSzPts val="1000"/>
              <a:buFont typeface="Calibri"/>
              <a:buNone/>
            </a:pPr>
            <a:r>
              <a:rPr lang="en-GB" sz="1000" b="0" i="0" u="none" strike="noStrike" cap="none">
                <a:solidFill>
                  <a:srgbClr val="4FB0EA"/>
                </a:solidFill>
                <a:latin typeface="Calibri"/>
                <a:ea typeface="Calibri"/>
                <a:cs typeface="Calibri"/>
                <a:sym typeface="Calibri"/>
              </a:rPr>
              <a:t>code.claude.com/docs</a:t>
            </a:r>
            <a:r>
              <a:rPr lang="en-GB" sz="1000" b="0" i="0" u="none" strike="noStrike" cap="none">
                <a:solidFill>
                  <a:srgbClr val="93A9C0"/>
                </a:solidFill>
                <a:latin typeface="Calibri"/>
                <a:ea typeface="Calibri"/>
                <a:cs typeface="Calibri"/>
                <a:sym typeface="Calibri"/>
              </a:rPr>
              <a:t>   ·   github.com/multica-ai/andrej-karpathy-skills   ·   </a:t>
            </a:r>
            <a:r>
              <a:rPr lang="en-GB" sz="1000" b="0" i="0" u="none" strike="noStrike" cap="none">
                <a:solidFill>
                  <a:srgbClr val="4FB0EA"/>
                </a:solidFill>
                <a:latin typeface="Calibri"/>
                <a:ea typeface="Calibri"/>
                <a:cs typeface="Calibri"/>
                <a:sym typeface="Calibri"/>
              </a:rPr>
              <a:t>qaskills.sh</a:t>
            </a:r>
            <a:endParaRPr sz="1000" b="0" i="0" u="none" strike="noStrike" cap="none">
              <a:solidFill>
                <a:schemeClr val="dk1"/>
              </a:solidFill>
              <a:latin typeface="Calibri"/>
              <a:ea typeface="Calibri"/>
              <a:cs typeface="Calibri"/>
              <a:sym typeface="Calibri"/>
            </a:endParaRPr>
          </a:p>
        </p:txBody>
      </p:sp>
      <p:pic>
        <p:nvPicPr>
          <p:cNvPr id="1264" name="Picture 1263" descr="qr-repo.png"/>
          <p:cNvPicPr>
            <a:picLocks noChangeAspect="1"/>
          </p:cNvPicPr>
          <p:nvPr/>
        </p:nvPicPr>
        <p:blipFill>
          <a:blip r:embed="rId4"/>
          <a:stretch>
            <a:fillRect/>
          </a:stretch>
        </p:blipFill>
        <p:spPr>
          <a:xfrm>
            <a:off x="7616952" y="3639312"/>
            <a:ext cx="914400" cy="914400"/>
          </a:xfrm>
          <a:prstGeom prst="rect">
            <a:avLst/>
          </a:prstGeom>
        </p:spPr>
      </p:pic>
      <p:sp>
        <p:nvSpPr>
          <p:cNvPr id="1265" name="TextBox 1264"/>
          <p:cNvSpPr txBox="1"/>
          <p:nvPr/>
        </p:nvSpPr>
        <p:spPr>
          <a:xfrm>
            <a:off x="6309360" y="4590288"/>
            <a:ext cx="2331720" cy="228600"/>
          </a:xfrm>
          <a:prstGeom prst="rect">
            <a:avLst/>
          </a:prstGeom>
          <a:noFill/>
        </p:spPr>
        <p:txBody>
          <a:bodyPr wrap="square" lIns="0" rIns="0" tIns="0" bIns="0" anchor="t">
            <a:spAutoFit/>
          </a:bodyPr>
          <a:lstStyle/>
          <a:p>
            <a:pPr algn="r"/>
            <a:r>
              <a:rPr sz="900" b="1" i="0">
                <a:solidFill>
                  <a:srgbClr val="EAF1F6"/>
                </a:solidFill>
                <a:latin typeface="Calibri"/>
              </a:rPr>
              <a:t>Slides, code, RAG setup</a:t>
            </a:r>
          </a:p>
        </p:txBody>
      </p:sp>
      <p:sp>
        <p:nvSpPr>
          <p:cNvPr id="1266" name="TextBox 1265"/>
          <p:cNvSpPr txBox="1"/>
          <p:nvPr/>
        </p:nvSpPr>
        <p:spPr>
          <a:xfrm>
            <a:off x="5852160" y="4773168"/>
            <a:ext cx="2788920" cy="228600"/>
          </a:xfrm>
          <a:prstGeom prst="rect">
            <a:avLst/>
          </a:prstGeom>
          <a:noFill/>
        </p:spPr>
        <p:txBody>
          <a:bodyPr wrap="square" lIns="0" rIns="0" tIns="0" bIns="0" anchor="t">
            <a:spAutoFit/>
          </a:bodyPr>
          <a:lstStyle/>
          <a:p>
            <a:pPr algn="r"/>
            <a:r>
              <a:rPr sz="850" b="0" i="0">
                <a:solidFill>
                  <a:srgbClr val="8FA0AE"/>
                </a:solidFill>
                <a:latin typeface="Calibri"/>
              </a:rPr>
              <a:t>github.com/ApplauseAuto/testcon-ai-cc-demo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12158</Words>
  <Application>Microsoft Macintosh PowerPoint</Application>
  <PresentationFormat>On-screen Show (16:9)</PresentationFormat>
  <Paragraphs>1200</Paragraphs>
  <Slides>64</Slides>
  <Notes>64</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64</vt:i4>
      </vt:variant>
    </vt:vector>
  </HeadingPairs>
  <TitlesOfParts>
    <vt:vector size="79" baseType="lpstr">
      <vt:lpstr>Century Schoolbook</vt:lpstr>
      <vt:lpstr>Roboto Mono</vt:lpstr>
      <vt:lpstr>Arial</vt:lpstr>
      <vt:lpstr>Plus Jakarta Sans</vt:lpstr>
      <vt:lpstr>Courier New</vt:lpstr>
      <vt:lpstr>Trebuchet MS</vt:lpstr>
      <vt:lpstr>JetBrains Mono</vt:lpstr>
      <vt:lpstr>Calibri</vt:lpstr>
      <vt:lpstr>Simple Light</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Why we chose Claude Code for test automation </vt:lpstr>
      <vt:lpstr>Three commands. Your own cloud.</vt:lpstr>
      <vt:lpstr>PowerPoint Presentation</vt:lpstr>
      <vt:lpstr>Context</vt:lpstr>
      <vt:lpstr>Memory</vt:lpstr>
      <vt:lpstr>PowerPoint Presentation</vt:lpstr>
      <vt:lpstr>Example building block: MCP</vt:lpstr>
      <vt:lpstr>Example building block: Skills and Sub Agents</vt:lpstr>
      <vt:lpstr>Best practices</vt:lpstr>
      <vt:lpstr>Inside RAG: how it finds the right page</vt:lpstr>
      <vt:lpstr>PowerPoint Presentation</vt:lpstr>
      <vt:lpstr>/karpathy-guidelines: one file, four rules</vt:lpstr>
      <vt:lpstr>Problem 1 — Wrong Assumptions</vt:lpstr>
      <vt:lpstr>Problem 2 — Over Complication</vt:lpstr>
      <vt:lpstr>Problem 3 — Collateral Damage</vt:lpstr>
      <vt:lpstr>Problem 4 — “Done” without proof</vt:lpstr>
      <vt:lpstr>Real Problems - Real Solutions</vt:lpstr>
      <vt:lpstr>PowerPoint Presentation</vt:lpstr>
      <vt:lpstr>Step 1: Start with a good project structure</vt:lpstr>
      <vt:lpstr>Step 2: without your docs, Claude can only guess</vt:lpstr>
      <vt:lpstr>One more layer: the karpathy rules + your team's knowledge</vt:lpstr>
      <vt:lpstr>Step 3: write the four rules down once, as a team skill</vt:lpstr>
      <vt:lpstr>Step 6: four testers, four Claudes, one repo</vt:lpstr>
      <vt:lpstr>The result: the fix waits for the real event, not a number</vt:lpstr>
      <vt:lpstr>Talk is Cheap, Show me the code</vt:lpstr>
      <vt:lpstr>PowerPoint Presentation</vt:lpstr>
      <vt:lpstr>When the login page changes, how many places do you fix?</vt:lpstr>
      <vt:lpstr>How Clappy builds the framework</vt:lpstr>
      <vt:lpstr>Live demo: one click in our test platform</vt:lpstr>
      <vt:lpstr>Three things to remember</vt:lpstr>
      <vt:lpstr>PowerPoint Presentation</vt:lpstr>
      <vt:lpstr>PowerPoint Presentation</vt:lpstr>
      <vt:lpstr>Our plan for the next 45 minutes</vt:lpstr>
      <vt:lpstr>Signal in the noise</vt:lpstr>
      <vt:lpstr>Why we chose Claude Code for test automation </vt:lpstr>
      <vt:lpstr>Setup, and why companies run it on their own cloud</vt:lpstr>
      <vt:lpstr>PowerPoint Presentation</vt:lpstr>
      <vt:lpstr>The Foundation - Context</vt:lpstr>
      <vt:lpstr>The Foundation - Memory</vt:lpstr>
      <vt:lpstr>PowerPoint Presentation</vt:lpstr>
      <vt:lpstr>Skills and Sub Agents in Practice</vt:lpstr>
      <vt:lpstr>MCP: plug Claude into your tools, and when a CLI is better</vt:lpstr>
      <vt:lpstr>PowerPoint Presentation</vt:lpstr>
      <vt:lpstr>PowerPoint Presentation</vt:lpstr>
      <vt:lpstr>Set it up once per project</vt:lpstr>
      <vt:lpstr>/karpathy-guidelines on a real project</vt:lpstr>
      <vt:lpstr>Real Problems - Real Solutions</vt:lpstr>
      <vt:lpstr>PowerPoint Presentation</vt:lpstr>
      <vt:lpstr>Step 1: Start with a good project structure</vt:lpstr>
      <vt:lpstr>Step 2: without your docs, Claude guesses a number</vt:lpstr>
      <vt:lpstr>Step 3: write the four rules down once, as a team skill</vt:lpstr>
      <vt:lpstr>Step 6: four testers, four Claudes, one repo</vt:lpstr>
      <vt:lpstr>The result: the fix waits for the real event, not a number</vt:lpstr>
      <vt:lpstr>Talk is Cheap, Show me the code</vt:lpstr>
      <vt:lpstr>PowerPoint Presentation</vt:lpstr>
      <vt:lpstr>When the login page changes, how many places do you fix?</vt:lpstr>
      <vt:lpstr>How Clappy builds the framework</vt:lpstr>
      <vt:lpstr>Live demo: one click in our test platform</vt:lpstr>
      <vt:lpstr>Your first week with Claude Code in QA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Taras Lytvyn</cp:lastModifiedBy>
  <cp:revision>1</cp:revision>
  <dcterms:modified xsi:type="dcterms:W3CDTF">2026-10-18T21:01:28Z</dcterms:modified>
</cp:coreProperties>
</file>