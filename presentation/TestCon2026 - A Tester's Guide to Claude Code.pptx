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4.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 id="2147483682" r:id="rId4"/>
    <p:sldMasterId id="2147483683" r:id="rId5"/>
  </p:sldMasterIdLst>
  <p:notesMasterIdLst>
    <p:notesMasterId r:id="rId4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x="9144000" cy="5143500" type="screen16x9"/>
  <p:notesSz cx="6858000" cy="9144000"/>
  <p:embeddedFontLst>
    <p:embeddedFont>
      <p:font typeface="Century Schoolbook" panose="02040604050505020304" pitchFamily="18" charset="0"/>
      <p:regular r:id="rId42"/>
      <p:bold r:id="rId43"/>
      <p:italic r:id="rId44"/>
      <p:boldItalic r:id="rId45"/>
    </p:embeddedFont>
    <p:embeddedFont>
      <p:font typeface="Roboto Mono" pitchFamily="49" charset="0"/>
      <p:regular r:id="rId46"/>
      <p:bold r:id="rId47"/>
      <p:italic r:id="rId48"/>
      <p:bold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70"/>
  </p:normalViewPr>
  <p:slideViewPr>
    <p:cSldViewPr snapToGrid="0">
      <p:cViewPr>
        <p:scale>
          <a:sx n="170" d="100"/>
          <a:sy n="170" d="100"/>
        </p:scale>
        <p:origin x="152" y="13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presProps" Target="presProp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font" Target="fonts/font4.fntdata"/><Relationship Id="rId53" Type="http://schemas.openxmlformats.org/officeDocument/2006/relationships/tableStyles" Target="tableStyles.xml"/><Relationship Id="rId5" Type="http://schemas.openxmlformats.org/officeDocument/2006/relationships/slideMaster" Target="slideMasters/slideMaster5.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font" Target="fonts/font3.fntdata"/><Relationship Id="rId52"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2.fntdata"/><Relationship Id="rId48" Type="http://schemas.openxmlformats.org/officeDocument/2006/relationships/font" Target="fonts/font7.fntdata"/><Relationship Id="rId8" Type="http://schemas.openxmlformats.org/officeDocument/2006/relationships/slide" Target="slides/slide3.xml"/><Relationship Id="rId51"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font" Target="fonts/font5.fntdata"/><Relationship Id="rId20" Type="http://schemas.openxmlformats.org/officeDocument/2006/relationships/slide" Target="slides/slide15.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h35953e9de3707d69_3_6: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h35953e9de3707d69_3_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6" name="Google Shape;146;h35953e9de3707d69_3_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GB"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h7ee05df5ac386ef9_1_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6" name="Google Shape;156;h7ee05df5ac386ef9_1_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Quick intros, 30 seconds each. Adonis: automation practice and the book. Taras: builds AI-first test frameworks day to day, and built Clappy. Then one line on Applause and its crowd.</a:t>
            </a:r>
            <a:endParaRPr/>
          </a:p>
        </p:txBody>
      </p:sp>
      <p:sp>
        <p:nvSpPr>
          <p:cNvPr id="157" name="Google Shape;157;h7ee05df5ac386ef9_1_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h7ee05df5ac386ef9_1_36: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9" name="Google Shape;179;h7ee05df5ac386ef9_1_3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Audience moment. Ask the room: who is Claude named after? Let them shout guesses and wait a beat before you click. If nobody gets it, give the hint: 1948, the year a paper started the information age.</a:t>
            </a:r>
            <a:endParaRPr/>
          </a:p>
        </p:txBody>
      </p:sp>
      <p:sp>
        <p:nvSpPr>
          <p:cNvPr id="180" name="Google Shape;180;h7ee05df5ac386ef9_1_3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h7ee05df5ac386ef9_1_61: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7" name="Google Shape;187;h7ee05df5ac386ef9_1_61: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88" name="Google Shape;188;h7ee05df5ac386ef9_1_61: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h7ee05df5ac386ef9_1_11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2" name="Google Shape;242;h7ee05df5ac386ef9_1_11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no personal API keys. Your data: on Bedrock only AWS sees it, Anthropic has no access. One bill: on your AWS, Google Cloud or Azure invoice, split by team. Your region: you choose it, and every call is logged. Same Claude Code, one setting: CLAUDE_CODE_USE_BEDROCK=1 (or _VERTEX, _FOUNDRY). Caveat to say out loud: some features stay Anthropic-only, e.g. web search on Bedrock.</a:t>
            </a:r>
            <a:endParaRPr/>
          </a:p>
        </p:txBody>
      </p:sp>
      <p:sp>
        <p:nvSpPr>
          <p:cNvPr id="243" name="Google Shape;243;h7ee05df5ac386ef9_1_11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h7ee05df5ac386ef9_1_15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8" name="Google Shape;278;h7ee05df5ac386ef9_1_15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279" name="Google Shape;279;h7ee05df5ac386ef9_1_15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h7ee05df5ac386ef9_1_208: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8" name="Google Shape;338;h7ee05df5ac386ef9_1_20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Tools in full: caveman gives terse replies and fewer tokens; caveman-compress shrinks CLAUDE.md. Context7 serves current library docs, so you get correct Playwright/Appium syntax for your version. Serena finds code by symbol instead of reading whole files. Repomix packs a repo into one AI-friendly file with token counts.</a:t>
            </a:r>
            <a:endParaRPr/>
          </a:p>
          <a:p>
            <a:pPr marL="0" lvl="0" indent="0" algn="l" rtl="0">
              <a:lnSpc>
                <a:spcPct val="105000"/>
              </a:lnSpc>
              <a:spcBef>
                <a:spcPts val="0"/>
              </a:spcBef>
              <a:spcAft>
                <a:spcPts val="0"/>
              </a:spcAft>
              <a:buClr>
                <a:srgbClr val="E6B15E"/>
              </a:buClr>
              <a:buSzPts val="900"/>
              <a:buFont typeface="Calibri"/>
              <a:buNone/>
            </a:pPr>
            <a:r>
              <a:rPr lang="en-GB" sz="900" b="1">
                <a:solidFill>
                  <a:schemeClr val="dk1"/>
                </a:solidFill>
                <a:latin typeface="Calibri"/>
                <a:ea typeface="Calibri"/>
                <a:cs typeface="Calibri"/>
                <a:sym typeface="Calibri"/>
              </a:rPr>
              <a:t>For QA: </a:t>
            </a:r>
            <a:r>
              <a:rPr lang="en-GB" sz="900">
                <a:solidFill>
                  <a:schemeClr val="dk1"/>
                </a:solidFill>
                <a:latin typeface="Calibri"/>
                <a:ea typeface="Calibri"/>
                <a:cs typeface="Calibri"/>
                <a:sym typeface="Calibri"/>
              </a:rPr>
              <a:t>a 5,000-line test log pasted into chat eats your context, filter it first, or let a subagent read it.</a:t>
            </a:r>
            <a:endParaRPr sz="1200">
              <a:solidFill>
                <a:schemeClr val="dk1"/>
              </a:solidFill>
              <a:latin typeface="Arial"/>
              <a:ea typeface="Arial"/>
              <a:cs typeface="Arial"/>
              <a:sym typeface="Arial"/>
            </a:endParaRPr>
          </a:p>
        </p:txBody>
      </p:sp>
      <p:sp>
        <p:nvSpPr>
          <p:cNvPr id="339" name="Google Shape;339;h7ee05df5ac386ef9_1_20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h7ee05df5ac386ef9_1_242: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2" name="Google Shape;372;h7ee05df5ac386ef9_1_24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Tools in full: claude-mem is a searchable history of past sessions; it remembers last week's flaky-test causes, and we use it daily. mem0 is a long-term memory layer for agents: known defects, test-data rules, also for your own QA agents. basic-memory keeps notes as plain Markdown you can review and version next to the test repo. (Repomix moved to the Context slide only.)</a:t>
            </a:r>
            <a:endParaRPr/>
          </a:p>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373" name="Google Shape;373;h7ee05df5ac386ef9_1_24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h7ee05df5ac386ef9_1_3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04" name="Google Shape;404;h7ee05df5ac386ef9_1_3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h7ee05df5ac386ef9_1_418: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9" name="Google Shape;479;h7ee05df5ac386ef9_1_41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CLI vs MCP in full: use a CLI or script when the job is deterministic (run tests, lint, parse logs), when it must run the same way in CI, when a good CLI already exists (gh, aws, playwright-cli), and when the output is big, so filter it before Claude reads it. Use MCP when the agent needs live state across steps such as a browser session, when the work is exploratory and the next step depends on what it sees, when it is a hosted service with login (OAuth) like Jira or test management, and when there is no shell, as in chat apps and IDE panels.</a:t>
            </a:r>
            <a:endParaRPr/>
          </a:p>
          <a:p>
            <a:pPr marL="0" lvl="0" indent="0" algn="l" rtl="0">
              <a:lnSpc>
                <a:spcPct val="100000"/>
              </a:lnSpc>
              <a:spcBef>
                <a:spcPts val="0"/>
              </a:spcBef>
              <a:spcAft>
                <a:spcPts val="0"/>
              </a:spcAft>
              <a:buSzPts val="1100"/>
              <a:buNone/>
            </a:pPr>
            <a:r>
              <a:rPr lang="en-GB" sz="1100"/>
              <a:t>Token cost, MCP vs CLI: on the same browser task, Microsoft's benchmark (as reported by TestDino) measured roughly 114,000 tokens with Playwright MCP and about 27,000 with Playwright CLI, about 4x fewer. Why: MCP loads all its tool definitions up front and sends the page's accessibility snapshot back into the context after every action. The CLI (@playwright/cli, separate repo microsoft/playwright-cli) writes snapshots to files on disk, and Claude reads only what it needs. Microsoft's Playwright MCP README now says coding agents increasingly favour CLI plus skills; MCP stays useful for agents with no shell and long exploratory loops. Your numbers depend on the pages and the length of the session.</a:t>
            </a:r>
            <a:endParaRPr/>
          </a:p>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480" name="Google Shape;480;h7ee05df5ac386ef9_1_41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h7ee05df5ac386ef9_1_474: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6" name="Google Shape;536;h7ee05df5ac386ef9_1_47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7FC6F3"/>
              </a:buClr>
              <a:buSzPts val="900"/>
              <a:buFont typeface="Calibri"/>
              <a:buNone/>
            </a:pPr>
            <a:r>
              <a:rPr lang="en-GB" sz="900" b="1">
                <a:solidFill>
                  <a:schemeClr val="dk1"/>
                </a:solidFill>
                <a:latin typeface="Calibri"/>
                <a:ea typeface="Calibri"/>
                <a:cs typeface="Calibri"/>
                <a:sym typeface="Calibri"/>
              </a:rPr>
              <a:t>Why skills scale: </a:t>
            </a:r>
            <a:r>
              <a:rPr lang="en-GB" sz="900">
                <a:solidFill>
                  <a:schemeClr val="dk1"/>
                </a:solidFill>
                <a:latin typeface="Calibri"/>
                <a:ea typeface="Calibri"/>
                <a:cs typeface="Calibri"/>
                <a:sym typeface="Calibri"/>
              </a:rPr>
              <a:t>only each skill's short description is loaded until a task needs it, many skills cost very little.</a:t>
            </a:r>
            <a:endParaRPr sz="900">
              <a:solidFill>
                <a:schemeClr val="dk1"/>
              </a:solidFill>
              <a:latin typeface="Calibri"/>
              <a:ea typeface="Calibri"/>
              <a:cs typeface="Calibri"/>
              <a:sym typeface="Calibri"/>
            </a:endParaRPr>
          </a:p>
          <a:p>
            <a:pPr marL="0" marR="0" lvl="0" indent="0" algn="l" rtl="0">
              <a:lnSpc>
                <a:spcPct val="100000"/>
              </a:lnSpc>
              <a:spcBef>
                <a:spcPts val="0"/>
              </a:spcBef>
              <a:spcAft>
                <a:spcPts val="0"/>
              </a:spcAft>
              <a:buSzPts val="1100"/>
              <a:buNone/>
            </a:pPr>
            <a:endParaRPr sz="1200">
              <a:solidFill>
                <a:schemeClr val="dk1"/>
              </a:solidFill>
            </a:endParaRPr>
          </a:p>
        </p:txBody>
      </p:sp>
      <p:sp>
        <p:nvSpPr>
          <p:cNvPr id="537" name="Google Shape;537;h7ee05df5ac386ef9_1_47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h7ee05df5ac386ef9_1_50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3" name="Google Shape;563;h7ee05df5ac386ef9_1_50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Remember Shannon: you don't fix a noisy channel by re-running until it looks right, you add structure. Two best practices do that for Claude Code. One: ground it in your docs, so it reads instead of guesses. Two: give it rules it has to follow. Neither is a new building block; both are built from the blocks we just saw.</a:t>
            </a:r>
            <a:endParaRPr/>
          </a:p>
        </p:txBody>
      </p:sp>
      <p:sp>
        <p:nvSpPr>
          <p:cNvPr id="564" name="Google Shape;564;h7ee05df5ac386ef9_1_50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h7ee05df5ac386ef9_1_50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0" name="Google Shape;570;h7ee05df5ac386ef9_1_50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Voice-over, what RAG is: a generic AI guesses how your app works; RAG reads your Jira tickets and API specs first. Retrieve the right passages, augment the prompt with them, then generate a grounded answer or fix instead of a generic guess.</a:t>
            </a:r>
            <a:endParaRPr/>
          </a:p>
          <a:p>
            <a:pPr marL="0" lvl="0" indent="0" algn="l" rtl="0">
              <a:lnSpc>
                <a:spcPct val="100000"/>
              </a:lnSpc>
              <a:spcBef>
                <a:spcPts val="0"/>
              </a:spcBef>
              <a:spcAft>
                <a:spcPts val="0"/>
              </a:spcAft>
              <a:buSzPts val="1100"/>
              <a:buNone/>
            </a:pPr>
            <a:r>
              <a:rPr lang="en-GB" sz="1100"/>
              <a:t>Indexing happens once per project, not on every question. One: export your docs into a folder. Two: chunking. We split each doc into passages of a few hundred tokens, with a little overlap, so a fact like "up to 8 s at peak" is never cut in half. Chunk too big and the search gets vague; too small and you lose context. Three: embedding. A small model, all-MiniLM-L6-v2 in our demo, running locally and free, turns each chunk into 384 numbers. Chunks that mean similar things end up close together in that space. Four: store the vectors in Chroma, and build a BM25 keyword index over the same chunks.</a:t>
            </a:r>
            <a:endParaRPr/>
          </a:p>
          <a:p>
            <a:pPr marL="0" lvl="0" indent="0" algn="l" rtl="0">
              <a:lnSpc>
                <a:spcPct val="100000"/>
              </a:lnSpc>
              <a:spcBef>
                <a:spcPts val="0"/>
              </a:spcBef>
              <a:spcAft>
                <a:spcPts val="0"/>
              </a:spcAft>
              <a:buSzPts val="1100"/>
              <a:buNone/>
            </a:pPr>
            <a:r>
              <a:rPr lang="en-GB" sz="1100"/>
              <a:t>Worked example of one chunk, from our payment runbook: "Payment confirms asynchronously: usually 1-3 s, up to 8 s at peak. Tests must wait for the status confirmed, not a fixed time."</a:t>
            </a:r>
            <a:endParaRPr/>
          </a:p>
          <a:p>
            <a:pPr marL="0" lvl="0" indent="0" algn="l" rtl="0">
              <a:lnSpc>
                <a:spcPct val="100000"/>
              </a:lnSpc>
              <a:spcBef>
                <a:spcPts val="0"/>
              </a:spcBef>
              <a:spcAft>
                <a:spcPts val="0"/>
              </a:spcAft>
              <a:buSzPts val="1100"/>
              <a:buNone/>
            </a:pPr>
            <a:r>
              <a:rPr lang="en-GB" sz="1100"/>
              <a:t>Every time Claude calls search_docs, two searches run. BM25 is classic keyword ranking: it rewards chunks that contain the query words, gives rare words like a ticket ID more weight than common ones, and normalises for chunk length. It is unbeatable for exact strings: QA-1432, an error code, a data-testid. Embeddings search by meaning: the question is turned into a vector with the same model, and we take the nearest chunks by cosine similarity. "Why is checkout slow?" finds the runbook line about 8 s at peak even though the words differ. Hybrid search merges both rankings, for example with reciprocal rank fusion, and hands the top few chunks plus their source file names to Claude. That is why our fix could name the doc it used.</a:t>
            </a:r>
            <a:endParaRPr/>
          </a:p>
          <a:p>
            <a:pPr marL="0" lvl="0" indent="0" algn="l" rtl="0">
              <a:lnSpc>
                <a:spcPct val="100000"/>
              </a:lnSpc>
              <a:spcBef>
                <a:spcPts val="0"/>
              </a:spcBef>
              <a:spcAft>
                <a:spcPts val="0"/>
              </a:spcAft>
              <a:buSzPts val="1100"/>
              <a:buNone/>
            </a:pPr>
            <a:r>
              <a:rPr lang="en-GB" sz="1100"/>
              <a:t>Set it up once per project, five things in the test repo: corpus/ for your doc exports; npm run chroma starts Chroma, a free open-source search database (Docker); npm run index splits your docs and stores them; .mcp.json adds the search_docs tool to Claude Code; CLAUDE.md says call search_docs before fixing a test. Our demo's tools, and alternatives: Chroma (vector store; or pgvector, Qdrant, OpenSearch); all-MiniLM-L6-v2 embeddings via Transformers.js, local and free (or OpenAI, Voyage, Bedrock Titan); BM25 for exact words (or Elasticsearch/OpenSearch); a 40-line MCP server built with the MCP SDK. Commands in the demo repo: npm run chroma, npm run index; .mcp.json entry 'team-knowledge' runs mcp/rag-server.js.</a:t>
            </a:r>
            <a:endParaRPr/>
          </a:p>
        </p:txBody>
      </p:sp>
      <p:sp>
        <p:nvSpPr>
          <p:cNvPr id="571" name="Google Shape;571;h7ee05df5ac386ef9_1_50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h7ee05df5ac386ef9_1_5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07" name="Google Shape;607;h7ee05df5ac386ef9_1_5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h7ee05df5ac386ef9_1_585: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3" name="Google Shape;643;h7ee05df5ac386ef9_1_58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endParaRPr/>
          </a:p>
        </p:txBody>
      </p:sp>
      <p:sp>
        <p:nvSpPr>
          <p:cNvPr id="644" name="Google Shape;644;h7ee05df5ac386ef9_1_58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h7ee05df5ac386ef9_1_615: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2" name="Google Shape;672;h7ee05df5ac386ef9_1_61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1, think first. The most common failure: the model makes an assumption and runs with it, blindfolded. On our flaky checkout test with no team docs, the plain prompt measured the local shop and silently set a 10 second timeout. It fails the day the gateway takes 12. With the guideline on, Claude changed one line and said out loud: I don't know how fast your CI is. That sentence is the win. A stated assumption is something your docs, or you, can correct.</a:t>
            </a:r>
            <a:endParaRPr/>
          </a:p>
        </p:txBody>
      </p:sp>
      <p:sp>
        <p:nvSpPr>
          <p:cNvPr id="673" name="Google Shape;673;h7ee05df5ac386ef9_1_61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9"/>
        <p:cNvGrpSpPr/>
        <p:nvPr/>
      </p:nvGrpSpPr>
      <p:grpSpPr>
        <a:xfrm>
          <a:off x="0" y="0"/>
          <a:ext cx="0" cy="0"/>
          <a:chOff x="0" y="0"/>
          <a:chExt cx="0" cy="0"/>
        </a:xfrm>
      </p:grpSpPr>
      <p:sp>
        <p:nvSpPr>
          <p:cNvPr id="690" name="Google Shape;690;h7ee05df5ac386ef9_1_634: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91" name="Google Shape;691;h7ee05df5ac386ef9_1_63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2, keep it simple. Left alone, an AI will happily build a Rube Goldberg machine: a retry helper, a fixed sleep, a config option, a polling utility. Every one of them is code your team now has to maintain, and every one hides the real problem. The checkout test needed one thing: wait for the status that says confirmed. Ask yourself: would a senior tester call this overcomplicated? If yes, simplify.</a:t>
            </a:r>
            <a:endParaRPr/>
          </a:p>
        </p:txBody>
      </p:sp>
      <p:sp>
        <p:nvSpPr>
          <p:cNvPr id="692" name="Google Shape;692;h7ee05df5ac386ef9_1_63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h7ee05df5ac386ef9_1_653: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10" name="Google Shape;710;h7ee05df5ac386ef9_1_65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3, surgical changes. You ask for one flaky test to be fixed, and you get a refactor: renamed locators, a new utils file, the API client tidied up. Each change might even look reasonable, but now your reviewer has to check many changes instead of one, and something unrelated breaks next week. The rule: every changed line should trace directly back to the request. On our project: one test changed, same locators, nothing else touched.</a:t>
            </a:r>
            <a:endParaRPr/>
          </a:p>
        </p:txBody>
      </p:sp>
      <p:sp>
        <p:nvSpPr>
          <p:cNvPr id="711" name="Google Shape;711;h7ee05df5ac386ef9_1_65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h7ee05df5ac386ef9_1_672: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9" name="Google Shape;729;h7ee05df5ac386ef9_1_67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4, goal-driven execution. The most dangerous word an AI says is done. For testers this one should feel familiar: no evidence, no pass. Turn the task into a verifiable goal before Claude starts: the checkout test passes 30 runs in a row. Then ask it to show you the run, not tell you about it. With the guideline on, Claude reported passed 30 out of 30 with repeat-each. That is a claim you can check.</a:t>
            </a:r>
            <a:endParaRPr/>
          </a:p>
        </p:txBody>
      </p:sp>
      <p:sp>
        <p:nvSpPr>
          <p:cNvPr id="730" name="Google Shape;730;h7ee05df5ac386ef9_1_67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h7ee05df5ac386ef9_1_691: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8" name="Google Shape;748;h7ee05df5ac386ef9_1_691: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749" name="Google Shape;749;h7ee05df5ac386ef9_1_691: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hee9da7a3384c315_2_0:notes"/>
          <p:cNvSpPr>
            <a:spLocks noGrp="1" noRot="1" noChangeAspect="1"/>
          </p:cNvSpPr>
          <p:nvPr>
            <p:ph type="sldImg" idx="2"/>
          </p:nvPr>
        </p:nvSpPr>
        <p:spPr>
          <a:xfrm>
            <a:off x="1371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5" name="Google Shape;755;hee9da7a3384c315_2_0:notes"/>
          <p:cNvSpPr txBox="1">
            <a:spLocks noGrp="1"/>
          </p:cNvSpPr>
          <p:nvPr>
            <p:ph type="body" idx="1"/>
          </p:nvPr>
        </p:nvSpPr>
        <p:spPr>
          <a:xfrm>
            <a:off x="685800" y="3300413"/>
            <a:ext cx="5486400" cy="2700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756" name="Google Shape;756;hee9da7a3384c315_2_0:notes"/>
          <p:cNvSpPr txBox="1">
            <a:spLocks noGrp="1"/>
          </p:cNvSpPr>
          <p:nvPr>
            <p:ph type="sldNum" idx="12"/>
          </p:nvPr>
        </p:nvSpPr>
        <p:spPr>
          <a:xfrm>
            <a:off x="3884613" y="6513910"/>
            <a:ext cx="29718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GB"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hee9da7a3384c315_2_3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1" name="Google Shape;791;hee9da7a3384c315_2_3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rgbClr val="0272B4"/>
              </a:buClr>
              <a:buSzPts val="1100"/>
              <a:buFont typeface="Century Schoolbook"/>
              <a:buNone/>
            </a:pPr>
            <a:r>
              <a:rPr lang="en-GB" sz="1100" i="1">
                <a:solidFill>
                  <a:srgbClr val="0272B4"/>
                </a:solidFill>
                <a:latin typeface="Century Schoolbook"/>
                <a:ea typeface="Century Schoolbook"/>
                <a:cs typeface="Century Schoolbook"/>
                <a:sym typeface="Century Schoolbook"/>
              </a:rPr>
              <a:t>Why first: every tester's Claude now starts with the same rules, skills and tools.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SzPts val="1100"/>
              <a:buNone/>
            </a:pPr>
            <a:endParaRPr sz="1200">
              <a:solidFill>
                <a:schemeClr val="dk1"/>
              </a:solidFill>
            </a:endParaRPr>
          </a:p>
        </p:txBody>
      </p:sp>
      <p:sp>
        <p:nvSpPr>
          <p:cNvPr id="792" name="Google Shape;792;hee9da7a3384c315_2_3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hee9da7a3384c315_2_7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hee9da7a3384c315_2_7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Real runs (18 October) in a copy of the repo with only the tests, the page object and test data: no CLAUDE.md, no docs, no search_docs. A (plain prompt) and B (/karpathy-guidelines) made the same change: removed the 2 s sleep from pay() and replaced the one-time read with expect(checkout.paymentStatus).toHaveText(checkoutTexts.paymentDone), which retries for Playwright's default 5 s. Both pass 20/20 on normal days and fail when the gateway takes 8 s (busy hours in the runbook). The difference is the answer: A said 'Fixed' based on local runs; B named the risk ('only about 1.5 s of slack… if CI is much slower it could still time out… I haven't seen CI timings. Say if you want it.'). Rule 1, think first, made Claude ask; the docs answer. Code and reports: demo-solutions/no-docs/.</a:t>
            </a:r>
            <a:endParaRPr/>
          </a:p>
        </p:txBody>
      </p:sp>
      <p:sp>
        <p:nvSpPr>
          <p:cNvPr id="830" name="Google Shape;830;hee9da7a3384c315_2_7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hee9da7a3384c315_2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5" name="Google Shape;855;hee9da7a3384c315_2_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SzPts val="1100"/>
              <a:buChar char="●"/>
            </a:pPr>
            <a:r>
              <a:rPr lang="en-GB" sz="1100"/>
              <a:t>The bridge between slide 24 and the skill. Karpathy's rules alone only made Claude admit it didn't know (slide 24). We add one more layer: our team's knowledge. /fix-flaky follows the four rules, step one searches our docs through MCP (the RAG from Part 1), and it watches the page in a real browser with Playwright MCP. Rules say how to work; the docs say what's true; the browser shows what really happens. Read more (scan the QR codes): 1 Karpathy's original notes on X, 2 the skill file on GitHub, 3 a Medium article on why it took off, 4 dev.to (AWS): the most popular AI coding skills.</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9"/>
        <p:cNvGrpSpPr/>
        <p:nvPr/>
      </p:nvGrpSpPr>
      <p:grpSpPr>
        <a:xfrm>
          <a:off x="0" y="0"/>
          <a:ext cx="0" cy="0"/>
          <a:chOff x="0" y="0"/>
          <a:chExt cx="0" cy="0"/>
        </a:xfrm>
      </p:grpSpPr>
      <p:sp>
        <p:nvSpPr>
          <p:cNvPr id="880" name="Google Shape;880;hee9da7a3384c315_2_12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81" name="Google Shape;881;hee9da7a3384c315_2_12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The real skill file lists six steps; they map onto the four rules: reproduce + watch with Playwright MCP + search_docs (think first), wait for the real event and never touch a timeout (simple), keep getByRole/getByTestId (surgical), --repeat-each=10 and report the sources (prove it). Skills combine: '/api-tests the payment API, and follow /karpathy-guidelines' wrote 6 API tests, each linked to the spec section, and refused to invent an undocumented state.</a:t>
            </a:r>
            <a:endParaRPr/>
          </a:p>
        </p:txBody>
      </p:sp>
      <p:sp>
        <p:nvSpPr>
          <p:cNvPr id="882" name="Google Shape;882;hee9da7a3384c315_2_12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1"/>
        <p:cNvGrpSpPr/>
        <p:nvPr/>
      </p:nvGrpSpPr>
      <p:grpSpPr>
        <a:xfrm>
          <a:off x="0" y="0"/>
          <a:ext cx="0" cy="0"/>
          <a:chOff x="0" y="0"/>
          <a:chExt cx="0" cy="0"/>
        </a:xfrm>
      </p:grpSpPr>
      <p:sp>
        <p:nvSpPr>
          <p:cNvPr id="912" name="Google Shape;912;hee9da7a3384c315_2_154: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3" name="Google Shape;913;hee9da7a3384c315_2_15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914" name="Google Shape;914;hee9da7a3384c315_2_15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h3ba946f74106a6a4_2_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7" name="Google Shape;947;h3ba946f74106a6a4_2_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Real run C (18 October): /fix-flaky in the real repo (CLAUDE.md, search_docs, Playwright MCP). Before: the original test failed 15 times in 40 runs (about 4 in 10). Claude's run: 10/10, 3/3 at 7.5 s; re-checked 20/20, 3/3 at 8 s, 2/2 at 12 s.</a:t>
            </a:r>
            <a:endParaRPr/>
          </a:p>
          <a:p>
            <a:pPr marL="457200" lvl="0" indent="-298450" algn="l" rtl="0">
              <a:lnSpc>
                <a:spcPct val="100000"/>
              </a:lnSpc>
              <a:spcBef>
                <a:spcPts val="0"/>
              </a:spcBef>
              <a:spcAft>
                <a:spcPts val="0"/>
              </a:spcAft>
              <a:buSzPts val="1100"/>
              <a:buChar char="●"/>
            </a:pPr>
            <a:r>
              <a:rPr lang="en-GB" sz="1100"/>
              <a:t>Before: pay() clicked Pay, waited for the POST (202 = accepted, not paid), slept 2 s; the test read the status text once.</a:t>
            </a:r>
            <a:endParaRPr/>
          </a:p>
          <a:p>
            <a:pPr marL="457200" lvl="0" indent="-298450" algn="l" rtl="0">
              <a:lnSpc>
                <a:spcPct val="100000"/>
              </a:lnSpc>
              <a:spcBef>
                <a:spcPts val="0"/>
              </a:spcBef>
              <a:spcAft>
                <a:spcPts val="0"/>
              </a:spcAft>
              <a:buSzPts val="1100"/>
              <a:buChar char="●"/>
            </a:pPr>
            <a:r>
              <a:rPr lang="en-GB" sz="1100"/>
              <a:t>After, in the page object: pay() starts listening for the status reply whose body says "confirmed", clicks Pay, and waits for it (const confirmed = this.page.waitForResponse(res =&gt; /\/api\/payment\/[^/]+\/status$/.test(res.url()) &amp;&amp; (await res.json()).status === 'confirmed'); click; await confirmed). In the test: await expect(checkout.paymentStatus).toHaveText(checkoutTexts.paymentDone) keeps re-reading the element until it says Done., because the page updates the text just after the reply arrives. Plus a check of the Payment confirmed box. Full files: demo-solutions/fix-flaky/.</a:t>
            </a:r>
            <a:endParaRPr/>
          </a:p>
          <a:p>
            <a:pPr marL="457200" lvl="0" indent="-228600" algn="l" rtl="0">
              <a:lnSpc>
                <a:spcPct val="100000"/>
              </a:lnSpc>
              <a:spcBef>
                <a:spcPts val="0"/>
              </a:spcBef>
              <a:spcAft>
                <a:spcPts val="0"/>
              </a:spcAft>
              <a:buSzPts val="1100"/>
              <a:buNone/>
            </a:pPr>
            <a:endParaRPr sz="1100"/>
          </a:p>
          <a:p>
            <a:pPr marL="457200" lvl="0" indent="-298450" algn="l" rtl="0">
              <a:lnSpc>
                <a:spcPct val="100000"/>
              </a:lnSpc>
              <a:spcBef>
                <a:spcPts val="0"/>
              </a:spcBef>
              <a:spcAft>
                <a:spcPts val="0"/>
              </a:spcAft>
              <a:buSzPts val="1100"/>
              <a:buChar char="●"/>
            </a:pPr>
            <a:r>
              <a:rPr lang="en-GB" sz="1100"/>
              <a:t>Code panel: the fix lives in the page object, CheckoutPage.pay() in pages/checkout.page.ts. Every test calls checkout.pay(), so with the Page Object pattern it is fixed once, for every test. Before: sleep 2 s and hope. After: wait for the server's 'confirmed' reply. Real code: demo-solutions/fix-flaky/pages/checkout.page.ts.</a:t>
            </a:r>
            <a:endParaRPr/>
          </a:p>
        </p:txBody>
      </p:sp>
      <p:sp>
        <p:nvSpPr>
          <p:cNvPr id="948" name="Google Shape;948;h3ba946f74106a6a4_2_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hee9da7a3384c315_2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5" name="Google Shape;1035;hee9da7a3384c315_2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SzPts val="1100"/>
              <a:buChar char="●"/>
            </a:pPr>
            <a:r>
              <a:rPr lang="en-GB" sz="1100"/>
              <a:t>The conclusion of Part 2, from the three real runs (18 October) on the same flaky test. 1) Just a prompt, no docs: removed the 2 s sleep, Playwright's 5 s retry, said 'Fixed'; fails when payment takes 8 s. 2) Same + /karpathy-guidelines: identical code, but it warned: 'only about 1.5 s of slack… I haven't seen CI timings'; still fails at 8 s. 3) /fix-flaky = the four rules + search_docs (RAG) + Playwright MCP: waited for the 'confirmed' status reply inside the page object, test in the team's style; 20/20, 3/3 at 8 s, 2/2 at 12 s. Say: the message isn't the code, it's what you give Claude: rules, your knowledge, and one skill everyone uses.</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h389c5cd289f07cb0_6_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8" name="Google Shape;1068;h389c5cd289f07cb0_6_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Bridge: Part 2 fixed one flaky test, reliably. A real team has hundreds of tests, written by different people in different styles. Part 3: how we turn them into one framework with Clappy, and a live demo.</a:t>
            </a:r>
            <a:endParaRPr/>
          </a:p>
        </p:txBody>
      </p:sp>
      <p:sp>
        <p:nvSpPr>
          <p:cNvPr id="1069" name="Google Shape;1069;h389c5cd289f07cb0_6_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3"/>
        <p:cNvGrpSpPr/>
        <p:nvPr/>
      </p:nvGrpSpPr>
      <p:grpSpPr>
        <a:xfrm>
          <a:off x="0" y="0"/>
          <a:ext cx="0" cy="0"/>
          <a:chOff x="0" y="0"/>
          <a:chExt cx="0" cy="0"/>
        </a:xfrm>
      </p:grpSpPr>
      <p:sp>
        <p:nvSpPr>
          <p:cNvPr id="1074" name="Google Shape;1074;h5a47417abbe743b3_1_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75" name="Google Shape;1075;h5a47417abbe743b3_1_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Bridge from Part 2: you just fixed one test with Claude Code. Your team has hundreds, written by different people in different styles. Turning them into one framework by hand takes weeks. That's what Clappy does. Point at the logo: you'll see it in the left panel of our test platform in a minute.</a:t>
            </a:r>
            <a:endParaRPr/>
          </a:p>
        </p:txBody>
      </p:sp>
      <p:sp>
        <p:nvSpPr>
          <p:cNvPr id="1076" name="Google Shape;1076;h5a47417abbe743b3_1_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h5a47417abbe743b3_1_1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88" name="Google Shape;1088;h5a47417abbe743b3_1_1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How easy it is to set up automation with Clappy in our test platform. 1 Describe the test in plain English. 2 Clappy drives a real browser or phone and saves the steps and code. 3 Runs replay the saved steps; if the page changed, the self-healing AI agent finishes the test from the description. 4 Generate TAF builds the framework as a pull request. When the app changes: update or regenerate the test, then Regenerate TAF; files you added yourself stay.</a:t>
            </a:r>
            <a:endParaRPr/>
          </a:p>
        </p:txBody>
      </p:sp>
      <p:sp>
        <p:nvSpPr>
          <p:cNvPr id="1089" name="Google Shape;1089;h5a47417abbe743b3_1_1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6"/>
        <p:cNvGrpSpPr/>
        <p:nvPr/>
      </p:nvGrpSpPr>
      <p:grpSpPr>
        <a:xfrm>
          <a:off x="0" y="0"/>
          <a:ext cx="0" cy="0"/>
          <a:chOff x="0" y="0"/>
          <a:chExt cx="0" cy="0"/>
        </a:xfrm>
      </p:grpSpPr>
      <p:sp>
        <p:nvSpPr>
          <p:cNvPr id="1107" name="Google Shape;1107;h5a47417abbe743b3_1_3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8" name="Google Shape;1108;h5a47417abbe743b3_1_3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TAF = test automation framework. Six steps: read the tests, group steps by screen, build page objects (each element once), give readable names, fill the team skeleton, type-check. Output: page objects, specs, configs, CI workflow, as a pull request or zip. The same engine runs in our test platform (one click), in Claude Code as a tool (clappy-mcp, generate_test), in CI (clappy generate) and as a library (clappy-core). Internal to Applause today.</a:t>
            </a:r>
            <a:endParaRPr/>
          </a:p>
        </p:txBody>
      </p:sp>
      <p:sp>
        <p:nvSpPr>
          <p:cNvPr id="1109" name="Google Shape;1109;h5a47417abbe743b3_1_3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3"/>
        <p:cNvGrpSpPr/>
        <p:nvPr/>
      </p:nvGrpSpPr>
      <p:grpSpPr>
        <a:xfrm>
          <a:off x="0" y="0"/>
          <a:ext cx="0" cy="0"/>
          <a:chOff x="0" y="0"/>
          <a:chExt cx="0" cy="0"/>
        </a:xfrm>
      </p:grpSpPr>
      <p:sp>
        <p:nvSpPr>
          <p:cNvPr id="1144" name="Google Shape;1144;h5a47417abbe743b3_1_68: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45" name="Google Shape;1145;h5a47417abbe743b3_1_6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Clicks (project 'Swag Labs' is ready; generation needs no Pairing app):</a:t>
            </a:r>
            <a:endParaRPr/>
          </a:p>
          <a:p>
            <a:pPr marL="457200" lvl="0" indent="-298450" algn="l" rtl="0">
              <a:lnSpc>
                <a:spcPct val="100000"/>
              </a:lnSpc>
              <a:spcBef>
                <a:spcPts val="0"/>
              </a:spcBef>
              <a:spcAft>
                <a:spcPts val="0"/>
              </a:spcAft>
              <a:buSzPts val="1100"/>
              <a:buChar char="●"/>
            </a:pPr>
            <a:r>
              <a:rPr lang="en-GB" sz="1100"/>
              <a:t>1. AI Automation tab: three flows by Anna, Ben and Chris, all on https://www.saucedemo.com.</a:t>
            </a:r>
            <a:endParaRPr/>
          </a:p>
          <a:p>
            <a:pPr marL="457200" lvl="0" indent="-298450" algn="l" rtl="0">
              <a:lnSpc>
                <a:spcPct val="100000"/>
              </a:lnSpc>
              <a:spcBef>
                <a:spcPts val="0"/>
              </a:spcBef>
              <a:spcAft>
                <a:spcPts val="0"/>
              </a:spcAft>
              <a:buSzPts val="1100"/>
              <a:buChar char="●"/>
            </a:pPr>
            <a:r>
              <a:rPr lang="en-GB" sz="1100"/>
              <a:t>2. TAF Code tab, click Generate TAF. About a minute; talk over the progress bar.</a:t>
            </a:r>
            <a:endParaRPr/>
          </a:p>
          <a:p>
            <a:pPr marL="457200" lvl="0" indent="-298450" algn="l" rtl="0">
              <a:lnSpc>
                <a:spcPct val="100000"/>
              </a:lnSpc>
              <a:spcBef>
                <a:spcPts val="0"/>
              </a:spcBef>
              <a:spcAft>
                <a:spcPts val="0"/>
              </a:spcAft>
              <a:buSzPts val="1100"/>
              <a:buChar char="●"/>
            </a:pPr>
            <a:r>
              <a:rPr lang="en-GB" sz="1100"/>
              <a:t>3. The report: 'Type check passed', '15 elements, 15 methods, 15 new'. Open the page object: the login fields and the Login button, each defined once; open Ben's spec: it calls the same login methods.</a:t>
            </a:r>
            <a:endParaRPr/>
          </a:p>
          <a:p>
            <a:pPr marL="457200" lvl="0" indent="-298450" algn="l" rtl="0">
              <a:lnSpc>
                <a:spcPct val="100000"/>
              </a:lnSpc>
              <a:spcBef>
                <a:spcPts val="0"/>
              </a:spcBef>
              <a:spcAft>
                <a:spcPts val="0"/>
              </a:spcAft>
              <a:buSzPts val="1100"/>
              <a:buChar char="●"/>
            </a:pPr>
            <a:r>
              <a:rPr lang="en-GB" sz="1100"/>
              <a:t>4. Sync to GitHub: about 10 s, click 'View pull request'.</a:t>
            </a:r>
            <a:endParaRPr/>
          </a:p>
          <a:p>
            <a:pPr marL="457200" lvl="0" indent="-298450" algn="l" rtl="0">
              <a:lnSpc>
                <a:spcPct val="100000"/>
              </a:lnSpc>
              <a:spcBef>
                <a:spcPts val="0"/>
              </a:spcBef>
              <a:spcAft>
                <a:spcPts val="0"/>
              </a:spcAft>
              <a:buSzPts val="1100"/>
              <a:buChar char="●"/>
            </a:pPr>
            <a:r>
              <a:rPr lang="en-GB" sz="1100"/>
              <a:t>Rehearsal (local copy): generate 63 s, 35 files, type check passed; the generated framework passed 3/3 and 30/30 against the live site.</a:t>
            </a:r>
            <a:endParaRPr/>
          </a:p>
        </p:txBody>
      </p:sp>
      <p:sp>
        <p:nvSpPr>
          <p:cNvPr id="1146" name="Google Shape;1146;h5a47417abbe743b3_1_6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6"/>
        <p:cNvGrpSpPr/>
        <p:nvPr/>
      </p:nvGrpSpPr>
      <p:grpSpPr>
        <a:xfrm>
          <a:off x="0" y="0"/>
          <a:ext cx="0" cy="0"/>
          <a:chOff x="0" y="0"/>
          <a:chExt cx="0" cy="0"/>
        </a:xfrm>
      </p:grpSpPr>
      <p:sp>
        <p:nvSpPr>
          <p:cNvPr id="1167" name="Google Shape;1167;h5a47417abbe743b3_1_9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68" name="Google Shape;1168;h5a47417abbe743b3_1_9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Three things to remember. One: give AI your context: rules, your docs, real tools; without it, it guesses. Two: make it a team standard: write how you work down once, as rules and skills. Three: keep a human in the loop: a person reviews every AI change in a pull request and approves it only with proof that it works. Speed is easy. Reliability is the real challenge.</a:t>
            </a:r>
            <a:endParaRPr/>
          </a:p>
        </p:txBody>
      </p:sp>
      <p:sp>
        <p:nvSpPr>
          <p:cNvPr id="1169" name="Google Shape;1169;h5a47417abbe743b3_1_9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h4fda0bd8851eaa42_2_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90" name="Google Shape;1190;h4fda0bd8851eaa42_2_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191" name="Google Shape;1191;h4fda0bd8851eaa42_2_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5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52"/>
        <p:cNvGrpSpPr/>
        <p:nvPr/>
      </p:nvGrpSpPr>
      <p:grpSpPr>
        <a:xfrm>
          <a:off x="0" y="0"/>
          <a:ext cx="0" cy="0"/>
          <a:chOff x="0" y="0"/>
          <a:chExt cx="0" cy="0"/>
        </a:xfrm>
      </p:grpSpPr>
      <p:sp>
        <p:nvSpPr>
          <p:cNvPr id="53" name="Google Shape;53;p15"/>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spcBef>
                <a:spcPts val="200"/>
              </a:spcBef>
              <a:spcAft>
                <a:spcPts val="0"/>
              </a:spcAft>
              <a:buClr>
                <a:srgbClr val="0272B4"/>
              </a:buClr>
              <a:buSzPts val="800"/>
              <a:buFont typeface="Arial"/>
              <a:buNone/>
              <a:defRPr sz="800" b="1" i="0" u="none" strike="noStrike" cap="none">
                <a:solidFill>
                  <a:srgbClr val="0272B4"/>
                </a:solidFill>
                <a:latin typeface="Calibri"/>
                <a:ea typeface="Calibri"/>
                <a:cs typeface="Calibri"/>
                <a:sym typeface="Calibri"/>
              </a:defRPr>
            </a:lvl1pPr>
            <a:lvl2pPr marL="914400" marR="0" lvl="1" indent="-361950" algn="l" rtl="0">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54" name="Google Shape;54;p1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spcBef>
                <a:spcPts val="0"/>
              </a:spcBef>
              <a:spcAft>
                <a:spcPts val="0"/>
              </a:spcAft>
              <a:buClr>
                <a:srgbClr val="EAF1F6"/>
              </a:buClr>
              <a:buSzPts val="1900"/>
              <a:buFont typeface="Century Schoolbook"/>
              <a:buNone/>
              <a:defRPr sz="1900" b="1" i="0" u="none" strike="noStrike" cap="none">
                <a:solidFill>
                  <a:srgbClr val="EAF1F6"/>
                </a:solidFill>
                <a:latin typeface="Century Schoolbook"/>
                <a:ea typeface="Century Schoolbook"/>
                <a:cs typeface="Century Schoolbook"/>
                <a:sym typeface="Century Schoolbook"/>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5"/>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Calibri"/>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59" name="Google Shape;59;p1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7"/>
              </a:buClr>
              <a:buSzPts val="1900"/>
              <a:buFont typeface="Century Schoolbook"/>
              <a:buNone/>
              <a:defRPr sz="1900" b="1" i="0" u="none" strike="noStrike" cap="none">
                <a:solidFill>
                  <a:srgbClr val="EAF1F7"/>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0"/>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61"/>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63"/>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64"/>
        <p:cNvGrpSpPr/>
        <p:nvPr/>
      </p:nvGrpSpPr>
      <p:grpSpPr>
        <a:xfrm>
          <a:off x="0" y="0"/>
          <a:ext cx="0" cy="0"/>
          <a:chOff x="0" y="0"/>
          <a:chExt cx="0" cy="0"/>
        </a:xfrm>
      </p:grpSpPr>
      <p:sp>
        <p:nvSpPr>
          <p:cNvPr id="65" name="Google Shape;65;p23"/>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Calibri"/>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66" name="Google Shape;66;p2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7"/>
              </a:buClr>
              <a:buSzPts val="1900"/>
              <a:buFont typeface="Century Schoolbook"/>
              <a:buNone/>
              <a:defRPr sz="1900" b="1" i="0" u="none" strike="noStrike" cap="none">
                <a:solidFill>
                  <a:srgbClr val="EAF1F7"/>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7"/>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4"/>
        <p:cNvGrpSpPr/>
        <p:nvPr/>
      </p:nvGrpSpPr>
      <p:grpSpPr>
        <a:xfrm>
          <a:off x="0" y="0"/>
          <a:ext cx="0" cy="0"/>
          <a:chOff x="0" y="0"/>
          <a:chExt cx="0" cy="0"/>
        </a:xfrm>
      </p:grpSpPr>
      <p:sp>
        <p:nvSpPr>
          <p:cNvPr id="75" name="Google Shape;75;p26"/>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6" name="Google Shape;76;p26"/>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7" name="Google Shape;77;p26"/>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8"/>
        <p:cNvGrpSpPr/>
        <p:nvPr/>
      </p:nvGrpSpPr>
      <p:grpSpPr>
        <a:xfrm>
          <a:off x="0" y="0"/>
          <a:ext cx="0" cy="0"/>
          <a:chOff x="0" y="0"/>
          <a:chExt cx="0" cy="0"/>
        </a:xfrm>
      </p:grpSpPr>
      <p:sp>
        <p:nvSpPr>
          <p:cNvPr id="79" name="Google Shape;79;p27"/>
          <p:cNvSpPr txBox="1">
            <a:spLocks noGrp="1"/>
          </p:cNvSpPr>
          <p:nvPr>
            <p:ph type="ctrTitle"/>
          </p:nvPr>
        </p:nvSpPr>
        <p:spPr>
          <a:xfrm>
            <a:off x="514350" y="1597819"/>
            <a:ext cx="5829300" cy="1102519"/>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7"/>
          <p:cNvSpPr txBox="1">
            <a:spLocks noGrp="1"/>
          </p:cNvSpPr>
          <p:nvPr>
            <p:ph type="subTitle" idx="1"/>
          </p:nvPr>
        </p:nvSpPr>
        <p:spPr>
          <a:xfrm>
            <a:off x="1028700" y="2914650"/>
            <a:ext cx="4800600" cy="131445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50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100"/>
              <a:buNone/>
              <a:defRPr>
                <a:solidFill>
                  <a:srgbClr val="888888"/>
                </a:solidFill>
              </a:defRPr>
            </a:lvl2pPr>
            <a:lvl3pPr lvl="2" algn="ctr">
              <a:lnSpc>
                <a:spcPct val="100000"/>
              </a:lnSpc>
              <a:spcBef>
                <a:spcPts val="400"/>
              </a:spcBef>
              <a:spcAft>
                <a:spcPts val="0"/>
              </a:spcAft>
              <a:buClr>
                <a:srgbClr val="888888"/>
              </a:buClr>
              <a:buSzPts val="1800"/>
              <a:buNone/>
              <a:defRPr>
                <a:solidFill>
                  <a:srgbClr val="888888"/>
                </a:solidFill>
              </a:defRPr>
            </a:lvl3pPr>
            <a:lvl4pPr lvl="3" algn="ctr">
              <a:lnSpc>
                <a:spcPct val="100000"/>
              </a:lnSpc>
              <a:spcBef>
                <a:spcPts val="300"/>
              </a:spcBef>
              <a:spcAft>
                <a:spcPts val="0"/>
              </a:spcAft>
              <a:buClr>
                <a:srgbClr val="888888"/>
              </a:buClr>
              <a:buSzPts val="1500"/>
              <a:buNone/>
              <a:defRPr>
                <a:solidFill>
                  <a:srgbClr val="888888"/>
                </a:solidFill>
              </a:defRPr>
            </a:lvl4pPr>
            <a:lvl5pPr lvl="4" algn="ctr">
              <a:lnSpc>
                <a:spcPct val="100000"/>
              </a:lnSpc>
              <a:spcBef>
                <a:spcPts val="300"/>
              </a:spcBef>
              <a:spcAft>
                <a:spcPts val="0"/>
              </a:spcAft>
              <a:buClr>
                <a:srgbClr val="888888"/>
              </a:buClr>
              <a:buSzPts val="15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81" name="Google Shape;81;p27"/>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2" name="Google Shape;82;p27"/>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3" name="Google Shape;83;p27"/>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84"/>
        <p:cNvGrpSpPr/>
        <p:nvPr/>
      </p:nvGrpSpPr>
      <p:grpSpPr>
        <a:xfrm>
          <a:off x="0" y="0"/>
          <a:ext cx="0" cy="0"/>
          <a:chOff x="0" y="0"/>
          <a:chExt cx="0" cy="0"/>
        </a:xfrm>
      </p:grpSpPr>
      <p:sp>
        <p:nvSpPr>
          <p:cNvPr id="85" name="Google Shape;85;p28"/>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6" name="Google Shape;86;p28"/>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87" name="Google Shape;87;p28"/>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8" name="Google Shape;88;p28"/>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9" name="Google Shape;89;p28"/>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0"/>
        <p:cNvGrpSpPr/>
        <p:nvPr/>
      </p:nvGrpSpPr>
      <p:grpSpPr>
        <a:xfrm>
          <a:off x="0" y="0"/>
          <a:ext cx="0" cy="0"/>
          <a:chOff x="0" y="0"/>
          <a:chExt cx="0" cy="0"/>
        </a:xfrm>
      </p:grpSpPr>
      <p:sp>
        <p:nvSpPr>
          <p:cNvPr id="91" name="Google Shape;91;p29"/>
          <p:cNvSpPr txBox="1">
            <a:spLocks noGrp="1"/>
          </p:cNvSpPr>
          <p:nvPr>
            <p:ph type="title"/>
          </p:nvPr>
        </p:nvSpPr>
        <p:spPr>
          <a:xfrm>
            <a:off x="541735" y="3305175"/>
            <a:ext cx="5829300" cy="1021556"/>
          </a:xfrm>
          <a:prstGeom prst="rect">
            <a:avLst/>
          </a:prstGeom>
          <a:noFill/>
          <a:ln>
            <a:noFill/>
          </a:ln>
        </p:spPr>
        <p:txBody>
          <a:bodyPr spcFirstLastPara="1" wrap="square" lIns="68575" tIns="34275" rIns="68575" bIns="34275" anchor="t" anchorCtr="0">
            <a:normAutofit/>
          </a:bodyPr>
          <a:lstStyle>
            <a:lvl1pPr lvl="0" algn="l">
              <a:lnSpc>
                <a:spcPct val="100000"/>
              </a:lnSpc>
              <a:spcBef>
                <a:spcPts val="0"/>
              </a:spcBef>
              <a:spcAft>
                <a:spcPts val="0"/>
              </a:spcAft>
              <a:buClr>
                <a:schemeClr val="dk1"/>
              </a:buClr>
              <a:buSzPts val="3000"/>
              <a:buFont typeface="Calibri"/>
              <a:buNone/>
              <a:defRPr sz="3000" b="1" cap="none"/>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2" name="Google Shape;92;p29"/>
          <p:cNvSpPr txBox="1">
            <a:spLocks noGrp="1"/>
          </p:cNvSpPr>
          <p:nvPr>
            <p:ph type="body" idx="1"/>
          </p:nvPr>
        </p:nvSpPr>
        <p:spPr>
          <a:xfrm>
            <a:off x="541735" y="2180035"/>
            <a:ext cx="5829300" cy="1125140"/>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300"/>
              </a:spcBef>
              <a:spcAft>
                <a:spcPts val="0"/>
              </a:spcAft>
              <a:buClr>
                <a:srgbClr val="888888"/>
              </a:buClr>
              <a:buSzPts val="1500"/>
              <a:buNone/>
              <a:defRPr sz="1500">
                <a:solidFill>
                  <a:srgbClr val="888888"/>
                </a:solidFill>
              </a:defRPr>
            </a:lvl1pPr>
            <a:lvl2pPr marL="914400" lvl="1" indent="-228600" algn="l">
              <a:lnSpc>
                <a:spcPct val="100000"/>
              </a:lnSpc>
              <a:spcBef>
                <a:spcPts val="300"/>
              </a:spcBef>
              <a:spcAft>
                <a:spcPts val="0"/>
              </a:spcAft>
              <a:buClr>
                <a:srgbClr val="888888"/>
              </a:buClr>
              <a:buSzPts val="1400"/>
              <a:buNone/>
              <a:defRPr sz="1400">
                <a:solidFill>
                  <a:srgbClr val="888888"/>
                </a:solidFill>
              </a:defRPr>
            </a:lvl2pPr>
            <a:lvl3pPr marL="1371600" lvl="2" indent="-228600" algn="l">
              <a:lnSpc>
                <a:spcPct val="100000"/>
              </a:lnSpc>
              <a:spcBef>
                <a:spcPts val="200"/>
              </a:spcBef>
              <a:spcAft>
                <a:spcPts val="0"/>
              </a:spcAft>
              <a:buClr>
                <a:srgbClr val="888888"/>
              </a:buClr>
              <a:buSzPts val="1200"/>
              <a:buNone/>
              <a:defRPr sz="1200">
                <a:solidFill>
                  <a:srgbClr val="888888"/>
                </a:solidFill>
              </a:defRPr>
            </a:lvl3pPr>
            <a:lvl4pPr marL="1828800" lvl="3" indent="-228600" algn="l">
              <a:lnSpc>
                <a:spcPct val="100000"/>
              </a:lnSpc>
              <a:spcBef>
                <a:spcPts val="200"/>
              </a:spcBef>
              <a:spcAft>
                <a:spcPts val="0"/>
              </a:spcAft>
              <a:buClr>
                <a:srgbClr val="888888"/>
              </a:buClr>
              <a:buSzPts val="1100"/>
              <a:buNone/>
              <a:defRPr sz="1100">
                <a:solidFill>
                  <a:srgbClr val="888888"/>
                </a:solidFill>
              </a:defRPr>
            </a:lvl4pPr>
            <a:lvl5pPr marL="2286000" lvl="4" indent="-228600" algn="l">
              <a:lnSpc>
                <a:spcPct val="100000"/>
              </a:lnSpc>
              <a:spcBef>
                <a:spcPts val="200"/>
              </a:spcBef>
              <a:spcAft>
                <a:spcPts val="0"/>
              </a:spcAft>
              <a:buClr>
                <a:srgbClr val="888888"/>
              </a:buClr>
              <a:buSzPts val="1100"/>
              <a:buNone/>
              <a:defRPr sz="1100">
                <a:solidFill>
                  <a:srgbClr val="888888"/>
                </a:solidFill>
              </a:defRPr>
            </a:lvl5pPr>
            <a:lvl6pPr marL="2743200" lvl="5" indent="-228600" algn="l">
              <a:lnSpc>
                <a:spcPct val="100000"/>
              </a:lnSpc>
              <a:spcBef>
                <a:spcPts val="200"/>
              </a:spcBef>
              <a:spcAft>
                <a:spcPts val="0"/>
              </a:spcAft>
              <a:buClr>
                <a:srgbClr val="888888"/>
              </a:buClr>
              <a:buSzPts val="1100"/>
              <a:buNone/>
              <a:defRPr sz="1100">
                <a:solidFill>
                  <a:srgbClr val="888888"/>
                </a:solidFill>
              </a:defRPr>
            </a:lvl6pPr>
            <a:lvl7pPr marL="3200400" lvl="6" indent="-228600" algn="l">
              <a:lnSpc>
                <a:spcPct val="100000"/>
              </a:lnSpc>
              <a:spcBef>
                <a:spcPts val="200"/>
              </a:spcBef>
              <a:spcAft>
                <a:spcPts val="0"/>
              </a:spcAft>
              <a:buClr>
                <a:srgbClr val="888888"/>
              </a:buClr>
              <a:buSzPts val="1100"/>
              <a:buNone/>
              <a:defRPr sz="1100">
                <a:solidFill>
                  <a:srgbClr val="888888"/>
                </a:solidFill>
              </a:defRPr>
            </a:lvl7pPr>
            <a:lvl8pPr marL="3657600" lvl="7" indent="-228600" algn="l">
              <a:lnSpc>
                <a:spcPct val="100000"/>
              </a:lnSpc>
              <a:spcBef>
                <a:spcPts val="200"/>
              </a:spcBef>
              <a:spcAft>
                <a:spcPts val="0"/>
              </a:spcAft>
              <a:buClr>
                <a:srgbClr val="888888"/>
              </a:buClr>
              <a:buSzPts val="1100"/>
              <a:buNone/>
              <a:defRPr sz="1100">
                <a:solidFill>
                  <a:srgbClr val="888888"/>
                </a:solidFill>
              </a:defRPr>
            </a:lvl8pPr>
            <a:lvl9pPr marL="4114800" lvl="8" indent="-228600" algn="l">
              <a:lnSpc>
                <a:spcPct val="100000"/>
              </a:lnSpc>
              <a:spcBef>
                <a:spcPts val="200"/>
              </a:spcBef>
              <a:spcAft>
                <a:spcPts val="0"/>
              </a:spcAft>
              <a:buClr>
                <a:srgbClr val="888888"/>
              </a:buClr>
              <a:buSzPts val="1100"/>
              <a:buNone/>
              <a:defRPr sz="1100">
                <a:solidFill>
                  <a:srgbClr val="888888"/>
                </a:solidFill>
              </a:defRPr>
            </a:lvl9pPr>
          </a:lstStyle>
          <a:p>
            <a:endParaRPr/>
          </a:p>
        </p:txBody>
      </p:sp>
      <p:sp>
        <p:nvSpPr>
          <p:cNvPr id="93" name="Google Shape;93;p29"/>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4" name="Google Shape;94;p29"/>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5" name="Google Shape;95;p29"/>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6"/>
        <p:cNvGrpSpPr/>
        <p:nvPr/>
      </p:nvGrpSpPr>
      <p:grpSpPr>
        <a:xfrm>
          <a:off x="0" y="0"/>
          <a:ext cx="0" cy="0"/>
          <a:chOff x="0" y="0"/>
          <a:chExt cx="0" cy="0"/>
        </a:xfrm>
      </p:grpSpPr>
      <p:sp>
        <p:nvSpPr>
          <p:cNvPr id="97" name="Google Shape;97;p30"/>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8" name="Google Shape;98;p30"/>
          <p:cNvSpPr txBox="1">
            <a:spLocks noGrp="1"/>
          </p:cNvSpPr>
          <p:nvPr>
            <p:ph type="body" idx="1"/>
          </p:nvPr>
        </p:nvSpPr>
        <p:spPr>
          <a:xfrm>
            <a:off x="34290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lnSpc>
                <a:spcPct val="100000"/>
              </a:lnSpc>
              <a:spcBef>
                <a:spcPts val="400"/>
              </a:spcBef>
              <a:spcAft>
                <a:spcPts val="0"/>
              </a:spcAft>
              <a:buClr>
                <a:schemeClr val="dk1"/>
              </a:buClr>
              <a:buSzPts val="2100"/>
              <a:buChar char="•"/>
              <a:defRPr sz="2100"/>
            </a:lvl1pPr>
            <a:lvl2pPr marL="914400" lvl="1" indent="-342900" algn="l">
              <a:lnSpc>
                <a:spcPct val="100000"/>
              </a:lnSpc>
              <a:spcBef>
                <a:spcPts val="40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
              <a:defRPr sz="1500"/>
            </a:lvl3pPr>
            <a:lvl4pPr marL="1828800" lvl="3" indent="-317500" algn="l">
              <a:lnSpc>
                <a:spcPct val="100000"/>
              </a:lnSpc>
              <a:spcBef>
                <a:spcPts val="300"/>
              </a:spcBef>
              <a:spcAft>
                <a:spcPts val="0"/>
              </a:spcAft>
              <a:buClr>
                <a:schemeClr val="dk1"/>
              </a:buClr>
              <a:buSzPts val="1400"/>
              <a:buChar char="–"/>
              <a:defRPr sz="1400"/>
            </a:lvl4pPr>
            <a:lvl5pPr marL="2286000" lvl="4" indent="-317500" algn="l">
              <a:lnSpc>
                <a:spcPct val="100000"/>
              </a:lnSpc>
              <a:spcBef>
                <a:spcPts val="300"/>
              </a:spcBef>
              <a:spcAft>
                <a:spcPts val="0"/>
              </a:spcAft>
              <a:buClr>
                <a:schemeClr val="dk1"/>
              </a:buClr>
              <a:buSzPts val="1400"/>
              <a:buChar char="»"/>
              <a:defRPr sz="1400"/>
            </a:lvl5pPr>
            <a:lvl6pPr marL="2743200" lvl="5" indent="-317500" algn="l">
              <a:lnSpc>
                <a:spcPct val="100000"/>
              </a:lnSpc>
              <a:spcBef>
                <a:spcPts val="300"/>
              </a:spcBef>
              <a:spcAft>
                <a:spcPts val="0"/>
              </a:spcAft>
              <a:buClr>
                <a:schemeClr val="dk1"/>
              </a:buClr>
              <a:buSzPts val="1400"/>
              <a:buChar char="•"/>
              <a:defRPr sz="1400"/>
            </a:lvl6pPr>
            <a:lvl7pPr marL="3200400" lvl="6" indent="-317500" algn="l">
              <a:lnSpc>
                <a:spcPct val="100000"/>
              </a:lnSpc>
              <a:spcBef>
                <a:spcPts val="300"/>
              </a:spcBef>
              <a:spcAft>
                <a:spcPts val="0"/>
              </a:spcAft>
              <a:buClr>
                <a:schemeClr val="dk1"/>
              </a:buClr>
              <a:buSzPts val="1400"/>
              <a:buChar char="•"/>
              <a:defRPr sz="1400"/>
            </a:lvl7pPr>
            <a:lvl8pPr marL="3657600" lvl="7" indent="-317500" algn="l">
              <a:lnSpc>
                <a:spcPct val="100000"/>
              </a:lnSpc>
              <a:spcBef>
                <a:spcPts val="300"/>
              </a:spcBef>
              <a:spcAft>
                <a:spcPts val="0"/>
              </a:spcAft>
              <a:buClr>
                <a:schemeClr val="dk1"/>
              </a:buClr>
              <a:buSzPts val="1400"/>
              <a:buChar char="•"/>
              <a:defRPr sz="1400"/>
            </a:lvl8pPr>
            <a:lvl9pPr marL="4114800" lvl="8" indent="-317500" algn="l">
              <a:lnSpc>
                <a:spcPct val="100000"/>
              </a:lnSpc>
              <a:spcBef>
                <a:spcPts val="300"/>
              </a:spcBef>
              <a:spcAft>
                <a:spcPts val="0"/>
              </a:spcAft>
              <a:buClr>
                <a:schemeClr val="dk1"/>
              </a:buClr>
              <a:buSzPts val="1400"/>
              <a:buChar char="•"/>
              <a:defRPr sz="1400"/>
            </a:lvl9pPr>
          </a:lstStyle>
          <a:p>
            <a:endParaRPr/>
          </a:p>
        </p:txBody>
      </p:sp>
      <p:sp>
        <p:nvSpPr>
          <p:cNvPr id="99" name="Google Shape;99;p30"/>
          <p:cNvSpPr txBox="1">
            <a:spLocks noGrp="1"/>
          </p:cNvSpPr>
          <p:nvPr>
            <p:ph type="body" idx="2"/>
          </p:nvPr>
        </p:nvSpPr>
        <p:spPr>
          <a:xfrm>
            <a:off x="348615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lnSpc>
                <a:spcPct val="100000"/>
              </a:lnSpc>
              <a:spcBef>
                <a:spcPts val="400"/>
              </a:spcBef>
              <a:spcAft>
                <a:spcPts val="0"/>
              </a:spcAft>
              <a:buClr>
                <a:schemeClr val="dk1"/>
              </a:buClr>
              <a:buSzPts val="2100"/>
              <a:buChar char="•"/>
              <a:defRPr sz="2100"/>
            </a:lvl1pPr>
            <a:lvl2pPr marL="914400" lvl="1" indent="-342900" algn="l">
              <a:lnSpc>
                <a:spcPct val="100000"/>
              </a:lnSpc>
              <a:spcBef>
                <a:spcPts val="40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
              <a:defRPr sz="1500"/>
            </a:lvl3pPr>
            <a:lvl4pPr marL="1828800" lvl="3" indent="-317500" algn="l">
              <a:lnSpc>
                <a:spcPct val="100000"/>
              </a:lnSpc>
              <a:spcBef>
                <a:spcPts val="300"/>
              </a:spcBef>
              <a:spcAft>
                <a:spcPts val="0"/>
              </a:spcAft>
              <a:buClr>
                <a:schemeClr val="dk1"/>
              </a:buClr>
              <a:buSzPts val="1400"/>
              <a:buChar char="–"/>
              <a:defRPr sz="1400"/>
            </a:lvl4pPr>
            <a:lvl5pPr marL="2286000" lvl="4" indent="-317500" algn="l">
              <a:lnSpc>
                <a:spcPct val="100000"/>
              </a:lnSpc>
              <a:spcBef>
                <a:spcPts val="300"/>
              </a:spcBef>
              <a:spcAft>
                <a:spcPts val="0"/>
              </a:spcAft>
              <a:buClr>
                <a:schemeClr val="dk1"/>
              </a:buClr>
              <a:buSzPts val="1400"/>
              <a:buChar char="»"/>
              <a:defRPr sz="1400"/>
            </a:lvl5pPr>
            <a:lvl6pPr marL="2743200" lvl="5" indent="-317500" algn="l">
              <a:lnSpc>
                <a:spcPct val="100000"/>
              </a:lnSpc>
              <a:spcBef>
                <a:spcPts val="300"/>
              </a:spcBef>
              <a:spcAft>
                <a:spcPts val="0"/>
              </a:spcAft>
              <a:buClr>
                <a:schemeClr val="dk1"/>
              </a:buClr>
              <a:buSzPts val="1400"/>
              <a:buChar char="•"/>
              <a:defRPr sz="1400"/>
            </a:lvl6pPr>
            <a:lvl7pPr marL="3200400" lvl="6" indent="-317500" algn="l">
              <a:lnSpc>
                <a:spcPct val="100000"/>
              </a:lnSpc>
              <a:spcBef>
                <a:spcPts val="300"/>
              </a:spcBef>
              <a:spcAft>
                <a:spcPts val="0"/>
              </a:spcAft>
              <a:buClr>
                <a:schemeClr val="dk1"/>
              </a:buClr>
              <a:buSzPts val="1400"/>
              <a:buChar char="•"/>
              <a:defRPr sz="1400"/>
            </a:lvl7pPr>
            <a:lvl8pPr marL="3657600" lvl="7" indent="-317500" algn="l">
              <a:lnSpc>
                <a:spcPct val="100000"/>
              </a:lnSpc>
              <a:spcBef>
                <a:spcPts val="300"/>
              </a:spcBef>
              <a:spcAft>
                <a:spcPts val="0"/>
              </a:spcAft>
              <a:buClr>
                <a:schemeClr val="dk1"/>
              </a:buClr>
              <a:buSzPts val="1400"/>
              <a:buChar char="•"/>
              <a:defRPr sz="1400"/>
            </a:lvl8pPr>
            <a:lvl9pPr marL="4114800" lvl="8" indent="-317500" algn="l">
              <a:lnSpc>
                <a:spcPct val="100000"/>
              </a:lnSpc>
              <a:spcBef>
                <a:spcPts val="300"/>
              </a:spcBef>
              <a:spcAft>
                <a:spcPts val="0"/>
              </a:spcAft>
              <a:buClr>
                <a:schemeClr val="dk1"/>
              </a:buClr>
              <a:buSzPts val="1400"/>
              <a:buChar char="•"/>
              <a:defRPr sz="1400"/>
            </a:lvl9pPr>
          </a:lstStyle>
          <a:p>
            <a:endParaRPr/>
          </a:p>
        </p:txBody>
      </p:sp>
      <p:sp>
        <p:nvSpPr>
          <p:cNvPr id="100" name="Google Shape;100;p30"/>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1" name="Google Shape;101;p30"/>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2" name="Google Shape;102;p30"/>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3300"/>
              <a:buFont typeface="Calibri"/>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5" name="Google Shape;105;p31"/>
          <p:cNvSpPr txBox="1">
            <a:spLocks noGrp="1"/>
          </p:cNvSpPr>
          <p:nvPr>
            <p:ph type="body" idx="1"/>
          </p:nvPr>
        </p:nvSpPr>
        <p:spPr>
          <a:xfrm>
            <a:off x="342900" y="1151335"/>
            <a:ext cx="3030141" cy="479822"/>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400"/>
              </a:spcBef>
              <a:spcAft>
                <a:spcPts val="0"/>
              </a:spcAft>
              <a:buClr>
                <a:schemeClr val="dk1"/>
              </a:buClr>
              <a:buSzPts val="1800"/>
              <a:buNone/>
              <a:defRPr sz="1800" b="1"/>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300"/>
              </a:spcBef>
              <a:spcAft>
                <a:spcPts val="0"/>
              </a:spcAft>
              <a:buClr>
                <a:schemeClr val="dk1"/>
              </a:buClr>
              <a:buSzPts val="1400"/>
              <a:buNone/>
              <a:defRPr sz="1400" b="1"/>
            </a:lvl3pPr>
            <a:lvl4pPr marL="1828800" lvl="3" indent="-228600" algn="l">
              <a:lnSpc>
                <a:spcPct val="100000"/>
              </a:lnSpc>
              <a:spcBef>
                <a:spcPts val="200"/>
              </a:spcBef>
              <a:spcAft>
                <a:spcPts val="0"/>
              </a:spcAft>
              <a:buClr>
                <a:schemeClr val="dk1"/>
              </a:buClr>
              <a:buSzPts val="1200"/>
              <a:buNone/>
              <a:defRPr sz="1200" b="1"/>
            </a:lvl4pPr>
            <a:lvl5pPr marL="2286000" lvl="4" indent="-228600" algn="l">
              <a:lnSpc>
                <a:spcPct val="100000"/>
              </a:lnSpc>
              <a:spcBef>
                <a:spcPts val="200"/>
              </a:spcBef>
              <a:spcAft>
                <a:spcPts val="0"/>
              </a:spcAft>
              <a:buClr>
                <a:schemeClr val="dk1"/>
              </a:buClr>
              <a:buSzPts val="1200"/>
              <a:buNone/>
              <a:defRPr sz="1200" b="1"/>
            </a:lvl5pPr>
            <a:lvl6pPr marL="2743200" lvl="5" indent="-228600" algn="l">
              <a:lnSpc>
                <a:spcPct val="100000"/>
              </a:lnSpc>
              <a:spcBef>
                <a:spcPts val="200"/>
              </a:spcBef>
              <a:spcAft>
                <a:spcPts val="0"/>
              </a:spcAft>
              <a:buClr>
                <a:schemeClr val="dk1"/>
              </a:buClr>
              <a:buSzPts val="1200"/>
              <a:buNone/>
              <a:defRPr sz="1200" b="1"/>
            </a:lvl6pPr>
            <a:lvl7pPr marL="3200400" lvl="6" indent="-228600" algn="l">
              <a:lnSpc>
                <a:spcPct val="100000"/>
              </a:lnSpc>
              <a:spcBef>
                <a:spcPts val="200"/>
              </a:spcBef>
              <a:spcAft>
                <a:spcPts val="0"/>
              </a:spcAft>
              <a:buClr>
                <a:schemeClr val="dk1"/>
              </a:buClr>
              <a:buSzPts val="1200"/>
              <a:buNone/>
              <a:defRPr sz="1200" b="1"/>
            </a:lvl7pPr>
            <a:lvl8pPr marL="3657600" lvl="7" indent="-228600" algn="l">
              <a:lnSpc>
                <a:spcPct val="100000"/>
              </a:lnSpc>
              <a:spcBef>
                <a:spcPts val="200"/>
              </a:spcBef>
              <a:spcAft>
                <a:spcPts val="0"/>
              </a:spcAft>
              <a:buClr>
                <a:schemeClr val="dk1"/>
              </a:buClr>
              <a:buSzPts val="1200"/>
              <a:buNone/>
              <a:defRPr sz="1200" b="1"/>
            </a:lvl8pPr>
            <a:lvl9pPr marL="4114800" lvl="8" indent="-228600" algn="l">
              <a:lnSpc>
                <a:spcPct val="100000"/>
              </a:lnSpc>
              <a:spcBef>
                <a:spcPts val="200"/>
              </a:spcBef>
              <a:spcAft>
                <a:spcPts val="0"/>
              </a:spcAft>
              <a:buClr>
                <a:schemeClr val="dk1"/>
              </a:buClr>
              <a:buSzPts val="1200"/>
              <a:buNone/>
              <a:defRPr sz="1200" b="1"/>
            </a:lvl9pPr>
          </a:lstStyle>
          <a:p>
            <a:endParaRPr/>
          </a:p>
        </p:txBody>
      </p:sp>
      <p:sp>
        <p:nvSpPr>
          <p:cNvPr id="106" name="Google Shape;106;p31"/>
          <p:cNvSpPr txBox="1">
            <a:spLocks noGrp="1"/>
          </p:cNvSpPr>
          <p:nvPr>
            <p:ph type="body" idx="2"/>
          </p:nvPr>
        </p:nvSpPr>
        <p:spPr>
          <a:xfrm>
            <a:off x="342900" y="1631156"/>
            <a:ext cx="3030141" cy="2963466"/>
          </a:xfrm>
          <a:prstGeom prst="rect">
            <a:avLst/>
          </a:prstGeom>
          <a:noFill/>
          <a:ln>
            <a:noFill/>
          </a:ln>
        </p:spPr>
        <p:txBody>
          <a:bodyPr spcFirstLastPara="1" wrap="square" lIns="68575" tIns="34275" rIns="68575" bIns="34275" anchor="t" anchorCtr="0">
            <a:normAutofit/>
          </a:bodyPr>
          <a:lstStyle>
            <a:lvl1pPr marL="457200" lvl="0" indent="-342900" algn="l">
              <a:lnSpc>
                <a:spcPct val="100000"/>
              </a:lnSpc>
              <a:spcBef>
                <a:spcPts val="400"/>
              </a:spcBef>
              <a:spcAft>
                <a:spcPts val="0"/>
              </a:spcAft>
              <a:buClr>
                <a:schemeClr val="dk1"/>
              </a:buClr>
              <a:buSzPts val="1800"/>
              <a:buChar char="•"/>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7500" algn="l">
              <a:lnSpc>
                <a:spcPct val="100000"/>
              </a:lnSpc>
              <a:spcBef>
                <a:spcPts val="300"/>
              </a:spcBef>
              <a:spcAft>
                <a:spcPts val="0"/>
              </a:spcAft>
              <a:buClr>
                <a:schemeClr val="dk1"/>
              </a:buClr>
              <a:buSzPts val="1400"/>
              <a:buChar char="•"/>
              <a:defRPr sz="1400"/>
            </a:lvl3pPr>
            <a:lvl4pPr marL="1828800" lvl="3" indent="-304800" algn="l">
              <a:lnSpc>
                <a:spcPct val="100000"/>
              </a:lnSpc>
              <a:spcBef>
                <a:spcPts val="200"/>
              </a:spcBef>
              <a:spcAft>
                <a:spcPts val="0"/>
              </a:spcAft>
              <a:buClr>
                <a:schemeClr val="dk1"/>
              </a:buClr>
              <a:buSzPts val="1200"/>
              <a:buChar char="–"/>
              <a:defRPr sz="1200"/>
            </a:lvl4pPr>
            <a:lvl5pPr marL="2286000" lvl="4" indent="-304800" algn="l">
              <a:lnSpc>
                <a:spcPct val="100000"/>
              </a:lnSpc>
              <a:spcBef>
                <a:spcPts val="200"/>
              </a:spcBef>
              <a:spcAft>
                <a:spcPts val="0"/>
              </a:spcAft>
              <a:buClr>
                <a:schemeClr val="dk1"/>
              </a:buClr>
              <a:buSzPts val="1200"/>
              <a:buChar char="»"/>
              <a:defRPr sz="1200"/>
            </a:lvl5pPr>
            <a:lvl6pPr marL="2743200" lvl="5" indent="-304800" algn="l">
              <a:lnSpc>
                <a:spcPct val="100000"/>
              </a:lnSpc>
              <a:spcBef>
                <a:spcPts val="200"/>
              </a:spcBef>
              <a:spcAft>
                <a:spcPts val="0"/>
              </a:spcAft>
              <a:buClr>
                <a:schemeClr val="dk1"/>
              </a:buClr>
              <a:buSzPts val="1200"/>
              <a:buChar char="•"/>
              <a:defRPr sz="1200"/>
            </a:lvl6pPr>
            <a:lvl7pPr marL="3200400" lvl="6" indent="-304800" algn="l">
              <a:lnSpc>
                <a:spcPct val="100000"/>
              </a:lnSpc>
              <a:spcBef>
                <a:spcPts val="200"/>
              </a:spcBef>
              <a:spcAft>
                <a:spcPts val="0"/>
              </a:spcAft>
              <a:buClr>
                <a:schemeClr val="dk1"/>
              </a:buClr>
              <a:buSzPts val="1200"/>
              <a:buChar char="•"/>
              <a:defRPr sz="1200"/>
            </a:lvl7pPr>
            <a:lvl8pPr marL="3657600" lvl="7" indent="-304800" algn="l">
              <a:lnSpc>
                <a:spcPct val="100000"/>
              </a:lnSpc>
              <a:spcBef>
                <a:spcPts val="200"/>
              </a:spcBef>
              <a:spcAft>
                <a:spcPts val="0"/>
              </a:spcAft>
              <a:buClr>
                <a:schemeClr val="dk1"/>
              </a:buClr>
              <a:buSzPts val="1200"/>
              <a:buChar char="•"/>
              <a:defRPr sz="1200"/>
            </a:lvl8pPr>
            <a:lvl9pPr marL="4114800" lvl="8" indent="-304800" algn="l">
              <a:lnSpc>
                <a:spcPct val="100000"/>
              </a:lnSpc>
              <a:spcBef>
                <a:spcPts val="200"/>
              </a:spcBef>
              <a:spcAft>
                <a:spcPts val="0"/>
              </a:spcAft>
              <a:buClr>
                <a:schemeClr val="dk1"/>
              </a:buClr>
              <a:buSzPts val="1200"/>
              <a:buChar char="•"/>
              <a:defRPr sz="1200"/>
            </a:lvl9pPr>
          </a:lstStyle>
          <a:p>
            <a:endParaRPr/>
          </a:p>
        </p:txBody>
      </p:sp>
      <p:sp>
        <p:nvSpPr>
          <p:cNvPr id="107" name="Google Shape;107;p31"/>
          <p:cNvSpPr txBox="1">
            <a:spLocks noGrp="1"/>
          </p:cNvSpPr>
          <p:nvPr>
            <p:ph type="body" idx="3"/>
          </p:nvPr>
        </p:nvSpPr>
        <p:spPr>
          <a:xfrm>
            <a:off x="3483769" y="1151335"/>
            <a:ext cx="3031331" cy="479822"/>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400"/>
              </a:spcBef>
              <a:spcAft>
                <a:spcPts val="0"/>
              </a:spcAft>
              <a:buClr>
                <a:schemeClr val="dk1"/>
              </a:buClr>
              <a:buSzPts val="1800"/>
              <a:buNone/>
              <a:defRPr sz="1800" b="1"/>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300"/>
              </a:spcBef>
              <a:spcAft>
                <a:spcPts val="0"/>
              </a:spcAft>
              <a:buClr>
                <a:schemeClr val="dk1"/>
              </a:buClr>
              <a:buSzPts val="1400"/>
              <a:buNone/>
              <a:defRPr sz="1400" b="1"/>
            </a:lvl3pPr>
            <a:lvl4pPr marL="1828800" lvl="3" indent="-228600" algn="l">
              <a:lnSpc>
                <a:spcPct val="100000"/>
              </a:lnSpc>
              <a:spcBef>
                <a:spcPts val="200"/>
              </a:spcBef>
              <a:spcAft>
                <a:spcPts val="0"/>
              </a:spcAft>
              <a:buClr>
                <a:schemeClr val="dk1"/>
              </a:buClr>
              <a:buSzPts val="1200"/>
              <a:buNone/>
              <a:defRPr sz="1200" b="1"/>
            </a:lvl4pPr>
            <a:lvl5pPr marL="2286000" lvl="4" indent="-228600" algn="l">
              <a:lnSpc>
                <a:spcPct val="100000"/>
              </a:lnSpc>
              <a:spcBef>
                <a:spcPts val="200"/>
              </a:spcBef>
              <a:spcAft>
                <a:spcPts val="0"/>
              </a:spcAft>
              <a:buClr>
                <a:schemeClr val="dk1"/>
              </a:buClr>
              <a:buSzPts val="1200"/>
              <a:buNone/>
              <a:defRPr sz="1200" b="1"/>
            </a:lvl5pPr>
            <a:lvl6pPr marL="2743200" lvl="5" indent="-228600" algn="l">
              <a:lnSpc>
                <a:spcPct val="100000"/>
              </a:lnSpc>
              <a:spcBef>
                <a:spcPts val="200"/>
              </a:spcBef>
              <a:spcAft>
                <a:spcPts val="0"/>
              </a:spcAft>
              <a:buClr>
                <a:schemeClr val="dk1"/>
              </a:buClr>
              <a:buSzPts val="1200"/>
              <a:buNone/>
              <a:defRPr sz="1200" b="1"/>
            </a:lvl6pPr>
            <a:lvl7pPr marL="3200400" lvl="6" indent="-228600" algn="l">
              <a:lnSpc>
                <a:spcPct val="100000"/>
              </a:lnSpc>
              <a:spcBef>
                <a:spcPts val="200"/>
              </a:spcBef>
              <a:spcAft>
                <a:spcPts val="0"/>
              </a:spcAft>
              <a:buClr>
                <a:schemeClr val="dk1"/>
              </a:buClr>
              <a:buSzPts val="1200"/>
              <a:buNone/>
              <a:defRPr sz="1200" b="1"/>
            </a:lvl7pPr>
            <a:lvl8pPr marL="3657600" lvl="7" indent="-228600" algn="l">
              <a:lnSpc>
                <a:spcPct val="100000"/>
              </a:lnSpc>
              <a:spcBef>
                <a:spcPts val="200"/>
              </a:spcBef>
              <a:spcAft>
                <a:spcPts val="0"/>
              </a:spcAft>
              <a:buClr>
                <a:schemeClr val="dk1"/>
              </a:buClr>
              <a:buSzPts val="1200"/>
              <a:buNone/>
              <a:defRPr sz="1200" b="1"/>
            </a:lvl8pPr>
            <a:lvl9pPr marL="4114800" lvl="8" indent="-228600" algn="l">
              <a:lnSpc>
                <a:spcPct val="100000"/>
              </a:lnSpc>
              <a:spcBef>
                <a:spcPts val="200"/>
              </a:spcBef>
              <a:spcAft>
                <a:spcPts val="0"/>
              </a:spcAft>
              <a:buClr>
                <a:schemeClr val="dk1"/>
              </a:buClr>
              <a:buSzPts val="1200"/>
              <a:buNone/>
              <a:defRPr sz="1200" b="1"/>
            </a:lvl9pPr>
          </a:lstStyle>
          <a:p>
            <a:endParaRPr/>
          </a:p>
        </p:txBody>
      </p:sp>
      <p:sp>
        <p:nvSpPr>
          <p:cNvPr id="108" name="Google Shape;108;p31"/>
          <p:cNvSpPr txBox="1">
            <a:spLocks noGrp="1"/>
          </p:cNvSpPr>
          <p:nvPr>
            <p:ph type="body" idx="4"/>
          </p:nvPr>
        </p:nvSpPr>
        <p:spPr>
          <a:xfrm>
            <a:off x="3483769" y="1631156"/>
            <a:ext cx="3031331" cy="2963466"/>
          </a:xfrm>
          <a:prstGeom prst="rect">
            <a:avLst/>
          </a:prstGeom>
          <a:noFill/>
          <a:ln>
            <a:noFill/>
          </a:ln>
        </p:spPr>
        <p:txBody>
          <a:bodyPr spcFirstLastPara="1" wrap="square" lIns="68575" tIns="34275" rIns="68575" bIns="34275" anchor="t" anchorCtr="0">
            <a:normAutofit/>
          </a:bodyPr>
          <a:lstStyle>
            <a:lvl1pPr marL="457200" lvl="0" indent="-342900" algn="l">
              <a:lnSpc>
                <a:spcPct val="100000"/>
              </a:lnSpc>
              <a:spcBef>
                <a:spcPts val="400"/>
              </a:spcBef>
              <a:spcAft>
                <a:spcPts val="0"/>
              </a:spcAft>
              <a:buClr>
                <a:schemeClr val="dk1"/>
              </a:buClr>
              <a:buSzPts val="1800"/>
              <a:buChar char="•"/>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7500" algn="l">
              <a:lnSpc>
                <a:spcPct val="100000"/>
              </a:lnSpc>
              <a:spcBef>
                <a:spcPts val="300"/>
              </a:spcBef>
              <a:spcAft>
                <a:spcPts val="0"/>
              </a:spcAft>
              <a:buClr>
                <a:schemeClr val="dk1"/>
              </a:buClr>
              <a:buSzPts val="1400"/>
              <a:buChar char="•"/>
              <a:defRPr sz="1400"/>
            </a:lvl3pPr>
            <a:lvl4pPr marL="1828800" lvl="3" indent="-304800" algn="l">
              <a:lnSpc>
                <a:spcPct val="100000"/>
              </a:lnSpc>
              <a:spcBef>
                <a:spcPts val="200"/>
              </a:spcBef>
              <a:spcAft>
                <a:spcPts val="0"/>
              </a:spcAft>
              <a:buClr>
                <a:schemeClr val="dk1"/>
              </a:buClr>
              <a:buSzPts val="1200"/>
              <a:buChar char="–"/>
              <a:defRPr sz="1200"/>
            </a:lvl4pPr>
            <a:lvl5pPr marL="2286000" lvl="4" indent="-304800" algn="l">
              <a:lnSpc>
                <a:spcPct val="100000"/>
              </a:lnSpc>
              <a:spcBef>
                <a:spcPts val="200"/>
              </a:spcBef>
              <a:spcAft>
                <a:spcPts val="0"/>
              </a:spcAft>
              <a:buClr>
                <a:schemeClr val="dk1"/>
              </a:buClr>
              <a:buSzPts val="1200"/>
              <a:buChar char="»"/>
              <a:defRPr sz="1200"/>
            </a:lvl5pPr>
            <a:lvl6pPr marL="2743200" lvl="5" indent="-304800" algn="l">
              <a:lnSpc>
                <a:spcPct val="100000"/>
              </a:lnSpc>
              <a:spcBef>
                <a:spcPts val="200"/>
              </a:spcBef>
              <a:spcAft>
                <a:spcPts val="0"/>
              </a:spcAft>
              <a:buClr>
                <a:schemeClr val="dk1"/>
              </a:buClr>
              <a:buSzPts val="1200"/>
              <a:buChar char="•"/>
              <a:defRPr sz="1200"/>
            </a:lvl6pPr>
            <a:lvl7pPr marL="3200400" lvl="6" indent="-304800" algn="l">
              <a:lnSpc>
                <a:spcPct val="100000"/>
              </a:lnSpc>
              <a:spcBef>
                <a:spcPts val="200"/>
              </a:spcBef>
              <a:spcAft>
                <a:spcPts val="0"/>
              </a:spcAft>
              <a:buClr>
                <a:schemeClr val="dk1"/>
              </a:buClr>
              <a:buSzPts val="1200"/>
              <a:buChar char="•"/>
              <a:defRPr sz="1200"/>
            </a:lvl7pPr>
            <a:lvl8pPr marL="3657600" lvl="7" indent="-304800" algn="l">
              <a:lnSpc>
                <a:spcPct val="100000"/>
              </a:lnSpc>
              <a:spcBef>
                <a:spcPts val="200"/>
              </a:spcBef>
              <a:spcAft>
                <a:spcPts val="0"/>
              </a:spcAft>
              <a:buClr>
                <a:schemeClr val="dk1"/>
              </a:buClr>
              <a:buSzPts val="1200"/>
              <a:buChar char="•"/>
              <a:defRPr sz="1200"/>
            </a:lvl8pPr>
            <a:lvl9pPr marL="4114800" lvl="8" indent="-304800" algn="l">
              <a:lnSpc>
                <a:spcPct val="100000"/>
              </a:lnSpc>
              <a:spcBef>
                <a:spcPts val="200"/>
              </a:spcBef>
              <a:spcAft>
                <a:spcPts val="0"/>
              </a:spcAft>
              <a:buClr>
                <a:schemeClr val="dk1"/>
              </a:buClr>
              <a:buSzPts val="1200"/>
              <a:buChar char="•"/>
              <a:defRPr sz="1200"/>
            </a:lvl9pPr>
          </a:lstStyle>
          <a:p>
            <a:endParaRPr/>
          </a:p>
        </p:txBody>
      </p:sp>
      <p:sp>
        <p:nvSpPr>
          <p:cNvPr id="109" name="Google Shape;109;p3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0" name="Google Shape;110;p3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2"/>
        <p:cNvGrpSpPr/>
        <p:nvPr/>
      </p:nvGrpSpPr>
      <p:grpSpPr>
        <a:xfrm>
          <a:off x="0" y="0"/>
          <a:ext cx="0" cy="0"/>
          <a:chOff x="0" y="0"/>
          <a:chExt cx="0" cy="0"/>
        </a:xfrm>
      </p:grpSpPr>
      <p:sp>
        <p:nvSpPr>
          <p:cNvPr id="113" name="Google Shape;113;p32"/>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4" name="Google Shape;114;p3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5" name="Google Shape;115;p3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17"/>
        <p:cNvGrpSpPr/>
        <p:nvPr/>
      </p:nvGrpSpPr>
      <p:grpSpPr>
        <a:xfrm>
          <a:off x="0" y="0"/>
          <a:ext cx="0" cy="0"/>
          <a:chOff x="0" y="0"/>
          <a:chExt cx="0" cy="0"/>
        </a:xfrm>
      </p:grpSpPr>
      <p:sp>
        <p:nvSpPr>
          <p:cNvPr id="118" name="Google Shape;118;p33"/>
          <p:cNvSpPr txBox="1">
            <a:spLocks noGrp="1"/>
          </p:cNvSpPr>
          <p:nvPr>
            <p:ph type="title"/>
          </p:nvPr>
        </p:nvSpPr>
        <p:spPr>
          <a:xfrm>
            <a:off x="342900" y="204788"/>
            <a:ext cx="2256235" cy="871538"/>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1500"/>
              <a:buFont typeface="Calibri"/>
              <a:buNone/>
              <a:defRPr sz="15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9" name="Google Shape;119;p33"/>
          <p:cNvSpPr txBox="1">
            <a:spLocks noGrp="1"/>
          </p:cNvSpPr>
          <p:nvPr>
            <p:ph type="body" idx="1"/>
          </p:nvPr>
        </p:nvSpPr>
        <p:spPr>
          <a:xfrm>
            <a:off x="2681287" y="204788"/>
            <a:ext cx="3833813" cy="4389835"/>
          </a:xfrm>
          <a:prstGeom prst="rect">
            <a:avLst/>
          </a:prstGeom>
          <a:noFill/>
          <a:ln>
            <a:noFill/>
          </a:ln>
        </p:spPr>
        <p:txBody>
          <a:bodyPr spcFirstLastPara="1" wrap="square" lIns="68575" tIns="34275" rIns="68575" bIns="34275" anchor="t" anchorCtr="0">
            <a:normAutofit/>
          </a:bodyPr>
          <a:lstStyle>
            <a:lvl1pPr marL="457200" lvl="0" indent="-381000" algn="l">
              <a:lnSpc>
                <a:spcPct val="100000"/>
              </a:lnSpc>
              <a:spcBef>
                <a:spcPts val="500"/>
              </a:spcBef>
              <a:spcAft>
                <a:spcPts val="0"/>
              </a:spcAft>
              <a:buClr>
                <a:schemeClr val="dk1"/>
              </a:buClr>
              <a:buSzPts val="2400"/>
              <a:buChar char="•"/>
              <a:defRPr sz="2400"/>
            </a:lvl1pPr>
            <a:lvl2pPr marL="914400" lvl="1" indent="-361950" algn="l">
              <a:lnSpc>
                <a:spcPct val="100000"/>
              </a:lnSpc>
              <a:spcBef>
                <a:spcPts val="400"/>
              </a:spcBef>
              <a:spcAft>
                <a:spcPts val="0"/>
              </a:spcAft>
              <a:buClr>
                <a:schemeClr val="dk1"/>
              </a:buClr>
              <a:buSzPts val="2100"/>
              <a:buChar char="–"/>
              <a:defRPr sz="2100"/>
            </a:lvl2pPr>
            <a:lvl3pPr marL="1371600" lvl="2" indent="-342900" algn="l">
              <a:lnSpc>
                <a:spcPct val="100000"/>
              </a:lnSpc>
              <a:spcBef>
                <a:spcPts val="400"/>
              </a:spcBef>
              <a:spcAft>
                <a:spcPts val="0"/>
              </a:spcAft>
              <a:buClr>
                <a:schemeClr val="dk1"/>
              </a:buClr>
              <a:buSzPts val="1800"/>
              <a:buChar char="•"/>
              <a:defRPr sz="1800"/>
            </a:lvl3pPr>
            <a:lvl4pPr marL="1828800" lvl="3" indent="-323850" algn="l">
              <a:lnSpc>
                <a:spcPct val="100000"/>
              </a:lnSpc>
              <a:spcBef>
                <a:spcPts val="300"/>
              </a:spcBef>
              <a:spcAft>
                <a:spcPts val="0"/>
              </a:spcAft>
              <a:buClr>
                <a:schemeClr val="dk1"/>
              </a:buClr>
              <a:buSzPts val="1500"/>
              <a:buChar char="–"/>
              <a:defRPr sz="1500"/>
            </a:lvl4pPr>
            <a:lvl5pPr marL="2286000" lvl="4" indent="-323850" algn="l">
              <a:lnSpc>
                <a:spcPct val="100000"/>
              </a:lnSpc>
              <a:spcBef>
                <a:spcPts val="300"/>
              </a:spcBef>
              <a:spcAft>
                <a:spcPts val="0"/>
              </a:spcAft>
              <a:buClr>
                <a:schemeClr val="dk1"/>
              </a:buClr>
              <a:buSzPts val="1500"/>
              <a:buChar char="»"/>
              <a:defRPr sz="1500"/>
            </a:lvl5pPr>
            <a:lvl6pPr marL="2743200" lvl="5" indent="-323850" algn="l">
              <a:lnSpc>
                <a:spcPct val="100000"/>
              </a:lnSpc>
              <a:spcBef>
                <a:spcPts val="300"/>
              </a:spcBef>
              <a:spcAft>
                <a:spcPts val="0"/>
              </a:spcAft>
              <a:buClr>
                <a:schemeClr val="dk1"/>
              </a:buClr>
              <a:buSzPts val="1500"/>
              <a:buChar char="•"/>
              <a:defRPr sz="1500"/>
            </a:lvl6pPr>
            <a:lvl7pPr marL="3200400" lvl="6" indent="-323850" algn="l">
              <a:lnSpc>
                <a:spcPct val="100000"/>
              </a:lnSpc>
              <a:spcBef>
                <a:spcPts val="300"/>
              </a:spcBef>
              <a:spcAft>
                <a:spcPts val="0"/>
              </a:spcAft>
              <a:buClr>
                <a:schemeClr val="dk1"/>
              </a:buClr>
              <a:buSzPts val="1500"/>
              <a:buChar char="•"/>
              <a:defRPr sz="1500"/>
            </a:lvl7pPr>
            <a:lvl8pPr marL="3657600" lvl="7" indent="-323850" algn="l">
              <a:lnSpc>
                <a:spcPct val="100000"/>
              </a:lnSpc>
              <a:spcBef>
                <a:spcPts val="300"/>
              </a:spcBef>
              <a:spcAft>
                <a:spcPts val="0"/>
              </a:spcAft>
              <a:buClr>
                <a:schemeClr val="dk1"/>
              </a:buClr>
              <a:buSzPts val="1500"/>
              <a:buChar char="•"/>
              <a:defRPr sz="1500"/>
            </a:lvl8pPr>
            <a:lvl9pPr marL="4114800" lvl="8" indent="-323850" algn="l">
              <a:lnSpc>
                <a:spcPct val="100000"/>
              </a:lnSpc>
              <a:spcBef>
                <a:spcPts val="300"/>
              </a:spcBef>
              <a:spcAft>
                <a:spcPts val="0"/>
              </a:spcAft>
              <a:buClr>
                <a:schemeClr val="dk1"/>
              </a:buClr>
              <a:buSzPts val="1500"/>
              <a:buChar char="•"/>
              <a:defRPr sz="1500"/>
            </a:lvl9pPr>
          </a:lstStyle>
          <a:p>
            <a:endParaRPr/>
          </a:p>
        </p:txBody>
      </p:sp>
      <p:sp>
        <p:nvSpPr>
          <p:cNvPr id="120" name="Google Shape;120;p33"/>
          <p:cNvSpPr txBox="1">
            <a:spLocks noGrp="1"/>
          </p:cNvSpPr>
          <p:nvPr>
            <p:ph type="body" idx="2"/>
          </p:nvPr>
        </p:nvSpPr>
        <p:spPr>
          <a:xfrm>
            <a:off x="342900" y="1076325"/>
            <a:ext cx="2256235" cy="3518297"/>
          </a:xfrm>
          <a:prstGeom prst="rect">
            <a:avLst/>
          </a:prstGeom>
          <a:noFill/>
          <a:ln>
            <a:noFill/>
          </a:ln>
        </p:spPr>
        <p:txBody>
          <a:bodyPr spcFirstLastPara="1" wrap="square" lIns="68575" tIns="34275" rIns="68575" bIns="34275" anchor="t" anchorCtr="0">
            <a:normAutofit/>
          </a:bodyPr>
          <a:lstStyle>
            <a:lvl1pPr marL="457200" lvl="0" indent="-228600" algn="l">
              <a:lnSpc>
                <a:spcPct val="100000"/>
              </a:lnSpc>
              <a:spcBef>
                <a:spcPts val="200"/>
              </a:spcBef>
              <a:spcAft>
                <a:spcPts val="0"/>
              </a:spcAft>
              <a:buClr>
                <a:schemeClr val="dk1"/>
              </a:buClr>
              <a:buSzPts val="1100"/>
              <a:buNone/>
              <a:defRPr sz="1100"/>
            </a:lvl1pPr>
            <a:lvl2pPr marL="914400" lvl="1" indent="-228600" algn="l">
              <a:lnSpc>
                <a:spcPct val="100000"/>
              </a:lnSpc>
              <a:spcBef>
                <a:spcPts val="200"/>
              </a:spcBef>
              <a:spcAft>
                <a:spcPts val="0"/>
              </a:spcAft>
              <a:buClr>
                <a:schemeClr val="dk1"/>
              </a:buClr>
              <a:buSzPts val="900"/>
              <a:buNone/>
              <a:defRPr sz="900"/>
            </a:lvl2pPr>
            <a:lvl3pPr marL="1371600" lvl="2" indent="-228600" algn="l">
              <a:lnSpc>
                <a:spcPct val="100000"/>
              </a:lnSpc>
              <a:spcBef>
                <a:spcPts val="200"/>
              </a:spcBef>
              <a:spcAft>
                <a:spcPts val="0"/>
              </a:spcAft>
              <a:buClr>
                <a:schemeClr val="dk1"/>
              </a:buClr>
              <a:buSzPts val="800"/>
              <a:buNone/>
              <a:defRPr sz="800"/>
            </a:lvl3pPr>
            <a:lvl4pPr marL="1828800" lvl="3" indent="-228600" algn="l">
              <a:lnSpc>
                <a:spcPct val="100000"/>
              </a:lnSpc>
              <a:spcBef>
                <a:spcPts val="100"/>
              </a:spcBef>
              <a:spcAft>
                <a:spcPts val="0"/>
              </a:spcAft>
              <a:buClr>
                <a:schemeClr val="dk1"/>
              </a:buClr>
              <a:buSzPts val="700"/>
              <a:buNone/>
              <a:defRPr sz="700"/>
            </a:lvl4pPr>
            <a:lvl5pPr marL="2286000" lvl="4" indent="-228600" algn="l">
              <a:lnSpc>
                <a:spcPct val="100000"/>
              </a:lnSpc>
              <a:spcBef>
                <a:spcPts val="100"/>
              </a:spcBef>
              <a:spcAft>
                <a:spcPts val="0"/>
              </a:spcAft>
              <a:buClr>
                <a:schemeClr val="dk1"/>
              </a:buClr>
              <a:buSzPts val="700"/>
              <a:buNone/>
              <a:defRPr sz="700"/>
            </a:lvl5pPr>
            <a:lvl6pPr marL="2743200" lvl="5" indent="-228600" algn="l">
              <a:lnSpc>
                <a:spcPct val="100000"/>
              </a:lnSpc>
              <a:spcBef>
                <a:spcPts val="100"/>
              </a:spcBef>
              <a:spcAft>
                <a:spcPts val="0"/>
              </a:spcAft>
              <a:buClr>
                <a:schemeClr val="dk1"/>
              </a:buClr>
              <a:buSzPts val="700"/>
              <a:buNone/>
              <a:defRPr sz="700"/>
            </a:lvl6pPr>
            <a:lvl7pPr marL="3200400" lvl="6" indent="-228600" algn="l">
              <a:lnSpc>
                <a:spcPct val="100000"/>
              </a:lnSpc>
              <a:spcBef>
                <a:spcPts val="100"/>
              </a:spcBef>
              <a:spcAft>
                <a:spcPts val="0"/>
              </a:spcAft>
              <a:buClr>
                <a:schemeClr val="dk1"/>
              </a:buClr>
              <a:buSzPts val="700"/>
              <a:buNone/>
              <a:defRPr sz="700"/>
            </a:lvl7pPr>
            <a:lvl8pPr marL="3657600" lvl="7" indent="-228600" algn="l">
              <a:lnSpc>
                <a:spcPct val="100000"/>
              </a:lnSpc>
              <a:spcBef>
                <a:spcPts val="100"/>
              </a:spcBef>
              <a:spcAft>
                <a:spcPts val="0"/>
              </a:spcAft>
              <a:buClr>
                <a:schemeClr val="dk1"/>
              </a:buClr>
              <a:buSzPts val="700"/>
              <a:buNone/>
              <a:defRPr sz="700"/>
            </a:lvl8pPr>
            <a:lvl9pPr marL="4114800" lvl="8" indent="-228600" algn="l">
              <a:lnSpc>
                <a:spcPct val="100000"/>
              </a:lnSpc>
              <a:spcBef>
                <a:spcPts val="100"/>
              </a:spcBef>
              <a:spcAft>
                <a:spcPts val="0"/>
              </a:spcAft>
              <a:buClr>
                <a:schemeClr val="dk1"/>
              </a:buClr>
              <a:buSzPts val="700"/>
              <a:buNone/>
              <a:defRPr sz="700"/>
            </a:lvl9pPr>
          </a:lstStyle>
          <a:p>
            <a:endParaRPr/>
          </a:p>
        </p:txBody>
      </p:sp>
      <p:sp>
        <p:nvSpPr>
          <p:cNvPr id="121" name="Google Shape;121;p33"/>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2" name="Google Shape;122;p33"/>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3" name="Google Shape;123;p33"/>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24"/>
        <p:cNvGrpSpPr/>
        <p:nvPr/>
      </p:nvGrpSpPr>
      <p:grpSpPr>
        <a:xfrm>
          <a:off x="0" y="0"/>
          <a:ext cx="0" cy="0"/>
          <a:chOff x="0" y="0"/>
          <a:chExt cx="0" cy="0"/>
        </a:xfrm>
      </p:grpSpPr>
      <p:sp>
        <p:nvSpPr>
          <p:cNvPr id="125" name="Google Shape;125;p34"/>
          <p:cNvSpPr txBox="1">
            <a:spLocks noGrp="1"/>
          </p:cNvSpPr>
          <p:nvPr>
            <p:ph type="title"/>
          </p:nvPr>
        </p:nvSpPr>
        <p:spPr>
          <a:xfrm>
            <a:off x="1344216" y="3600450"/>
            <a:ext cx="4114800" cy="425054"/>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1500"/>
              <a:buFont typeface="Calibri"/>
              <a:buNone/>
              <a:defRPr sz="15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6" name="Google Shape;126;p34"/>
          <p:cNvSpPr>
            <a:spLocks noGrp="1"/>
          </p:cNvSpPr>
          <p:nvPr>
            <p:ph type="pic" idx="2"/>
          </p:nvPr>
        </p:nvSpPr>
        <p:spPr>
          <a:xfrm>
            <a:off x="1344216" y="459581"/>
            <a:ext cx="4114800" cy="3086100"/>
          </a:xfrm>
          <a:prstGeom prst="rect">
            <a:avLst/>
          </a:prstGeom>
          <a:noFill/>
          <a:ln>
            <a:noFill/>
          </a:ln>
        </p:spPr>
      </p:sp>
      <p:sp>
        <p:nvSpPr>
          <p:cNvPr id="127" name="Google Shape;127;p34"/>
          <p:cNvSpPr txBox="1">
            <a:spLocks noGrp="1"/>
          </p:cNvSpPr>
          <p:nvPr>
            <p:ph type="body" idx="1"/>
          </p:nvPr>
        </p:nvSpPr>
        <p:spPr>
          <a:xfrm>
            <a:off x="1344216" y="4025503"/>
            <a:ext cx="4114800" cy="603647"/>
          </a:xfrm>
          <a:prstGeom prst="rect">
            <a:avLst/>
          </a:prstGeom>
          <a:noFill/>
          <a:ln>
            <a:noFill/>
          </a:ln>
        </p:spPr>
        <p:txBody>
          <a:bodyPr spcFirstLastPara="1" wrap="square" lIns="68575" tIns="34275" rIns="68575" bIns="34275" anchor="t" anchorCtr="0">
            <a:normAutofit/>
          </a:bodyPr>
          <a:lstStyle>
            <a:lvl1pPr marL="457200" lvl="0" indent="-228600" algn="l">
              <a:lnSpc>
                <a:spcPct val="100000"/>
              </a:lnSpc>
              <a:spcBef>
                <a:spcPts val="200"/>
              </a:spcBef>
              <a:spcAft>
                <a:spcPts val="0"/>
              </a:spcAft>
              <a:buClr>
                <a:schemeClr val="dk1"/>
              </a:buClr>
              <a:buSzPts val="1100"/>
              <a:buNone/>
              <a:defRPr sz="1100"/>
            </a:lvl1pPr>
            <a:lvl2pPr marL="914400" lvl="1" indent="-228600" algn="l">
              <a:lnSpc>
                <a:spcPct val="100000"/>
              </a:lnSpc>
              <a:spcBef>
                <a:spcPts val="200"/>
              </a:spcBef>
              <a:spcAft>
                <a:spcPts val="0"/>
              </a:spcAft>
              <a:buClr>
                <a:schemeClr val="dk1"/>
              </a:buClr>
              <a:buSzPts val="900"/>
              <a:buNone/>
              <a:defRPr sz="900"/>
            </a:lvl2pPr>
            <a:lvl3pPr marL="1371600" lvl="2" indent="-228600" algn="l">
              <a:lnSpc>
                <a:spcPct val="100000"/>
              </a:lnSpc>
              <a:spcBef>
                <a:spcPts val="200"/>
              </a:spcBef>
              <a:spcAft>
                <a:spcPts val="0"/>
              </a:spcAft>
              <a:buClr>
                <a:schemeClr val="dk1"/>
              </a:buClr>
              <a:buSzPts val="800"/>
              <a:buNone/>
              <a:defRPr sz="800"/>
            </a:lvl3pPr>
            <a:lvl4pPr marL="1828800" lvl="3" indent="-228600" algn="l">
              <a:lnSpc>
                <a:spcPct val="100000"/>
              </a:lnSpc>
              <a:spcBef>
                <a:spcPts val="100"/>
              </a:spcBef>
              <a:spcAft>
                <a:spcPts val="0"/>
              </a:spcAft>
              <a:buClr>
                <a:schemeClr val="dk1"/>
              </a:buClr>
              <a:buSzPts val="700"/>
              <a:buNone/>
              <a:defRPr sz="700"/>
            </a:lvl4pPr>
            <a:lvl5pPr marL="2286000" lvl="4" indent="-228600" algn="l">
              <a:lnSpc>
                <a:spcPct val="100000"/>
              </a:lnSpc>
              <a:spcBef>
                <a:spcPts val="100"/>
              </a:spcBef>
              <a:spcAft>
                <a:spcPts val="0"/>
              </a:spcAft>
              <a:buClr>
                <a:schemeClr val="dk1"/>
              </a:buClr>
              <a:buSzPts val="700"/>
              <a:buNone/>
              <a:defRPr sz="700"/>
            </a:lvl5pPr>
            <a:lvl6pPr marL="2743200" lvl="5" indent="-228600" algn="l">
              <a:lnSpc>
                <a:spcPct val="100000"/>
              </a:lnSpc>
              <a:spcBef>
                <a:spcPts val="100"/>
              </a:spcBef>
              <a:spcAft>
                <a:spcPts val="0"/>
              </a:spcAft>
              <a:buClr>
                <a:schemeClr val="dk1"/>
              </a:buClr>
              <a:buSzPts val="700"/>
              <a:buNone/>
              <a:defRPr sz="700"/>
            </a:lvl6pPr>
            <a:lvl7pPr marL="3200400" lvl="6" indent="-228600" algn="l">
              <a:lnSpc>
                <a:spcPct val="100000"/>
              </a:lnSpc>
              <a:spcBef>
                <a:spcPts val="100"/>
              </a:spcBef>
              <a:spcAft>
                <a:spcPts val="0"/>
              </a:spcAft>
              <a:buClr>
                <a:schemeClr val="dk1"/>
              </a:buClr>
              <a:buSzPts val="700"/>
              <a:buNone/>
              <a:defRPr sz="700"/>
            </a:lvl7pPr>
            <a:lvl8pPr marL="3657600" lvl="7" indent="-228600" algn="l">
              <a:lnSpc>
                <a:spcPct val="100000"/>
              </a:lnSpc>
              <a:spcBef>
                <a:spcPts val="100"/>
              </a:spcBef>
              <a:spcAft>
                <a:spcPts val="0"/>
              </a:spcAft>
              <a:buClr>
                <a:schemeClr val="dk1"/>
              </a:buClr>
              <a:buSzPts val="700"/>
              <a:buNone/>
              <a:defRPr sz="700"/>
            </a:lvl8pPr>
            <a:lvl9pPr marL="4114800" lvl="8" indent="-228600" algn="l">
              <a:lnSpc>
                <a:spcPct val="100000"/>
              </a:lnSpc>
              <a:spcBef>
                <a:spcPts val="100"/>
              </a:spcBef>
              <a:spcAft>
                <a:spcPts val="0"/>
              </a:spcAft>
              <a:buClr>
                <a:schemeClr val="dk1"/>
              </a:buClr>
              <a:buSzPts val="700"/>
              <a:buNone/>
              <a:defRPr sz="700"/>
            </a:lvl9pPr>
          </a:lstStyle>
          <a:p>
            <a:endParaRPr/>
          </a:p>
        </p:txBody>
      </p:sp>
      <p:sp>
        <p:nvSpPr>
          <p:cNvPr id="128" name="Google Shape;128;p34"/>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9" name="Google Shape;129;p34"/>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0" name="Google Shape;130;p34"/>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31"/>
        <p:cNvGrpSpPr/>
        <p:nvPr/>
      </p:nvGrpSpPr>
      <p:grpSpPr>
        <a:xfrm>
          <a:off x="0" y="0"/>
          <a:ext cx="0" cy="0"/>
          <a:chOff x="0" y="0"/>
          <a:chExt cx="0" cy="0"/>
        </a:xfrm>
      </p:grpSpPr>
      <p:sp>
        <p:nvSpPr>
          <p:cNvPr id="132" name="Google Shape;132;p35"/>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3" name="Google Shape;133;p35"/>
          <p:cNvSpPr txBox="1">
            <a:spLocks noGrp="1"/>
          </p:cNvSpPr>
          <p:nvPr>
            <p:ph type="body" idx="1"/>
          </p:nvPr>
        </p:nvSpPr>
        <p:spPr>
          <a:xfrm rot="5400000">
            <a:off x="1731764" y="-188714"/>
            <a:ext cx="3394472" cy="6172200"/>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134" name="Google Shape;134;p35"/>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5" name="Google Shape;135;p35"/>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6" name="Google Shape;136;p35"/>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37"/>
        <p:cNvGrpSpPr/>
        <p:nvPr/>
      </p:nvGrpSpPr>
      <p:grpSpPr>
        <a:xfrm>
          <a:off x="0" y="0"/>
          <a:ext cx="0" cy="0"/>
          <a:chOff x="0" y="0"/>
          <a:chExt cx="0" cy="0"/>
        </a:xfrm>
      </p:grpSpPr>
      <p:sp>
        <p:nvSpPr>
          <p:cNvPr id="138" name="Google Shape;138;p36"/>
          <p:cNvSpPr txBox="1">
            <a:spLocks noGrp="1"/>
          </p:cNvSpPr>
          <p:nvPr>
            <p:ph type="title"/>
          </p:nvPr>
        </p:nvSpPr>
        <p:spPr>
          <a:xfrm rot="5400000">
            <a:off x="3549253" y="1628775"/>
            <a:ext cx="4388644" cy="15430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9" name="Google Shape;139;p36"/>
          <p:cNvSpPr txBox="1">
            <a:spLocks noGrp="1"/>
          </p:cNvSpPr>
          <p:nvPr>
            <p:ph type="body" idx="1"/>
          </p:nvPr>
        </p:nvSpPr>
        <p:spPr>
          <a:xfrm rot="5400000">
            <a:off x="406003" y="142875"/>
            <a:ext cx="4388644" cy="4514850"/>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140" name="Google Shape;140;p36"/>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1" name="Google Shape;141;p36"/>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2" name="Google Shape;142;p36"/>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theme" Target="../theme/theme5.xml"/><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8"/>
        <p:cNvGrpSpPr/>
        <p:nvPr/>
      </p:nvGrpSpPr>
      <p:grpSpPr>
        <a:xfrm>
          <a:off x="0" y="0"/>
          <a:ext cx="0" cy="0"/>
          <a:chOff x="0" y="0"/>
          <a:chExt cx="0" cy="0"/>
        </a:xfrm>
      </p:grpSpPr>
      <p:sp>
        <p:nvSpPr>
          <p:cNvPr id="69" name="Google Shape;69;p25"/>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marR="0" lvl="0" algn="ctr" rtl="0">
              <a:lnSpc>
                <a:spcPct val="10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
        <p:nvSpPr>
          <p:cNvPr id="70" name="Google Shape;70;p25"/>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marR="0" lvl="0" indent="-381000" algn="l" rtl="0">
              <a:lnSpc>
                <a:spcPct val="100000"/>
              </a:lnSpc>
              <a:spcBef>
                <a:spcPts val="500"/>
              </a:spcBef>
              <a:spcAft>
                <a:spcPts val="0"/>
              </a:spcAft>
              <a:buClr>
                <a:schemeClr val="dk1"/>
              </a:buClr>
              <a:buSzPts val="2400"/>
              <a:buFont typeface="Calibri"/>
              <a:buChar char="•"/>
              <a:defRPr sz="2400" b="0" i="0" u="none" strike="noStrike" cap="none">
                <a:solidFill>
                  <a:schemeClr val="dk1"/>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71" name="Google Shape;71;p25"/>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72" name="Google Shape;72;p25"/>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73" name="Google Shape;73;p25"/>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 id="214748367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5.xml"/><Relationship Id="rId5" Type="http://schemas.openxmlformats.org/officeDocument/2006/relationships/image" Target="../media/image4.pn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9.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9.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18" Type="http://schemas.openxmlformats.org/officeDocument/2006/relationships/image" Target="../media/image30.png"/><Relationship Id="rId3" Type="http://schemas.openxmlformats.org/officeDocument/2006/relationships/image" Target="../media/image5.png"/><Relationship Id="rId21" Type="http://schemas.openxmlformats.org/officeDocument/2006/relationships/image" Target="../media/image33.png"/><Relationship Id="rId7" Type="http://schemas.openxmlformats.org/officeDocument/2006/relationships/image" Target="../media/image19.png"/><Relationship Id="rId12" Type="http://schemas.openxmlformats.org/officeDocument/2006/relationships/image" Target="../media/image24.png"/><Relationship Id="rId17" Type="http://schemas.openxmlformats.org/officeDocument/2006/relationships/image" Target="../media/image29.png"/><Relationship Id="rId2" Type="http://schemas.openxmlformats.org/officeDocument/2006/relationships/notesSlide" Target="../notesSlides/notesSlide6.xml"/><Relationship Id="rId16" Type="http://schemas.openxmlformats.org/officeDocument/2006/relationships/image" Target="../media/image28.png"/><Relationship Id="rId20" Type="http://schemas.openxmlformats.org/officeDocument/2006/relationships/image" Target="../media/image32.png"/><Relationship Id="rId1" Type="http://schemas.openxmlformats.org/officeDocument/2006/relationships/slideLayout" Target="../slideLayouts/slideLayout19.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19" Type="http://schemas.openxmlformats.org/officeDocument/2006/relationships/image" Target="../media/image31.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7.xml"/><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0.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19.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4.xml"/><Relationship Id="rId1" Type="http://schemas.openxmlformats.org/officeDocument/2006/relationships/slideLayout" Target="../slideLayouts/slideLayout21.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16.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4.xml"/><Relationship Id="rId1" Type="http://schemas.openxmlformats.org/officeDocument/2006/relationships/slideLayout" Target="../slideLayouts/slideLayout15.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6.xml"/><Relationship Id="rId1" Type="http://schemas.openxmlformats.org/officeDocument/2006/relationships/slideLayout" Target="../slideLayouts/slideLayout15.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0.xml"/><Relationship Id="rId1" Type="http://schemas.openxmlformats.org/officeDocument/2006/relationships/slideLayout" Target="../slideLayouts/slideLayout17.xm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5.xml"/><Relationship Id="rId1" Type="http://schemas.openxmlformats.org/officeDocument/2006/relationships/slideLayout" Target="../slideLayouts/slideLayout17.xml"/><Relationship Id="rId5" Type="http://schemas.openxmlformats.org/officeDocument/2006/relationships/image" Target="../media/image73.png"/><Relationship Id="rId4" Type="http://schemas.openxmlformats.org/officeDocument/2006/relationships/image" Target="../media/image7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37" descr="/home/claude/work/assets/clappy_claude_wave.png"/>
          <p:cNvPicPr preferRelativeResize="0"/>
          <p:nvPr/>
        </p:nvPicPr>
        <p:blipFill rotWithShape="1">
          <a:blip r:embed="rId3">
            <a:alphaModFix/>
          </a:blip>
          <a:srcRect/>
          <a:stretch/>
        </p:blipFill>
        <p:spPr>
          <a:xfrm>
            <a:off x="6309360" y="1611630"/>
            <a:ext cx="2125980" cy="2338578"/>
          </a:xfrm>
          <a:prstGeom prst="rect">
            <a:avLst/>
          </a:prstGeom>
          <a:noFill/>
          <a:ln>
            <a:noFill/>
          </a:ln>
        </p:spPr>
      </p:pic>
      <p:sp>
        <p:nvSpPr>
          <p:cNvPr id="149" name="Google Shape;149;p37"/>
          <p:cNvSpPr txBox="1"/>
          <p:nvPr/>
        </p:nvSpPr>
        <p:spPr>
          <a:xfrm>
            <a:off x="548640" y="1200150"/>
            <a:ext cx="5554980" cy="1371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6"/>
              </a:buClr>
              <a:buSzPts val="3800"/>
              <a:buFont typeface="Century Schoolbook"/>
              <a:buNone/>
            </a:pPr>
            <a:r>
              <a:rPr lang="en-GB" sz="3800" b="1">
                <a:solidFill>
                  <a:srgbClr val="EAF1F6"/>
                </a:solidFill>
                <a:latin typeface="Century Schoolbook"/>
                <a:ea typeface="Century Schoolbook"/>
                <a:cs typeface="Century Schoolbook"/>
                <a:sym typeface="Century Schoolbook"/>
              </a:rPr>
              <a:t>A Tester's Guide to</a:t>
            </a:r>
            <a:endParaRPr sz="3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EAF1F6"/>
              </a:buClr>
              <a:buSzPts val="3800"/>
              <a:buFont typeface="Century Schoolbook"/>
              <a:buNone/>
            </a:pPr>
            <a:r>
              <a:rPr lang="en-GB" sz="3800" b="1">
                <a:solidFill>
                  <a:srgbClr val="EAF1F6"/>
                </a:solidFill>
                <a:latin typeface="Century Schoolbook"/>
                <a:ea typeface="Century Schoolbook"/>
                <a:cs typeface="Century Schoolbook"/>
                <a:sym typeface="Century Schoolbook"/>
              </a:rPr>
              <a:t>Claude Code</a:t>
            </a:r>
            <a:endParaRPr sz="3800">
              <a:solidFill>
                <a:schemeClr val="dk1"/>
              </a:solidFill>
              <a:latin typeface="Calibri"/>
              <a:ea typeface="Calibri"/>
              <a:cs typeface="Calibri"/>
              <a:sym typeface="Calibri"/>
            </a:endParaRPr>
          </a:p>
        </p:txBody>
      </p:sp>
      <p:sp>
        <p:nvSpPr>
          <p:cNvPr id="150" name="Google Shape;150;p37"/>
          <p:cNvSpPr txBox="1"/>
          <p:nvPr/>
        </p:nvSpPr>
        <p:spPr>
          <a:xfrm>
            <a:off x="562356" y="2537460"/>
            <a:ext cx="5486400" cy="411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272B4"/>
              </a:buClr>
              <a:buSzPts val="1700"/>
              <a:buFont typeface="Century Schoolbook"/>
              <a:buNone/>
            </a:pPr>
            <a:r>
              <a:rPr lang="en-GB" sz="1700" i="1">
                <a:solidFill>
                  <a:srgbClr val="0272B4"/>
                </a:solidFill>
                <a:latin typeface="Century Schoolbook"/>
                <a:ea typeface="Century Schoolbook"/>
                <a:cs typeface="Century Schoolbook"/>
                <a:sym typeface="Century Schoolbook"/>
              </a:rPr>
              <a:t>From Setup to Scripting</a:t>
            </a:r>
            <a:endParaRPr sz="1700">
              <a:solidFill>
                <a:schemeClr val="dk1"/>
              </a:solidFill>
              <a:latin typeface="Calibri"/>
              <a:ea typeface="Calibri"/>
              <a:cs typeface="Calibri"/>
              <a:sym typeface="Calibri"/>
            </a:endParaRPr>
          </a:p>
        </p:txBody>
      </p:sp>
      <p:cxnSp>
        <p:nvCxnSpPr>
          <p:cNvPr id="151" name="Google Shape;151;p37"/>
          <p:cNvCxnSpPr/>
          <p:nvPr/>
        </p:nvCxnSpPr>
        <p:spPr>
          <a:xfrm>
            <a:off x="562356" y="3909060"/>
            <a:ext cx="4526280" cy="0"/>
          </a:xfrm>
          <a:prstGeom prst="straightConnector1">
            <a:avLst/>
          </a:prstGeom>
          <a:noFill/>
          <a:ln w="19050" cap="flat" cmpd="sng">
            <a:solidFill>
              <a:srgbClr val="243240"/>
            </a:solidFill>
            <a:prstDash val="solid"/>
            <a:round/>
            <a:headEnd type="none" w="sm" len="sm"/>
            <a:tailEnd type="none" w="sm" len="sm"/>
          </a:ln>
        </p:spPr>
      </p:cxnSp>
      <p:sp>
        <p:nvSpPr>
          <p:cNvPr id="152" name="Google Shape;152;p37"/>
          <p:cNvSpPr txBox="1"/>
          <p:nvPr/>
        </p:nvSpPr>
        <p:spPr>
          <a:xfrm>
            <a:off x="562356" y="4046220"/>
            <a:ext cx="75438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AF1F6"/>
              </a:buClr>
              <a:buSzPts val="1100"/>
              <a:buFont typeface="Calibri"/>
              <a:buNone/>
            </a:pPr>
            <a:r>
              <a:rPr lang="en-GB" sz="1100" b="1">
                <a:solidFill>
                  <a:srgbClr val="EAF1F6"/>
                </a:solidFill>
                <a:latin typeface="Calibri"/>
                <a:ea typeface="Calibri"/>
                <a:cs typeface="Calibri"/>
                <a:sym typeface="Calibri"/>
              </a:rPr>
              <a:t>Adonis Celestine</a:t>
            </a:r>
            <a:r>
              <a:rPr lang="en-GB" sz="1100">
                <a:solidFill>
                  <a:srgbClr val="8FA0AE"/>
                </a:solidFill>
                <a:latin typeface="Calibri"/>
                <a:ea typeface="Calibri"/>
                <a:cs typeface="Calibri"/>
                <a:sym typeface="Calibri"/>
              </a:rPr>
              <a:t>   Senior Director, Global Automation Practice Lead, Applause</a:t>
            </a:r>
            <a:endParaRPr sz="1100">
              <a:solidFill>
                <a:schemeClr val="dk1"/>
              </a:solidFill>
              <a:latin typeface="Calibri"/>
              <a:ea typeface="Calibri"/>
              <a:cs typeface="Calibri"/>
              <a:sym typeface="Calibri"/>
            </a:endParaRPr>
          </a:p>
        </p:txBody>
      </p:sp>
      <p:sp>
        <p:nvSpPr>
          <p:cNvPr id="153" name="Google Shape;153;p37"/>
          <p:cNvSpPr txBox="1"/>
          <p:nvPr/>
        </p:nvSpPr>
        <p:spPr>
          <a:xfrm>
            <a:off x="562356" y="4354830"/>
            <a:ext cx="75438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AF1F6"/>
              </a:buClr>
              <a:buSzPts val="1100"/>
              <a:buFont typeface="Calibri"/>
              <a:buNone/>
            </a:pPr>
            <a:r>
              <a:rPr lang="en-GB" sz="1100" b="1">
                <a:solidFill>
                  <a:srgbClr val="EAF1F6"/>
                </a:solidFill>
                <a:latin typeface="Calibri"/>
                <a:ea typeface="Calibri"/>
                <a:cs typeface="Calibri"/>
                <a:sym typeface="Calibri"/>
              </a:rPr>
              <a:t>Taras Lytvyn</a:t>
            </a:r>
            <a:r>
              <a:rPr lang="en-GB" sz="1100">
                <a:solidFill>
                  <a:srgbClr val="8FA0AE"/>
                </a:solidFill>
                <a:latin typeface="Calibri"/>
                <a:ea typeface="Calibri"/>
                <a:cs typeface="Calibri"/>
                <a:sym typeface="Calibri"/>
              </a:rPr>
              <a:t>   AI-first Test Automation Architect, Lead SDET, Applause</a:t>
            </a:r>
            <a:endParaRPr sz="11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58"/>
        <p:cNvGrpSpPr/>
        <p:nvPr/>
      </p:nvGrpSpPr>
      <p:grpSpPr>
        <a:xfrm>
          <a:off x="0" y="0"/>
          <a:ext cx="0" cy="0"/>
          <a:chOff x="0" y="0"/>
          <a:chExt cx="0" cy="0"/>
        </a:xfrm>
      </p:grpSpPr>
      <p:pic>
        <p:nvPicPr>
          <p:cNvPr id="159" name="Google Shape;159;p38" descr="Portrait of Adonis Celestine"/>
          <p:cNvPicPr preferRelativeResize="0"/>
          <p:nvPr/>
        </p:nvPicPr>
        <p:blipFill rotWithShape="1">
          <a:blip r:embed="rId3">
            <a:alphaModFix/>
          </a:blip>
          <a:srcRect/>
          <a:stretch/>
        </p:blipFill>
        <p:spPr>
          <a:xfrm>
            <a:off x="571500" y="1188720"/>
            <a:ext cx="1783080" cy="1783080"/>
          </a:xfrm>
          <a:prstGeom prst="ellipse">
            <a:avLst/>
          </a:prstGeom>
          <a:noFill/>
          <a:ln w="38100" cap="flat" cmpd="sng">
            <a:solidFill>
              <a:srgbClr val="0272B4"/>
            </a:solidFill>
            <a:prstDash val="solid"/>
            <a:round/>
            <a:headEnd type="none" w="sm" len="sm"/>
            <a:tailEnd type="none" w="sm" len="sm"/>
          </a:ln>
        </p:spPr>
      </p:pic>
      <p:sp>
        <p:nvSpPr>
          <p:cNvPr id="160" name="Google Shape;160;p38"/>
          <p:cNvSpPr txBox="1"/>
          <p:nvPr/>
        </p:nvSpPr>
        <p:spPr>
          <a:xfrm>
            <a:off x="137160" y="3154680"/>
            <a:ext cx="2651760" cy="40233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entury Schoolbook"/>
                <a:ea typeface="Century Schoolbook"/>
                <a:cs typeface="Century Schoolbook"/>
                <a:sym typeface="Century Schoolbook"/>
              </a:rPr>
              <a:t>Adonis Celestine</a:t>
            </a:r>
            <a:endParaRPr/>
          </a:p>
        </p:txBody>
      </p:sp>
      <p:sp>
        <p:nvSpPr>
          <p:cNvPr id="161" name="Google Shape;161;p38"/>
          <p:cNvSpPr txBox="1"/>
          <p:nvPr/>
        </p:nvSpPr>
        <p:spPr>
          <a:xfrm>
            <a:off x="137160" y="3575304"/>
            <a:ext cx="2651760" cy="5486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Author, International Speaker</a:t>
            </a:r>
            <a:endParaRPr/>
          </a:p>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Global Head of Automation</a:t>
            </a:r>
            <a:endParaRPr/>
          </a:p>
        </p:txBody>
      </p:sp>
      <p:pic>
        <p:nvPicPr>
          <p:cNvPr id="162" name="Google Shape;162;p38" descr="Portrait of Taras Lytvyn"/>
          <p:cNvPicPr preferRelativeResize="0"/>
          <p:nvPr/>
        </p:nvPicPr>
        <p:blipFill rotWithShape="1">
          <a:blip r:embed="rId4">
            <a:alphaModFix/>
          </a:blip>
          <a:srcRect/>
          <a:stretch/>
        </p:blipFill>
        <p:spPr>
          <a:xfrm>
            <a:off x="3268980" y="1188720"/>
            <a:ext cx="1783080" cy="1783080"/>
          </a:xfrm>
          <a:prstGeom prst="ellipse">
            <a:avLst/>
          </a:prstGeom>
          <a:noFill/>
          <a:ln w="38100" cap="flat" cmpd="sng">
            <a:solidFill>
              <a:srgbClr val="0272B4"/>
            </a:solidFill>
            <a:prstDash val="solid"/>
            <a:round/>
            <a:headEnd type="none" w="sm" len="sm"/>
            <a:tailEnd type="none" w="sm" len="sm"/>
          </a:ln>
        </p:spPr>
      </p:pic>
      <p:sp>
        <p:nvSpPr>
          <p:cNvPr id="163" name="Google Shape;163;p38"/>
          <p:cNvSpPr txBox="1"/>
          <p:nvPr/>
        </p:nvSpPr>
        <p:spPr>
          <a:xfrm>
            <a:off x="2834640" y="3154680"/>
            <a:ext cx="2651760" cy="40233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entury Schoolbook"/>
                <a:ea typeface="Century Schoolbook"/>
                <a:cs typeface="Century Schoolbook"/>
                <a:sym typeface="Century Schoolbook"/>
              </a:rPr>
              <a:t>Taras Lytvyn</a:t>
            </a:r>
            <a:endParaRPr/>
          </a:p>
        </p:txBody>
      </p:sp>
      <p:sp>
        <p:nvSpPr>
          <p:cNvPr id="164" name="Google Shape;164;p38"/>
          <p:cNvSpPr txBox="1"/>
          <p:nvPr/>
        </p:nvSpPr>
        <p:spPr>
          <a:xfrm>
            <a:off x="2834640" y="3575304"/>
            <a:ext cx="2651760" cy="5486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AI-first Test Automation Architect</a:t>
            </a:r>
            <a:endParaRPr/>
          </a:p>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Lead SDET</a:t>
            </a:r>
            <a:endParaRPr/>
          </a:p>
        </p:txBody>
      </p:sp>
      <p:pic>
        <p:nvPicPr>
          <p:cNvPr id="165" name="Google Shape;165;p38" descr="Applause"/>
          <p:cNvPicPr preferRelativeResize="0"/>
          <p:nvPr/>
        </p:nvPicPr>
        <p:blipFill rotWithShape="1">
          <a:blip r:embed="rId5">
            <a:alphaModFix/>
          </a:blip>
          <a:srcRect/>
          <a:stretch/>
        </p:blipFill>
        <p:spPr>
          <a:xfrm>
            <a:off x="6039612" y="566928"/>
            <a:ext cx="2286000" cy="373224"/>
          </a:xfrm>
          <a:prstGeom prst="rect">
            <a:avLst/>
          </a:prstGeom>
          <a:noFill/>
          <a:ln>
            <a:noFill/>
          </a:ln>
        </p:spPr>
      </p:pic>
      <p:sp>
        <p:nvSpPr>
          <p:cNvPr id="166" name="Google Shape;166;p38"/>
          <p:cNvSpPr/>
          <p:nvPr/>
        </p:nvSpPr>
        <p:spPr>
          <a:xfrm>
            <a:off x="5715000" y="1143000"/>
            <a:ext cx="2935224" cy="324612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8"/>
          <p:cNvSpPr txBox="1"/>
          <p:nvPr/>
        </p:nvSpPr>
        <p:spPr>
          <a:xfrm>
            <a:off x="5971032" y="1325880"/>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1.5M+</a:t>
            </a:r>
            <a:endParaRPr/>
          </a:p>
        </p:txBody>
      </p:sp>
      <p:sp>
        <p:nvSpPr>
          <p:cNvPr id="168" name="Google Shape;168;p38"/>
          <p:cNvSpPr txBox="1"/>
          <p:nvPr/>
        </p:nvSpPr>
        <p:spPr>
          <a:xfrm>
            <a:off x="7196328" y="1380744"/>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QA community</a:t>
            </a:r>
            <a:endParaRPr/>
          </a:p>
        </p:txBody>
      </p:sp>
      <p:sp>
        <p:nvSpPr>
          <p:cNvPr id="169" name="Google Shape;169;p38"/>
          <p:cNvSpPr txBox="1"/>
          <p:nvPr/>
        </p:nvSpPr>
        <p:spPr>
          <a:xfrm>
            <a:off x="5971032" y="1901952"/>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200+</a:t>
            </a:r>
            <a:endParaRPr/>
          </a:p>
        </p:txBody>
      </p:sp>
      <p:sp>
        <p:nvSpPr>
          <p:cNvPr id="170" name="Google Shape;170;p38"/>
          <p:cNvSpPr txBox="1"/>
          <p:nvPr/>
        </p:nvSpPr>
        <p:spPr>
          <a:xfrm>
            <a:off x="7196328" y="1956816"/>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Countries &amp; territories</a:t>
            </a:r>
            <a:endParaRPr/>
          </a:p>
        </p:txBody>
      </p:sp>
      <p:sp>
        <p:nvSpPr>
          <p:cNvPr id="171" name="Google Shape;171;p38"/>
          <p:cNvSpPr txBox="1"/>
          <p:nvPr/>
        </p:nvSpPr>
        <p:spPr>
          <a:xfrm>
            <a:off x="5971032" y="2478024"/>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150+</a:t>
            </a:r>
            <a:endParaRPr/>
          </a:p>
        </p:txBody>
      </p:sp>
      <p:sp>
        <p:nvSpPr>
          <p:cNvPr id="172" name="Google Shape;172;p38"/>
          <p:cNvSpPr txBox="1"/>
          <p:nvPr/>
        </p:nvSpPr>
        <p:spPr>
          <a:xfrm>
            <a:off x="7196328" y="2532888"/>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Languages</a:t>
            </a:r>
            <a:endParaRPr/>
          </a:p>
        </p:txBody>
      </p:sp>
      <p:sp>
        <p:nvSpPr>
          <p:cNvPr id="173" name="Google Shape;173;p38"/>
          <p:cNvSpPr txBox="1"/>
          <p:nvPr/>
        </p:nvSpPr>
        <p:spPr>
          <a:xfrm>
            <a:off x="5971032" y="3054096"/>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10M+</a:t>
            </a:r>
            <a:endParaRPr/>
          </a:p>
        </p:txBody>
      </p:sp>
      <p:sp>
        <p:nvSpPr>
          <p:cNvPr id="174" name="Google Shape;174;p38"/>
          <p:cNvSpPr txBox="1"/>
          <p:nvPr/>
        </p:nvSpPr>
        <p:spPr>
          <a:xfrm>
            <a:off x="7196328" y="3108960"/>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Devices worldwide</a:t>
            </a:r>
            <a:endParaRPr/>
          </a:p>
        </p:txBody>
      </p:sp>
      <p:sp>
        <p:nvSpPr>
          <p:cNvPr id="175" name="Google Shape;175;p38"/>
          <p:cNvSpPr txBox="1"/>
          <p:nvPr/>
        </p:nvSpPr>
        <p:spPr>
          <a:xfrm>
            <a:off x="5971032" y="3630168"/>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200K+</a:t>
            </a:r>
            <a:endParaRPr/>
          </a:p>
        </p:txBody>
      </p:sp>
      <p:sp>
        <p:nvSpPr>
          <p:cNvPr id="176" name="Google Shape;176;p38"/>
          <p:cNvSpPr txBox="1"/>
          <p:nvPr/>
        </p:nvSpPr>
        <p:spPr>
          <a:xfrm>
            <a:off x="7196328" y="3685032"/>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Bugs found a year</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81"/>
        <p:cNvGrpSpPr/>
        <p:nvPr/>
      </p:nvGrpSpPr>
      <p:grpSpPr>
        <a:xfrm>
          <a:off x="0" y="0"/>
          <a:ext cx="0" cy="0"/>
          <a:chOff x="0" y="0"/>
          <a:chExt cx="0" cy="0"/>
        </a:xfrm>
      </p:grpSpPr>
      <p:sp>
        <p:nvSpPr>
          <p:cNvPr id="182" name="Google Shape;182;p39"/>
          <p:cNvSpPr txBox="1"/>
          <p:nvPr/>
        </p:nvSpPr>
        <p:spPr>
          <a:xfrm>
            <a:off x="333700" y="630850"/>
            <a:ext cx="3849600" cy="2676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4000"/>
              <a:buFont typeface="Arial"/>
              <a:buNone/>
            </a:pPr>
            <a:r>
              <a:rPr lang="en-GB" sz="3400" b="1" i="0" u="none" strike="noStrike" cap="none">
                <a:solidFill>
                  <a:srgbClr val="FFFFFF"/>
                </a:solidFill>
                <a:latin typeface="Century Schoolbook"/>
                <a:ea typeface="Century Schoolbook"/>
                <a:cs typeface="Century Schoolbook"/>
                <a:sym typeface="Century Schoolbook"/>
              </a:rPr>
              <a:t>Who is </a:t>
            </a:r>
            <a:r>
              <a:rPr lang="en-GB" sz="3400" b="1" i="0" u="none" strike="noStrike" cap="none">
                <a:solidFill>
                  <a:srgbClr val="D97757"/>
                </a:solidFill>
                <a:latin typeface="Century Schoolbook"/>
                <a:ea typeface="Century Schoolbook"/>
                <a:cs typeface="Century Schoolbook"/>
                <a:sym typeface="Century Schoolbook"/>
              </a:rPr>
              <a:t>Claude</a:t>
            </a:r>
            <a:r>
              <a:rPr lang="en-GB" sz="3400" b="1" i="0" u="none" strike="noStrike" cap="none">
                <a:solidFill>
                  <a:srgbClr val="FFFFFF"/>
                </a:solidFill>
                <a:latin typeface="Century Schoolbook"/>
                <a:ea typeface="Century Schoolbook"/>
                <a:cs typeface="Century Schoolbook"/>
                <a:sym typeface="Century Schoolbook"/>
              </a:rPr>
              <a:t> named after?</a:t>
            </a:r>
            <a:endParaRPr sz="800"/>
          </a:p>
        </p:txBody>
      </p:sp>
      <p:pic>
        <p:nvPicPr>
          <p:cNvPr id="183" name="Google Shape;183;p39" descr="Clappy the robot holding a magnifying glass"/>
          <p:cNvPicPr preferRelativeResize="0"/>
          <p:nvPr/>
        </p:nvPicPr>
        <p:blipFill rotWithShape="1">
          <a:blip r:embed="rId3">
            <a:alphaModFix/>
          </a:blip>
          <a:srcRect/>
          <a:stretch/>
        </p:blipFill>
        <p:spPr>
          <a:xfrm>
            <a:off x="1774604" y="2631652"/>
            <a:ext cx="821576" cy="903725"/>
          </a:xfrm>
          <a:prstGeom prst="rect">
            <a:avLst/>
          </a:prstGeom>
          <a:noFill/>
          <a:ln>
            <a:noFill/>
          </a:ln>
        </p:spPr>
      </p:pic>
      <p:pic>
        <p:nvPicPr>
          <p:cNvPr id="184" name="Google Shape;184;p39" descr="Black-and-white portrait of Claude Shannon"/>
          <p:cNvPicPr preferRelativeResize="0"/>
          <p:nvPr/>
        </p:nvPicPr>
        <p:blipFill rotWithShape="1">
          <a:blip r:embed="rId4">
            <a:alphaModFix/>
          </a:blip>
          <a:srcRect/>
          <a:stretch/>
        </p:blipFill>
        <p:spPr>
          <a:xfrm>
            <a:off x="4572000" y="0"/>
            <a:ext cx="4572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89"/>
        <p:cNvGrpSpPr/>
        <p:nvPr/>
      </p:nvGrpSpPr>
      <p:grpSpPr>
        <a:xfrm>
          <a:off x="0" y="0"/>
          <a:ext cx="0" cy="0"/>
          <a:chOff x="0" y="0"/>
          <a:chExt cx="0" cy="0"/>
        </a:xfrm>
      </p:grpSpPr>
      <p:sp>
        <p:nvSpPr>
          <p:cNvPr id="190" name="Google Shape;190;p40"/>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Why we chose Claude Code for test automation</a:t>
            </a:r>
            <a:endParaRPr sz="1200" b="0">
              <a:solidFill>
                <a:schemeClr val="dk1"/>
              </a:solidFill>
              <a:latin typeface="Calibri"/>
              <a:ea typeface="Calibri"/>
              <a:cs typeface="Calibri"/>
              <a:sym typeface="Calibri"/>
            </a:endParaRPr>
          </a:p>
          <a:p>
            <a:pPr marL="0" lvl="0" indent="0" algn="l" rtl="0">
              <a:lnSpc>
                <a:spcPct val="100000"/>
              </a:lnSpc>
              <a:spcBef>
                <a:spcPts val="0"/>
              </a:spcBef>
              <a:spcAft>
                <a:spcPts val="0"/>
              </a:spcAft>
              <a:buClr>
                <a:srgbClr val="EAF1F7"/>
              </a:buClr>
              <a:buSzPts val="1900"/>
              <a:buFont typeface="Century Schoolbook"/>
              <a:buNone/>
            </a:pPr>
            <a:endParaRPr/>
          </a:p>
        </p:txBody>
      </p:sp>
      <p:grpSp>
        <p:nvGrpSpPr>
          <p:cNvPr id="191" name="Google Shape;191;p40"/>
          <p:cNvGrpSpPr/>
          <p:nvPr/>
        </p:nvGrpSpPr>
        <p:grpSpPr>
          <a:xfrm>
            <a:off x="400050" y="1234151"/>
            <a:ext cx="8743969" cy="2950500"/>
            <a:chOff x="400050" y="1014413"/>
            <a:chExt cx="8743969" cy="2950500"/>
          </a:xfrm>
        </p:grpSpPr>
        <p:sp>
          <p:nvSpPr>
            <p:cNvPr id="192" name="Google Shape;192;p40"/>
            <p:cNvSpPr/>
            <p:nvPr/>
          </p:nvSpPr>
          <p:spPr>
            <a:xfrm>
              <a:off x="400050" y="1014413"/>
              <a:ext cx="4086300" cy="2950500"/>
            </a:xfrm>
            <a:prstGeom prst="roundRect">
              <a:avLst>
                <a:gd name="adj" fmla="val 3389"/>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3" name="Google Shape;193;p40"/>
            <p:cNvSpPr/>
            <p:nvPr/>
          </p:nvSpPr>
          <p:spPr>
            <a:xfrm>
              <a:off x="4657725" y="1014413"/>
              <a:ext cx="4086300" cy="2950500"/>
            </a:xfrm>
            <a:prstGeom prst="roundRect">
              <a:avLst>
                <a:gd name="adj" fmla="val 3389"/>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4" name="Google Shape;194;p40"/>
            <p:cNvSpPr/>
            <p:nvPr/>
          </p:nvSpPr>
          <p:spPr>
            <a:xfrm>
              <a:off x="578644" y="2019895"/>
              <a:ext cx="3729000" cy="114300"/>
            </a:xfrm>
            <a:prstGeom prst="roundRect">
              <a:avLst>
                <a:gd name="adj" fmla="val 5000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5" name="Google Shape;195;p40"/>
            <p:cNvSpPr/>
            <p:nvPr/>
          </p:nvSpPr>
          <p:spPr>
            <a:xfrm>
              <a:off x="578644" y="2575322"/>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6" name="Google Shape;196;p40"/>
            <p:cNvSpPr/>
            <p:nvPr/>
          </p:nvSpPr>
          <p:spPr>
            <a:xfrm>
              <a:off x="578644" y="3130748"/>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7" name="Google Shape;197;p40"/>
            <p:cNvSpPr/>
            <p:nvPr/>
          </p:nvSpPr>
          <p:spPr>
            <a:xfrm>
              <a:off x="578644" y="3686175"/>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8" name="Google Shape;198;p40"/>
            <p:cNvSpPr/>
            <p:nvPr/>
          </p:nvSpPr>
          <p:spPr>
            <a:xfrm>
              <a:off x="4836319" y="2019895"/>
              <a:ext cx="3729000" cy="114300"/>
            </a:xfrm>
            <a:prstGeom prst="roundRect">
              <a:avLst>
                <a:gd name="adj" fmla="val 5000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199" name="Google Shape;199;p40"/>
            <p:cNvSpPr/>
            <p:nvPr/>
          </p:nvSpPr>
          <p:spPr>
            <a:xfrm>
              <a:off x="4836319" y="2575322"/>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0" name="Google Shape;200;p40"/>
            <p:cNvSpPr/>
            <p:nvPr/>
          </p:nvSpPr>
          <p:spPr>
            <a:xfrm>
              <a:off x="4836319" y="3130748"/>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1" name="Google Shape;201;p40"/>
            <p:cNvSpPr/>
            <p:nvPr/>
          </p:nvSpPr>
          <p:spPr>
            <a:xfrm>
              <a:off x="4836319" y="3686175"/>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2" name="Google Shape;202;p40"/>
            <p:cNvSpPr/>
            <p:nvPr/>
          </p:nvSpPr>
          <p:spPr>
            <a:xfrm>
              <a:off x="585788" y="2027039"/>
              <a:ext cx="3001500" cy="99900"/>
            </a:xfrm>
            <a:prstGeom prst="roundRect">
              <a:avLst>
                <a:gd name="adj" fmla="val 50000"/>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3" name="Google Shape;203;p40"/>
            <p:cNvSpPr/>
            <p:nvPr/>
          </p:nvSpPr>
          <p:spPr>
            <a:xfrm>
              <a:off x="578644" y="2575322"/>
              <a:ext cx="2938500" cy="114300"/>
            </a:xfrm>
            <a:prstGeom prst="roundRect">
              <a:avLst>
                <a:gd name="adj" fmla="val 5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4" name="Google Shape;204;p40"/>
            <p:cNvSpPr/>
            <p:nvPr/>
          </p:nvSpPr>
          <p:spPr>
            <a:xfrm>
              <a:off x="578644" y="3130748"/>
              <a:ext cx="2621400" cy="114300"/>
            </a:xfrm>
            <a:prstGeom prst="roundRect">
              <a:avLst>
                <a:gd name="adj" fmla="val 50000"/>
              </a:avLst>
            </a:prstGeom>
            <a:solidFill>
              <a:srgbClr val="93A9C0"/>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5" name="Google Shape;205;p40"/>
            <p:cNvSpPr/>
            <p:nvPr/>
          </p:nvSpPr>
          <p:spPr>
            <a:xfrm>
              <a:off x="578644" y="3686175"/>
              <a:ext cx="2256000" cy="114300"/>
            </a:xfrm>
            <a:prstGeom prst="roundRect">
              <a:avLst>
                <a:gd name="adj" fmla="val 50000"/>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6" name="Google Shape;206;p40"/>
            <p:cNvSpPr/>
            <p:nvPr/>
          </p:nvSpPr>
          <p:spPr>
            <a:xfrm>
              <a:off x="4843463" y="2027039"/>
              <a:ext cx="3714900" cy="99900"/>
            </a:xfrm>
            <a:prstGeom prst="roundRect">
              <a:avLst>
                <a:gd name="adj" fmla="val 50000"/>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7" name="Google Shape;207;p40"/>
            <p:cNvSpPr/>
            <p:nvPr/>
          </p:nvSpPr>
          <p:spPr>
            <a:xfrm>
              <a:off x="4836319" y="2575322"/>
              <a:ext cx="3729000" cy="114300"/>
            </a:xfrm>
            <a:prstGeom prst="roundRect">
              <a:avLst>
                <a:gd name="adj" fmla="val 5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8" name="Google Shape;208;p40"/>
            <p:cNvSpPr/>
            <p:nvPr/>
          </p:nvSpPr>
          <p:spPr>
            <a:xfrm>
              <a:off x="4836319" y="3130748"/>
              <a:ext cx="745800" cy="114300"/>
            </a:xfrm>
            <a:prstGeom prst="roundRect">
              <a:avLst>
                <a:gd name="adj" fmla="val 50000"/>
              </a:avLst>
            </a:prstGeom>
            <a:solidFill>
              <a:srgbClr val="93A9C0"/>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09" name="Google Shape;209;p40"/>
            <p:cNvSpPr/>
            <p:nvPr/>
          </p:nvSpPr>
          <p:spPr>
            <a:xfrm>
              <a:off x="4836319" y="3686175"/>
              <a:ext cx="477300" cy="114300"/>
            </a:xfrm>
            <a:prstGeom prst="roundRect">
              <a:avLst>
                <a:gd name="adj" fmla="val 50000"/>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210" name="Google Shape;210;p40" descr="image.png"/>
            <p:cNvPicPr preferRelativeResize="0"/>
            <p:nvPr/>
          </p:nvPicPr>
          <p:blipFill rotWithShape="1">
            <a:blip r:embed="rId3">
              <a:alphaModFix/>
            </a:blip>
            <a:srcRect/>
            <a:stretch/>
          </p:blipFill>
          <p:spPr>
            <a:xfrm>
              <a:off x="578644" y="1844873"/>
              <a:ext cx="114300" cy="100013"/>
            </a:xfrm>
            <a:prstGeom prst="rect">
              <a:avLst/>
            </a:prstGeom>
            <a:noFill/>
            <a:ln>
              <a:noFill/>
            </a:ln>
          </p:spPr>
        </p:pic>
        <p:pic>
          <p:nvPicPr>
            <p:cNvPr id="211" name="Google Shape;211;p40" descr="image.png"/>
            <p:cNvPicPr preferRelativeResize="0"/>
            <p:nvPr/>
          </p:nvPicPr>
          <p:blipFill rotWithShape="1">
            <a:blip r:embed="rId4">
              <a:alphaModFix/>
            </a:blip>
            <a:srcRect/>
            <a:stretch/>
          </p:blipFill>
          <p:spPr>
            <a:xfrm>
              <a:off x="578644" y="2400300"/>
              <a:ext cx="92869" cy="100013"/>
            </a:xfrm>
            <a:prstGeom prst="rect">
              <a:avLst/>
            </a:prstGeom>
            <a:noFill/>
            <a:ln>
              <a:noFill/>
            </a:ln>
          </p:spPr>
        </p:pic>
        <p:pic>
          <p:nvPicPr>
            <p:cNvPr id="212" name="Google Shape;212;p40" descr="image.png"/>
            <p:cNvPicPr preferRelativeResize="0"/>
            <p:nvPr/>
          </p:nvPicPr>
          <p:blipFill rotWithShape="1">
            <a:blip r:embed="rId5">
              <a:alphaModFix/>
            </a:blip>
            <a:srcRect/>
            <a:stretch/>
          </p:blipFill>
          <p:spPr>
            <a:xfrm>
              <a:off x="578644" y="2955726"/>
              <a:ext cx="128588" cy="100013"/>
            </a:xfrm>
            <a:prstGeom prst="rect">
              <a:avLst/>
            </a:prstGeom>
            <a:noFill/>
            <a:ln>
              <a:noFill/>
            </a:ln>
          </p:spPr>
        </p:pic>
        <p:pic>
          <p:nvPicPr>
            <p:cNvPr id="213" name="Google Shape;213;p40" descr="image.png"/>
            <p:cNvPicPr preferRelativeResize="0"/>
            <p:nvPr/>
          </p:nvPicPr>
          <p:blipFill rotWithShape="1">
            <a:blip r:embed="rId6">
              <a:alphaModFix/>
            </a:blip>
            <a:srcRect/>
            <a:stretch/>
          </p:blipFill>
          <p:spPr>
            <a:xfrm>
              <a:off x="578644" y="3511153"/>
              <a:ext cx="100013" cy="100013"/>
            </a:xfrm>
            <a:prstGeom prst="rect">
              <a:avLst/>
            </a:prstGeom>
            <a:noFill/>
            <a:ln>
              <a:noFill/>
            </a:ln>
          </p:spPr>
        </p:pic>
        <p:pic>
          <p:nvPicPr>
            <p:cNvPr id="214" name="Google Shape;214;p40" descr="image.png"/>
            <p:cNvPicPr preferRelativeResize="0"/>
            <p:nvPr/>
          </p:nvPicPr>
          <p:blipFill rotWithShape="1">
            <a:blip r:embed="rId7">
              <a:alphaModFix/>
            </a:blip>
            <a:srcRect/>
            <a:stretch/>
          </p:blipFill>
          <p:spPr>
            <a:xfrm>
              <a:off x="4836319" y="1844873"/>
              <a:ext cx="100013" cy="100013"/>
            </a:xfrm>
            <a:prstGeom prst="rect">
              <a:avLst/>
            </a:prstGeom>
            <a:noFill/>
            <a:ln>
              <a:noFill/>
            </a:ln>
          </p:spPr>
        </p:pic>
        <p:pic>
          <p:nvPicPr>
            <p:cNvPr id="215" name="Google Shape;215;p40" descr="image.png"/>
            <p:cNvPicPr preferRelativeResize="0"/>
            <p:nvPr/>
          </p:nvPicPr>
          <p:blipFill rotWithShape="1">
            <a:blip r:embed="rId4">
              <a:alphaModFix/>
            </a:blip>
            <a:srcRect/>
            <a:stretch/>
          </p:blipFill>
          <p:spPr>
            <a:xfrm>
              <a:off x="4836319" y="2400300"/>
              <a:ext cx="92869" cy="100013"/>
            </a:xfrm>
            <a:prstGeom prst="rect">
              <a:avLst/>
            </a:prstGeom>
            <a:noFill/>
            <a:ln>
              <a:noFill/>
            </a:ln>
          </p:spPr>
        </p:pic>
        <p:pic>
          <p:nvPicPr>
            <p:cNvPr id="216" name="Google Shape;216;p40" descr="image.png"/>
            <p:cNvPicPr preferRelativeResize="0"/>
            <p:nvPr/>
          </p:nvPicPr>
          <p:blipFill rotWithShape="1">
            <a:blip r:embed="rId5">
              <a:alphaModFix/>
            </a:blip>
            <a:srcRect/>
            <a:stretch/>
          </p:blipFill>
          <p:spPr>
            <a:xfrm>
              <a:off x="4836319" y="2955726"/>
              <a:ext cx="128588" cy="100013"/>
            </a:xfrm>
            <a:prstGeom prst="rect">
              <a:avLst/>
            </a:prstGeom>
            <a:noFill/>
            <a:ln>
              <a:noFill/>
            </a:ln>
          </p:spPr>
        </p:pic>
        <p:pic>
          <p:nvPicPr>
            <p:cNvPr id="217" name="Google Shape;217;p40" descr="image.png"/>
            <p:cNvPicPr preferRelativeResize="0"/>
            <p:nvPr/>
          </p:nvPicPr>
          <p:blipFill rotWithShape="1">
            <a:blip r:embed="rId6">
              <a:alphaModFix/>
            </a:blip>
            <a:srcRect/>
            <a:stretch/>
          </p:blipFill>
          <p:spPr>
            <a:xfrm>
              <a:off x="4836319" y="3511153"/>
              <a:ext cx="100013" cy="100013"/>
            </a:xfrm>
            <a:prstGeom prst="rect">
              <a:avLst/>
            </a:prstGeom>
            <a:noFill/>
            <a:ln>
              <a:noFill/>
            </a:ln>
          </p:spPr>
        </p:pic>
        <p:sp>
          <p:nvSpPr>
            <p:cNvPr id="218" name="Google Shape;218;p40"/>
            <p:cNvSpPr txBox="1"/>
            <p:nvPr/>
          </p:nvSpPr>
          <p:spPr>
            <a:xfrm>
              <a:off x="4836319" y="1421606"/>
              <a:ext cx="43077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6F89A6"/>
                  </a:solidFill>
                  <a:latin typeface="Calibri"/>
                  <a:ea typeface="Calibri"/>
                  <a:cs typeface="Calibri"/>
                  <a:sym typeface="Calibri"/>
                </a:rPr>
                <a:t>Total repository &amp; test log working memory per session</a:t>
              </a:r>
              <a:endParaRPr sz="1100" b="0" i="0" u="none" strike="noStrike" cap="none">
                <a:solidFill>
                  <a:srgbClr val="000000"/>
                </a:solidFill>
                <a:latin typeface="Arial"/>
                <a:ea typeface="Arial"/>
                <a:cs typeface="Arial"/>
                <a:sym typeface="Arial"/>
              </a:endParaRPr>
            </a:p>
          </p:txBody>
        </p:sp>
        <p:sp>
          <p:nvSpPr>
            <p:cNvPr id="219" name="Google Shape;219;p40"/>
            <p:cNvSpPr txBox="1"/>
            <p:nvPr/>
          </p:nvSpPr>
          <p:spPr>
            <a:xfrm>
              <a:off x="578644" y="1178719"/>
              <a:ext cx="20535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SWE-bench </a:t>
              </a:r>
              <a:endParaRPr sz="1100" b="0" i="0" u="none" strike="noStrike" cap="none">
                <a:solidFill>
                  <a:srgbClr val="000000"/>
                </a:solidFill>
                <a:latin typeface="Arial"/>
                <a:ea typeface="Arial"/>
                <a:cs typeface="Arial"/>
                <a:sym typeface="Arial"/>
              </a:endParaRPr>
            </a:p>
          </p:txBody>
        </p:sp>
        <p:sp>
          <p:nvSpPr>
            <p:cNvPr id="220" name="Google Shape;220;p40"/>
            <p:cNvSpPr txBox="1"/>
            <p:nvPr/>
          </p:nvSpPr>
          <p:spPr>
            <a:xfrm>
              <a:off x="3393281" y="1250156"/>
              <a:ext cx="11430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ISSUE SOLVE RATE</a:t>
              </a:r>
              <a:endParaRPr sz="1100" b="0" i="0" u="none" strike="noStrike" cap="none">
                <a:solidFill>
                  <a:srgbClr val="000000"/>
                </a:solidFill>
                <a:latin typeface="Arial"/>
                <a:ea typeface="Arial"/>
                <a:cs typeface="Arial"/>
                <a:sym typeface="Arial"/>
              </a:endParaRPr>
            </a:p>
          </p:txBody>
        </p:sp>
        <p:sp>
          <p:nvSpPr>
            <p:cNvPr id="221" name="Google Shape;221;p40"/>
            <p:cNvSpPr txBox="1"/>
            <p:nvPr/>
          </p:nvSpPr>
          <p:spPr>
            <a:xfrm>
              <a:off x="3914775" y="1812726"/>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80.8%</a:t>
              </a:r>
              <a:endParaRPr sz="1100" b="0" i="0" u="none" strike="noStrike" cap="none">
                <a:solidFill>
                  <a:srgbClr val="000000"/>
                </a:solidFill>
                <a:latin typeface="Arial"/>
                <a:ea typeface="Arial"/>
                <a:cs typeface="Arial"/>
                <a:sym typeface="Arial"/>
              </a:endParaRPr>
            </a:p>
          </p:txBody>
        </p:sp>
        <p:sp>
          <p:nvSpPr>
            <p:cNvPr id="222" name="Google Shape;222;p40"/>
            <p:cNvSpPr txBox="1"/>
            <p:nvPr/>
          </p:nvSpPr>
          <p:spPr>
            <a:xfrm>
              <a:off x="3914775" y="2368153"/>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E2E8F0"/>
                  </a:solidFill>
                  <a:latin typeface="Courier New"/>
                  <a:ea typeface="Courier New"/>
                  <a:cs typeface="Courier New"/>
                  <a:sym typeface="Courier New"/>
                </a:rPr>
                <a:t>78.8%</a:t>
              </a:r>
              <a:endParaRPr sz="1100" b="0" i="0" u="none" strike="noStrike" cap="none">
                <a:solidFill>
                  <a:srgbClr val="000000"/>
                </a:solidFill>
                <a:latin typeface="Arial"/>
                <a:ea typeface="Arial"/>
                <a:cs typeface="Arial"/>
                <a:sym typeface="Arial"/>
              </a:endParaRPr>
            </a:p>
          </p:txBody>
        </p:sp>
        <p:sp>
          <p:nvSpPr>
            <p:cNvPr id="223" name="Google Shape;223;p40"/>
            <p:cNvSpPr txBox="1"/>
            <p:nvPr/>
          </p:nvSpPr>
          <p:spPr>
            <a:xfrm>
              <a:off x="3914775" y="2923580"/>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C9D6E4"/>
                  </a:solidFill>
                  <a:latin typeface="Courier New"/>
                  <a:ea typeface="Courier New"/>
                  <a:cs typeface="Courier New"/>
                  <a:sym typeface="Courier New"/>
                </a:rPr>
                <a:t>70.3%</a:t>
              </a:r>
              <a:endParaRPr sz="1100" b="0" i="0" u="none" strike="noStrike" cap="none">
                <a:solidFill>
                  <a:srgbClr val="000000"/>
                </a:solidFill>
                <a:latin typeface="Arial"/>
                <a:ea typeface="Arial"/>
                <a:cs typeface="Arial"/>
                <a:sym typeface="Arial"/>
              </a:endParaRPr>
            </a:p>
          </p:txBody>
        </p:sp>
        <p:sp>
          <p:nvSpPr>
            <p:cNvPr id="224" name="Google Shape;224;p40"/>
            <p:cNvSpPr txBox="1"/>
            <p:nvPr/>
          </p:nvSpPr>
          <p:spPr>
            <a:xfrm>
              <a:off x="3914775" y="3479006"/>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60.5%</a:t>
              </a:r>
              <a:endParaRPr sz="1100" b="0" i="0" u="none" strike="noStrike" cap="none">
                <a:solidFill>
                  <a:srgbClr val="000000"/>
                </a:solidFill>
                <a:latin typeface="Arial"/>
                <a:ea typeface="Arial"/>
                <a:cs typeface="Arial"/>
                <a:sym typeface="Arial"/>
              </a:endParaRPr>
            </a:p>
          </p:txBody>
        </p:sp>
        <p:sp>
          <p:nvSpPr>
            <p:cNvPr id="225" name="Google Shape;225;p40"/>
            <p:cNvSpPr txBox="1"/>
            <p:nvPr/>
          </p:nvSpPr>
          <p:spPr>
            <a:xfrm>
              <a:off x="4836319" y="1178719"/>
              <a:ext cx="16314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Context Horizon</a:t>
              </a:r>
              <a:endParaRPr sz="1100" b="0" i="0" u="none" strike="noStrike" cap="none">
                <a:solidFill>
                  <a:srgbClr val="000000"/>
                </a:solidFill>
                <a:latin typeface="Arial"/>
                <a:ea typeface="Arial"/>
                <a:cs typeface="Arial"/>
                <a:sym typeface="Arial"/>
              </a:endParaRPr>
            </a:p>
          </p:txBody>
        </p:sp>
        <p:sp>
          <p:nvSpPr>
            <p:cNvPr id="226" name="Google Shape;226;p40"/>
            <p:cNvSpPr txBox="1"/>
            <p:nvPr/>
          </p:nvSpPr>
          <p:spPr>
            <a:xfrm>
              <a:off x="7765256" y="1250156"/>
              <a:ext cx="1014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TOKEN CAPACITY</a:t>
              </a:r>
              <a:endParaRPr sz="1100" b="0" i="0" u="none" strike="noStrike" cap="none">
                <a:solidFill>
                  <a:srgbClr val="000000"/>
                </a:solidFill>
                <a:latin typeface="Arial"/>
                <a:ea typeface="Arial"/>
                <a:cs typeface="Arial"/>
                <a:sym typeface="Arial"/>
              </a:endParaRPr>
            </a:p>
          </p:txBody>
        </p:sp>
        <p:sp>
          <p:nvSpPr>
            <p:cNvPr id="227" name="Google Shape;227;p40"/>
            <p:cNvSpPr txBox="1"/>
            <p:nvPr/>
          </p:nvSpPr>
          <p:spPr>
            <a:xfrm>
              <a:off x="7858125" y="1812726"/>
              <a:ext cx="9216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1,000,000</a:t>
              </a:r>
              <a:endParaRPr sz="1100" b="0" i="0" u="none" strike="noStrike" cap="none">
                <a:solidFill>
                  <a:srgbClr val="000000"/>
                </a:solidFill>
                <a:latin typeface="Arial"/>
                <a:ea typeface="Arial"/>
                <a:cs typeface="Arial"/>
                <a:sym typeface="Arial"/>
              </a:endParaRPr>
            </a:p>
          </p:txBody>
        </p:sp>
        <p:sp>
          <p:nvSpPr>
            <p:cNvPr id="228" name="Google Shape;228;p40"/>
            <p:cNvSpPr txBox="1"/>
            <p:nvPr/>
          </p:nvSpPr>
          <p:spPr>
            <a:xfrm>
              <a:off x="7858125" y="2368153"/>
              <a:ext cx="9216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E2E8F0"/>
                  </a:solidFill>
                  <a:latin typeface="Courier New"/>
                  <a:ea typeface="Courier New"/>
                  <a:cs typeface="Courier New"/>
                  <a:sym typeface="Courier New"/>
                </a:rPr>
                <a:t>1,000,000</a:t>
              </a:r>
              <a:endParaRPr sz="1100" b="0" i="0" u="none" strike="noStrike" cap="none">
                <a:solidFill>
                  <a:srgbClr val="000000"/>
                </a:solidFill>
                <a:latin typeface="Arial"/>
                <a:ea typeface="Arial"/>
                <a:cs typeface="Arial"/>
                <a:sym typeface="Arial"/>
              </a:endParaRPr>
            </a:p>
          </p:txBody>
        </p:sp>
        <p:sp>
          <p:nvSpPr>
            <p:cNvPr id="229" name="Google Shape;229;p40"/>
            <p:cNvSpPr txBox="1"/>
            <p:nvPr/>
          </p:nvSpPr>
          <p:spPr>
            <a:xfrm>
              <a:off x="8015288" y="2923580"/>
              <a:ext cx="764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C9D6E4"/>
                  </a:solidFill>
                  <a:latin typeface="Courier New"/>
                  <a:ea typeface="Courier New"/>
                  <a:cs typeface="Courier New"/>
                  <a:sym typeface="Courier New"/>
                </a:rPr>
                <a:t>200,000</a:t>
              </a:r>
              <a:endParaRPr sz="1100" b="0" i="0" u="none" strike="noStrike" cap="none">
                <a:solidFill>
                  <a:srgbClr val="000000"/>
                </a:solidFill>
                <a:latin typeface="Arial"/>
                <a:ea typeface="Arial"/>
                <a:cs typeface="Arial"/>
                <a:sym typeface="Arial"/>
              </a:endParaRPr>
            </a:p>
          </p:txBody>
        </p:sp>
        <p:sp>
          <p:nvSpPr>
            <p:cNvPr id="230" name="Google Shape;230;p40"/>
            <p:cNvSpPr txBox="1"/>
            <p:nvPr/>
          </p:nvSpPr>
          <p:spPr>
            <a:xfrm>
              <a:off x="8015288" y="3479006"/>
              <a:ext cx="764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128,000</a:t>
              </a:r>
              <a:endParaRPr sz="1100" b="0" i="0" u="none" strike="noStrike" cap="none">
                <a:solidFill>
                  <a:srgbClr val="000000"/>
                </a:solidFill>
                <a:latin typeface="Arial"/>
                <a:ea typeface="Arial"/>
                <a:cs typeface="Arial"/>
                <a:sym typeface="Arial"/>
              </a:endParaRPr>
            </a:p>
          </p:txBody>
        </p:sp>
        <p:sp>
          <p:nvSpPr>
            <p:cNvPr id="231" name="Google Shape;231;p40"/>
            <p:cNvSpPr txBox="1"/>
            <p:nvPr/>
          </p:nvSpPr>
          <p:spPr>
            <a:xfrm>
              <a:off x="750094" y="1819870"/>
              <a:ext cx="935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Claude Code</a:t>
              </a:r>
              <a:endParaRPr sz="1100" b="0" i="0" u="none" strike="noStrike" cap="none">
                <a:solidFill>
                  <a:srgbClr val="000000"/>
                </a:solidFill>
                <a:latin typeface="Arial"/>
                <a:ea typeface="Arial"/>
                <a:cs typeface="Arial"/>
                <a:sym typeface="Arial"/>
              </a:endParaRPr>
            </a:p>
          </p:txBody>
        </p:sp>
        <p:sp>
          <p:nvSpPr>
            <p:cNvPr id="232" name="Google Shape;232;p40"/>
            <p:cNvSpPr txBox="1"/>
            <p:nvPr/>
          </p:nvSpPr>
          <p:spPr>
            <a:xfrm>
              <a:off x="728663" y="2375297"/>
              <a:ext cx="1607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E2E8F0"/>
                  </a:solidFill>
                  <a:latin typeface="Calibri"/>
                  <a:ea typeface="Calibri"/>
                  <a:cs typeface="Calibri"/>
                  <a:sym typeface="Calibri"/>
                </a:rPr>
                <a:t>Gemini CLI / Antigravity</a:t>
              </a:r>
              <a:endParaRPr sz="1100" b="0" i="0" u="none" strike="noStrike" cap="none">
                <a:solidFill>
                  <a:srgbClr val="000000"/>
                </a:solidFill>
                <a:latin typeface="Arial"/>
                <a:ea typeface="Arial"/>
                <a:cs typeface="Arial"/>
                <a:sym typeface="Arial"/>
              </a:endParaRPr>
            </a:p>
          </p:txBody>
        </p:sp>
        <p:sp>
          <p:nvSpPr>
            <p:cNvPr id="233" name="Google Shape;233;p40"/>
            <p:cNvSpPr txBox="1"/>
            <p:nvPr/>
          </p:nvSpPr>
          <p:spPr>
            <a:xfrm>
              <a:off x="764381" y="2930723"/>
              <a:ext cx="1028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C9D6E4"/>
                  </a:solidFill>
                  <a:latin typeface="Calibri"/>
                  <a:ea typeface="Calibri"/>
                  <a:cs typeface="Calibri"/>
                  <a:sym typeface="Calibri"/>
                </a:rPr>
                <a:t>OpenAI Codex</a:t>
              </a:r>
              <a:endParaRPr sz="1100" b="0" i="0" u="none" strike="noStrike" cap="none">
                <a:solidFill>
                  <a:srgbClr val="000000"/>
                </a:solidFill>
                <a:latin typeface="Arial"/>
                <a:ea typeface="Arial"/>
                <a:cs typeface="Arial"/>
                <a:sym typeface="Arial"/>
              </a:endParaRPr>
            </a:p>
          </p:txBody>
        </p:sp>
        <p:sp>
          <p:nvSpPr>
            <p:cNvPr id="234" name="Google Shape;234;p40"/>
            <p:cNvSpPr txBox="1"/>
            <p:nvPr/>
          </p:nvSpPr>
          <p:spPr>
            <a:xfrm>
              <a:off x="735806" y="3486150"/>
              <a:ext cx="10359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alibri"/>
                  <a:ea typeface="Calibri"/>
                  <a:cs typeface="Calibri"/>
                  <a:sym typeface="Calibri"/>
                </a:rPr>
                <a:t>GitHub Copilot</a:t>
              </a:r>
              <a:endParaRPr sz="1100" b="0" i="0" u="none" strike="noStrike" cap="none">
                <a:solidFill>
                  <a:srgbClr val="000000"/>
                </a:solidFill>
                <a:latin typeface="Arial"/>
                <a:ea typeface="Arial"/>
                <a:cs typeface="Arial"/>
                <a:sym typeface="Arial"/>
              </a:endParaRPr>
            </a:p>
          </p:txBody>
        </p:sp>
        <p:sp>
          <p:nvSpPr>
            <p:cNvPr id="235" name="Google Shape;235;p40"/>
            <p:cNvSpPr txBox="1"/>
            <p:nvPr/>
          </p:nvSpPr>
          <p:spPr>
            <a:xfrm>
              <a:off x="4993481" y="1819870"/>
              <a:ext cx="935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Claude Code</a:t>
              </a:r>
              <a:endParaRPr sz="1100" b="0" i="0" u="none" strike="noStrike" cap="none">
                <a:solidFill>
                  <a:srgbClr val="000000"/>
                </a:solidFill>
                <a:latin typeface="Arial"/>
                <a:ea typeface="Arial"/>
                <a:cs typeface="Arial"/>
                <a:sym typeface="Arial"/>
              </a:endParaRPr>
            </a:p>
          </p:txBody>
        </p:sp>
        <p:sp>
          <p:nvSpPr>
            <p:cNvPr id="236" name="Google Shape;236;p40"/>
            <p:cNvSpPr txBox="1"/>
            <p:nvPr/>
          </p:nvSpPr>
          <p:spPr>
            <a:xfrm>
              <a:off x="4986338" y="2375297"/>
              <a:ext cx="1607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E2E8F0"/>
                  </a:solidFill>
                  <a:latin typeface="Calibri"/>
                  <a:ea typeface="Calibri"/>
                  <a:cs typeface="Calibri"/>
                  <a:sym typeface="Calibri"/>
                </a:rPr>
                <a:t>Gemini CLI / Antigravity</a:t>
              </a:r>
              <a:endParaRPr sz="1100" b="0" i="0" u="none" strike="noStrike" cap="none">
                <a:solidFill>
                  <a:srgbClr val="000000"/>
                </a:solidFill>
                <a:latin typeface="Arial"/>
                <a:ea typeface="Arial"/>
                <a:cs typeface="Arial"/>
                <a:sym typeface="Arial"/>
              </a:endParaRPr>
            </a:p>
          </p:txBody>
        </p:sp>
        <p:sp>
          <p:nvSpPr>
            <p:cNvPr id="237" name="Google Shape;237;p40"/>
            <p:cNvSpPr txBox="1"/>
            <p:nvPr/>
          </p:nvSpPr>
          <p:spPr>
            <a:xfrm>
              <a:off x="5022056" y="2930723"/>
              <a:ext cx="1028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C9D6E4"/>
                  </a:solidFill>
                  <a:latin typeface="Calibri"/>
                  <a:ea typeface="Calibri"/>
                  <a:cs typeface="Calibri"/>
                  <a:sym typeface="Calibri"/>
                </a:rPr>
                <a:t>OpenAI Codex</a:t>
              </a:r>
              <a:endParaRPr sz="1100" b="0" i="0" u="none" strike="noStrike" cap="none">
                <a:solidFill>
                  <a:srgbClr val="000000"/>
                </a:solidFill>
                <a:latin typeface="Arial"/>
                <a:ea typeface="Arial"/>
                <a:cs typeface="Arial"/>
                <a:sym typeface="Arial"/>
              </a:endParaRPr>
            </a:p>
          </p:txBody>
        </p:sp>
        <p:sp>
          <p:nvSpPr>
            <p:cNvPr id="238" name="Google Shape;238;p40"/>
            <p:cNvSpPr txBox="1"/>
            <p:nvPr/>
          </p:nvSpPr>
          <p:spPr>
            <a:xfrm>
              <a:off x="4993481" y="3486150"/>
              <a:ext cx="10359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alibri"/>
                  <a:ea typeface="Calibri"/>
                  <a:cs typeface="Calibri"/>
                  <a:sym typeface="Calibri"/>
                </a:rPr>
                <a:t>GitHub Copilot</a:t>
              </a:r>
              <a:endParaRPr sz="1100" b="0" i="0" u="none" strike="noStrike" cap="none">
                <a:solidFill>
                  <a:srgbClr val="000000"/>
                </a:solidFill>
                <a:latin typeface="Arial"/>
                <a:ea typeface="Arial"/>
                <a:cs typeface="Arial"/>
                <a:sym typeface="Arial"/>
              </a:endParaRPr>
            </a:p>
          </p:txBody>
        </p:sp>
        <p:sp>
          <p:nvSpPr>
            <p:cNvPr id="239" name="Google Shape;239;p40"/>
            <p:cNvSpPr txBox="1"/>
            <p:nvPr/>
          </p:nvSpPr>
          <p:spPr>
            <a:xfrm>
              <a:off x="578644" y="1421606"/>
              <a:ext cx="46614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6F89A6"/>
                  </a:solidFill>
                  <a:latin typeface="Calibri"/>
                  <a:ea typeface="Calibri"/>
                  <a:cs typeface="Calibri"/>
                  <a:sym typeface="Calibri"/>
                </a:rPr>
                <a:t>Real-world GitHub issue resolution without regression</a:t>
              </a:r>
              <a:endParaRPr sz="1100" b="0" i="0" u="none" strike="noStrike" cap="none">
                <a:solidFill>
                  <a:srgbClr val="000000"/>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44"/>
        <p:cNvGrpSpPr/>
        <p:nvPr/>
      </p:nvGrpSpPr>
      <p:grpSpPr>
        <a:xfrm>
          <a:off x="0" y="0"/>
          <a:ext cx="0" cy="0"/>
          <a:chOff x="0" y="0"/>
          <a:chExt cx="0" cy="0"/>
        </a:xfrm>
      </p:grpSpPr>
      <p:sp>
        <p:nvSpPr>
          <p:cNvPr id="245" name="Google Shape;245;p41"/>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a:solidFill>
                  <a:srgbClr val="FFFFFF"/>
                </a:solidFill>
              </a:rPr>
              <a:t>Installation &amp; Setup</a:t>
            </a:r>
            <a:endParaRPr/>
          </a:p>
        </p:txBody>
      </p:sp>
      <p:sp>
        <p:nvSpPr>
          <p:cNvPr id="246" name="Google Shape;246;p41"/>
          <p:cNvSpPr txBox="1"/>
          <p:nvPr/>
        </p:nvSpPr>
        <p:spPr>
          <a:xfrm>
            <a:off x="493776" y="1308974"/>
            <a:ext cx="4160400" cy="201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1</a:t>
            </a:r>
            <a:r>
              <a:rPr lang="en-GB" sz="1050" b="1" i="0" u="none" strike="noStrike" cap="none">
                <a:solidFill>
                  <a:srgbClr val="4FB0EA"/>
                </a:solidFill>
                <a:latin typeface="Calibri"/>
                <a:ea typeface="Calibri"/>
                <a:cs typeface="Calibri"/>
                <a:sym typeface="Calibri"/>
              </a:rPr>
              <a:t>   INSTALL, IN YOUR TEST REPO</a:t>
            </a:r>
            <a:endParaRPr/>
          </a:p>
        </p:txBody>
      </p:sp>
      <p:sp>
        <p:nvSpPr>
          <p:cNvPr id="247" name="Google Shape;247;p41"/>
          <p:cNvSpPr/>
          <p:nvPr/>
        </p:nvSpPr>
        <p:spPr>
          <a:xfrm>
            <a:off x="493776" y="1619870"/>
            <a:ext cx="4160400" cy="261510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41"/>
          <p:cNvSpPr/>
          <p:nvPr/>
        </p:nvSpPr>
        <p:spPr>
          <a:xfrm>
            <a:off x="676656" y="1775318"/>
            <a:ext cx="91500" cy="9150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41"/>
          <p:cNvSpPr/>
          <p:nvPr/>
        </p:nvSpPr>
        <p:spPr>
          <a:xfrm>
            <a:off x="832104" y="1775318"/>
            <a:ext cx="91500" cy="9150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41"/>
          <p:cNvSpPr/>
          <p:nvPr/>
        </p:nvSpPr>
        <p:spPr>
          <a:xfrm>
            <a:off x="987552" y="1775318"/>
            <a:ext cx="91500" cy="9150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41"/>
          <p:cNvSpPr txBox="1"/>
          <p:nvPr/>
        </p:nvSpPr>
        <p:spPr>
          <a:xfrm>
            <a:off x="1225296" y="1711310"/>
            <a:ext cx="2697600" cy="219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ourier New"/>
                <a:ea typeface="Courier New"/>
                <a:cs typeface="Courier New"/>
                <a:sym typeface="Courier New"/>
              </a:rPr>
              <a:t>your-test-repo</a:t>
            </a:r>
            <a:endParaRPr/>
          </a:p>
        </p:txBody>
      </p:sp>
      <p:sp>
        <p:nvSpPr>
          <p:cNvPr id="252" name="Google Shape;252;p41"/>
          <p:cNvSpPr/>
          <p:nvPr/>
        </p:nvSpPr>
        <p:spPr>
          <a:xfrm>
            <a:off x="493776" y="2022206"/>
            <a:ext cx="4160400" cy="9000"/>
          </a:xfrm>
          <a:prstGeom prst="rect">
            <a:avLst/>
          </a:prstGeom>
          <a:solidFill>
            <a:srgbClr val="1E304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41"/>
          <p:cNvSpPr txBox="1"/>
          <p:nvPr/>
        </p:nvSpPr>
        <p:spPr>
          <a:xfrm>
            <a:off x="694944" y="2186798"/>
            <a:ext cx="3831300" cy="1929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install</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 </a:t>
            </a:r>
            <a:r>
              <a:rPr lang="en-GB" sz="980" b="1" i="0" u="none" strike="noStrike" cap="none">
                <a:solidFill>
                  <a:srgbClr val="FFFFFF"/>
                </a:solidFill>
                <a:latin typeface="Courier New"/>
                <a:ea typeface="Courier New"/>
                <a:cs typeface="Courier New"/>
                <a:sym typeface="Courier New"/>
              </a:rPr>
              <a:t>curl -fsSL https://claude.ai/install.sh | bash</a:t>
            </a:r>
            <a:endParaRPr/>
          </a:p>
          <a:p>
            <a:pPr marL="0" marR="0" lvl="0" indent="0" algn="l" rtl="0">
              <a:lnSpc>
                <a:spcPct val="100000"/>
              </a:lnSpc>
              <a:spcBef>
                <a:spcPts val="210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start a session</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 </a:t>
            </a:r>
            <a:r>
              <a:rPr lang="en-GB" sz="1600" b="1" i="0" u="none" strike="noStrike" cap="none">
                <a:solidFill>
                  <a:srgbClr val="FFFFFF"/>
                </a:solidFill>
                <a:latin typeface="Courier New"/>
                <a:ea typeface="Courier New"/>
                <a:cs typeface="Courier New"/>
                <a:sym typeface="Courier New"/>
              </a:rPr>
              <a:t>claude</a:t>
            </a:r>
            <a:endParaRPr/>
          </a:p>
          <a:p>
            <a:pPr marL="0" marR="0" lvl="0" indent="0" algn="l" rtl="0">
              <a:lnSpc>
                <a:spcPct val="100000"/>
              </a:lnSpc>
              <a:spcBef>
                <a:spcPts val="210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writes a first CLAUDE.md</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600" b="1" i="0" u="none" strike="noStrike" cap="none">
                <a:solidFill>
                  <a:srgbClr val="FFFFFF"/>
                </a:solidFill>
                <a:latin typeface="Courier New"/>
                <a:ea typeface="Courier New"/>
                <a:cs typeface="Courier New"/>
                <a:sym typeface="Courier New"/>
              </a:rPr>
              <a:t>/init</a:t>
            </a:r>
            <a:endParaRPr/>
          </a:p>
        </p:txBody>
      </p:sp>
      <p:grpSp>
        <p:nvGrpSpPr>
          <p:cNvPr id="254" name="Google Shape;254;p41"/>
          <p:cNvGrpSpPr/>
          <p:nvPr/>
        </p:nvGrpSpPr>
        <p:grpSpPr>
          <a:xfrm>
            <a:off x="4892040" y="1308974"/>
            <a:ext cx="3758244" cy="2926140"/>
            <a:chOff x="4892040" y="1308974"/>
            <a:chExt cx="3758244" cy="2926140"/>
          </a:xfrm>
        </p:grpSpPr>
        <p:sp>
          <p:nvSpPr>
            <p:cNvPr id="255" name="Google Shape;255;p41"/>
            <p:cNvSpPr txBox="1"/>
            <p:nvPr/>
          </p:nvSpPr>
          <p:spPr>
            <a:xfrm>
              <a:off x="4892040" y="1308974"/>
              <a:ext cx="3758100" cy="201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2</a:t>
              </a:r>
              <a:r>
                <a:rPr lang="en-GB" sz="1050" b="1" i="0" u="none" strike="noStrike" cap="none">
                  <a:solidFill>
                    <a:srgbClr val="4FB0EA"/>
                  </a:solidFill>
                  <a:latin typeface="Calibri"/>
                  <a:ea typeface="Calibri"/>
                  <a:cs typeface="Calibri"/>
                  <a:sym typeface="Calibri"/>
                </a:rPr>
                <a:t>   WHY COMPANIES RUN IT ON THEIR OWN CLOUD</a:t>
              </a:r>
              <a:endParaRPr/>
            </a:p>
          </p:txBody>
        </p:sp>
        <p:sp>
          <p:nvSpPr>
            <p:cNvPr id="256" name="Google Shape;256;p41"/>
            <p:cNvSpPr/>
            <p:nvPr/>
          </p:nvSpPr>
          <p:spPr>
            <a:xfrm>
              <a:off x="4892040" y="1619870"/>
              <a:ext cx="1806000" cy="12345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41"/>
            <p:cNvSpPr/>
            <p:nvPr/>
          </p:nvSpPr>
          <p:spPr>
            <a:xfrm>
              <a:off x="5056632" y="1802750"/>
              <a:ext cx="347400" cy="347400"/>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41" descr="Company login icon"/>
            <p:cNvPicPr preferRelativeResize="0"/>
            <p:nvPr/>
          </p:nvPicPr>
          <p:blipFill rotWithShape="1">
            <a:blip r:embed="rId3">
              <a:alphaModFix/>
            </a:blip>
            <a:srcRect/>
            <a:stretch/>
          </p:blipFill>
          <p:spPr>
            <a:xfrm>
              <a:off x="5138928" y="1885046"/>
              <a:ext cx="182880" cy="182880"/>
            </a:xfrm>
            <a:prstGeom prst="rect">
              <a:avLst/>
            </a:prstGeom>
            <a:noFill/>
            <a:ln>
              <a:noFill/>
            </a:ln>
          </p:spPr>
        </p:pic>
        <p:sp>
          <p:nvSpPr>
            <p:cNvPr id="259" name="Google Shape;259;p41"/>
            <p:cNvSpPr txBox="1"/>
            <p:nvPr/>
          </p:nvSpPr>
          <p:spPr>
            <a:xfrm>
              <a:off x="5495544" y="1821038"/>
              <a:ext cx="11292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Company login</a:t>
              </a:r>
              <a:endParaRPr/>
            </a:p>
          </p:txBody>
        </p:sp>
        <p:sp>
          <p:nvSpPr>
            <p:cNvPr id="260" name="Google Shape;260;p41"/>
            <p:cNvSpPr txBox="1"/>
            <p:nvPr/>
          </p:nvSpPr>
          <p:spPr>
            <a:xfrm>
              <a:off x="5056632" y="2296526"/>
              <a:ext cx="15132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Cloud IAM or Entra ID. No personal API keys.</a:t>
              </a:r>
              <a:endParaRPr/>
            </a:p>
          </p:txBody>
        </p:sp>
        <p:sp>
          <p:nvSpPr>
            <p:cNvPr id="261" name="Google Shape;261;p41"/>
            <p:cNvSpPr/>
            <p:nvPr/>
          </p:nvSpPr>
          <p:spPr>
            <a:xfrm>
              <a:off x="6844284" y="1619870"/>
              <a:ext cx="1806000" cy="12345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1"/>
            <p:cNvSpPr/>
            <p:nvPr/>
          </p:nvSpPr>
          <p:spPr>
            <a:xfrm>
              <a:off x="7008876" y="1802750"/>
              <a:ext cx="347400" cy="347400"/>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63" name="Google Shape;263;p41" descr="Your data icon"/>
            <p:cNvPicPr preferRelativeResize="0"/>
            <p:nvPr/>
          </p:nvPicPr>
          <p:blipFill rotWithShape="1">
            <a:blip r:embed="rId4">
              <a:alphaModFix/>
            </a:blip>
            <a:srcRect/>
            <a:stretch/>
          </p:blipFill>
          <p:spPr>
            <a:xfrm>
              <a:off x="7091172" y="1885046"/>
              <a:ext cx="182880" cy="182880"/>
            </a:xfrm>
            <a:prstGeom prst="rect">
              <a:avLst/>
            </a:prstGeom>
            <a:noFill/>
            <a:ln>
              <a:noFill/>
            </a:ln>
          </p:spPr>
        </p:pic>
        <p:sp>
          <p:nvSpPr>
            <p:cNvPr id="264" name="Google Shape;264;p41"/>
            <p:cNvSpPr txBox="1"/>
            <p:nvPr/>
          </p:nvSpPr>
          <p:spPr>
            <a:xfrm>
              <a:off x="7447788" y="1821038"/>
              <a:ext cx="11292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Your data</a:t>
              </a:r>
              <a:endParaRPr/>
            </a:p>
          </p:txBody>
        </p:sp>
        <p:sp>
          <p:nvSpPr>
            <p:cNvPr id="265" name="Google Shape;265;p41"/>
            <p:cNvSpPr txBox="1"/>
            <p:nvPr/>
          </p:nvSpPr>
          <p:spPr>
            <a:xfrm>
              <a:off x="7008876" y="2296526"/>
              <a:ext cx="15132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On Bedrock only AWS sees it. Not Anthropic.</a:t>
              </a:r>
              <a:endParaRPr/>
            </a:p>
          </p:txBody>
        </p:sp>
        <p:sp>
          <p:nvSpPr>
            <p:cNvPr id="266" name="Google Shape;266;p41"/>
            <p:cNvSpPr/>
            <p:nvPr/>
          </p:nvSpPr>
          <p:spPr>
            <a:xfrm>
              <a:off x="4892040" y="3000614"/>
              <a:ext cx="1806000" cy="12345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41"/>
            <p:cNvSpPr/>
            <p:nvPr/>
          </p:nvSpPr>
          <p:spPr>
            <a:xfrm>
              <a:off x="5056632" y="3183494"/>
              <a:ext cx="347400" cy="347400"/>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68" name="Google Shape;268;p41" descr="One bill icon"/>
            <p:cNvPicPr preferRelativeResize="0"/>
            <p:nvPr/>
          </p:nvPicPr>
          <p:blipFill rotWithShape="1">
            <a:blip r:embed="rId5">
              <a:alphaModFix/>
            </a:blip>
            <a:srcRect/>
            <a:stretch/>
          </p:blipFill>
          <p:spPr>
            <a:xfrm>
              <a:off x="5138928" y="3265790"/>
              <a:ext cx="182880" cy="182880"/>
            </a:xfrm>
            <a:prstGeom prst="rect">
              <a:avLst/>
            </a:prstGeom>
            <a:noFill/>
            <a:ln>
              <a:noFill/>
            </a:ln>
          </p:spPr>
        </p:pic>
        <p:sp>
          <p:nvSpPr>
            <p:cNvPr id="269" name="Google Shape;269;p41"/>
            <p:cNvSpPr txBox="1"/>
            <p:nvPr/>
          </p:nvSpPr>
          <p:spPr>
            <a:xfrm>
              <a:off x="5495544" y="3201782"/>
              <a:ext cx="11292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One bill</a:t>
              </a:r>
              <a:endParaRPr/>
            </a:p>
          </p:txBody>
        </p:sp>
        <p:sp>
          <p:nvSpPr>
            <p:cNvPr id="270" name="Google Shape;270;p41"/>
            <p:cNvSpPr txBox="1"/>
            <p:nvPr/>
          </p:nvSpPr>
          <p:spPr>
            <a:xfrm>
              <a:off x="5056632" y="3677270"/>
              <a:ext cx="15132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On your cloud invoice, split by team.</a:t>
              </a:r>
              <a:endParaRPr/>
            </a:p>
          </p:txBody>
        </p:sp>
        <p:sp>
          <p:nvSpPr>
            <p:cNvPr id="271" name="Google Shape;271;p41"/>
            <p:cNvSpPr/>
            <p:nvPr/>
          </p:nvSpPr>
          <p:spPr>
            <a:xfrm>
              <a:off x="6844284" y="3000614"/>
              <a:ext cx="1806000" cy="12345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1"/>
            <p:cNvSpPr/>
            <p:nvPr/>
          </p:nvSpPr>
          <p:spPr>
            <a:xfrm>
              <a:off x="7008876" y="3183494"/>
              <a:ext cx="347400" cy="347400"/>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3" name="Google Shape;273;p41" descr="Your region icon"/>
            <p:cNvPicPr preferRelativeResize="0"/>
            <p:nvPr/>
          </p:nvPicPr>
          <p:blipFill rotWithShape="1">
            <a:blip r:embed="rId6">
              <a:alphaModFix/>
            </a:blip>
            <a:srcRect/>
            <a:stretch/>
          </p:blipFill>
          <p:spPr>
            <a:xfrm>
              <a:off x="7091172" y="3265790"/>
              <a:ext cx="182880" cy="182880"/>
            </a:xfrm>
            <a:prstGeom prst="rect">
              <a:avLst/>
            </a:prstGeom>
            <a:noFill/>
            <a:ln>
              <a:noFill/>
            </a:ln>
          </p:spPr>
        </p:pic>
        <p:sp>
          <p:nvSpPr>
            <p:cNvPr id="274" name="Google Shape;274;p41"/>
            <p:cNvSpPr txBox="1"/>
            <p:nvPr/>
          </p:nvSpPr>
          <p:spPr>
            <a:xfrm>
              <a:off x="7447788" y="3201782"/>
              <a:ext cx="11292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Your region</a:t>
              </a:r>
              <a:endParaRPr/>
            </a:p>
          </p:txBody>
        </p:sp>
        <p:sp>
          <p:nvSpPr>
            <p:cNvPr id="275" name="Google Shape;275;p41"/>
            <p:cNvSpPr txBox="1"/>
            <p:nvPr/>
          </p:nvSpPr>
          <p:spPr>
            <a:xfrm>
              <a:off x="7008876" y="3677270"/>
              <a:ext cx="15132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You choose it, and every call is logged.</a:t>
              </a: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80"/>
        <p:cNvGrpSpPr/>
        <p:nvPr/>
      </p:nvGrpSpPr>
      <p:grpSpPr>
        <a:xfrm>
          <a:off x="0" y="0"/>
          <a:ext cx="0" cy="0"/>
          <a:chOff x="0" y="0"/>
          <a:chExt cx="0" cy="0"/>
        </a:xfrm>
      </p:grpSpPr>
      <p:pic>
        <p:nvPicPr>
          <p:cNvPr id="281" name="Google Shape;281;p42" descr="/home/claude/work/assets/clappy_claude_magnifier.png"/>
          <p:cNvPicPr preferRelativeResize="0"/>
          <p:nvPr/>
        </p:nvPicPr>
        <p:blipFill rotWithShape="1">
          <a:blip r:embed="rId3">
            <a:alphaModFix/>
          </a:blip>
          <a:srcRect/>
          <a:stretch/>
        </p:blipFill>
        <p:spPr>
          <a:xfrm>
            <a:off x="8229351" y="275525"/>
            <a:ext cx="480599" cy="528650"/>
          </a:xfrm>
          <a:prstGeom prst="rect">
            <a:avLst/>
          </a:prstGeom>
          <a:noFill/>
          <a:ln>
            <a:noFill/>
          </a:ln>
        </p:spPr>
      </p:pic>
      <p:sp>
        <p:nvSpPr>
          <p:cNvPr id="282" name="Google Shape;282;p42"/>
          <p:cNvSpPr/>
          <p:nvPr/>
        </p:nvSpPr>
        <p:spPr>
          <a:xfrm>
            <a:off x="480054" y="411475"/>
            <a:ext cx="4720500" cy="630900"/>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EAF1F7"/>
              </a:buClr>
              <a:buSzPts val="1900"/>
              <a:buFont typeface="Century Schoolbook"/>
              <a:buNone/>
            </a:pPr>
            <a:r>
              <a:rPr lang="en-GB" sz="2000" b="1" i="0" u="none" strike="noStrike" cap="none">
                <a:solidFill>
                  <a:srgbClr val="FFFFFF"/>
                </a:solidFill>
                <a:latin typeface="Century Schoolbook"/>
                <a:ea typeface="Century Schoolbook"/>
                <a:cs typeface="Century Schoolbook"/>
                <a:sym typeface="Century Schoolbook"/>
              </a:rPr>
              <a:t>The Foundation &amp; Building blocks </a:t>
            </a:r>
            <a:endParaRPr sz="1900" b="1" i="0" u="none" strike="noStrike" cap="none">
              <a:solidFill>
                <a:srgbClr val="EAF1F7"/>
              </a:solidFill>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3" name="Google Shape;283;p42"/>
          <p:cNvSpPr/>
          <p:nvPr/>
        </p:nvSpPr>
        <p:spPr>
          <a:xfrm>
            <a:off x="428625" y="3280338"/>
            <a:ext cx="8286900" cy="1485900"/>
          </a:xfrm>
          <a:prstGeom prst="roundRect">
            <a:avLst>
              <a:gd name="adj" fmla="val 8653"/>
            </a:avLst>
          </a:prstGeom>
          <a:solidFill>
            <a:srgbClr val="040E1D"/>
          </a:solidFill>
          <a:ln w="19050"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4" name="Google Shape;284;p42"/>
          <p:cNvSpPr/>
          <p:nvPr/>
        </p:nvSpPr>
        <p:spPr>
          <a:xfrm>
            <a:off x="628650" y="3423213"/>
            <a:ext cx="7886700" cy="221400"/>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5" name="Google Shape;285;p42"/>
          <p:cNvSpPr/>
          <p:nvPr/>
        </p:nvSpPr>
        <p:spPr>
          <a:xfrm>
            <a:off x="628650" y="3637525"/>
            <a:ext cx="7886700" cy="7200"/>
          </a:xfrm>
          <a:prstGeom prst="rect">
            <a:avLst/>
          </a:prstGeom>
          <a:solidFill>
            <a:srgbClr val="0A4F8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6" name="Google Shape;286;p42"/>
          <p:cNvSpPr/>
          <p:nvPr/>
        </p:nvSpPr>
        <p:spPr>
          <a:xfrm>
            <a:off x="628650" y="3730394"/>
            <a:ext cx="3871800" cy="735900"/>
          </a:xfrm>
          <a:prstGeom prst="roundRect">
            <a:avLst>
              <a:gd name="adj" fmla="val 13592"/>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7" name="Google Shape;287;p42"/>
          <p:cNvSpPr/>
          <p:nvPr/>
        </p:nvSpPr>
        <p:spPr>
          <a:xfrm>
            <a:off x="4643438" y="3730394"/>
            <a:ext cx="3871800" cy="735900"/>
          </a:xfrm>
          <a:prstGeom prst="roundRect">
            <a:avLst>
              <a:gd name="adj" fmla="val 13592"/>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8" name="Google Shape;288;p42"/>
          <p:cNvSpPr/>
          <p:nvPr/>
        </p:nvSpPr>
        <p:spPr>
          <a:xfrm>
            <a:off x="628650" y="4616219"/>
            <a:ext cx="1943100" cy="35700"/>
          </a:xfrm>
          <a:prstGeom prst="roundRect">
            <a:avLst>
              <a:gd name="adj" fmla="val 4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89" name="Google Shape;289;p42"/>
          <p:cNvSpPr/>
          <p:nvPr/>
        </p:nvSpPr>
        <p:spPr>
          <a:xfrm>
            <a:off x="2628900" y="4616219"/>
            <a:ext cx="3886200" cy="35700"/>
          </a:xfrm>
          <a:prstGeom prst="roundRect">
            <a:avLst>
              <a:gd name="adj" fmla="val 40000"/>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0" name="Google Shape;290;p42"/>
          <p:cNvSpPr/>
          <p:nvPr/>
        </p:nvSpPr>
        <p:spPr>
          <a:xfrm>
            <a:off x="6572250" y="4616219"/>
            <a:ext cx="1943100" cy="35700"/>
          </a:xfrm>
          <a:prstGeom prst="roundRect">
            <a:avLst>
              <a:gd name="adj" fmla="val 40000"/>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291" name="Google Shape;291;p42" descr="image.png"/>
          <p:cNvPicPr preferRelativeResize="0"/>
          <p:nvPr/>
        </p:nvPicPr>
        <p:blipFill rotWithShape="1">
          <a:blip r:embed="rId4">
            <a:alphaModFix/>
          </a:blip>
          <a:srcRect/>
          <a:stretch/>
        </p:blipFill>
        <p:spPr>
          <a:xfrm>
            <a:off x="628650" y="4551925"/>
            <a:ext cx="7886700" cy="100013"/>
          </a:xfrm>
          <a:prstGeom prst="rect">
            <a:avLst/>
          </a:prstGeom>
          <a:noFill/>
          <a:ln>
            <a:noFill/>
          </a:ln>
        </p:spPr>
      </p:pic>
      <p:pic>
        <p:nvPicPr>
          <p:cNvPr id="292" name="Google Shape;292;p42" descr="image.png"/>
          <p:cNvPicPr preferRelativeResize="0"/>
          <p:nvPr/>
        </p:nvPicPr>
        <p:blipFill rotWithShape="1">
          <a:blip r:embed="rId5">
            <a:alphaModFix/>
          </a:blip>
          <a:srcRect/>
          <a:stretch/>
        </p:blipFill>
        <p:spPr>
          <a:xfrm>
            <a:off x="628650" y="3437500"/>
            <a:ext cx="128588" cy="114300"/>
          </a:xfrm>
          <a:prstGeom prst="rect">
            <a:avLst/>
          </a:prstGeom>
          <a:noFill/>
          <a:ln>
            <a:noFill/>
          </a:ln>
        </p:spPr>
      </p:pic>
      <p:pic>
        <p:nvPicPr>
          <p:cNvPr id="293" name="Google Shape;293;p42" descr="image.png"/>
          <p:cNvPicPr preferRelativeResize="0"/>
          <p:nvPr/>
        </p:nvPicPr>
        <p:blipFill rotWithShape="1">
          <a:blip r:embed="rId6">
            <a:alphaModFix/>
          </a:blip>
          <a:srcRect/>
          <a:stretch/>
        </p:blipFill>
        <p:spPr>
          <a:xfrm>
            <a:off x="807244" y="3869697"/>
            <a:ext cx="457200" cy="457200"/>
          </a:xfrm>
          <a:prstGeom prst="rect">
            <a:avLst/>
          </a:prstGeom>
          <a:noFill/>
          <a:ln>
            <a:noFill/>
          </a:ln>
        </p:spPr>
      </p:pic>
      <p:pic>
        <p:nvPicPr>
          <p:cNvPr id="294" name="Google Shape;294;p42" descr="image.png"/>
          <p:cNvPicPr preferRelativeResize="0"/>
          <p:nvPr/>
        </p:nvPicPr>
        <p:blipFill rotWithShape="1">
          <a:blip r:embed="rId6">
            <a:alphaModFix/>
          </a:blip>
          <a:srcRect/>
          <a:stretch/>
        </p:blipFill>
        <p:spPr>
          <a:xfrm>
            <a:off x="4822031" y="3869697"/>
            <a:ext cx="457200" cy="457200"/>
          </a:xfrm>
          <a:prstGeom prst="rect">
            <a:avLst/>
          </a:prstGeom>
          <a:noFill/>
          <a:ln>
            <a:noFill/>
          </a:ln>
        </p:spPr>
      </p:pic>
      <p:pic>
        <p:nvPicPr>
          <p:cNvPr id="295" name="Google Shape;295;p42" descr="image.png"/>
          <p:cNvPicPr preferRelativeResize="0"/>
          <p:nvPr/>
        </p:nvPicPr>
        <p:blipFill rotWithShape="1">
          <a:blip r:embed="rId7">
            <a:alphaModFix/>
          </a:blip>
          <a:srcRect/>
          <a:stretch/>
        </p:blipFill>
        <p:spPr>
          <a:xfrm>
            <a:off x="935831" y="3998284"/>
            <a:ext cx="200025" cy="200025"/>
          </a:xfrm>
          <a:prstGeom prst="rect">
            <a:avLst/>
          </a:prstGeom>
          <a:noFill/>
          <a:ln>
            <a:noFill/>
          </a:ln>
        </p:spPr>
      </p:pic>
      <p:pic>
        <p:nvPicPr>
          <p:cNvPr id="296" name="Google Shape;296;p42" descr="image.png"/>
          <p:cNvPicPr preferRelativeResize="0"/>
          <p:nvPr/>
        </p:nvPicPr>
        <p:blipFill rotWithShape="1">
          <a:blip r:embed="rId8">
            <a:alphaModFix/>
          </a:blip>
          <a:srcRect/>
          <a:stretch/>
        </p:blipFill>
        <p:spPr>
          <a:xfrm>
            <a:off x="4961334" y="3998284"/>
            <a:ext cx="178594" cy="200025"/>
          </a:xfrm>
          <a:prstGeom prst="rect">
            <a:avLst/>
          </a:prstGeom>
          <a:noFill/>
          <a:ln>
            <a:noFill/>
          </a:ln>
        </p:spPr>
      </p:pic>
      <p:sp>
        <p:nvSpPr>
          <p:cNvPr id="297" name="Google Shape;297;p42"/>
          <p:cNvSpPr txBox="1"/>
          <p:nvPr/>
        </p:nvSpPr>
        <p:spPr>
          <a:xfrm>
            <a:off x="828675" y="3423213"/>
            <a:ext cx="1387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1" i="0" u="none" strike="noStrike" cap="none">
                <a:solidFill>
                  <a:srgbClr val="4FB0EA"/>
                </a:solidFill>
                <a:latin typeface="Courier New"/>
                <a:ea typeface="Courier New"/>
                <a:cs typeface="Courier New"/>
                <a:sym typeface="Courier New"/>
              </a:rPr>
              <a:t>THE FOUNDATION</a:t>
            </a:r>
            <a:endParaRPr sz="1100" b="0" i="0" u="none" strike="noStrike" cap="none">
              <a:solidFill>
                <a:srgbClr val="000000"/>
              </a:solidFill>
              <a:latin typeface="Arial"/>
              <a:ea typeface="Arial"/>
              <a:cs typeface="Arial"/>
              <a:sym typeface="Arial"/>
            </a:endParaRPr>
          </a:p>
        </p:txBody>
      </p:sp>
      <p:grpSp>
        <p:nvGrpSpPr>
          <p:cNvPr id="298" name="Google Shape;298;p42"/>
          <p:cNvGrpSpPr/>
          <p:nvPr/>
        </p:nvGrpSpPr>
        <p:grpSpPr>
          <a:xfrm>
            <a:off x="428625" y="1121840"/>
            <a:ext cx="8286720" cy="1911846"/>
            <a:chOff x="428625" y="1121840"/>
            <a:chExt cx="8286720" cy="1911846"/>
          </a:xfrm>
        </p:grpSpPr>
        <p:sp>
          <p:nvSpPr>
            <p:cNvPr id="299" name="Google Shape;299;p42"/>
            <p:cNvSpPr/>
            <p:nvPr/>
          </p:nvSpPr>
          <p:spPr>
            <a:xfrm>
              <a:off x="42862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0" name="Google Shape;300;p42"/>
            <p:cNvSpPr/>
            <p:nvPr/>
          </p:nvSpPr>
          <p:spPr>
            <a:xfrm>
              <a:off x="210595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1" name="Google Shape;301;p42"/>
            <p:cNvSpPr/>
            <p:nvPr/>
          </p:nvSpPr>
          <p:spPr>
            <a:xfrm>
              <a:off x="378328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2" name="Google Shape;302;p42"/>
            <p:cNvSpPr/>
            <p:nvPr/>
          </p:nvSpPr>
          <p:spPr>
            <a:xfrm>
              <a:off x="546061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3" name="Google Shape;303;p42"/>
            <p:cNvSpPr/>
            <p:nvPr/>
          </p:nvSpPr>
          <p:spPr>
            <a:xfrm>
              <a:off x="713794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4" name="Google Shape;304;p42"/>
            <p:cNvSpPr/>
            <p:nvPr/>
          </p:nvSpPr>
          <p:spPr>
            <a:xfrm>
              <a:off x="428625" y="2915870"/>
              <a:ext cx="2915700" cy="14400"/>
            </a:xfrm>
            <a:prstGeom prst="rect">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5" name="Google Shape;305;p42"/>
            <p:cNvSpPr/>
            <p:nvPr/>
          </p:nvSpPr>
          <p:spPr>
            <a:xfrm>
              <a:off x="3458691" y="2812286"/>
              <a:ext cx="2226600" cy="221400"/>
            </a:xfrm>
            <a:prstGeom prst="roundRect">
              <a:avLst>
                <a:gd name="adj" fmla="val 50000"/>
              </a:avLst>
            </a:prstGeom>
            <a:solidFill>
              <a:srgbClr val="081A2F"/>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6" name="Google Shape;306;p42"/>
            <p:cNvSpPr/>
            <p:nvPr/>
          </p:nvSpPr>
          <p:spPr>
            <a:xfrm>
              <a:off x="5799608" y="2915870"/>
              <a:ext cx="2915700" cy="14400"/>
            </a:xfrm>
            <a:prstGeom prst="rect">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307" name="Google Shape;307;p42" descr="image.png"/>
            <p:cNvPicPr preferRelativeResize="0"/>
            <p:nvPr/>
          </p:nvPicPr>
          <p:blipFill rotWithShape="1">
            <a:blip r:embed="rId9">
              <a:alphaModFix/>
            </a:blip>
            <a:srcRect/>
            <a:stretch/>
          </p:blipFill>
          <p:spPr>
            <a:xfrm>
              <a:off x="442913" y="1136128"/>
              <a:ext cx="128588" cy="114300"/>
            </a:xfrm>
            <a:prstGeom prst="rect">
              <a:avLst/>
            </a:prstGeom>
            <a:noFill/>
            <a:ln>
              <a:noFill/>
            </a:ln>
          </p:spPr>
        </p:pic>
        <p:pic>
          <p:nvPicPr>
            <p:cNvPr id="308" name="Google Shape;308;p42" descr="image.png"/>
            <p:cNvPicPr preferRelativeResize="0"/>
            <p:nvPr/>
          </p:nvPicPr>
          <p:blipFill rotWithShape="1">
            <a:blip r:embed="rId10">
              <a:alphaModFix/>
            </a:blip>
            <a:srcRect/>
            <a:stretch/>
          </p:blipFill>
          <p:spPr>
            <a:xfrm>
              <a:off x="3651572" y="2876580"/>
              <a:ext cx="78581" cy="92869"/>
            </a:xfrm>
            <a:prstGeom prst="rect">
              <a:avLst/>
            </a:prstGeom>
            <a:noFill/>
            <a:ln>
              <a:noFill/>
            </a:ln>
          </p:spPr>
        </p:pic>
        <p:pic>
          <p:nvPicPr>
            <p:cNvPr id="309" name="Google Shape;309;p42" descr="image.png"/>
            <p:cNvPicPr preferRelativeResize="0"/>
            <p:nvPr/>
          </p:nvPicPr>
          <p:blipFill rotWithShape="1">
            <a:blip r:embed="rId11">
              <a:alphaModFix/>
            </a:blip>
            <a:srcRect/>
            <a:stretch/>
          </p:blipFill>
          <p:spPr>
            <a:xfrm>
              <a:off x="5413846" y="2876580"/>
              <a:ext cx="78581" cy="92869"/>
            </a:xfrm>
            <a:prstGeom prst="rect">
              <a:avLst/>
            </a:prstGeom>
            <a:noFill/>
            <a:ln>
              <a:noFill/>
            </a:ln>
          </p:spPr>
        </p:pic>
        <p:pic>
          <p:nvPicPr>
            <p:cNvPr id="310" name="Google Shape;310;p42" descr="image.png"/>
            <p:cNvPicPr preferRelativeResize="0"/>
            <p:nvPr/>
          </p:nvPicPr>
          <p:blipFill rotWithShape="1">
            <a:blip r:embed="rId12">
              <a:alphaModFix/>
            </a:blip>
            <a:srcRect/>
            <a:stretch/>
          </p:blipFill>
          <p:spPr>
            <a:xfrm>
              <a:off x="931478" y="1443309"/>
              <a:ext cx="571500" cy="528638"/>
            </a:xfrm>
            <a:prstGeom prst="rect">
              <a:avLst/>
            </a:prstGeom>
            <a:noFill/>
            <a:ln>
              <a:noFill/>
            </a:ln>
          </p:spPr>
        </p:pic>
        <p:pic>
          <p:nvPicPr>
            <p:cNvPr id="311" name="Google Shape;311;p42" descr="image.png"/>
            <p:cNvPicPr preferRelativeResize="0"/>
            <p:nvPr/>
          </p:nvPicPr>
          <p:blipFill rotWithShape="1">
            <a:blip r:embed="rId13">
              <a:alphaModFix/>
            </a:blip>
            <a:srcRect/>
            <a:stretch/>
          </p:blipFill>
          <p:spPr>
            <a:xfrm>
              <a:off x="995771" y="2061243"/>
              <a:ext cx="100013" cy="114300"/>
            </a:xfrm>
            <a:prstGeom prst="rect">
              <a:avLst/>
            </a:prstGeom>
            <a:noFill/>
            <a:ln>
              <a:noFill/>
            </a:ln>
          </p:spPr>
        </p:pic>
        <p:pic>
          <p:nvPicPr>
            <p:cNvPr id="312" name="Google Shape;312;p42" descr="image.png"/>
            <p:cNvPicPr preferRelativeResize="0"/>
            <p:nvPr/>
          </p:nvPicPr>
          <p:blipFill rotWithShape="1">
            <a:blip r:embed="rId14">
              <a:alphaModFix/>
            </a:blip>
            <a:srcRect/>
            <a:stretch/>
          </p:blipFill>
          <p:spPr>
            <a:xfrm>
              <a:off x="2608808" y="1443309"/>
              <a:ext cx="571500" cy="528638"/>
            </a:xfrm>
            <a:prstGeom prst="rect">
              <a:avLst/>
            </a:prstGeom>
            <a:noFill/>
            <a:ln>
              <a:noFill/>
            </a:ln>
          </p:spPr>
        </p:pic>
        <p:pic>
          <p:nvPicPr>
            <p:cNvPr id="313" name="Google Shape;313;p42" descr="image.png"/>
            <p:cNvPicPr preferRelativeResize="0"/>
            <p:nvPr/>
          </p:nvPicPr>
          <p:blipFill rotWithShape="1">
            <a:blip r:embed="rId15">
              <a:alphaModFix/>
            </a:blip>
            <a:srcRect/>
            <a:stretch/>
          </p:blipFill>
          <p:spPr>
            <a:xfrm>
              <a:off x="2455217" y="2061243"/>
              <a:ext cx="142875" cy="114300"/>
            </a:xfrm>
            <a:prstGeom prst="rect">
              <a:avLst/>
            </a:prstGeom>
            <a:noFill/>
            <a:ln>
              <a:noFill/>
            </a:ln>
          </p:spPr>
        </p:pic>
        <p:pic>
          <p:nvPicPr>
            <p:cNvPr id="314" name="Google Shape;314;p42" descr="image.png"/>
            <p:cNvPicPr preferRelativeResize="0"/>
            <p:nvPr/>
          </p:nvPicPr>
          <p:blipFill rotWithShape="1">
            <a:blip r:embed="rId16">
              <a:alphaModFix/>
            </a:blip>
            <a:srcRect/>
            <a:stretch/>
          </p:blipFill>
          <p:spPr>
            <a:xfrm>
              <a:off x="4286138" y="1443309"/>
              <a:ext cx="571500" cy="528638"/>
            </a:xfrm>
            <a:prstGeom prst="rect">
              <a:avLst/>
            </a:prstGeom>
            <a:noFill/>
            <a:ln>
              <a:noFill/>
            </a:ln>
          </p:spPr>
        </p:pic>
        <p:pic>
          <p:nvPicPr>
            <p:cNvPr id="315" name="Google Shape;315;p42" descr="image.png"/>
            <p:cNvPicPr preferRelativeResize="0"/>
            <p:nvPr/>
          </p:nvPicPr>
          <p:blipFill rotWithShape="1">
            <a:blip r:embed="rId17">
              <a:alphaModFix/>
            </a:blip>
            <a:srcRect/>
            <a:stretch/>
          </p:blipFill>
          <p:spPr>
            <a:xfrm>
              <a:off x="4296854" y="2061243"/>
              <a:ext cx="114300" cy="114300"/>
            </a:xfrm>
            <a:prstGeom prst="rect">
              <a:avLst/>
            </a:prstGeom>
            <a:noFill/>
            <a:ln>
              <a:noFill/>
            </a:ln>
          </p:spPr>
        </p:pic>
        <p:pic>
          <p:nvPicPr>
            <p:cNvPr id="316" name="Google Shape;316;p42" descr="image.png"/>
            <p:cNvPicPr preferRelativeResize="0"/>
            <p:nvPr/>
          </p:nvPicPr>
          <p:blipFill rotWithShape="1">
            <a:blip r:embed="rId18">
              <a:alphaModFix/>
            </a:blip>
            <a:srcRect/>
            <a:stretch/>
          </p:blipFill>
          <p:spPr>
            <a:xfrm>
              <a:off x="5963468" y="1443309"/>
              <a:ext cx="571500" cy="528638"/>
            </a:xfrm>
            <a:prstGeom prst="rect">
              <a:avLst/>
            </a:prstGeom>
            <a:noFill/>
            <a:ln>
              <a:noFill/>
            </a:ln>
          </p:spPr>
        </p:pic>
        <p:pic>
          <p:nvPicPr>
            <p:cNvPr id="317" name="Google Shape;317;p42" descr="image.png"/>
            <p:cNvPicPr preferRelativeResize="0"/>
            <p:nvPr/>
          </p:nvPicPr>
          <p:blipFill rotWithShape="1">
            <a:blip r:embed="rId19">
              <a:alphaModFix/>
            </a:blip>
            <a:srcRect/>
            <a:stretch/>
          </p:blipFill>
          <p:spPr>
            <a:xfrm>
              <a:off x="5777731" y="2061243"/>
              <a:ext cx="85725" cy="114300"/>
            </a:xfrm>
            <a:prstGeom prst="rect">
              <a:avLst/>
            </a:prstGeom>
            <a:noFill/>
            <a:ln>
              <a:noFill/>
            </a:ln>
          </p:spPr>
        </p:pic>
        <p:pic>
          <p:nvPicPr>
            <p:cNvPr id="318" name="Google Shape;318;p42" descr="image.png"/>
            <p:cNvPicPr preferRelativeResize="0"/>
            <p:nvPr/>
          </p:nvPicPr>
          <p:blipFill rotWithShape="1">
            <a:blip r:embed="rId20">
              <a:alphaModFix/>
            </a:blip>
            <a:srcRect/>
            <a:stretch/>
          </p:blipFill>
          <p:spPr>
            <a:xfrm>
              <a:off x="7640798" y="1443309"/>
              <a:ext cx="571500" cy="528638"/>
            </a:xfrm>
            <a:prstGeom prst="rect">
              <a:avLst/>
            </a:prstGeom>
            <a:noFill/>
            <a:ln>
              <a:noFill/>
            </a:ln>
          </p:spPr>
        </p:pic>
        <p:pic>
          <p:nvPicPr>
            <p:cNvPr id="319" name="Google Shape;319;p42" descr="image.png"/>
            <p:cNvPicPr preferRelativeResize="0"/>
            <p:nvPr/>
          </p:nvPicPr>
          <p:blipFill rotWithShape="1">
            <a:blip r:embed="rId21">
              <a:alphaModFix/>
            </a:blip>
            <a:srcRect/>
            <a:stretch/>
          </p:blipFill>
          <p:spPr>
            <a:xfrm>
              <a:off x="7612223" y="2061243"/>
              <a:ext cx="142875" cy="114300"/>
            </a:xfrm>
            <a:prstGeom prst="rect">
              <a:avLst/>
            </a:prstGeom>
            <a:noFill/>
            <a:ln>
              <a:noFill/>
            </a:ln>
          </p:spPr>
        </p:pic>
        <p:sp>
          <p:nvSpPr>
            <p:cNvPr id="320" name="Google Shape;320;p42"/>
            <p:cNvSpPr txBox="1"/>
            <p:nvPr/>
          </p:nvSpPr>
          <p:spPr>
            <a:xfrm>
              <a:off x="642938" y="1121840"/>
              <a:ext cx="1486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1" i="0" u="none" strike="noStrike" cap="none">
                  <a:solidFill>
                    <a:srgbClr val="4FB0EA"/>
                  </a:solidFill>
                  <a:latin typeface="Courier New"/>
                  <a:ea typeface="Courier New"/>
                  <a:cs typeface="Courier New"/>
                  <a:sym typeface="Courier New"/>
                </a:rPr>
                <a:t>BUILDING BLOCKS</a:t>
              </a:r>
              <a:endParaRPr sz="1100" b="0" i="0" u="none" strike="noStrike" cap="none">
                <a:solidFill>
                  <a:srgbClr val="000000"/>
                </a:solidFill>
                <a:latin typeface="Arial"/>
                <a:ea typeface="Arial"/>
                <a:cs typeface="Arial"/>
                <a:sym typeface="Arial"/>
              </a:endParaRPr>
            </a:p>
          </p:txBody>
        </p:sp>
        <p:sp>
          <p:nvSpPr>
            <p:cNvPr id="321" name="Google Shape;321;p42"/>
            <p:cNvSpPr txBox="1"/>
            <p:nvPr/>
          </p:nvSpPr>
          <p:spPr>
            <a:xfrm>
              <a:off x="849437" y="2264840"/>
              <a:ext cx="7356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PLAYBOOK</a:t>
              </a:r>
              <a:endParaRPr sz="1100" b="0" i="0" u="none" strike="noStrike" cap="none">
                <a:solidFill>
                  <a:srgbClr val="000000"/>
                </a:solidFill>
                <a:latin typeface="Arial"/>
                <a:ea typeface="Arial"/>
                <a:cs typeface="Arial"/>
                <a:sym typeface="Arial"/>
              </a:endParaRPr>
            </a:p>
          </p:txBody>
        </p:sp>
        <p:sp>
          <p:nvSpPr>
            <p:cNvPr id="322" name="Google Shape;322;p42"/>
            <p:cNvSpPr txBox="1"/>
            <p:nvPr/>
          </p:nvSpPr>
          <p:spPr>
            <a:xfrm>
              <a:off x="2591953" y="2264840"/>
              <a:ext cx="6054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WORKER</a:t>
              </a:r>
              <a:endParaRPr sz="1100" b="0" i="0" u="none" strike="noStrike" cap="none">
                <a:solidFill>
                  <a:srgbClr val="000000"/>
                </a:solidFill>
                <a:latin typeface="Arial"/>
                <a:ea typeface="Arial"/>
                <a:cs typeface="Arial"/>
                <a:sym typeface="Arial"/>
              </a:endParaRPr>
            </a:p>
          </p:txBody>
        </p:sp>
        <p:sp>
          <p:nvSpPr>
            <p:cNvPr id="323" name="Google Shape;323;p42"/>
            <p:cNvSpPr txBox="1"/>
            <p:nvPr/>
          </p:nvSpPr>
          <p:spPr>
            <a:xfrm>
              <a:off x="4171503" y="2264840"/>
              <a:ext cx="8007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GUARDRAIL</a:t>
              </a:r>
              <a:endParaRPr sz="1100" b="0" i="0" u="none" strike="noStrike" cap="none">
                <a:solidFill>
                  <a:srgbClr val="000000"/>
                </a:solidFill>
                <a:latin typeface="Arial"/>
                <a:ea typeface="Arial"/>
                <a:cs typeface="Arial"/>
                <a:sym typeface="Arial"/>
              </a:endParaRPr>
            </a:p>
          </p:txBody>
        </p:sp>
        <p:sp>
          <p:nvSpPr>
            <p:cNvPr id="324" name="Google Shape;324;p42"/>
            <p:cNvSpPr txBox="1"/>
            <p:nvPr/>
          </p:nvSpPr>
          <p:spPr>
            <a:xfrm>
              <a:off x="5848833" y="2264840"/>
              <a:ext cx="8007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TOOL PLUG</a:t>
              </a:r>
              <a:endParaRPr sz="1100" b="0" i="0" u="none" strike="noStrike" cap="none">
                <a:solidFill>
                  <a:srgbClr val="000000"/>
                </a:solidFill>
                <a:latin typeface="Arial"/>
                <a:ea typeface="Arial"/>
                <a:cs typeface="Arial"/>
                <a:sym typeface="Arial"/>
              </a:endParaRPr>
            </a:p>
          </p:txBody>
        </p:sp>
        <p:sp>
          <p:nvSpPr>
            <p:cNvPr id="325" name="Google Shape;325;p42"/>
            <p:cNvSpPr txBox="1"/>
            <p:nvPr/>
          </p:nvSpPr>
          <p:spPr>
            <a:xfrm>
              <a:off x="7623944" y="2264840"/>
              <a:ext cx="6054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BUNDLE</a:t>
              </a:r>
              <a:endParaRPr sz="1100" b="0" i="0" u="none" strike="noStrike" cap="none">
                <a:solidFill>
                  <a:srgbClr val="000000"/>
                </a:solidFill>
                <a:latin typeface="Arial"/>
                <a:ea typeface="Arial"/>
                <a:cs typeface="Arial"/>
                <a:sym typeface="Arial"/>
              </a:endParaRPr>
            </a:p>
          </p:txBody>
        </p:sp>
        <p:sp>
          <p:nvSpPr>
            <p:cNvPr id="326" name="Google Shape;326;p42"/>
            <p:cNvSpPr txBox="1"/>
            <p:nvPr/>
          </p:nvSpPr>
          <p:spPr>
            <a:xfrm>
              <a:off x="3815879" y="2862293"/>
              <a:ext cx="1890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E3F2FC"/>
                  </a:solidFill>
                  <a:latin typeface="Courier New"/>
                  <a:ea typeface="Courier New"/>
                  <a:cs typeface="Courier New"/>
                  <a:sym typeface="Courier New"/>
                </a:rPr>
                <a:t>RESTS UPON FOUNDATION</a:t>
              </a:r>
              <a:endParaRPr sz="1100" b="0" i="0" u="none" strike="noStrike" cap="none">
                <a:solidFill>
                  <a:srgbClr val="000000"/>
                </a:solidFill>
                <a:latin typeface="Arial"/>
                <a:ea typeface="Arial"/>
                <a:cs typeface="Arial"/>
                <a:sym typeface="Arial"/>
              </a:endParaRPr>
            </a:p>
          </p:txBody>
        </p:sp>
        <p:sp>
          <p:nvSpPr>
            <p:cNvPr id="327" name="Google Shape;327;p42"/>
            <p:cNvSpPr txBox="1"/>
            <p:nvPr/>
          </p:nvSpPr>
          <p:spPr>
            <a:xfrm>
              <a:off x="1033276" y="2029096"/>
              <a:ext cx="52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Skill</a:t>
              </a:r>
              <a:endParaRPr sz="1100" b="0" i="0" u="none" strike="noStrike" cap="none">
                <a:solidFill>
                  <a:srgbClr val="000000"/>
                </a:solidFill>
                <a:latin typeface="Arial"/>
                <a:ea typeface="Arial"/>
                <a:cs typeface="Arial"/>
                <a:sym typeface="Arial"/>
              </a:endParaRPr>
            </a:p>
          </p:txBody>
        </p:sp>
        <p:sp>
          <p:nvSpPr>
            <p:cNvPr id="328" name="Google Shape;328;p42"/>
            <p:cNvSpPr txBox="1"/>
            <p:nvPr/>
          </p:nvSpPr>
          <p:spPr>
            <a:xfrm>
              <a:off x="2525762" y="2029096"/>
              <a:ext cx="9375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Subagent</a:t>
              </a:r>
              <a:endParaRPr sz="1100" b="0" i="0" u="none" strike="noStrike" cap="none">
                <a:solidFill>
                  <a:srgbClr val="000000"/>
                </a:solidFill>
                <a:latin typeface="Arial"/>
                <a:ea typeface="Arial"/>
                <a:cs typeface="Arial"/>
                <a:sym typeface="Arial"/>
              </a:endParaRPr>
            </a:p>
          </p:txBody>
        </p:sp>
        <p:sp>
          <p:nvSpPr>
            <p:cNvPr id="329" name="Google Shape;329;p42"/>
            <p:cNvSpPr txBox="1"/>
            <p:nvPr/>
          </p:nvSpPr>
          <p:spPr>
            <a:xfrm>
              <a:off x="4346324" y="2029096"/>
              <a:ext cx="6225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Hook</a:t>
              </a:r>
              <a:endParaRPr sz="1100" b="0" i="0" u="none" strike="noStrike" cap="none">
                <a:solidFill>
                  <a:srgbClr val="000000"/>
                </a:solidFill>
                <a:latin typeface="Arial"/>
                <a:ea typeface="Arial"/>
                <a:cs typeface="Arial"/>
                <a:sym typeface="Arial"/>
              </a:endParaRPr>
            </a:p>
          </p:txBody>
        </p:sp>
        <p:sp>
          <p:nvSpPr>
            <p:cNvPr id="330" name="Google Shape;330;p42"/>
            <p:cNvSpPr txBox="1"/>
            <p:nvPr/>
          </p:nvSpPr>
          <p:spPr>
            <a:xfrm>
              <a:off x="5788089" y="2029096"/>
              <a:ext cx="106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MCP Server</a:t>
              </a:r>
              <a:endParaRPr sz="1100" b="0" i="0" u="none" strike="noStrike" cap="none">
                <a:solidFill>
                  <a:srgbClr val="000000"/>
                </a:solidFill>
                <a:latin typeface="Arial"/>
                <a:ea typeface="Arial"/>
                <a:cs typeface="Arial"/>
                <a:sym typeface="Arial"/>
              </a:endParaRPr>
            </a:p>
          </p:txBody>
        </p:sp>
        <p:sp>
          <p:nvSpPr>
            <p:cNvPr id="331" name="Google Shape;331;p42"/>
            <p:cNvSpPr txBox="1"/>
            <p:nvPr/>
          </p:nvSpPr>
          <p:spPr>
            <a:xfrm>
              <a:off x="7689019" y="2029096"/>
              <a:ext cx="67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Plugin</a:t>
              </a:r>
              <a:endParaRPr sz="1100" b="0" i="0" u="none" strike="noStrike" cap="none">
                <a:solidFill>
                  <a:srgbClr val="000000"/>
                </a:solidFill>
                <a:latin typeface="Arial"/>
                <a:ea typeface="Arial"/>
                <a:cs typeface="Arial"/>
                <a:sym typeface="Arial"/>
              </a:endParaRPr>
            </a:p>
          </p:txBody>
        </p:sp>
      </p:grpSp>
      <p:sp>
        <p:nvSpPr>
          <p:cNvPr id="332" name="Google Shape;332;p42"/>
          <p:cNvSpPr txBox="1"/>
          <p:nvPr/>
        </p:nvSpPr>
        <p:spPr>
          <a:xfrm>
            <a:off x="1407319" y="3866125"/>
            <a:ext cx="1480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alibri"/>
                <a:ea typeface="Calibri"/>
                <a:cs typeface="Calibri"/>
                <a:sym typeface="Calibri"/>
              </a:rPr>
              <a:t>Context</a:t>
            </a:r>
            <a:endParaRPr sz="1100" b="0" i="0" u="none" strike="noStrike" cap="none">
              <a:solidFill>
                <a:srgbClr val="000000"/>
              </a:solidFill>
              <a:latin typeface="Arial"/>
              <a:ea typeface="Arial"/>
              <a:cs typeface="Arial"/>
              <a:sym typeface="Arial"/>
            </a:endParaRPr>
          </a:p>
        </p:txBody>
      </p:sp>
      <p:sp>
        <p:nvSpPr>
          <p:cNvPr id="333" name="Google Shape;333;p42"/>
          <p:cNvSpPr txBox="1"/>
          <p:nvPr/>
        </p:nvSpPr>
        <p:spPr>
          <a:xfrm>
            <a:off x="1407319" y="4180450"/>
            <a:ext cx="14103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FD4F7"/>
                </a:solidFill>
                <a:latin typeface="Courier New"/>
                <a:ea typeface="Courier New"/>
                <a:cs typeface="Courier New"/>
                <a:sym typeface="Courier New"/>
              </a:rPr>
              <a:t>WORKING MEMORY</a:t>
            </a:r>
            <a:endParaRPr sz="1100" b="0" i="0" u="none" strike="noStrike" cap="none">
              <a:solidFill>
                <a:srgbClr val="000000"/>
              </a:solidFill>
              <a:latin typeface="Arial"/>
              <a:ea typeface="Arial"/>
              <a:cs typeface="Arial"/>
              <a:sym typeface="Arial"/>
            </a:endParaRPr>
          </a:p>
        </p:txBody>
      </p:sp>
      <p:sp>
        <p:nvSpPr>
          <p:cNvPr id="334" name="Google Shape;334;p42"/>
          <p:cNvSpPr txBox="1"/>
          <p:nvPr/>
        </p:nvSpPr>
        <p:spPr>
          <a:xfrm>
            <a:off x="5422106" y="3866125"/>
            <a:ext cx="16923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alibri"/>
                <a:ea typeface="Calibri"/>
                <a:cs typeface="Calibri"/>
                <a:sym typeface="Calibri"/>
              </a:rPr>
              <a:t>Memory</a:t>
            </a:r>
            <a:endParaRPr sz="1100" b="0" i="0" u="none" strike="noStrike" cap="none">
              <a:solidFill>
                <a:srgbClr val="000000"/>
              </a:solidFill>
              <a:latin typeface="Arial"/>
              <a:ea typeface="Arial"/>
              <a:cs typeface="Arial"/>
              <a:sym typeface="Arial"/>
            </a:endParaRPr>
          </a:p>
        </p:txBody>
      </p:sp>
      <p:sp>
        <p:nvSpPr>
          <p:cNvPr id="335" name="Google Shape;335;p42"/>
          <p:cNvSpPr txBox="1"/>
          <p:nvPr/>
        </p:nvSpPr>
        <p:spPr>
          <a:xfrm>
            <a:off x="5422106" y="4180450"/>
            <a:ext cx="16116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FD4F7"/>
                </a:solidFill>
                <a:latin typeface="Courier New"/>
                <a:ea typeface="Courier New"/>
                <a:cs typeface="Courier New"/>
                <a:sym typeface="Courier New"/>
              </a:rPr>
              <a:t>PERSISTENT STATE</a:t>
            </a:r>
            <a:endParaRPr sz="11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40"/>
        <p:cNvGrpSpPr/>
        <p:nvPr/>
      </p:nvGrpSpPr>
      <p:grpSpPr>
        <a:xfrm>
          <a:off x="0" y="0"/>
          <a:ext cx="0" cy="0"/>
          <a:chOff x="0" y="0"/>
          <a:chExt cx="0" cy="0"/>
        </a:xfrm>
      </p:grpSpPr>
      <p:pic>
        <p:nvPicPr>
          <p:cNvPr id="341" name="Google Shape;341;p43" descr="A cluttered desk covered in papers, notes and screens: a full context window."/>
          <p:cNvPicPr preferRelativeResize="0"/>
          <p:nvPr/>
        </p:nvPicPr>
        <p:blipFill rotWithShape="1">
          <a:blip r:embed="rId3">
            <a:alphaModFix/>
          </a:blip>
          <a:srcRect l="2941" r="2941"/>
          <a:stretch/>
        </p:blipFill>
        <p:spPr>
          <a:xfrm>
            <a:off x="493776" y="630936"/>
            <a:ext cx="3657600" cy="3886200"/>
          </a:xfrm>
          <a:prstGeom prst="roundRect">
            <a:avLst>
              <a:gd name="adj" fmla="val 3000"/>
            </a:avLst>
          </a:prstGeom>
          <a:noFill/>
          <a:ln>
            <a:noFill/>
          </a:ln>
        </p:spPr>
      </p:pic>
      <p:sp>
        <p:nvSpPr>
          <p:cNvPr id="342" name="Google Shape;342;p43"/>
          <p:cNvSpPr txBox="1">
            <a:spLocks noGrp="1"/>
          </p:cNvSpPr>
          <p:nvPr>
            <p:ph type="title"/>
          </p:nvPr>
        </p:nvSpPr>
        <p:spPr>
          <a:xfrm>
            <a:off x="4498848" y="630917"/>
            <a:ext cx="4151400" cy="4572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800" b="1">
                <a:solidFill>
                  <a:srgbClr val="FFFFFF"/>
                </a:solidFill>
                <a:latin typeface="Century Schoolbook"/>
                <a:ea typeface="Century Schoolbook"/>
                <a:cs typeface="Century Schoolbook"/>
                <a:sym typeface="Century Schoolbook"/>
              </a:rPr>
              <a:t>Context</a:t>
            </a:r>
            <a:endParaRPr sz="2800"/>
          </a:p>
        </p:txBody>
      </p:sp>
      <p:sp>
        <p:nvSpPr>
          <p:cNvPr id="343" name="Google Shape;343;p43"/>
          <p:cNvSpPr txBox="1"/>
          <p:nvPr/>
        </p:nvSpPr>
        <p:spPr>
          <a:xfrm>
            <a:off x="4498848" y="1069843"/>
            <a:ext cx="41514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50"/>
              <a:buFont typeface="Arial"/>
              <a:buNone/>
            </a:pPr>
            <a:r>
              <a:rPr lang="en-GB" sz="1250" b="0" i="0" u="none" strike="noStrike" cap="none">
                <a:solidFill>
                  <a:srgbClr val="93A9C0"/>
                </a:solidFill>
                <a:latin typeface="Calibri"/>
                <a:ea typeface="Calibri"/>
                <a:cs typeface="Calibri"/>
                <a:sym typeface="Calibri"/>
              </a:rPr>
              <a:t>Working memory: everything Claude can see right now.</a:t>
            </a:r>
            <a:endParaRPr/>
          </a:p>
        </p:txBody>
      </p:sp>
      <p:sp>
        <p:nvSpPr>
          <p:cNvPr id="344" name="Google Shape;344;p43"/>
          <p:cNvSpPr txBox="1"/>
          <p:nvPr/>
        </p:nvSpPr>
        <p:spPr>
          <a:xfrm>
            <a:off x="4498848" y="175564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KEEP IT CLEAN</a:t>
            </a:r>
            <a:endParaRPr/>
          </a:p>
        </p:txBody>
      </p:sp>
      <p:cxnSp>
        <p:nvCxnSpPr>
          <p:cNvPr id="345" name="Google Shape;345;p43"/>
          <p:cNvCxnSpPr/>
          <p:nvPr/>
        </p:nvCxnSpPr>
        <p:spPr>
          <a:xfrm>
            <a:off x="4498848" y="1956816"/>
            <a:ext cx="4151376" cy="0"/>
          </a:xfrm>
          <a:prstGeom prst="straightConnector1">
            <a:avLst/>
          </a:prstGeom>
          <a:noFill/>
          <a:ln w="9525" cap="flat" cmpd="sng">
            <a:solidFill>
              <a:srgbClr val="1E3044"/>
            </a:solidFill>
            <a:prstDash val="solid"/>
            <a:round/>
            <a:headEnd type="none" w="sm" len="sm"/>
            <a:tailEnd type="none" w="sm" len="sm"/>
          </a:ln>
        </p:spPr>
      </p:cxnSp>
      <p:sp>
        <p:nvSpPr>
          <p:cNvPr id="346" name="Google Shape;346;p43"/>
          <p:cNvSpPr txBox="1"/>
          <p:nvPr/>
        </p:nvSpPr>
        <p:spPr>
          <a:xfrm>
            <a:off x="4498848" y="195681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/context</a:t>
            </a:r>
            <a:endParaRPr/>
          </a:p>
        </p:txBody>
      </p:sp>
      <p:sp>
        <p:nvSpPr>
          <p:cNvPr id="347" name="Google Shape;347;p43"/>
          <p:cNvSpPr txBox="1"/>
          <p:nvPr/>
        </p:nvSpPr>
        <p:spPr>
          <a:xfrm>
            <a:off x="6071616" y="195681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see what is filling it</a:t>
            </a:r>
            <a:endParaRPr/>
          </a:p>
        </p:txBody>
      </p:sp>
      <p:cxnSp>
        <p:nvCxnSpPr>
          <p:cNvPr id="348" name="Google Shape;348;p43"/>
          <p:cNvCxnSpPr/>
          <p:nvPr/>
        </p:nvCxnSpPr>
        <p:spPr>
          <a:xfrm>
            <a:off x="4498848" y="2231136"/>
            <a:ext cx="4151376" cy="0"/>
          </a:xfrm>
          <a:prstGeom prst="straightConnector1">
            <a:avLst/>
          </a:prstGeom>
          <a:noFill/>
          <a:ln w="9525" cap="flat" cmpd="sng">
            <a:solidFill>
              <a:srgbClr val="1E3044"/>
            </a:solidFill>
            <a:prstDash val="solid"/>
            <a:round/>
            <a:headEnd type="none" w="sm" len="sm"/>
            <a:tailEnd type="none" w="sm" len="sm"/>
          </a:ln>
        </p:spPr>
      </p:cxnSp>
      <p:sp>
        <p:nvSpPr>
          <p:cNvPr id="349" name="Google Shape;349;p43"/>
          <p:cNvSpPr txBox="1"/>
          <p:nvPr/>
        </p:nvSpPr>
        <p:spPr>
          <a:xfrm>
            <a:off x="4498848" y="223113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/compact [focus]</a:t>
            </a:r>
            <a:endParaRPr/>
          </a:p>
        </p:txBody>
      </p:sp>
      <p:sp>
        <p:nvSpPr>
          <p:cNvPr id="350" name="Google Shape;350;p43"/>
          <p:cNvSpPr txBox="1"/>
          <p:nvPr/>
        </p:nvSpPr>
        <p:spPr>
          <a:xfrm>
            <a:off x="6071616" y="223113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summarise, keep what matters</a:t>
            </a:r>
            <a:endParaRPr/>
          </a:p>
        </p:txBody>
      </p:sp>
      <p:cxnSp>
        <p:nvCxnSpPr>
          <p:cNvPr id="351" name="Google Shape;351;p43"/>
          <p:cNvCxnSpPr/>
          <p:nvPr/>
        </p:nvCxnSpPr>
        <p:spPr>
          <a:xfrm>
            <a:off x="4498848" y="2505456"/>
            <a:ext cx="4151376" cy="0"/>
          </a:xfrm>
          <a:prstGeom prst="straightConnector1">
            <a:avLst/>
          </a:prstGeom>
          <a:noFill/>
          <a:ln w="9525" cap="flat" cmpd="sng">
            <a:solidFill>
              <a:srgbClr val="1E3044"/>
            </a:solidFill>
            <a:prstDash val="solid"/>
            <a:round/>
            <a:headEnd type="none" w="sm" len="sm"/>
            <a:tailEnd type="none" w="sm" len="sm"/>
          </a:ln>
        </p:spPr>
      </p:cxnSp>
      <p:sp>
        <p:nvSpPr>
          <p:cNvPr id="352" name="Google Shape;352;p43"/>
          <p:cNvSpPr txBox="1"/>
          <p:nvPr/>
        </p:nvSpPr>
        <p:spPr>
          <a:xfrm>
            <a:off x="4498848" y="250545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auto-compact</a:t>
            </a:r>
            <a:endParaRPr/>
          </a:p>
        </p:txBody>
      </p:sp>
      <p:sp>
        <p:nvSpPr>
          <p:cNvPr id="353" name="Google Shape;353;p43"/>
          <p:cNvSpPr txBox="1"/>
          <p:nvPr/>
        </p:nvSpPr>
        <p:spPr>
          <a:xfrm>
            <a:off x="6071616" y="250545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runs on its own when nearly full</a:t>
            </a:r>
            <a:endParaRPr/>
          </a:p>
        </p:txBody>
      </p:sp>
      <p:cxnSp>
        <p:nvCxnSpPr>
          <p:cNvPr id="354" name="Google Shape;354;p43"/>
          <p:cNvCxnSpPr/>
          <p:nvPr/>
        </p:nvCxnSpPr>
        <p:spPr>
          <a:xfrm>
            <a:off x="4498848" y="2779776"/>
            <a:ext cx="4151376" cy="0"/>
          </a:xfrm>
          <a:prstGeom prst="straightConnector1">
            <a:avLst/>
          </a:prstGeom>
          <a:noFill/>
          <a:ln w="9525" cap="flat" cmpd="sng">
            <a:solidFill>
              <a:srgbClr val="1E3044"/>
            </a:solidFill>
            <a:prstDash val="solid"/>
            <a:round/>
            <a:headEnd type="none" w="sm" len="sm"/>
            <a:tailEnd type="none" w="sm" len="sm"/>
          </a:ln>
        </p:spPr>
      </p:cxnSp>
      <p:sp>
        <p:nvSpPr>
          <p:cNvPr id="355" name="Google Shape;355;p43"/>
          <p:cNvSpPr txBox="1"/>
          <p:nvPr/>
        </p:nvSpPr>
        <p:spPr>
          <a:xfrm>
            <a:off x="4498848" y="277977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/clear</a:t>
            </a:r>
            <a:endParaRPr/>
          </a:p>
        </p:txBody>
      </p:sp>
      <p:sp>
        <p:nvSpPr>
          <p:cNvPr id="356" name="Google Shape;356;p43"/>
          <p:cNvSpPr txBox="1"/>
          <p:nvPr/>
        </p:nvSpPr>
        <p:spPr>
          <a:xfrm>
            <a:off x="6071616" y="277977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start fresh for a new task</a:t>
            </a:r>
            <a:endParaRPr/>
          </a:p>
        </p:txBody>
      </p:sp>
      <p:cxnSp>
        <p:nvCxnSpPr>
          <p:cNvPr id="357" name="Google Shape;357;p43"/>
          <p:cNvCxnSpPr/>
          <p:nvPr/>
        </p:nvCxnSpPr>
        <p:spPr>
          <a:xfrm>
            <a:off x="4498848" y="3054096"/>
            <a:ext cx="4151376" cy="0"/>
          </a:xfrm>
          <a:prstGeom prst="straightConnector1">
            <a:avLst/>
          </a:prstGeom>
          <a:noFill/>
          <a:ln w="9525" cap="flat" cmpd="sng">
            <a:solidFill>
              <a:srgbClr val="1E3044"/>
            </a:solidFill>
            <a:prstDash val="solid"/>
            <a:round/>
            <a:headEnd type="none" w="sm" len="sm"/>
            <a:tailEnd type="none" w="sm" len="sm"/>
          </a:ln>
        </p:spPr>
      </p:cxnSp>
      <p:sp>
        <p:nvSpPr>
          <p:cNvPr id="358" name="Google Shape;358;p43"/>
          <p:cNvSpPr txBox="1"/>
          <p:nvPr/>
        </p:nvSpPr>
        <p:spPr>
          <a:xfrm>
            <a:off x="4498848" y="305409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subagents</a:t>
            </a:r>
            <a:endParaRPr/>
          </a:p>
        </p:txBody>
      </p:sp>
      <p:sp>
        <p:nvSpPr>
          <p:cNvPr id="359" name="Google Shape;359;p43"/>
          <p:cNvSpPr txBox="1"/>
          <p:nvPr/>
        </p:nvSpPr>
        <p:spPr>
          <a:xfrm>
            <a:off x="6071616" y="305409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read big things, return a summary</a:t>
            </a:r>
            <a:endParaRPr/>
          </a:p>
        </p:txBody>
      </p:sp>
      <p:cxnSp>
        <p:nvCxnSpPr>
          <p:cNvPr id="360" name="Google Shape;360;p43"/>
          <p:cNvCxnSpPr/>
          <p:nvPr/>
        </p:nvCxnSpPr>
        <p:spPr>
          <a:xfrm>
            <a:off x="4498848" y="3328416"/>
            <a:ext cx="4151376" cy="0"/>
          </a:xfrm>
          <a:prstGeom prst="straightConnector1">
            <a:avLst/>
          </a:prstGeom>
          <a:noFill/>
          <a:ln w="9525" cap="flat" cmpd="sng">
            <a:solidFill>
              <a:srgbClr val="1E3044"/>
            </a:solidFill>
            <a:prstDash val="solid"/>
            <a:round/>
            <a:headEnd type="none" w="sm" len="sm"/>
            <a:tailEnd type="none" w="sm" len="sm"/>
          </a:ln>
        </p:spPr>
      </p:cxnSp>
      <p:sp>
        <p:nvSpPr>
          <p:cNvPr id="361" name="Google Shape;361;p43"/>
          <p:cNvSpPr txBox="1"/>
          <p:nvPr/>
        </p:nvSpPr>
        <p:spPr>
          <a:xfrm>
            <a:off x="4498861" y="3666733"/>
            <a:ext cx="41514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900" b="1" i="0" u="none" strike="noStrike" cap="none">
                <a:solidFill>
                  <a:srgbClr val="4FB0EA"/>
                </a:solidFill>
                <a:latin typeface="Calibri"/>
                <a:ea typeface="Calibri"/>
                <a:cs typeface="Calibri"/>
                <a:sym typeface="Calibri"/>
              </a:rPr>
              <a:t>TOOLS THAT SAVE TOKENS</a:t>
            </a:r>
            <a:endParaRPr sz="1300"/>
          </a:p>
        </p:txBody>
      </p:sp>
      <p:sp>
        <p:nvSpPr>
          <p:cNvPr id="362" name="Google Shape;362;p43"/>
          <p:cNvSpPr txBox="1"/>
          <p:nvPr/>
        </p:nvSpPr>
        <p:spPr>
          <a:xfrm>
            <a:off x="4498861" y="3867901"/>
            <a:ext cx="9144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1" i="0" u="none" strike="noStrike" cap="none">
                <a:solidFill>
                  <a:srgbClr val="FFFFFF"/>
                </a:solidFill>
                <a:latin typeface="Calibri"/>
                <a:ea typeface="Calibri"/>
                <a:cs typeface="Calibri"/>
                <a:sym typeface="Calibri"/>
              </a:rPr>
              <a:t>caveman</a:t>
            </a:r>
            <a:endParaRPr sz="1300"/>
          </a:p>
        </p:txBody>
      </p:sp>
      <p:sp>
        <p:nvSpPr>
          <p:cNvPr id="363" name="Google Shape;363;p43"/>
          <p:cNvSpPr txBox="1"/>
          <p:nvPr/>
        </p:nvSpPr>
        <p:spPr>
          <a:xfrm>
            <a:off x="5413261" y="3867901"/>
            <a:ext cx="32370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0" i="0" u="none" strike="noStrike" cap="none">
                <a:solidFill>
                  <a:srgbClr val="93A9C0"/>
                </a:solidFill>
                <a:latin typeface="Calibri"/>
                <a:ea typeface="Calibri"/>
                <a:cs typeface="Calibri"/>
                <a:sym typeface="Calibri"/>
              </a:rPr>
              <a:t>Terse replies, fewer tokens. Also shrinks CLAUDE.md.</a:t>
            </a:r>
            <a:endParaRPr sz="1300"/>
          </a:p>
        </p:txBody>
      </p:sp>
      <p:sp>
        <p:nvSpPr>
          <p:cNvPr id="364" name="Google Shape;364;p43"/>
          <p:cNvSpPr txBox="1"/>
          <p:nvPr/>
        </p:nvSpPr>
        <p:spPr>
          <a:xfrm>
            <a:off x="4498861" y="4073641"/>
            <a:ext cx="9144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1" i="0" u="none" strike="noStrike" cap="none">
                <a:solidFill>
                  <a:srgbClr val="FFFFFF"/>
                </a:solidFill>
                <a:latin typeface="Calibri"/>
                <a:ea typeface="Calibri"/>
                <a:cs typeface="Calibri"/>
                <a:sym typeface="Calibri"/>
              </a:rPr>
              <a:t>Context7</a:t>
            </a:r>
            <a:endParaRPr sz="1300"/>
          </a:p>
        </p:txBody>
      </p:sp>
      <p:sp>
        <p:nvSpPr>
          <p:cNvPr id="365" name="Google Shape;365;p43"/>
          <p:cNvSpPr txBox="1"/>
          <p:nvPr/>
        </p:nvSpPr>
        <p:spPr>
          <a:xfrm>
            <a:off x="5413261" y="4073641"/>
            <a:ext cx="32370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0" i="0" u="none" strike="noStrike" cap="none">
                <a:solidFill>
                  <a:srgbClr val="93A9C0"/>
                </a:solidFill>
                <a:latin typeface="Calibri"/>
                <a:ea typeface="Calibri"/>
                <a:cs typeface="Calibri"/>
                <a:sym typeface="Calibri"/>
              </a:rPr>
              <a:t>Current Playwright/Appium docs for your version.</a:t>
            </a:r>
            <a:endParaRPr sz="1300"/>
          </a:p>
        </p:txBody>
      </p:sp>
      <p:sp>
        <p:nvSpPr>
          <p:cNvPr id="366" name="Google Shape;366;p43"/>
          <p:cNvSpPr txBox="1"/>
          <p:nvPr/>
        </p:nvSpPr>
        <p:spPr>
          <a:xfrm>
            <a:off x="4498861" y="4279381"/>
            <a:ext cx="9144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1" i="0" u="none" strike="noStrike" cap="none">
                <a:solidFill>
                  <a:srgbClr val="FFFFFF"/>
                </a:solidFill>
                <a:latin typeface="Calibri"/>
                <a:ea typeface="Calibri"/>
                <a:cs typeface="Calibri"/>
                <a:sym typeface="Calibri"/>
              </a:rPr>
              <a:t>Serena</a:t>
            </a:r>
            <a:endParaRPr sz="1300"/>
          </a:p>
        </p:txBody>
      </p:sp>
      <p:sp>
        <p:nvSpPr>
          <p:cNvPr id="367" name="Google Shape;367;p43"/>
          <p:cNvSpPr txBox="1"/>
          <p:nvPr/>
        </p:nvSpPr>
        <p:spPr>
          <a:xfrm>
            <a:off x="5413261" y="4279381"/>
            <a:ext cx="32370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0" i="0" u="none" strike="noStrike" cap="none">
                <a:solidFill>
                  <a:srgbClr val="93A9C0"/>
                </a:solidFill>
                <a:latin typeface="Calibri"/>
                <a:ea typeface="Calibri"/>
                <a:cs typeface="Calibri"/>
                <a:sym typeface="Calibri"/>
              </a:rPr>
              <a:t>Finds code by symbol, not by reading whole files.</a:t>
            </a:r>
            <a:endParaRPr sz="1300"/>
          </a:p>
        </p:txBody>
      </p:sp>
      <p:sp>
        <p:nvSpPr>
          <p:cNvPr id="368" name="Google Shape;368;p43"/>
          <p:cNvSpPr txBox="1"/>
          <p:nvPr/>
        </p:nvSpPr>
        <p:spPr>
          <a:xfrm>
            <a:off x="4498861" y="4485121"/>
            <a:ext cx="9144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1" i="0" u="none" strike="noStrike" cap="none">
                <a:solidFill>
                  <a:srgbClr val="FFFFFF"/>
                </a:solidFill>
                <a:latin typeface="Calibri"/>
                <a:ea typeface="Calibri"/>
                <a:cs typeface="Calibri"/>
                <a:sym typeface="Calibri"/>
              </a:rPr>
              <a:t>Repomix</a:t>
            </a:r>
            <a:endParaRPr sz="1300"/>
          </a:p>
        </p:txBody>
      </p:sp>
      <p:sp>
        <p:nvSpPr>
          <p:cNvPr id="369" name="Google Shape;369;p43"/>
          <p:cNvSpPr txBox="1"/>
          <p:nvPr/>
        </p:nvSpPr>
        <p:spPr>
          <a:xfrm>
            <a:off x="5413261" y="4485121"/>
            <a:ext cx="3237000" cy="205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950" b="0" i="0" u="none" strike="noStrike" cap="none">
                <a:solidFill>
                  <a:srgbClr val="93A9C0"/>
                </a:solidFill>
                <a:latin typeface="Calibri"/>
                <a:ea typeface="Calibri"/>
                <a:cs typeface="Calibri"/>
                <a:sym typeface="Calibri"/>
              </a:rPr>
              <a:t>Packs a repo into one AI-friendly file.</a:t>
            </a:r>
            <a:endParaRPr sz="13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4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5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5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5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5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5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5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6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6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6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6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6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6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6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6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6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74"/>
        <p:cNvGrpSpPr/>
        <p:nvPr/>
      </p:nvGrpSpPr>
      <p:grpSpPr>
        <a:xfrm>
          <a:off x="0" y="0"/>
          <a:ext cx="0" cy="0"/>
          <a:chOff x="0" y="0"/>
          <a:chExt cx="0" cy="0"/>
        </a:xfrm>
      </p:grpSpPr>
      <p:pic>
        <p:nvPicPr>
          <p:cNvPr id="375" name="Google Shape;375;p44" descr="A tall bookcase full of reference books: memory that persists."/>
          <p:cNvPicPr preferRelativeResize="0"/>
          <p:nvPr/>
        </p:nvPicPr>
        <p:blipFill rotWithShape="1">
          <a:blip r:embed="rId3">
            <a:alphaModFix/>
          </a:blip>
          <a:srcRect t="1000" b="1000"/>
          <a:stretch/>
        </p:blipFill>
        <p:spPr>
          <a:xfrm>
            <a:off x="493776" y="630936"/>
            <a:ext cx="3657600" cy="3886200"/>
          </a:xfrm>
          <a:prstGeom prst="roundRect">
            <a:avLst>
              <a:gd name="adj" fmla="val 3000"/>
            </a:avLst>
          </a:prstGeom>
          <a:noFill/>
          <a:ln>
            <a:noFill/>
          </a:ln>
        </p:spPr>
      </p:pic>
      <p:sp>
        <p:nvSpPr>
          <p:cNvPr id="376" name="Google Shape;376;p44"/>
          <p:cNvSpPr txBox="1">
            <a:spLocks noGrp="1"/>
          </p:cNvSpPr>
          <p:nvPr>
            <p:ph type="title"/>
          </p:nvPr>
        </p:nvSpPr>
        <p:spPr>
          <a:xfrm>
            <a:off x="4498848" y="640092"/>
            <a:ext cx="4151400" cy="4572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800" b="1">
                <a:solidFill>
                  <a:srgbClr val="FFFFFF"/>
                </a:solidFill>
                <a:latin typeface="Century Schoolbook"/>
                <a:ea typeface="Century Schoolbook"/>
                <a:cs typeface="Century Schoolbook"/>
                <a:sym typeface="Century Schoolbook"/>
              </a:rPr>
              <a:t>Memory</a:t>
            </a:r>
            <a:endParaRPr sz="2800"/>
          </a:p>
        </p:txBody>
      </p:sp>
      <p:sp>
        <p:nvSpPr>
          <p:cNvPr id="377" name="Google Shape;377;p44"/>
          <p:cNvSpPr txBox="1"/>
          <p:nvPr/>
        </p:nvSpPr>
        <p:spPr>
          <a:xfrm>
            <a:off x="4498848" y="1133868"/>
            <a:ext cx="41514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50"/>
              <a:buFont typeface="Arial"/>
              <a:buNone/>
            </a:pPr>
            <a:r>
              <a:rPr lang="en-GB" sz="1250" b="0" i="0" u="none" strike="noStrike" cap="none">
                <a:solidFill>
                  <a:srgbClr val="93A9C0"/>
                </a:solidFill>
                <a:latin typeface="Calibri"/>
                <a:ea typeface="Calibri"/>
                <a:cs typeface="Calibri"/>
                <a:sym typeface="Calibri"/>
              </a:rPr>
              <a:t>Stays on your machine. To share it, commit it: git is the sync.</a:t>
            </a:r>
            <a:endParaRPr/>
          </a:p>
        </p:txBody>
      </p:sp>
      <p:sp>
        <p:nvSpPr>
          <p:cNvPr id="378" name="Google Shape;378;p44"/>
          <p:cNvSpPr txBox="1"/>
          <p:nvPr/>
        </p:nvSpPr>
        <p:spPr>
          <a:xfrm>
            <a:off x="4498848" y="175564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WHERE IT LIVES</a:t>
            </a:r>
            <a:endParaRPr/>
          </a:p>
        </p:txBody>
      </p:sp>
      <p:cxnSp>
        <p:nvCxnSpPr>
          <p:cNvPr id="379" name="Google Shape;379;p44"/>
          <p:cNvCxnSpPr/>
          <p:nvPr/>
        </p:nvCxnSpPr>
        <p:spPr>
          <a:xfrm>
            <a:off x="4498848" y="1956816"/>
            <a:ext cx="4151376" cy="0"/>
          </a:xfrm>
          <a:prstGeom prst="straightConnector1">
            <a:avLst/>
          </a:prstGeom>
          <a:noFill/>
          <a:ln w="9525" cap="flat" cmpd="sng">
            <a:solidFill>
              <a:srgbClr val="1E3044"/>
            </a:solidFill>
            <a:prstDash val="solid"/>
            <a:round/>
            <a:headEnd type="none" w="sm" len="sm"/>
            <a:tailEnd type="none" w="sm" len="sm"/>
          </a:ln>
        </p:spPr>
      </p:cxnSp>
      <p:sp>
        <p:nvSpPr>
          <p:cNvPr id="380" name="Google Shape;380;p44"/>
          <p:cNvSpPr txBox="1"/>
          <p:nvPr/>
        </p:nvSpPr>
        <p:spPr>
          <a:xfrm>
            <a:off x="4498848" y="195681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Organisation</a:t>
            </a:r>
            <a:endParaRPr/>
          </a:p>
        </p:txBody>
      </p:sp>
      <p:sp>
        <p:nvSpPr>
          <p:cNvPr id="381" name="Google Shape;381;p44"/>
          <p:cNvSpPr txBox="1"/>
          <p:nvPr/>
        </p:nvSpPr>
        <p:spPr>
          <a:xfrm>
            <a:off x="5916168" y="195681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managed CLAUDE.md (by IT)</a:t>
            </a:r>
            <a:endParaRPr/>
          </a:p>
        </p:txBody>
      </p:sp>
      <p:cxnSp>
        <p:nvCxnSpPr>
          <p:cNvPr id="382" name="Google Shape;382;p44"/>
          <p:cNvCxnSpPr/>
          <p:nvPr/>
        </p:nvCxnSpPr>
        <p:spPr>
          <a:xfrm>
            <a:off x="4498848" y="2231136"/>
            <a:ext cx="4151376" cy="0"/>
          </a:xfrm>
          <a:prstGeom prst="straightConnector1">
            <a:avLst/>
          </a:prstGeom>
          <a:noFill/>
          <a:ln w="9525" cap="flat" cmpd="sng">
            <a:solidFill>
              <a:srgbClr val="1E3044"/>
            </a:solidFill>
            <a:prstDash val="solid"/>
            <a:round/>
            <a:headEnd type="none" w="sm" len="sm"/>
            <a:tailEnd type="none" w="sm" len="sm"/>
          </a:ln>
        </p:spPr>
      </p:cxnSp>
      <p:sp>
        <p:nvSpPr>
          <p:cNvPr id="383" name="Google Shape;383;p44"/>
          <p:cNvSpPr txBox="1"/>
          <p:nvPr/>
        </p:nvSpPr>
        <p:spPr>
          <a:xfrm>
            <a:off x="4498848" y="223113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You, all projects</a:t>
            </a:r>
            <a:endParaRPr/>
          </a:p>
        </p:txBody>
      </p:sp>
      <p:sp>
        <p:nvSpPr>
          <p:cNvPr id="384" name="Google Shape;384;p44"/>
          <p:cNvSpPr txBox="1"/>
          <p:nvPr/>
        </p:nvSpPr>
        <p:spPr>
          <a:xfrm>
            <a:off x="5916168" y="223113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~/.claude/CLAUDE.md</a:t>
            </a:r>
            <a:endParaRPr/>
          </a:p>
        </p:txBody>
      </p:sp>
      <p:cxnSp>
        <p:nvCxnSpPr>
          <p:cNvPr id="385" name="Google Shape;385;p44"/>
          <p:cNvCxnSpPr/>
          <p:nvPr/>
        </p:nvCxnSpPr>
        <p:spPr>
          <a:xfrm>
            <a:off x="4498848" y="2505456"/>
            <a:ext cx="4151376" cy="0"/>
          </a:xfrm>
          <a:prstGeom prst="straightConnector1">
            <a:avLst/>
          </a:prstGeom>
          <a:noFill/>
          <a:ln w="9525" cap="flat" cmpd="sng">
            <a:solidFill>
              <a:srgbClr val="1E3044"/>
            </a:solidFill>
            <a:prstDash val="solid"/>
            <a:round/>
            <a:headEnd type="none" w="sm" len="sm"/>
            <a:tailEnd type="none" w="sm" len="sm"/>
          </a:ln>
        </p:spPr>
      </p:cxnSp>
      <p:sp>
        <p:nvSpPr>
          <p:cNvPr id="386" name="Google Shape;386;p44"/>
          <p:cNvSpPr txBox="1"/>
          <p:nvPr/>
        </p:nvSpPr>
        <p:spPr>
          <a:xfrm>
            <a:off x="4498848" y="250545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Team, one repo</a:t>
            </a:r>
            <a:endParaRPr/>
          </a:p>
        </p:txBody>
      </p:sp>
      <p:sp>
        <p:nvSpPr>
          <p:cNvPr id="387" name="Google Shape;387;p44"/>
          <p:cNvSpPr txBox="1"/>
          <p:nvPr/>
        </p:nvSpPr>
        <p:spPr>
          <a:xfrm>
            <a:off x="5916168" y="250545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./CLAUDE.md + .claude/rules/</a:t>
            </a:r>
            <a:endParaRPr/>
          </a:p>
        </p:txBody>
      </p:sp>
      <p:cxnSp>
        <p:nvCxnSpPr>
          <p:cNvPr id="388" name="Google Shape;388;p44"/>
          <p:cNvCxnSpPr/>
          <p:nvPr/>
        </p:nvCxnSpPr>
        <p:spPr>
          <a:xfrm>
            <a:off x="4498848" y="2779776"/>
            <a:ext cx="4151376" cy="0"/>
          </a:xfrm>
          <a:prstGeom prst="straightConnector1">
            <a:avLst/>
          </a:prstGeom>
          <a:noFill/>
          <a:ln w="9525" cap="flat" cmpd="sng">
            <a:solidFill>
              <a:srgbClr val="1E3044"/>
            </a:solidFill>
            <a:prstDash val="solid"/>
            <a:round/>
            <a:headEnd type="none" w="sm" len="sm"/>
            <a:tailEnd type="none" w="sm" len="sm"/>
          </a:ln>
        </p:spPr>
      </p:cxnSp>
      <p:sp>
        <p:nvSpPr>
          <p:cNvPr id="389" name="Google Shape;389;p44"/>
          <p:cNvSpPr txBox="1"/>
          <p:nvPr/>
        </p:nvSpPr>
        <p:spPr>
          <a:xfrm>
            <a:off x="4498848" y="277977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Several repos</a:t>
            </a:r>
            <a:endParaRPr/>
          </a:p>
        </p:txBody>
      </p:sp>
      <p:sp>
        <p:nvSpPr>
          <p:cNvPr id="390" name="Google Shape;390;p44"/>
          <p:cNvSpPr txBox="1"/>
          <p:nvPr/>
        </p:nvSpPr>
        <p:spPr>
          <a:xfrm>
            <a:off x="5916168" y="277977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@~/team-standards/qa.md</a:t>
            </a:r>
            <a:endParaRPr/>
          </a:p>
        </p:txBody>
      </p:sp>
      <p:cxnSp>
        <p:nvCxnSpPr>
          <p:cNvPr id="391" name="Google Shape;391;p44"/>
          <p:cNvCxnSpPr/>
          <p:nvPr/>
        </p:nvCxnSpPr>
        <p:spPr>
          <a:xfrm>
            <a:off x="4498848" y="3054096"/>
            <a:ext cx="4151376" cy="0"/>
          </a:xfrm>
          <a:prstGeom prst="straightConnector1">
            <a:avLst/>
          </a:prstGeom>
          <a:noFill/>
          <a:ln w="9525" cap="flat" cmpd="sng">
            <a:solidFill>
              <a:srgbClr val="1E3044"/>
            </a:solidFill>
            <a:prstDash val="solid"/>
            <a:round/>
            <a:headEnd type="none" w="sm" len="sm"/>
            <a:tailEnd type="none" w="sm" len="sm"/>
          </a:ln>
        </p:spPr>
      </p:cxnSp>
      <p:sp>
        <p:nvSpPr>
          <p:cNvPr id="392" name="Google Shape;392;p44"/>
          <p:cNvSpPr txBox="1"/>
          <p:nvPr/>
        </p:nvSpPr>
        <p:spPr>
          <a:xfrm>
            <a:off x="4498848" y="305409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Past sessions</a:t>
            </a:r>
            <a:endParaRPr/>
          </a:p>
        </p:txBody>
      </p:sp>
      <p:sp>
        <p:nvSpPr>
          <p:cNvPr id="393" name="Google Shape;393;p44"/>
          <p:cNvSpPr txBox="1"/>
          <p:nvPr/>
        </p:nvSpPr>
        <p:spPr>
          <a:xfrm>
            <a:off x="5916168" y="305409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 --continue / --resume</a:t>
            </a:r>
            <a:endParaRPr/>
          </a:p>
        </p:txBody>
      </p:sp>
      <p:cxnSp>
        <p:nvCxnSpPr>
          <p:cNvPr id="394" name="Google Shape;394;p44"/>
          <p:cNvCxnSpPr/>
          <p:nvPr/>
        </p:nvCxnSpPr>
        <p:spPr>
          <a:xfrm>
            <a:off x="4498848" y="3328416"/>
            <a:ext cx="4151376" cy="0"/>
          </a:xfrm>
          <a:prstGeom prst="straightConnector1">
            <a:avLst/>
          </a:prstGeom>
          <a:noFill/>
          <a:ln w="9525" cap="flat" cmpd="sng">
            <a:solidFill>
              <a:srgbClr val="1E3044"/>
            </a:solidFill>
            <a:prstDash val="solid"/>
            <a:round/>
            <a:headEnd type="none" w="sm" len="sm"/>
            <a:tailEnd type="none" w="sm" len="sm"/>
          </a:ln>
        </p:spPr>
      </p:cxnSp>
      <p:sp>
        <p:nvSpPr>
          <p:cNvPr id="395" name="Google Shape;395;p44"/>
          <p:cNvSpPr txBox="1"/>
          <p:nvPr/>
        </p:nvSpPr>
        <p:spPr>
          <a:xfrm>
            <a:off x="4498848" y="3769708"/>
            <a:ext cx="41514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800" b="1" i="0" u="none" strike="noStrike" cap="none">
                <a:solidFill>
                  <a:srgbClr val="4FB0EA"/>
                </a:solidFill>
                <a:latin typeface="Calibri"/>
                <a:ea typeface="Calibri"/>
                <a:cs typeface="Calibri"/>
                <a:sym typeface="Calibri"/>
              </a:rPr>
              <a:t>TOOLS WE USE</a:t>
            </a:r>
            <a:endParaRPr sz="1200"/>
          </a:p>
        </p:txBody>
      </p:sp>
      <p:sp>
        <p:nvSpPr>
          <p:cNvPr id="396" name="Google Shape;396;p44"/>
          <p:cNvSpPr txBox="1"/>
          <p:nvPr/>
        </p:nvSpPr>
        <p:spPr>
          <a:xfrm>
            <a:off x="4498848" y="3970876"/>
            <a:ext cx="10515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850" b="1" i="0" u="none" strike="noStrike" cap="none">
                <a:solidFill>
                  <a:srgbClr val="FFFFFF"/>
                </a:solidFill>
                <a:latin typeface="Calibri"/>
                <a:ea typeface="Calibri"/>
                <a:cs typeface="Calibri"/>
                <a:sym typeface="Calibri"/>
              </a:rPr>
              <a:t>claude-mem</a:t>
            </a:r>
            <a:endParaRPr sz="1200"/>
          </a:p>
        </p:txBody>
      </p:sp>
      <p:sp>
        <p:nvSpPr>
          <p:cNvPr id="397" name="Google Shape;397;p44"/>
          <p:cNvSpPr txBox="1"/>
          <p:nvPr/>
        </p:nvSpPr>
        <p:spPr>
          <a:xfrm>
            <a:off x="5550408" y="3970876"/>
            <a:ext cx="30999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850" b="0" i="0" u="none" strike="noStrike" cap="none">
                <a:solidFill>
                  <a:srgbClr val="93A9C0"/>
                </a:solidFill>
                <a:latin typeface="Calibri"/>
                <a:ea typeface="Calibri"/>
                <a:cs typeface="Calibri"/>
                <a:sym typeface="Calibri"/>
              </a:rPr>
              <a:t>Searchable history of past sessions. We use it daily.</a:t>
            </a:r>
            <a:endParaRPr sz="1200"/>
          </a:p>
        </p:txBody>
      </p:sp>
      <p:sp>
        <p:nvSpPr>
          <p:cNvPr id="398" name="Google Shape;398;p44"/>
          <p:cNvSpPr txBox="1"/>
          <p:nvPr/>
        </p:nvSpPr>
        <p:spPr>
          <a:xfrm>
            <a:off x="4498848" y="4245196"/>
            <a:ext cx="10515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850" b="1" i="0" u="none" strike="noStrike" cap="none">
                <a:solidFill>
                  <a:srgbClr val="FFFFFF"/>
                </a:solidFill>
                <a:latin typeface="Calibri"/>
                <a:ea typeface="Calibri"/>
                <a:cs typeface="Calibri"/>
                <a:sym typeface="Calibri"/>
              </a:rPr>
              <a:t>mem0</a:t>
            </a:r>
            <a:endParaRPr sz="1200"/>
          </a:p>
        </p:txBody>
      </p:sp>
      <p:sp>
        <p:nvSpPr>
          <p:cNvPr id="399" name="Google Shape;399;p44"/>
          <p:cNvSpPr txBox="1"/>
          <p:nvPr/>
        </p:nvSpPr>
        <p:spPr>
          <a:xfrm>
            <a:off x="5550408" y="4245196"/>
            <a:ext cx="30999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850" b="0" i="0" u="none" strike="noStrike" cap="none">
                <a:solidFill>
                  <a:srgbClr val="93A9C0"/>
                </a:solidFill>
                <a:latin typeface="Calibri"/>
                <a:ea typeface="Calibri"/>
                <a:cs typeface="Calibri"/>
                <a:sym typeface="Calibri"/>
              </a:rPr>
              <a:t>Long-term memory for your own QA agents.</a:t>
            </a:r>
            <a:endParaRPr sz="1200"/>
          </a:p>
        </p:txBody>
      </p:sp>
      <p:sp>
        <p:nvSpPr>
          <p:cNvPr id="400" name="Google Shape;400;p44"/>
          <p:cNvSpPr txBox="1"/>
          <p:nvPr/>
        </p:nvSpPr>
        <p:spPr>
          <a:xfrm>
            <a:off x="4498848" y="4519516"/>
            <a:ext cx="10515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850" b="1" i="0" u="none" strike="noStrike" cap="none">
                <a:solidFill>
                  <a:srgbClr val="FFFFFF"/>
                </a:solidFill>
                <a:latin typeface="Calibri"/>
                <a:ea typeface="Calibri"/>
                <a:cs typeface="Calibri"/>
                <a:sym typeface="Calibri"/>
              </a:rPr>
              <a:t>basic-memory</a:t>
            </a:r>
            <a:endParaRPr sz="1200"/>
          </a:p>
        </p:txBody>
      </p:sp>
      <p:sp>
        <p:nvSpPr>
          <p:cNvPr id="401" name="Google Shape;401;p44"/>
          <p:cNvSpPr txBox="1"/>
          <p:nvPr/>
        </p:nvSpPr>
        <p:spPr>
          <a:xfrm>
            <a:off x="5550408" y="4519516"/>
            <a:ext cx="30999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850" b="0" i="0" u="none" strike="noStrike" cap="none">
                <a:solidFill>
                  <a:srgbClr val="93A9C0"/>
                </a:solidFill>
                <a:latin typeface="Calibri"/>
                <a:ea typeface="Calibri"/>
                <a:cs typeface="Calibri"/>
                <a:sym typeface="Calibri"/>
              </a:rPr>
              <a:t>Plain Markdown notes, versioned next to the repo.</a:t>
            </a:r>
            <a:endParaRPr sz="1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405"/>
        <p:cNvGrpSpPr/>
        <p:nvPr/>
      </p:nvGrpSpPr>
      <p:grpSpPr>
        <a:xfrm>
          <a:off x="0" y="0"/>
          <a:ext cx="0" cy="0"/>
          <a:chOff x="0" y="0"/>
          <a:chExt cx="0" cy="0"/>
        </a:xfrm>
      </p:grpSpPr>
      <p:sp>
        <p:nvSpPr>
          <p:cNvPr id="406" name="Google Shape;406;p45"/>
          <p:cNvSpPr txBox="1"/>
          <p:nvPr/>
        </p:nvSpPr>
        <p:spPr>
          <a:xfrm>
            <a:off x="480060" y="411480"/>
            <a:ext cx="8195310" cy="63093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FFFFFF"/>
                </a:solidFill>
                <a:latin typeface="Century Schoolbook"/>
                <a:ea typeface="Century Schoolbook"/>
                <a:cs typeface="Century Schoolbook"/>
                <a:sym typeface="Century Schoolbook"/>
              </a:rPr>
              <a:t>Building Blocks in Action: A QA Example</a:t>
            </a:r>
            <a:endParaRPr sz="1100" b="0" i="0" u="none" strike="noStrike" cap="none">
              <a:solidFill>
                <a:srgbClr val="000000"/>
              </a:solidFill>
              <a:latin typeface="Arial"/>
              <a:ea typeface="Arial"/>
              <a:cs typeface="Arial"/>
              <a:sym typeface="Arial"/>
            </a:endParaRPr>
          </a:p>
        </p:txBody>
      </p:sp>
      <p:grpSp>
        <p:nvGrpSpPr>
          <p:cNvPr id="407" name="Google Shape;407;p45"/>
          <p:cNvGrpSpPr/>
          <p:nvPr/>
        </p:nvGrpSpPr>
        <p:grpSpPr>
          <a:xfrm>
            <a:off x="400050" y="1007269"/>
            <a:ext cx="8343900" cy="600075"/>
            <a:chOff x="400050" y="1007269"/>
            <a:chExt cx="8343900" cy="600075"/>
          </a:xfrm>
        </p:grpSpPr>
        <p:sp>
          <p:nvSpPr>
            <p:cNvPr id="408" name="Google Shape;408;p45"/>
            <p:cNvSpPr/>
            <p:nvPr/>
          </p:nvSpPr>
          <p:spPr>
            <a:xfrm>
              <a:off x="400050" y="1007269"/>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09" name="Google Shape;409;p45"/>
            <p:cNvSpPr/>
            <p:nvPr/>
          </p:nvSpPr>
          <p:spPr>
            <a:xfrm>
              <a:off x="550069" y="1150144"/>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10" name="Google Shape;410;p45"/>
            <p:cNvSpPr/>
            <p:nvPr/>
          </p:nvSpPr>
          <p:spPr>
            <a:xfrm>
              <a:off x="2364581" y="1157288"/>
              <a:ext cx="4157663"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11" name="Google Shape;411;p45"/>
            <p:cNvSpPr/>
            <p:nvPr/>
          </p:nvSpPr>
          <p:spPr>
            <a:xfrm>
              <a:off x="6665119" y="1100138"/>
              <a:ext cx="1928813"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12" name="Google Shape;412;p45"/>
            <p:cNvSpPr/>
            <p:nvPr/>
          </p:nvSpPr>
          <p:spPr>
            <a:xfrm>
              <a:off x="2364581" y="1157288"/>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13" name="Google Shape;413;p45" descr="image.png"/>
            <p:cNvPicPr preferRelativeResize="0"/>
            <p:nvPr/>
          </p:nvPicPr>
          <p:blipFill rotWithShape="1">
            <a:blip r:embed="rId3">
              <a:alphaModFix/>
            </a:blip>
            <a:srcRect/>
            <a:stretch/>
          </p:blipFill>
          <p:spPr>
            <a:xfrm>
              <a:off x="1007269" y="1171575"/>
              <a:ext cx="92869" cy="121444"/>
            </a:xfrm>
            <a:prstGeom prst="rect">
              <a:avLst/>
            </a:prstGeom>
            <a:noFill/>
            <a:ln>
              <a:noFill/>
            </a:ln>
          </p:spPr>
        </p:pic>
        <p:sp>
          <p:nvSpPr>
            <p:cNvPr id="414" name="Google Shape;414;p45"/>
            <p:cNvSpPr txBox="1"/>
            <p:nvPr/>
          </p:nvSpPr>
          <p:spPr>
            <a:xfrm>
              <a:off x="442913" y="1150144"/>
              <a:ext cx="528600" cy="1539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1</a:t>
              </a:r>
              <a:endParaRPr sz="1100" b="0" i="0" u="none" strike="noStrike" cap="none">
                <a:solidFill>
                  <a:srgbClr val="000000"/>
                </a:solidFill>
                <a:latin typeface="Arial"/>
                <a:ea typeface="Arial"/>
                <a:cs typeface="Arial"/>
                <a:sym typeface="Arial"/>
              </a:endParaRPr>
            </a:p>
          </p:txBody>
        </p:sp>
        <p:sp>
          <p:nvSpPr>
            <p:cNvPr id="415" name="Google Shape;415;p45"/>
            <p:cNvSpPr txBox="1"/>
            <p:nvPr/>
          </p:nvSpPr>
          <p:spPr>
            <a:xfrm>
              <a:off x="6707981" y="1157288"/>
              <a:ext cx="1771800" cy="13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Playwright / Appium</a:t>
              </a:r>
              <a:endParaRPr sz="1100" b="0" i="0" u="none" strike="noStrike" cap="none">
                <a:solidFill>
                  <a:srgbClr val="000000"/>
                </a:solidFill>
                <a:latin typeface="Arial"/>
                <a:ea typeface="Arial"/>
                <a:cs typeface="Arial"/>
                <a:sym typeface="Arial"/>
              </a:endParaRPr>
            </a:p>
          </p:txBody>
        </p:sp>
        <p:sp>
          <p:nvSpPr>
            <p:cNvPr id="416" name="Google Shape;416;p45"/>
            <p:cNvSpPr txBox="1"/>
            <p:nvPr/>
          </p:nvSpPr>
          <p:spPr>
            <a:xfrm>
              <a:off x="1007269" y="1360884"/>
              <a:ext cx="8430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ADDS A TOOL</a:t>
              </a:r>
              <a:endParaRPr sz="1100" b="0" i="0" u="none" strike="noStrike" cap="none">
                <a:solidFill>
                  <a:srgbClr val="000000"/>
                </a:solidFill>
                <a:latin typeface="Arial"/>
                <a:ea typeface="Arial"/>
                <a:cs typeface="Arial"/>
                <a:sym typeface="Arial"/>
              </a:endParaRPr>
            </a:p>
          </p:txBody>
        </p:sp>
        <p:sp>
          <p:nvSpPr>
            <p:cNvPr id="417" name="Google Shape;417;p45"/>
            <p:cNvSpPr txBox="1"/>
            <p:nvPr/>
          </p:nvSpPr>
          <p:spPr>
            <a:xfrm>
              <a:off x="2514600" y="1157288"/>
              <a:ext cx="50097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Plugs Claude into outside tools &amp; live runtimes</a:t>
              </a:r>
              <a:endParaRPr sz="1100" b="0" i="0" u="none" strike="noStrike" cap="none">
                <a:solidFill>
                  <a:srgbClr val="000000"/>
                </a:solidFill>
                <a:latin typeface="Arial"/>
                <a:ea typeface="Arial"/>
                <a:cs typeface="Arial"/>
                <a:sym typeface="Arial"/>
              </a:endParaRPr>
            </a:p>
          </p:txBody>
        </p:sp>
        <p:sp>
          <p:nvSpPr>
            <p:cNvPr id="418" name="Google Shape;418;p45"/>
            <p:cNvSpPr txBox="1"/>
            <p:nvPr/>
          </p:nvSpPr>
          <p:spPr>
            <a:xfrm>
              <a:off x="2514600" y="1328738"/>
              <a:ext cx="50097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Called whenever Claude needs to inspect an external app</a:t>
              </a:r>
              <a:endParaRPr sz="1100" b="0" i="0" u="none" strike="noStrike" cap="none">
                <a:solidFill>
                  <a:srgbClr val="000000"/>
                </a:solidFill>
                <a:latin typeface="Arial"/>
                <a:ea typeface="Arial"/>
                <a:cs typeface="Arial"/>
                <a:sym typeface="Arial"/>
              </a:endParaRPr>
            </a:p>
          </p:txBody>
        </p:sp>
        <p:sp>
          <p:nvSpPr>
            <p:cNvPr id="419" name="Google Shape;419;p45"/>
            <p:cNvSpPr txBox="1"/>
            <p:nvPr/>
          </p:nvSpPr>
          <p:spPr>
            <a:xfrm>
              <a:off x="6365081" y="1335881"/>
              <a:ext cx="2107500" cy="1077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Inspect real browser DOM &amp; mobile UI</a:t>
              </a:r>
              <a:endParaRPr sz="1100" b="0" i="0" u="none" strike="noStrike" cap="none">
                <a:solidFill>
                  <a:srgbClr val="000000"/>
                </a:solidFill>
                <a:latin typeface="Arial"/>
                <a:ea typeface="Arial"/>
                <a:cs typeface="Arial"/>
                <a:sym typeface="Arial"/>
              </a:endParaRPr>
            </a:p>
          </p:txBody>
        </p:sp>
        <p:sp>
          <p:nvSpPr>
            <p:cNvPr id="420" name="Google Shape;420;p45"/>
            <p:cNvSpPr txBox="1"/>
            <p:nvPr/>
          </p:nvSpPr>
          <p:spPr>
            <a:xfrm>
              <a:off x="1157288" y="1132284"/>
              <a:ext cx="11625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MCP Server</a:t>
              </a:r>
              <a:endParaRPr sz="1100" b="0" i="0" u="none" strike="noStrike" cap="none">
                <a:solidFill>
                  <a:srgbClr val="000000"/>
                </a:solidFill>
                <a:latin typeface="Arial"/>
                <a:ea typeface="Arial"/>
                <a:cs typeface="Arial"/>
                <a:sym typeface="Arial"/>
              </a:endParaRPr>
            </a:p>
          </p:txBody>
        </p:sp>
      </p:grpSp>
      <p:grpSp>
        <p:nvGrpSpPr>
          <p:cNvPr id="421" name="Google Shape;421;p45"/>
          <p:cNvGrpSpPr/>
          <p:nvPr/>
        </p:nvGrpSpPr>
        <p:grpSpPr>
          <a:xfrm>
            <a:off x="400050" y="1739503"/>
            <a:ext cx="8343900" cy="600075"/>
            <a:chOff x="400050" y="1739503"/>
            <a:chExt cx="8343900" cy="600075"/>
          </a:xfrm>
        </p:grpSpPr>
        <p:sp>
          <p:nvSpPr>
            <p:cNvPr id="422" name="Google Shape;422;p45"/>
            <p:cNvSpPr/>
            <p:nvPr/>
          </p:nvSpPr>
          <p:spPr>
            <a:xfrm>
              <a:off x="400050" y="1739503"/>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23" name="Google Shape;423;p45"/>
            <p:cNvSpPr/>
            <p:nvPr/>
          </p:nvSpPr>
          <p:spPr>
            <a:xfrm>
              <a:off x="550069" y="1882378"/>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24" name="Google Shape;424;p45"/>
            <p:cNvSpPr/>
            <p:nvPr/>
          </p:nvSpPr>
          <p:spPr>
            <a:xfrm>
              <a:off x="2364581" y="1889522"/>
              <a:ext cx="4029075"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25" name="Google Shape;425;p45"/>
            <p:cNvSpPr/>
            <p:nvPr/>
          </p:nvSpPr>
          <p:spPr>
            <a:xfrm>
              <a:off x="6536531" y="1832372"/>
              <a:ext cx="2057400"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26" name="Google Shape;426;p45"/>
            <p:cNvSpPr/>
            <p:nvPr/>
          </p:nvSpPr>
          <p:spPr>
            <a:xfrm>
              <a:off x="2364581" y="1889522"/>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27" name="Google Shape;427;p45" descr="image.png"/>
            <p:cNvPicPr preferRelativeResize="0"/>
            <p:nvPr/>
          </p:nvPicPr>
          <p:blipFill rotWithShape="1">
            <a:blip r:embed="rId4">
              <a:alphaModFix/>
            </a:blip>
            <a:srcRect/>
            <a:stretch/>
          </p:blipFill>
          <p:spPr>
            <a:xfrm>
              <a:off x="1007269" y="1903809"/>
              <a:ext cx="107156" cy="121444"/>
            </a:xfrm>
            <a:prstGeom prst="rect">
              <a:avLst/>
            </a:prstGeom>
            <a:noFill/>
            <a:ln>
              <a:noFill/>
            </a:ln>
          </p:spPr>
        </p:pic>
        <p:sp>
          <p:nvSpPr>
            <p:cNvPr id="428" name="Google Shape;428;p45"/>
            <p:cNvSpPr txBox="1"/>
            <p:nvPr/>
          </p:nvSpPr>
          <p:spPr>
            <a:xfrm>
              <a:off x="442913" y="1882378"/>
              <a:ext cx="528600" cy="1539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2</a:t>
              </a:r>
              <a:endParaRPr sz="1100" b="0" i="0" u="none" strike="noStrike" cap="none">
                <a:solidFill>
                  <a:srgbClr val="000000"/>
                </a:solidFill>
                <a:latin typeface="Arial"/>
                <a:ea typeface="Arial"/>
                <a:cs typeface="Arial"/>
                <a:sym typeface="Arial"/>
              </a:endParaRPr>
            </a:p>
          </p:txBody>
        </p:sp>
        <p:sp>
          <p:nvSpPr>
            <p:cNvPr id="429" name="Google Shape;429;p45"/>
            <p:cNvSpPr txBox="1"/>
            <p:nvPr/>
          </p:nvSpPr>
          <p:spPr>
            <a:xfrm>
              <a:off x="6579394" y="1889522"/>
              <a:ext cx="1900200" cy="13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/api-tests</a:t>
              </a:r>
              <a:endParaRPr sz="1100" b="0" i="0" u="none" strike="noStrike" cap="none">
                <a:solidFill>
                  <a:srgbClr val="000000"/>
                </a:solidFill>
                <a:latin typeface="Arial"/>
                <a:ea typeface="Arial"/>
                <a:cs typeface="Arial"/>
                <a:sym typeface="Arial"/>
              </a:endParaRPr>
            </a:p>
          </p:txBody>
        </p:sp>
        <p:sp>
          <p:nvSpPr>
            <p:cNvPr id="430" name="Google Shape;430;p45"/>
            <p:cNvSpPr txBox="1"/>
            <p:nvPr/>
          </p:nvSpPr>
          <p:spPr>
            <a:xfrm>
              <a:off x="1007269" y="2093119"/>
              <a:ext cx="6714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SAYS HOW</a:t>
              </a:r>
              <a:endParaRPr sz="1100" b="0" i="0" u="none" strike="noStrike" cap="none">
                <a:solidFill>
                  <a:srgbClr val="000000"/>
                </a:solidFill>
                <a:latin typeface="Arial"/>
                <a:ea typeface="Arial"/>
                <a:cs typeface="Arial"/>
                <a:sym typeface="Arial"/>
              </a:endParaRPr>
            </a:p>
          </p:txBody>
        </p:sp>
        <p:sp>
          <p:nvSpPr>
            <p:cNvPr id="431" name="Google Shape;431;p45"/>
            <p:cNvSpPr txBox="1"/>
            <p:nvPr/>
          </p:nvSpPr>
          <p:spPr>
            <a:xfrm>
              <a:off x="2514600" y="1889522"/>
              <a:ext cx="48489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Markdown playbooks (SKILL.md) for repeatable tasks</a:t>
              </a:r>
              <a:endParaRPr sz="1100" b="0" i="0" u="none" strike="noStrike" cap="none">
                <a:solidFill>
                  <a:srgbClr val="000000"/>
                </a:solidFill>
                <a:latin typeface="Arial"/>
                <a:ea typeface="Arial"/>
                <a:cs typeface="Arial"/>
                <a:sym typeface="Arial"/>
              </a:endParaRPr>
            </a:p>
          </p:txBody>
        </p:sp>
        <p:sp>
          <p:nvSpPr>
            <p:cNvPr id="432" name="Google Shape;432;p45"/>
            <p:cNvSpPr txBox="1"/>
            <p:nvPr/>
          </p:nvSpPr>
          <p:spPr>
            <a:xfrm>
              <a:off x="2514600" y="2060972"/>
              <a:ext cx="48489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Loaded on demand or invoked directly via /command</a:t>
              </a:r>
              <a:endParaRPr sz="1100" b="0" i="0" u="none" strike="noStrike" cap="none">
                <a:solidFill>
                  <a:srgbClr val="000000"/>
                </a:solidFill>
                <a:latin typeface="Arial"/>
                <a:ea typeface="Arial"/>
                <a:cs typeface="Arial"/>
                <a:sym typeface="Arial"/>
              </a:endParaRPr>
            </a:p>
          </p:txBody>
        </p:sp>
        <p:sp>
          <p:nvSpPr>
            <p:cNvPr id="433" name="Google Shape;433;p45"/>
            <p:cNvSpPr txBox="1"/>
            <p:nvPr/>
          </p:nvSpPr>
          <p:spPr>
            <a:xfrm>
              <a:off x="6204347" y="2068115"/>
              <a:ext cx="2268000" cy="1077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Generates tests using team conventions</a:t>
              </a:r>
              <a:endParaRPr sz="1100" b="0" i="0" u="none" strike="noStrike" cap="none">
                <a:solidFill>
                  <a:srgbClr val="000000"/>
                </a:solidFill>
                <a:latin typeface="Arial"/>
                <a:ea typeface="Arial"/>
                <a:cs typeface="Arial"/>
                <a:sym typeface="Arial"/>
              </a:endParaRPr>
            </a:p>
          </p:txBody>
        </p:sp>
        <p:sp>
          <p:nvSpPr>
            <p:cNvPr id="434" name="Google Shape;434;p45"/>
            <p:cNvSpPr txBox="1"/>
            <p:nvPr/>
          </p:nvSpPr>
          <p:spPr>
            <a:xfrm>
              <a:off x="1171575" y="1864519"/>
              <a:ext cx="5625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Skill</a:t>
              </a:r>
              <a:endParaRPr sz="1100" b="0" i="0" u="none" strike="noStrike" cap="none">
                <a:solidFill>
                  <a:srgbClr val="000000"/>
                </a:solidFill>
                <a:latin typeface="Arial"/>
                <a:ea typeface="Arial"/>
                <a:cs typeface="Arial"/>
                <a:sym typeface="Arial"/>
              </a:endParaRPr>
            </a:p>
          </p:txBody>
        </p:sp>
      </p:grpSp>
      <p:grpSp>
        <p:nvGrpSpPr>
          <p:cNvPr id="435" name="Google Shape;435;p45"/>
          <p:cNvGrpSpPr/>
          <p:nvPr/>
        </p:nvGrpSpPr>
        <p:grpSpPr>
          <a:xfrm>
            <a:off x="400050" y="2471738"/>
            <a:ext cx="8343900" cy="600075"/>
            <a:chOff x="400050" y="2471738"/>
            <a:chExt cx="8343900" cy="600075"/>
          </a:xfrm>
        </p:grpSpPr>
        <p:sp>
          <p:nvSpPr>
            <p:cNvPr id="436" name="Google Shape;436;p45"/>
            <p:cNvSpPr/>
            <p:nvPr/>
          </p:nvSpPr>
          <p:spPr>
            <a:xfrm>
              <a:off x="400050" y="2471738"/>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37" name="Google Shape;437;p45"/>
            <p:cNvSpPr/>
            <p:nvPr/>
          </p:nvSpPr>
          <p:spPr>
            <a:xfrm>
              <a:off x="550069" y="2614613"/>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38" name="Google Shape;438;p45"/>
            <p:cNvSpPr/>
            <p:nvPr/>
          </p:nvSpPr>
          <p:spPr>
            <a:xfrm>
              <a:off x="2364581" y="2621756"/>
              <a:ext cx="4093369"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39" name="Google Shape;439;p45"/>
            <p:cNvSpPr/>
            <p:nvPr/>
          </p:nvSpPr>
          <p:spPr>
            <a:xfrm>
              <a:off x="6600825" y="2564606"/>
              <a:ext cx="1993106"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40" name="Google Shape;440;p45"/>
            <p:cNvSpPr/>
            <p:nvPr/>
          </p:nvSpPr>
          <p:spPr>
            <a:xfrm>
              <a:off x="2364581" y="2621756"/>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41" name="Google Shape;441;p45" descr="image.png"/>
            <p:cNvPicPr preferRelativeResize="0"/>
            <p:nvPr/>
          </p:nvPicPr>
          <p:blipFill rotWithShape="1">
            <a:blip r:embed="rId5">
              <a:alphaModFix/>
            </a:blip>
            <a:srcRect/>
            <a:stretch/>
          </p:blipFill>
          <p:spPr>
            <a:xfrm>
              <a:off x="1007269" y="2636044"/>
              <a:ext cx="121444" cy="121444"/>
            </a:xfrm>
            <a:prstGeom prst="rect">
              <a:avLst/>
            </a:prstGeom>
            <a:noFill/>
            <a:ln>
              <a:noFill/>
            </a:ln>
          </p:spPr>
        </p:pic>
        <p:sp>
          <p:nvSpPr>
            <p:cNvPr id="442" name="Google Shape;442;p45"/>
            <p:cNvSpPr txBox="1"/>
            <p:nvPr/>
          </p:nvSpPr>
          <p:spPr>
            <a:xfrm>
              <a:off x="442913" y="2614613"/>
              <a:ext cx="528600" cy="1539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3</a:t>
              </a:r>
              <a:endParaRPr sz="1100" b="0" i="0" u="none" strike="noStrike" cap="none">
                <a:solidFill>
                  <a:srgbClr val="000000"/>
                </a:solidFill>
                <a:latin typeface="Arial"/>
                <a:ea typeface="Arial"/>
                <a:cs typeface="Arial"/>
                <a:sym typeface="Arial"/>
              </a:endParaRPr>
            </a:p>
          </p:txBody>
        </p:sp>
        <p:sp>
          <p:nvSpPr>
            <p:cNvPr id="443" name="Google Shape;443;p45"/>
            <p:cNvSpPr txBox="1"/>
            <p:nvPr/>
          </p:nvSpPr>
          <p:spPr>
            <a:xfrm>
              <a:off x="6643688" y="2621756"/>
              <a:ext cx="1836000" cy="13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F87171"/>
                  </a:solidFill>
                  <a:latin typeface="Calibri"/>
                  <a:ea typeface="Calibri"/>
                  <a:cs typeface="Calibri"/>
                  <a:sym typeface="Calibri"/>
                </a:rPr>
                <a:t>block rm -rf</a:t>
              </a:r>
              <a:endParaRPr sz="1100" b="0" i="0" u="none" strike="noStrike" cap="none">
                <a:solidFill>
                  <a:srgbClr val="000000"/>
                </a:solidFill>
                <a:latin typeface="Arial"/>
                <a:ea typeface="Arial"/>
                <a:cs typeface="Arial"/>
                <a:sym typeface="Arial"/>
              </a:endParaRPr>
            </a:p>
          </p:txBody>
        </p:sp>
        <p:sp>
          <p:nvSpPr>
            <p:cNvPr id="444" name="Google Shape;444;p45"/>
            <p:cNvSpPr txBox="1"/>
            <p:nvPr/>
          </p:nvSpPr>
          <p:spPr>
            <a:xfrm>
              <a:off x="1007269" y="2825353"/>
              <a:ext cx="8430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ALWAYS RUNS</a:t>
              </a:r>
              <a:endParaRPr sz="1100" b="0" i="0" u="none" strike="noStrike" cap="none">
                <a:solidFill>
                  <a:srgbClr val="000000"/>
                </a:solidFill>
                <a:latin typeface="Arial"/>
                <a:ea typeface="Arial"/>
                <a:cs typeface="Arial"/>
                <a:sym typeface="Arial"/>
              </a:endParaRPr>
            </a:p>
          </p:txBody>
        </p:sp>
        <p:sp>
          <p:nvSpPr>
            <p:cNvPr id="445" name="Google Shape;445;p45"/>
            <p:cNvSpPr txBox="1"/>
            <p:nvPr/>
          </p:nvSpPr>
          <p:spPr>
            <a:xfrm>
              <a:off x="2514600" y="2621756"/>
              <a:ext cx="4929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Deterministic scripts triggered automatically by events</a:t>
              </a:r>
              <a:endParaRPr sz="1100" b="0" i="0" u="none" strike="noStrike" cap="none">
                <a:solidFill>
                  <a:srgbClr val="000000"/>
                </a:solidFill>
                <a:latin typeface="Arial"/>
                <a:ea typeface="Arial"/>
                <a:cs typeface="Arial"/>
                <a:sym typeface="Arial"/>
              </a:endParaRPr>
            </a:p>
          </p:txBody>
        </p:sp>
        <p:sp>
          <p:nvSpPr>
            <p:cNvPr id="446" name="Google Shape;446;p45"/>
            <p:cNvSpPr txBox="1"/>
            <p:nvPr/>
          </p:nvSpPr>
          <p:spPr>
            <a:xfrm>
              <a:off x="2514600" y="2793206"/>
              <a:ext cx="49293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Enforces hard rules on tool calls, edits, and commands</a:t>
              </a:r>
              <a:endParaRPr sz="1100" b="0" i="0" u="none" strike="noStrike" cap="none">
                <a:solidFill>
                  <a:srgbClr val="000000"/>
                </a:solidFill>
                <a:latin typeface="Arial"/>
                <a:ea typeface="Arial"/>
                <a:cs typeface="Arial"/>
                <a:sym typeface="Arial"/>
              </a:endParaRPr>
            </a:p>
          </p:txBody>
        </p:sp>
        <p:sp>
          <p:nvSpPr>
            <p:cNvPr id="447" name="Google Shape;447;p45"/>
            <p:cNvSpPr txBox="1"/>
            <p:nvPr/>
          </p:nvSpPr>
          <p:spPr>
            <a:xfrm>
              <a:off x="6284714" y="2800350"/>
              <a:ext cx="2187900" cy="1077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FCA5A5"/>
                  </a:solidFill>
                  <a:latin typeface="Calibri"/>
                  <a:ea typeface="Calibri"/>
                  <a:cs typeface="Calibri"/>
                  <a:sym typeface="Calibri"/>
                </a:rPr>
                <a:t>Blocks destructive file or DB operations</a:t>
              </a:r>
              <a:endParaRPr sz="1100" b="0" i="0" u="none" strike="noStrike" cap="none">
                <a:solidFill>
                  <a:srgbClr val="000000"/>
                </a:solidFill>
                <a:latin typeface="Arial"/>
                <a:ea typeface="Arial"/>
                <a:cs typeface="Arial"/>
                <a:sym typeface="Arial"/>
              </a:endParaRPr>
            </a:p>
          </p:txBody>
        </p:sp>
        <p:sp>
          <p:nvSpPr>
            <p:cNvPr id="448" name="Google Shape;448;p45"/>
            <p:cNvSpPr txBox="1"/>
            <p:nvPr/>
          </p:nvSpPr>
          <p:spPr>
            <a:xfrm>
              <a:off x="1185863" y="2596753"/>
              <a:ext cx="6525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Hook</a:t>
              </a:r>
              <a:endParaRPr sz="1100" b="0" i="0" u="none" strike="noStrike" cap="none">
                <a:solidFill>
                  <a:srgbClr val="000000"/>
                </a:solidFill>
                <a:latin typeface="Arial"/>
                <a:ea typeface="Arial"/>
                <a:cs typeface="Arial"/>
                <a:sym typeface="Arial"/>
              </a:endParaRPr>
            </a:p>
          </p:txBody>
        </p:sp>
      </p:grpSp>
      <p:grpSp>
        <p:nvGrpSpPr>
          <p:cNvPr id="449" name="Google Shape;449;p45"/>
          <p:cNvGrpSpPr/>
          <p:nvPr/>
        </p:nvGrpSpPr>
        <p:grpSpPr>
          <a:xfrm>
            <a:off x="400050" y="3203972"/>
            <a:ext cx="8343900" cy="600075"/>
            <a:chOff x="400050" y="3203972"/>
            <a:chExt cx="8343900" cy="600075"/>
          </a:xfrm>
        </p:grpSpPr>
        <p:sp>
          <p:nvSpPr>
            <p:cNvPr id="450" name="Google Shape;450;p45"/>
            <p:cNvSpPr/>
            <p:nvPr/>
          </p:nvSpPr>
          <p:spPr>
            <a:xfrm>
              <a:off x="400050" y="3203972"/>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51" name="Google Shape;451;p45"/>
            <p:cNvSpPr/>
            <p:nvPr/>
          </p:nvSpPr>
          <p:spPr>
            <a:xfrm>
              <a:off x="550069" y="3346847"/>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52" name="Google Shape;452;p45"/>
            <p:cNvSpPr/>
            <p:nvPr/>
          </p:nvSpPr>
          <p:spPr>
            <a:xfrm>
              <a:off x="2364581" y="3353990"/>
              <a:ext cx="4086225"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53" name="Google Shape;453;p45"/>
            <p:cNvSpPr/>
            <p:nvPr/>
          </p:nvSpPr>
          <p:spPr>
            <a:xfrm>
              <a:off x="6593681" y="3296840"/>
              <a:ext cx="2000250"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54" name="Google Shape;454;p45"/>
            <p:cNvSpPr/>
            <p:nvPr/>
          </p:nvSpPr>
          <p:spPr>
            <a:xfrm>
              <a:off x="2364581" y="3353990"/>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55" name="Google Shape;455;p45" descr="image.png"/>
            <p:cNvPicPr preferRelativeResize="0"/>
            <p:nvPr/>
          </p:nvPicPr>
          <p:blipFill rotWithShape="1">
            <a:blip r:embed="rId6">
              <a:alphaModFix/>
            </a:blip>
            <a:srcRect/>
            <a:stretch/>
          </p:blipFill>
          <p:spPr>
            <a:xfrm>
              <a:off x="1007269" y="3368278"/>
              <a:ext cx="150019" cy="121444"/>
            </a:xfrm>
            <a:prstGeom prst="rect">
              <a:avLst/>
            </a:prstGeom>
            <a:noFill/>
            <a:ln>
              <a:noFill/>
            </a:ln>
          </p:spPr>
        </p:pic>
        <p:sp>
          <p:nvSpPr>
            <p:cNvPr id="456" name="Google Shape;456;p45"/>
            <p:cNvSpPr txBox="1"/>
            <p:nvPr/>
          </p:nvSpPr>
          <p:spPr>
            <a:xfrm>
              <a:off x="442913" y="3346847"/>
              <a:ext cx="528600" cy="1539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4</a:t>
              </a:r>
              <a:endParaRPr sz="1100" b="0" i="0" u="none" strike="noStrike" cap="none">
                <a:solidFill>
                  <a:srgbClr val="000000"/>
                </a:solidFill>
                <a:latin typeface="Arial"/>
                <a:ea typeface="Arial"/>
                <a:cs typeface="Arial"/>
                <a:sym typeface="Arial"/>
              </a:endParaRPr>
            </a:p>
          </p:txBody>
        </p:sp>
        <p:sp>
          <p:nvSpPr>
            <p:cNvPr id="457" name="Google Shape;457;p45"/>
            <p:cNvSpPr txBox="1"/>
            <p:nvPr/>
          </p:nvSpPr>
          <p:spPr>
            <a:xfrm>
              <a:off x="6636544" y="3353990"/>
              <a:ext cx="1843200" cy="13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test-reviewer</a:t>
              </a:r>
              <a:endParaRPr sz="1100" b="0" i="0" u="none" strike="noStrike" cap="none">
                <a:solidFill>
                  <a:srgbClr val="000000"/>
                </a:solidFill>
                <a:latin typeface="Arial"/>
                <a:ea typeface="Arial"/>
                <a:cs typeface="Arial"/>
                <a:sym typeface="Arial"/>
              </a:endParaRPr>
            </a:p>
          </p:txBody>
        </p:sp>
        <p:sp>
          <p:nvSpPr>
            <p:cNvPr id="458" name="Google Shape;458;p45"/>
            <p:cNvSpPr txBox="1"/>
            <p:nvPr/>
          </p:nvSpPr>
          <p:spPr>
            <a:xfrm>
              <a:off x="1007269" y="3557588"/>
              <a:ext cx="957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WORKS ON SIDE</a:t>
              </a:r>
              <a:endParaRPr sz="1100" b="0" i="0" u="none" strike="noStrike" cap="none">
                <a:solidFill>
                  <a:srgbClr val="000000"/>
                </a:solidFill>
                <a:latin typeface="Arial"/>
                <a:ea typeface="Arial"/>
                <a:cs typeface="Arial"/>
                <a:sym typeface="Arial"/>
              </a:endParaRPr>
            </a:p>
          </p:txBody>
        </p:sp>
        <p:sp>
          <p:nvSpPr>
            <p:cNvPr id="459" name="Google Shape;459;p45"/>
            <p:cNvSpPr txBox="1"/>
            <p:nvPr/>
          </p:nvSpPr>
          <p:spPr>
            <a:xfrm>
              <a:off x="2514600" y="3353990"/>
              <a:ext cx="49203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Helper agent with isolated memory and tailored tools</a:t>
              </a:r>
              <a:endParaRPr sz="1100" b="0" i="0" u="none" strike="noStrike" cap="none">
                <a:solidFill>
                  <a:srgbClr val="000000"/>
                </a:solidFill>
                <a:latin typeface="Arial"/>
                <a:ea typeface="Arial"/>
                <a:cs typeface="Arial"/>
                <a:sym typeface="Arial"/>
              </a:endParaRPr>
            </a:p>
          </p:txBody>
        </p:sp>
        <p:sp>
          <p:nvSpPr>
            <p:cNvPr id="460" name="Google Shape;460;p45"/>
            <p:cNvSpPr txBox="1"/>
            <p:nvPr/>
          </p:nvSpPr>
          <p:spPr>
            <a:xfrm>
              <a:off x="2514600" y="3525440"/>
              <a:ext cx="49203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Processes large diffs and logs without filling your context</a:t>
              </a:r>
              <a:endParaRPr sz="1100" b="0" i="0" u="none" strike="noStrike" cap="none">
                <a:solidFill>
                  <a:srgbClr val="000000"/>
                </a:solidFill>
                <a:latin typeface="Arial"/>
                <a:ea typeface="Arial"/>
                <a:cs typeface="Arial"/>
                <a:sym typeface="Arial"/>
              </a:endParaRPr>
            </a:p>
          </p:txBody>
        </p:sp>
        <p:sp>
          <p:nvSpPr>
            <p:cNvPr id="461" name="Google Shape;461;p45"/>
            <p:cNvSpPr txBox="1"/>
            <p:nvPr/>
          </p:nvSpPr>
          <p:spPr>
            <a:xfrm>
              <a:off x="6275784" y="3532584"/>
              <a:ext cx="2196600" cy="1077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Catches flaky sleeps &amp; weak assertions</a:t>
              </a:r>
              <a:endParaRPr sz="1100" b="0" i="0" u="none" strike="noStrike" cap="none">
                <a:solidFill>
                  <a:srgbClr val="000000"/>
                </a:solidFill>
                <a:latin typeface="Arial"/>
                <a:ea typeface="Arial"/>
                <a:cs typeface="Arial"/>
                <a:sym typeface="Arial"/>
              </a:endParaRPr>
            </a:p>
          </p:txBody>
        </p:sp>
        <p:sp>
          <p:nvSpPr>
            <p:cNvPr id="462" name="Google Shape;462;p45"/>
            <p:cNvSpPr txBox="1"/>
            <p:nvPr/>
          </p:nvSpPr>
          <p:spPr>
            <a:xfrm>
              <a:off x="1214438" y="3328988"/>
              <a:ext cx="10050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Subagent</a:t>
              </a:r>
              <a:endParaRPr sz="1100" b="0" i="0" u="none" strike="noStrike" cap="none">
                <a:solidFill>
                  <a:srgbClr val="000000"/>
                </a:solidFill>
                <a:latin typeface="Arial"/>
                <a:ea typeface="Arial"/>
                <a:cs typeface="Arial"/>
                <a:sym typeface="Arial"/>
              </a:endParaRPr>
            </a:p>
          </p:txBody>
        </p:sp>
      </p:grpSp>
      <p:grpSp>
        <p:nvGrpSpPr>
          <p:cNvPr id="463" name="Google Shape;463;p45"/>
          <p:cNvGrpSpPr/>
          <p:nvPr/>
        </p:nvGrpSpPr>
        <p:grpSpPr>
          <a:xfrm>
            <a:off x="400050" y="3936206"/>
            <a:ext cx="8343900" cy="600075"/>
            <a:chOff x="400050" y="3936206"/>
            <a:chExt cx="8343900" cy="600075"/>
          </a:xfrm>
        </p:grpSpPr>
        <p:sp>
          <p:nvSpPr>
            <p:cNvPr id="464" name="Google Shape;464;p45"/>
            <p:cNvSpPr/>
            <p:nvPr/>
          </p:nvSpPr>
          <p:spPr>
            <a:xfrm>
              <a:off x="400050" y="3936206"/>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65" name="Google Shape;465;p45"/>
            <p:cNvSpPr/>
            <p:nvPr/>
          </p:nvSpPr>
          <p:spPr>
            <a:xfrm>
              <a:off x="550069" y="4079081"/>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66" name="Google Shape;466;p45"/>
            <p:cNvSpPr/>
            <p:nvPr/>
          </p:nvSpPr>
          <p:spPr>
            <a:xfrm>
              <a:off x="2364581" y="4086225"/>
              <a:ext cx="4300538"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67" name="Google Shape;467;p45"/>
            <p:cNvSpPr/>
            <p:nvPr/>
          </p:nvSpPr>
          <p:spPr>
            <a:xfrm>
              <a:off x="6807994" y="4029075"/>
              <a:ext cx="1785938"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468" name="Google Shape;468;p45"/>
            <p:cNvSpPr/>
            <p:nvPr/>
          </p:nvSpPr>
          <p:spPr>
            <a:xfrm>
              <a:off x="2364581" y="4086225"/>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69" name="Google Shape;469;p45" descr="image.png"/>
            <p:cNvPicPr preferRelativeResize="0"/>
            <p:nvPr/>
          </p:nvPicPr>
          <p:blipFill rotWithShape="1">
            <a:blip r:embed="rId7">
              <a:alphaModFix/>
            </a:blip>
            <a:srcRect/>
            <a:stretch/>
          </p:blipFill>
          <p:spPr>
            <a:xfrm>
              <a:off x="1007269" y="4100513"/>
              <a:ext cx="150019" cy="121444"/>
            </a:xfrm>
            <a:prstGeom prst="rect">
              <a:avLst/>
            </a:prstGeom>
            <a:noFill/>
            <a:ln>
              <a:noFill/>
            </a:ln>
          </p:spPr>
        </p:pic>
        <p:sp>
          <p:nvSpPr>
            <p:cNvPr id="470" name="Google Shape;470;p45"/>
            <p:cNvSpPr txBox="1"/>
            <p:nvPr/>
          </p:nvSpPr>
          <p:spPr>
            <a:xfrm>
              <a:off x="442913" y="4079081"/>
              <a:ext cx="528600" cy="1539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5</a:t>
              </a:r>
              <a:endParaRPr sz="1100" b="0" i="0" u="none" strike="noStrike" cap="none">
                <a:solidFill>
                  <a:srgbClr val="000000"/>
                </a:solidFill>
                <a:latin typeface="Arial"/>
                <a:ea typeface="Arial"/>
                <a:cs typeface="Arial"/>
                <a:sym typeface="Arial"/>
              </a:endParaRPr>
            </a:p>
          </p:txBody>
        </p:sp>
        <p:sp>
          <p:nvSpPr>
            <p:cNvPr id="471" name="Google Shape;471;p45"/>
            <p:cNvSpPr txBox="1"/>
            <p:nvPr/>
          </p:nvSpPr>
          <p:spPr>
            <a:xfrm>
              <a:off x="6850856" y="4086225"/>
              <a:ext cx="1628700" cy="13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qa-toolkit</a:t>
              </a:r>
              <a:endParaRPr sz="1100" b="0" i="0" u="none" strike="noStrike" cap="none">
                <a:solidFill>
                  <a:srgbClr val="000000"/>
                </a:solidFill>
                <a:latin typeface="Arial"/>
                <a:ea typeface="Arial"/>
                <a:cs typeface="Arial"/>
                <a:sym typeface="Arial"/>
              </a:endParaRPr>
            </a:p>
          </p:txBody>
        </p:sp>
        <p:sp>
          <p:nvSpPr>
            <p:cNvPr id="472" name="Google Shape;472;p45"/>
            <p:cNvSpPr txBox="1"/>
            <p:nvPr/>
          </p:nvSpPr>
          <p:spPr>
            <a:xfrm>
              <a:off x="1007269" y="4289822"/>
              <a:ext cx="8430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BUNDLES ALL</a:t>
              </a:r>
              <a:endParaRPr sz="1100" b="0" i="0" u="none" strike="noStrike" cap="none">
                <a:solidFill>
                  <a:srgbClr val="000000"/>
                </a:solidFill>
                <a:latin typeface="Arial"/>
                <a:ea typeface="Arial"/>
                <a:cs typeface="Arial"/>
                <a:sym typeface="Arial"/>
              </a:endParaRPr>
            </a:p>
          </p:txBody>
        </p:sp>
        <p:sp>
          <p:nvSpPr>
            <p:cNvPr id="473" name="Google Shape;473;p45"/>
            <p:cNvSpPr txBox="1"/>
            <p:nvPr/>
          </p:nvSpPr>
          <p:spPr>
            <a:xfrm>
              <a:off x="2514600" y="4086225"/>
              <a:ext cx="5188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Distributable package bundling skills, agents, hooks &amp; MCP</a:t>
              </a:r>
              <a:endParaRPr sz="1100" b="0" i="0" u="none" strike="noStrike" cap="none">
                <a:solidFill>
                  <a:srgbClr val="000000"/>
                </a:solidFill>
                <a:latin typeface="Arial"/>
                <a:ea typeface="Arial"/>
                <a:cs typeface="Arial"/>
                <a:sym typeface="Arial"/>
              </a:endParaRPr>
            </a:p>
          </p:txBody>
        </p:sp>
        <p:sp>
          <p:nvSpPr>
            <p:cNvPr id="474" name="Google Shape;474;p45"/>
            <p:cNvSpPr txBox="1"/>
            <p:nvPr/>
          </p:nvSpPr>
          <p:spPr>
            <a:xfrm>
              <a:off x="2514600" y="4257675"/>
              <a:ext cx="51882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Installed once with /plugin to share across team repos</a:t>
              </a:r>
              <a:endParaRPr sz="1100" b="0" i="0" u="none" strike="noStrike" cap="none">
                <a:solidFill>
                  <a:srgbClr val="000000"/>
                </a:solidFill>
                <a:latin typeface="Arial"/>
                <a:ea typeface="Arial"/>
                <a:cs typeface="Arial"/>
                <a:sym typeface="Arial"/>
              </a:endParaRPr>
            </a:p>
          </p:txBody>
        </p:sp>
        <p:sp>
          <p:nvSpPr>
            <p:cNvPr id="475" name="Google Shape;475;p45"/>
            <p:cNvSpPr txBox="1"/>
            <p:nvPr/>
          </p:nvSpPr>
          <p:spPr>
            <a:xfrm>
              <a:off x="6543675" y="4264819"/>
              <a:ext cx="1928700" cy="1077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One-command team distribution</a:t>
              </a:r>
              <a:endParaRPr sz="1100" b="0" i="0" u="none" strike="noStrike" cap="none">
                <a:solidFill>
                  <a:srgbClr val="000000"/>
                </a:solidFill>
                <a:latin typeface="Arial"/>
                <a:ea typeface="Arial"/>
                <a:cs typeface="Arial"/>
                <a:sym typeface="Arial"/>
              </a:endParaRPr>
            </a:p>
          </p:txBody>
        </p:sp>
        <p:sp>
          <p:nvSpPr>
            <p:cNvPr id="476" name="Google Shape;476;p45"/>
            <p:cNvSpPr txBox="1"/>
            <p:nvPr/>
          </p:nvSpPr>
          <p:spPr>
            <a:xfrm>
              <a:off x="1214438" y="4061222"/>
              <a:ext cx="7200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Plugin</a:t>
              </a:r>
              <a:endParaRPr sz="11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481"/>
        <p:cNvGrpSpPr/>
        <p:nvPr/>
      </p:nvGrpSpPr>
      <p:grpSpPr>
        <a:xfrm>
          <a:off x="0" y="0"/>
          <a:ext cx="0" cy="0"/>
          <a:chOff x="0" y="0"/>
          <a:chExt cx="0" cy="0"/>
        </a:xfrm>
      </p:grpSpPr>
      <p:sp>
        <p:nvSpPr>
          <p:cNvPr id="482" name="Google Shape;482;p46"/>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Example building block: MCP</a:t>
            </a:r>
            <a:endParaRPr sz="1900"/>
          </a:p>
        </p:txBody>
      </p:sp>
      <p:sp>
        <p:nvSpPr>
          <p:cNvPr id="483" name="Google Shape;483;p46"/>
          <p:cNvSpPr txBox="1"/>
          <p:nvPr/>
        </p:nvSpPr>
        <p:spPr>
          <a:xfrm>
            <a:off x="493776" y="1028700"/>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alibri"/>
              <a:buNone/>
            </a:pPr>
            <a:r>
              <a:rPr lang="en-GB" sz="1000" b="0" i="0" u="none" strike="noStrike" cap="none">
                <a:solidFill>
                  <a:srgbClr val="EAF1F7"/>
                </a:solidFill>
                <a:latin typeface="Calibri"/>
                <a:ea typeface="Calibri"/>
                <a:cs typeface="Calibri"/>
                <a:sym typeface="Calibri"/>
              </a:rPr>
              <a:t>MCP (Model Context Protocol) is a standard plug: install a server, and Claude gets new tools.</a:t>
            </a:r>
            <a:endParaRPr sz="1000" b="0" i="0" u="none" strike="noStrike" cap="none">
              <a:solidFill>
                <a:schemeClr val="dk1"/>
              </a:solidFill>
              <a:latin typeface="Calibri"/>
              <a:ea typeface="Calibri"/>
              <a:cs typeface="Calibri"/>
              <a:sym typeface="Calibri"/>
            </a:endParaRPr>
          </a:p>
        </p:txBody>
      </p:sp>
      <p:sp>
        <p:nvSpPr>
          <p:cNvPr id="484" name="Google Shape;484;p46"/>
          <p:cNvSpPr/>
          <p:nvPr/>
        </p:nvSpPr>
        <p:spPr>
          <a:xfrm>
            <a:off x="562356"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85" name="Google Shape;485;p46" descr="/home/claude/work/assets/ic_globe_bone.png"/>
          <p:cNvPicPr preferRelativeResize="0"/>
          <p:nvPr/>
        </p:nvPicPr>
        <p:blipFill rotWithShape="1">
          <a:blip r:embed="rId3">
            <a:alphaModFix/>
          </a:blip>
          <a:srcRect/>
          <a:stretch/>
        </p:blipFill>
        <p:spPr>
          <a:xfrm>
            <a:off x="664403" y="1507937"/>
            <a:ext cx="221102" cy="221102"/>
          </a:xfrm>
          <a:prstGeom prst="rect">
            <a:avLst/>
          </a:prstGeom>
          <a:noFill/>
          <a:ln>
            <a:noFill/>
          </a:ln>
        </p:spPr>
      </p:pic>
      <p:sp>
        <p:nvSpPr>
          <p:cNvPr id="486" name="Google Shape;486;p46"/>
          <p:cNvSpPr txBox="1"/>
          <p:nvPr/>
        </p:nvSpPr>
        <p:spPr>
          <a:xfrm>
            <a:off x="1076706"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Playwright MCP</a:t>
            </a:r>
            <a:endParaRPr sz="1000" b="0" i="0" u="none" strike="noStrike" cap="none">
              <a:solidFill>
                <a:schemeClr val="dk1"/>
              </a:solidFill>
              <a:latin typeface="Calibri"/>
              <a:ea typeface="Calibri"/>
              <a:cs typeface="Calibri"/>
              <a:sym typeface="Calibri"/>
            </a:endParaRPr>
          </a:p>
        </p:txBody>
      </p:sp>
      <p:sp>
        <p:nvSpPr>
          <p:cNvPr id="487" name="Google Shape;487;p46"/>
          <p:cNvSpPr txBox="1"/>
          <p:nvPr/>
        </p:nvSpPr>
        <p:spPr>
          <a:xfrm>
            <a:off x="1076706"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Web: a real browser, clicks, network.</a:t>
            </a:r>
            <a:endParaRPr sz="800" b="0" i="0" u="none" strike="noStrike" cap="none">
              <a:solidFill>
                <a:schemeClr val="dk1"/>
              </a:solidFill>
              <a:latin typeface="Calibri"/>
              <a:ea typeface="Calibri"/>
              <a:cs typeface="Calibri"/>
              <a:sym typeface="Calibri"/>
            </a:endParaRPr>
          </a:p>
        </p:txBody>
      </p:sp>
      <p:sp>
        <p:nvSpPr>
          <p:cNvPr id="488" name="Google Shape;488;p46"/>
          <p:cNvSpPr/>
          <p:nvPr/>
        </p:nvSpPr>
        <p:spPr>
          <a:xfrm>
            <a:off x="3326130"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89" name="Google Shape;489;p46" descr="/home/claude/work/assets/ic_monitor_bone.png"/>
          <p:cNvPicPr preferRelativeResize="0"/>
          <p:nvPr/>
        </p:nvPicPr>
        <p:blipFill rotWithShape="1">
          <a:blip r:embed="rId4">
            <a:alphaModFix/>
          </a:blip>
          <a:srcRect/>
          <a:stretch/>
        </p:blipFill>
        <p:spPr>
          <a:xfrm>
            <a:off x="3428177" y="1507937"/>
            <a:ext cx="221102" cy="221102"/>
          </a:xfrm>
          <a:prstGeom prst="rect">
            <a:avLst/>
          </a:prstGeom>
          <a:noFill/>
          <a:ln>
            <a:noFill/>
          </a:ln>
        </p:spPr>
      </p:pic>
      <p:sp>
        <p:nvSpPr>
          <p:cNvPr id="490" name="Google Shape;490;p46"/>
          <p:cNvSpPr txBox="1"/>
          <p:nvPr/>
        </p:nvSpPr>
        <p:spPr>
          <a:xfrm>
            <a:off x="3840480"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Appium MCP</a:t>
            </a:r>
            <a:endParaRPr sz="1000" b="0" i="0" u="none" strike="noStrike" cap="none">
              <a:solidFill>
                <a:schemeClr val="dk1"/>
              </a:solidFill>
              <a:latin typeface="Calibri"/>
              <a:ea typeface="Calibri"/>
              <a:cs typeface="Calibri"/>
              <a:sym typeface="Calibri"/>
            </a:endParaRPr>
          </a:p>
        </p:txBody>
      </p:sp>
      <p:sp>
        <p:nvSpPr>
          <p:cNvPr id="491" name="Google Shape;491;p46"/>
          <p:cNvSpPr txBox="1"/>
          <p:nvPr/>
        </p:nvSpPr>
        <p:spPr>
          <a:xfrm>
            <a:off x="3840480"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Android &amp; iOS, emulators or real devices.</a:t>
            </a:r>
            <a:endParaRPr sz="800" b="0" i="0" u="none" strike="noStrike" cap="none">
              <a:solidFill>
                <a:schemeClr val="dk1"/>
              </a:solidFill>
              <a:latin typeface="Calibri"/>
              <a:ea typeface="Calibri"/>
              <a:cs typeface="Calibri"/>
              <a:sym typeface="Calibri"/>
            </a:endParaRPr>
          </a:p>
        </p:txBody>
      </p:sp>
      <p:sp>
        <p:nvSpPr>
          <p:cNvPr id="492" name="Google Shape;492;p46"/>
          <p:cNvSpPr/>
          <p:nvPr/>
        </p:nvSpPr>
        <p:spPr>
          <a:xfrm>
            <a:off x="6089904"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3" name="Google Shape;493;p46" descr="/home/claude/work/assets/ic_act_bone.png"/>
          <p:cNvPicPr preferRelativeResize="0"/>
          <p:nvPr/>
        </p:nvPicPr>
        <p:blipFill rotWithShape="1">
          <a:blip r:embed="rId5">
            <a:alphaModFix/>
          </a:blip>
          <a:srcRect/>
          <a:stretch/>
        </p:blipFill>
        <p:spPr>
          <a:xfrm>
            <a:off x="6191951" y="1507937"/>
            <a:ext cx="221102" cy="221102"/>
          </a:xfrm>
          <a:prstGeom prst="rect">
            <a:avLst/>
          </a:prstGeom>
          <a:noFill/>
          <a:ln>
            <a:noFill/>
          </a:ln>
        </p:spPr>
      </p:pic>
      <p:sp>
        <p:nvSpPr>
          <p:cNvPr id="494" name="Google Shape;494;p46"/>
          <p:cNvSpPr txBox="1"/>
          <p:nvPr/>
        </p:nvSpPr>
        <p:spPr>
          <a:xfrm>
            <a:off x="6604254"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a:solidFill>
                  <a:srgbClr val="EAF1F7"/>
                </a:solidFill>
                <a:latin typeface="Century Schoolbook"/>
                <a:ea typeface="Century Schoolbook"/>
                <a:cs typeface="Century Schoolbook"/>
                <a:sym typeface="Century Schoolbook"/>
              </a:rPr>
              <a:t>M</a:t>
            </a:r>
            <a:r>
              <a:rPr lang="en-GB" sz="1000" b="1" i="0" u="none" strike="noStrike" cap="none">
                <a:solidFill>
                  <a:srgbClr val="EAF1F7"/>
                </a:solidFill>
                <a:latin typeface="Century Schoolbook"/>
                <a:ea typeface="Century Schoolbook"/>
                <a:cs typeface="Century Schoolbook"/>
                <a:sym typeface="Century Schoolbook"/>
              </a:rPr>
              <a:t>obile-mcp</a:t>
            </a:r>
            <a:endParaRPr sz="1000" b="0" i="0" u="none" strike="noStrike" cap="none">
              <a:solidFill>
                <a:schemeClr val="dk1"/>
              </a:solidFill>
              <a:latin typeface="Calibri"/>
              <a:ea typeface="Calibri"/>
              <a:cs typeface="Calibri"/>
              <a:sym typeface="Calibri"/>
            </a:endParaRPr>
          </a:p>
        </p:txBody>
      </p:sp>
      <p:sp>
        <p:nvSpPr>
          <p:cNvPr id="495" name="Google Shape;495;p46"/>
          <p:cNvSpPr txBox="1"/>
          <p:nvPr/>
        </p:nvSpPr>
        <p:spPr>
          <a:xfrm>
            <a:off x="6604254"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Open-source iOS &amp; Android automation.</a:t>
            </a:r>
            <a:endParaRPr sz="800" b="0" i="0" u="none" strike="noStrike" cap="none">
              <a:solidFill>
                <a:schemeClr val="dk1"/>
              </a:solidFill>
              <a:latin typeface="Calibri"/>
              <a:ea typeface="Calibri"/>
              <a:cs typeface="Calibri"/>
              <a:sym typeface="Calibri"/>
            </a:endParaRPr>
          </a:p>
        </p:txBody>
      </p:sp>
      <p:sp>
        <p:nvSpPr>
          <p:cNvPr id="496" name="Google Shape;496;p46"/>
          <p:cNvSpPr/>
          <p:nvPr/>
        </p:nvSpPr>
        <p:spPr>
          <a:xfrm>
            <a:off x="562356"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7" name="Google Shape;497;p46" descr="/home/claude/work/assets/ic_branch_bone.png"/>
          <p:cNvPicPr preferRelativeResize="0"/>
          <p:nvPr/>
        </p:nvPicPr>
        <p:blipFill rotWithShape="1">
          <a:blip r:embed="rId6">
            <a:alphaModFix/>
          </a:blip>
          <a:srcRect/>
          <a:stretch/>
        </p:blipFill>
        <p:spPr>
          <a:xfrm>
            <a:off x="664403" y="2193737"/>
            <a:ext cx="221102" cy="221102"/>
          </a:xfrm>
          <a:prstGeom prst="rect">
            <a:avLst/>
          </a:prstGeom>
          <a:noFill/>
          <a:ln>
            <a:noFill/>
          </a:ln>
        </p:spPr>
      </p:pic>
      <p:sp>
        <p:nvSpPr>
          <p:cNvPr id="498" name="Google Shape;498;p46"/>
          <p:cNvSpPr txBox="1"/>
          <p:nvPr/>
        </p:nvSpPr>
        <p:spPr>
          <a:xfrm>
            <a:off x="1076706"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GitHub</a:t>
            </a:r>
            <a:endParaRPr sz="1000" b="0" i="0" u="none" strike="noStrike" cap="none">
              <a:solidFill>
                <a:schemeClr val="dk1"/>
              </a:solidFill>
              <a:latin typeface="Calibri"/>
              <a:ea typeface="Calibri"/>
              <a:cs typeface="Calibri"/>
              <a:sym typeface="Calibri"/>
            </a:endParaRPr>
          </a:p>
        </p:txBody>
      </p:sp>
      <p:sp>
        <p:nvSpPr>
          <p:cNvPr id="499" name="Google Shape;499;p46"/>
          <p:cNvSpPr txBox="1"/>
          <p:nvPr/>
        </p:nvSpPr>
        <p:spPr>
          <a:xfrm>
            <a:off x="1076706"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Issues and PRs from failed runs.</a:t>
            </a:r>
            <a:endParaRPr sz="800" b="0" i="0" u="none" strike="noStrike" cap="none">
              <a:solidFill>
                <a:schemeClr val="dk1"/>
              </a:solidFill>
              <a:latin typeface="Calibri"/>
              <a:ea typeface="Calibri"/>
              <a:cs typeface="Calibri"/>
              <a:sym typeface="Calibri"/>
            </a:endParaRPr>
          </a:p>
        </p:txBody>
      </p:sp>
      <p:sp>
        <p:nvSpPr>
          <p:cNvPr id="500" name="Google Shape;500;p46"/>
          <p:cNvSpPr/>
          <p:nvPr/>
        </p:nvSpPr>
        <p:spPr>
          <a:xfrm>
            <a:off x="3326130"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01" name="Google Shape;501;p46" descr="/home/claude/work/assets/ic_database_bone.png"/>
          <p:cNvPicPr preferRelativeResize="0"/>
          <p:nvPr/>
        </p:nvPicPr>
        <p:blipFill rotWithShape="1">
          <a:blip r:embed="rId7">
            <a:alphaModFix/>
          </a:blip>
          <a:srcRect/>
          <a:stretch/>
        </p:blipFill>
        <p:spPr>
          <a:xfrm>
            <a:off x="3428177" y="2193737"/>
            <a:ext cx="221102" cy="221102"/>
          </a:xfrm>
          <a:prstGeom prst="rect">
            <a:avLst/>
          </a:prstGeom>
          <a:noFill/>
          <a:ln>
            <a:noFill/>
          </a:ln>
        </p:spPr>
      </p:pic>
      <p:sp>
        <p:nvSpPr>
          <p:cNvPr id="502" name="Google Shape;502;p46"/>
          <p:cNvSpPr txBox="1"/>
          <p:nvPr/>
        </p:nvSpPr>
        <p:spPr>
          <a:xfrm>
            <a:off x="3840480"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Jira &amp; Confluence</a:t>
            </a:r>
            <a:endParaRPr sz="1000" b="0" i="0" u="none" strike="noStrike" cap="none">
              <a:solidFill>
                <a:schemeClr val="dk1"/>
              </a:solidFill>
              <a:latin typeface="Calibri"/>
              <a:ea typeface="Calibri"/>
              <a:cs typeface="Calibri"/>
              <a:sym typeface="Calibri"/>
            </a:endParaRPr>
          </a:p>
        </p:txBody>
      </p:sp>
      <p:sp>
        <p:nvSpPr>
          <p:cNvPr id="503" name="Google Shape;503;p46"/>
          <p:cNvSpPr txBox="1"/>
          <p:nvPr/>
        </p:nvSpPr>
        <p:spPr>
          <a:xfrm>
            <a:off x="3840480"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Atlassian MCP: stories, bugs, test plans.</a:t>
            </a:r>
            <a:endParaRPr sz="800" b="0" i="0" u="none" strike="noStrike" cap="none">
              <a:solidFill>
                <a:schemeClr val="dk1"/>
              </a:solidFill>
              <a:latin typeface="Calibri"/>
              <a:ea typeface="Calibri"/>
              <a:cs typeface="Calibri"/>
              <a:sym typeface="Calibri"/>
            </a:endParaRPr>
          </a:p>
        </p:txBody>
      </p:sp>
      <p:sp>
        <p:nvSpPr>
          <p:cNvPr id="504" name="Google Shape;504;p46"/>
          <p:cNvSpPr/>
          <p:nvPr/>
        </p:nvSpPr>
        <p:spPr>
          <a:xfrm>
            <a:off x="6089904"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05" name="Google Shape;505;p46" descr="/home/claude/work/assets/ic_package_bone.png"/>
          <p:cNvPicPr preferRelativeResize="0"/>
          <p:nvPr/>
        </p:nvPicPr>
        <p:blipFill rotWithShape="1">
          <a:blip r:embed="rId8">
            <a:alphaModFix/>
          </a:blip>
          <a:srcRect/>
          <a:stretch/>
        </p:blipFill>
        <p:spPr>
          <a:xfrm>
            <a:off x="6191951" y="2193737"/>
            <a:ext cx="221102" cy="221102"/>
          </a:xfrm>
          <a:prstGeom prst="rect">
            <a:avLst/>
          </a:prstGeom>
          <a:noFill/>
          <a:ln>
            <a:noFill/>
          </a:ln>
        </p:spPr>
      </p:pic>
      <p:sp>
        <p:nvSpPr>
          <p:cNvPr id="506" name="Google Shape;506;p46"/>
          <p:cNvSpPr txBox="1"/>
          <p:nvPr/>
        </p:nvSpPr>
        <p:spPr>
          <a:xfrm>
            <a:off x="6604254"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Clappy MCP (Applause)</a:t>
            </a:r>
            <a:endParaRPr sz="1000" b="0" i="0" u="none" strike="noStrike" cap="none">
              <a:solidFill>
                <a:schemeClr val="dk1"/>
              </a:solidFill>
              <a:latin typeface="Calibri"/>
              <a:ea typeface="Calibri"/>
              <a:cs typeface="Calibri"/>
              <a:sym typeface="Calibri"/>
            </a:endParaRPr>
          </a:p>
        </p:txBody>
      </p:sp>
      <p:sp>
        <p:nvSpPr>
          <p:cNvPr id="507" name="Google Shape;507;p46"/>
          <p:cNvSpPr txBox="1"/>
          <p:nvPr/>
        </p:nvSpPr>
        <p:spPr>
          <a:xfrm>
            <a:off x="6604254"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Recorded flow → Playwright framework.</a:t>
            </a:r>
            <a:endParaRPr sz="800" b="0" i="0" u="none" strike="noStrike" cap="none">
              <a:solidFill>
                <a:schemeClr val="dk1"/>
              </a:solidFill>
              <a:latin typeface="Calibri"/>
              <a:ea typeface="Calibri"/>
              <a:cs typeface="Calibri"/>
              <a:sym typeface="Calibri"/>
            </a:endParaRPr>
          </a:p>
        </p:txBody>
      </p:sp>
      <p:grpSp>
        <p:nvGrpSpPr>
          <p:cNvPr id="508" name="Google Shape;508;p46"/>
          <p:cNvGrpSpPr/>
          <p:nvPr/>
        </p:nvGrpSpPr>
        <p:grpSpPr>
          <a:xfrm>
            <a:off x="493776" y="2941995"/>
            <a:ext cx="8160990" cy="1951521"/>
            <a:chOff x="493776" y="2941995"/>
            <a:chExt cx="8160990" cy="1951521"/>
          </a:xfrm>
        </p:grpSpPr>
        <p:sp>
          <p:nvSpPr>
            <p:cNvPr id="509" name="Google Shape;509;p46"/>
            <p:cNvSpPr/>
            <p:nvPr/>
          </p:nvSpPr>
          <p:spPr>
            <a:xfrm>
              <a:off x="493776" y="2941995"/>
              <a:ext cx="4011900" cy="1200300"/>
            </a:xfrm>
            <a:prstGeom prst="roundRect">
              <a:avLst>
                <a:gd name="adj" fmla="val 457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p:txBody>
        </p:sp>
        <p:sp>
          <p:nvSpPr>
            <p:cNvPr id="510" name="Google Shape;510;p46"/>
            <p:cNvSpPr/>
            <p:nvPr/>
          </p:nvSpPr>
          <p:spPr>
            <a:xfrm>
              <a:off x="4642866" y="2941995"/>
              <a:ext cx="4011900" cy="1200300"/>
            </a:xfrm>
            <a:prstGeom prst="roundRect">
              <a:avLst>
                <a:gd name="adj" fmla="val 457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p:txBody>
        </p:sp>
        <p:sp>
          <p:nvSpPr>
            <p:cNvPr id="511" name="Google Shape;511;p46"/>
            <p:cNvSpPr/>
            <p:nvPr/>
          </p:nvSpPr>
          <p:spPr>
            <a:xfrm>
              <a:off x="493776" y="4436316"/>
              <a:ext cx="8156400" cy="457200"/>
            </a:xfrm>
            <a:prstGeom prst="roundRect">
              <a:avLst>
                <a:gd name="adj" fmla="val 20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46"/>
            <p:cNvSpPr txBox="1"/>
            <p:nvPr/>
          </p:nvSpPr>
          <p:spPr>
            <a:xfrm>
              <a:off x="658368" y="4436316"/>
              <a:ext cx="1143000"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GB" sz="850" b="1" i="0" u="none" strike="noStrike" cap="none">
                  <a:solidFill>
                    <a:srgbClr val="4FB0EA"/>
                  </a:solidFill>
                  <a:latin typeface="Calibri"/>
                  <a:ea typeface="Calibri"/>
                  <a:cs typeface="Calibri"/>
                  <a:sym typeface="Calibri"/>
                </a:rPr>
                <a:t>SAME BROWSER</a:t>
              </a:r>
              <a:endParaRPr/>
            </a:p>
            <a:p>
              <a:pPr marL="0" marR="0" lvl="0" indent="0" algn="l" rtl="0">
                <a:lnSpc>
                  <a:spcPct val="100000"/>
                </a:lnSpc>
                <a:spcBef>
                  <a:spcPts val="0"/>
                </a:spcBef>
                <a:spcAft>
                  <a:spcPts val="0"/>
                </a:spcAft>
                <a:buClr>
                  <a:srgbClr val="000000"/>
                </a:buClr>
                <a:buSzPts val="850"/>
                <a:buFont typeface="Arial"/>
                <a:buNone/>
              </a:pPr>
              <a:r>
                <a:rPr lang="en-GB" sz="850" b="1" i="0" u="none" strike="noStrike" cap="none">
                  <a:solidFill>
                    <a:srgbClr val="4FB0EA"/>
                  </a:solidFill>
                  <a:latin typeface="Calibri"/>
                  <a:ea typeface="Calibri"/>
                  <a:cs typeface="Calibri"/>
                  <a:sym typeface="Calibri"/>
                </a:rPr>
                <a:t>TASK, TOKENS</a:t>
              </a:r>
              <a:endParaRPr/>
            </a:p>
          </p:txBody>
        </p:sp>
        <p:sp>
          <p:nvSpPr>
            <p:cNvPr id="513" name="Google Shape;513;p46"/>
            <p:cNvSpPr txBox="1"/>
            <p:nvPr/>
          </p:nvSpPr>
          <p:spPr>
            <a:xfrm>
              <a:off x="1773936" y="4509468"/>
              <a:ext cx="1005900" cy="146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alibri"/>
                  <a:ea typeface="Calibri"/>
                  <a:cs typeface="Calibri"/>
                  <a:sym typeface="Calibri"/>
                </a:rPr>
                <a:t>Playwright CLI</a:t>
              </a:r>
              <a:endParaRPr/>
            </a:p>
          </p:txBody>
        </p:sp>
        <p:sp>
          <p:nvSpPr>
            <p:cNvPr id="514" name="Google Shape;514;p46"/>
            <p:cNvSpPr/>
            <p:nvPr/>
          </p:nvSpPr>
          <p:spPr>
            <a:xfrm>
              <a:off x="2825496" y="4527756"/>
              <a:ext cx="931200" cy="109800"/>
            </a:xfrm>
            <a:prstGeom prst="roundRect">
              <a:avLst>
                <a:gd name="adj" fmla="val 50000"/>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46"/>
            <p:cNvSpPr txBox="1"/>
            <p:nvPr/>
          </p:nvSpPr>
          <p:spPr>
            <a:xfrm>
              <a:off x="3829892" y="4509468"/>
              <a:ext cx="548700" cy="146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ourier New"/>
                  <a:ea typeface="Courier New"/>
                  <a:cs typeface="Courier New"/>
                  <a:sym typeface="Courier New"/>
                </a:rPr>
                <a:t>≈27k</a:t>
              </a:r>
              <a:endParaRPr/>
            </a:p>
          </p:txBody>
        </p:sp>
        <p:sp>
          <p:nvSpPr>
            <p:cNvPr id="516" name="Google Shape;516;p46"/>
            <p:cNvSpPr txBox="1"/>
            <p:nvPr/>
          </p:nvSpPr>
          <p:spPr>
            <a:xfrm>
              <a:off x="1773936" y="4683204"/>
              <a:ext cx="1005900" cy="146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alibri"/>
                  <a:ea typeface="Calibri"/>
                  <a:cs typeface="Calibri"/>
                  <a:sym typeface="Calibri"/>
                </a:rPr>
                <a:t>Playwright MCP</a:t>
              </a:r>
              <a:endParaRPr/>
            </a:p>
          </p:txBody>
        </p:sp>
        <p:sp>
          <p:nvSpPr>
            <p:cNvPr id="517" name="Google Shape;517;p46"/>
            <p:cNvSpPr/>
            <p:nvPr/>
          </p:nvSpPr>
          <p:spPr>
            <a:xfrm>
              <a:off x="2825496" y="4701492"/>
              <a:ext cx="3931800" cy="109800"/>
            </a:xfrm>
            <a:prstGeom prst="roundRect">
              <a:avLst>
                <a:gd name="adj" fmla="val 50000"/>
              </a:avLst>
            </a:prstGeom>
            <a:solidFill>
              <a:srgbClr val="3A5A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46"/>
            <p:cNvSpPr txBox="1"/>
            <p:nvPr/>
          </p:nvSpPr>
          <p:spPr>
            <a:xfrm>
              <a:off x="6830568" y="4683204"/>
              <a:ext cx="548700" cy="146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ourier New"/>
                  <a:ea typeface="Courier New"/>
                  <a:cs typeface="Courier New"/>
                  <a:sym typeface="Courier New"/>
                </a:rPr>
                <a:t>≈114k</a:t>
              </a:r>
              <a:endParaRPr/>
            </a:p>
          </p:txBody>
        </p:sp>
        <p:sp>
          <p:nvSpPr>
            <p:cNvPr id="519" name="Google Shape;519;p46"/>
            <p:cNvSpPr txBox="1"/>
            <p:nvPr/>
          </p:nvSpPr>
          <p:spPr>
            <a:xfrm>
              <a:off x="7187184" y="4436316"/>
              <a:ext cx="1326000" cy="457200"/>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000000"/>
                </a:buClr>
                <a:buSzPts val="1800"/>
                <a:buFont typeface="Arial"/>
                <a:buNone/>
              </a:pPr>
              <a:r>
                <a:rPr lang="en-GB" sz="1800" b="1" i="0" u="none" strike="noStrike" cap="none">
                  <a:solidFill>
                    <a:srgbClr val="4FB0EA"/>
                  </a:solidFill>
                  <a:latin typeface="Calibri"/>
                  <a:ea typeface="Calibri"/>
                  <a:cs typeface="Calibri"/>
                  <a:sym typeface="Calibri"/>
                </a:rPr>
                <a:t>≈4×</a:t>
              </a:r>
              <a:endParaRPr/>
            </a:p>
            <a:p>
              <a:pPr marL="0" marR="0" lvl="0" indent="0" algn="r" rtl="0">
                <a:lnSpc>
                  <a:spcPct val="100000"/>
                </a:lnSpc>
                <a:spcBef>
                  <a:spcPts val="0"/>
                </a:spcBef>
                <a:spcAft>
                  <a:spcPts val="0"/>
                </a:spcAft>
                <a:buClr>
                  <a:srgbClr val="000000"/>
                </a:buClr>
                <a:buSzPts val="850"/>
                <a:buFont typeface="Arial"/>
                <a:buNone/>
              </a:pPr>
              <a:r>
                <a:rPr lang="en-GB" sz="850" b="0" i="0" u="none" strike="noStrike" cap="none">
                  <a:solidFill>
                    <a:srgbClr val="93A9C0"/>
                  </a:solidFill>
                  <a:latin typeface="Calibri"/>
                  <a:ea typeface="Calibri"/>
                  <a:cs typeface="Calibri"/>
                  <a:sym typeface="Calibri"/>
                </a:rPr>
                <a:t>fewer with the CLI</a:t>
              </a:r>
              <a:endParaRPr/>
            </a:p>
          </p:txBody>
        </p:sp>
        <p:sp>
          <p:nvSpPr>
            <p:cNvPr id="520" name="Google Shape;520;p46"/>
            <p:cNvSpPr txBox="1"/>
            <p:nvPr/>
          </p:nvSpPr>
          <p:spPr>
            <a:xfrm>
              <a:off x="676656" y="3010575"/>
              <a:ext cx="36576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200" b="1" i="0" u="none" strike="noStrike" cap="none">
                  <a:solidFill>
                    <a:srgbClr val="7FC6F3"/>
                  </a:solidFill>
                  <a:latin typeface="Century Schoolbook"/>
                  <a:ea typeface="Century Schoolbook"/>
                  <a:cs typeface="Century Schoolbook"/>
                  <a:sym typeface="Century Schoolbook"/>
                </a:rPr>
                <a:t>Use a CLI when…</a:t>
              </a:r>
              <a:endParaRPr sz="1200"/>
            </a:p>
          </p:txBody>
        </p:sp>
        <p:sp>
          <p:nvSpPr>
            <p:cNvPr id="521" name="Google Shape;521;p46"/>
            <p:cNvSpPr/>
            <p:nvPr/>
          </p:nvSpPr>
          <p:spPr>
            <a:xfrm>
              <a:off x="694944" y="3422055"/>
              <a:ext cx="63900" cy="6390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p>
          </p:txBody>
        </p:sp>
        <p:sp>
          <p:nvSpPr>
            <p:cNvPr id="522" name="Google Shape;522;p46"/>
            <p:cNvSpPr txBox="1"/>
            <p:nvPr/>
          </p:nvSpPr>
          <p:spPr>
            <a:xfrm>
              <a:off x="841248" y="3330615"/>
              <a:ext cx="3612000" cy="25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900" b="1" i="0" u="none" strike="noStrike" cap="none">
                  <a:solidFill>
                    <a:srgbClr val="FFFFFF"/>
                  </a:solidFill>
                  <a:latin typeface="Calibri"/>
                  <a:ea typeface="Calibri"/>
                  <a:cs typeface="Calibri"/>
                  <a:sym typeface="Calibri"/>
                </a:rPr>
                <a:t>Repeatable jobs: </a:t>
              </a:r>
              <a:r>
                <a:rPr lang="en-GB" sz="900" b="0" i="0" u="none" strike="noStrike" cap="none">
                  <a:solidFill>
                    <a:srgbClr val="93A9C0"/>
                  </a:solidFill>
                  <a:latin typeface="Calibri"/>
                  <a:ea typeface="Calibri"/>
                  <a:cs typeface="Calibri"/>
                  <a:sym typeface="Calibri"/>
                </a:rPr>
                <a:t>tests, lint, CI.</a:t>
              </a:r>
              <a:endParaRPr sz="1200"/>
            </a:p>
          </p:txBody>
        </p:sp>
        <p:sp>
          <p:nvSpPr>
            <p:cNvPr id="523" name="Google Shape;523;p46"/>
            <p:cNvSpPr/>
            <p:nvPr/>
          </p:nvSpPr>
          <p:spPr>
            <a:xfrm>
              <a:off x="694944" y="3678087"/>
              <a:ext cx="63900" cy="6390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p>
          </p:txBody>
        </p:sp>
        <p:sp>
          <p:nvSpPr>
            <p:cNvPr id="524" name="Google Shape;524;p46"/>
            <p:cNvSpPr txBox="1"/>
            <p:nvPr/>
          </p:nvSpPr>
          <p:spPr>
            <a:xfrm>
              <a:off x="841248" y="3586647"/>
              <a:ext cx="3612000" cy="25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900" b="1" i="0" u="none" strike="noStrike" cap="none">
                  <a:solidFill>
                    <a:srgbClr val="FFFFFF"/>
                  </a:solidFill>
                  <a:latin typeface="Calibri"/>
                  <a:ea typeface="Calibri"/>
                  <a:cs typeface="Calibri"/>
                  <a:sym typeface="Calibri"/>
                </a:rPr>
                <a:t>Claude Code drives a browser: </a:t>
              </a:r>
              <a:r>
                <a:rPr lang="en-GB" sz="900" b="0" i="0" u="none" strike="noStrike" cap="none">
                  <a:solidFill>
                    <a:srgbClr val="93A9C0"/>
                  </a:solidFill>
                  <a:latin typeface="Calibri"/>
                  <a:ea typeface="Calibri"/>
                  <a:cs typeface="Calibri"/>
                  <a:sym typeface="Calibri"/>
                </a:rPr>
                <a:t>playwright-cli.</a:t>
              </a:r>
              <a:endParaRPr sz="1200"/>
            </a:p>
          </p:txBody>
        </p:sp>
        <p:sp>
          <p:nvSpPr>
            <p:cNvPr id="525" name="Google Shape;525;p46"/>
            <p:cNvSpPr/>
            <p:nvPr/>
          </p:nvSpPr>
          <p:spPr>
            <a:xfrm>
              <a:off x="694944" y="3934119"/>
              <a:ext cx="63900" cy="6390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p>
          </p:txBody>
        </p:sp>
        <p:sp>
          <p:nvSpPr>
            <p:cNvPr id="526" name="Google Shape;526;p46"/>
            <p:cNvSpPr txBox="1"/>
            <p:nvPr/>
          </p:nvSpPr>
          <p:spPr>
            <a:xfrm>
              <a:off x="841248" y="3842679"/>
              <a:ext cx="3612000" cy="25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900" b="1" i="0" u="none" strike="noStrike" cap="none">
                  <a:solidFill>
                    <a:srgbClr val="FFFFFF"/>
                  </a:solidFill>
                  <a:latin typeface="Calibri"/>
                  <a:ea typeface="Calibri"/>
                  <a:cs typeface="Calibri"/>
                  <a:sym typeface="Calibri"/>
                </a:rPr>
                <a:t>Huge output: </a:t>
              </a:r>
              <a:r>
                <a:rPr lang="en-GB" sz="900" b="0" i="0" u="none" strike="noStrike" cap="none">
                  <a:solidFill>
                    <a:srgbClr val="93A9C0"/>
                  </a:solidFill>
                  <a:latin typeface="Calibri"/>
                  <a:ea typeface="Calibri"/>
                  <a:cs typeface="Calibri"/>
                  <a:sym typeface="Calibri"/>
                </a:rPr>
                <a:t>filter the logs first.</a:t>
              </a:r>
              <a:endParaRPr sz="1200"/>
            </a:p>
          </p:txBody>
        </p:sp>
        <p:sp>
          <p:nvSpPr>
            <p:cNvPr id="527" name="Google Shape;527;p46"/>
            <p:cNvSpPr txBox="1"/>
            <p:nvPr/>
          </p:nvSpPr>
          <p:spPr>
            <a:xfrm>
              <a:off x="4828032" y="3010575"/>
              <a:ext cx="36576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200" b="1" i="0" u="none" strike="noStrike" cap="none">
                  <a:solidFill>
                    <a:srgbClr val="7FC6F3"/>
                  </a:solidFill>
                  <a:latin typeface="Century Schoolbook"/>
                  <a:ea typeface="Century Schoolbook"/>
                  <a:cs typeface="Century Schoolbook"/>
                  <a:sym typeface="Century Schoolbook"/>
                </a:rPr>
                <a:t>Use MCP when…</a:t>
              </a:r>
              <a:endParaRPr sz="1200"/>
            </a:p>
          </p:txBody>
        </p:sp>
        <p:sp>
          <p:nvSpPr>
            <p:cNvPr id="528" name="Google Shape;528;p46"/>
            <p:cNvSpPr/>
            <p:nvPr/>
          </p:nvSpPr>
          <p:spPr>
            <a:xfrm>
              <a:off x="4846320" y="3422055"/>
              <a:ext cx="63900" cy="6390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p>
          </p:txBody>
        </p:sp>
        <p:sp>
          <p:nvSpPr>
            <p:cNvPr id="529" name="Google Shape;529;p46"/>
            <p:cNvSpPr txBox="1"/>
            <p:nvPr/>
          </p:nvSpPr>
          <p:spPr>
            <a:xfrm>
              <a:off x="4992624" y="3330615"/>
              <a:ext cx="3612000" cy="25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900" b="1" i="0" u="none" strike="noStrike" cap="none">
                  <a:solidFill>
                    <a:srgbClr val="FFFFFF"/>
                  </a:solidFill>
                  <a:latin typeface="Calibri"/>
                  <a:ea typeface="Calibri"/>
                  <a:cs typeface="Calibri"/>
                  <a:sym typeface="Calibri"/>
                </a:rPr>
                <a:t>No shell: </a:t>
              </a:r>
              <a:r>
                <a:rPr lang="en-GB" sz="900" b="0" i="0" u="none" strike="noStrike" cap="none">
                  <a:solidFill>
                    <a:srgbClr val="93A9C0"/>
                  </a:solidFill>
                  <a:latin typeface="Calibri"/>
                  <a:ea typeface="Calibri"/>
                  <a:cs typeface="Calibri"/>
                  <a:sym typeface="Calibri"/>
                </a:rPr>
                <a:t>chat apps, IDE panels.</a:t>
              </a:r>
              <a:endParaRPr sz="1200"/>
            </a:p>
          </p:txBody>
        </p:sp>
        <p:sp>
          <p:nvSpPr>
            <p:cNvPr id="530" name="Google Shape;530;p46"/>
            <p:cNvSpPr/>
            <p:nvPr/>
          </p:nvSpPr>
          <p:spPr>
            <a:xfrm>
              <a:off x="4846320" y="3678087"/>
              <a:ext cx="63900" cy="6390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p>
          </p:txBody>
        </p:sp>
        <p:sp>
          <p:nvSpPr>
            <p:cNvPr id="531" name="Google Shape;531;p46"/>
            <p:cNvSpPr txBox="1"/>
            <p:nvPr/>
          </p:nvSpPr>
          <p:spPr>
            <a:xfrm>
              <a:off x="4992624" y="3586647"/>
              <a:ext cx="3612000" cy="25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900" b="1" i="0" u="none" strike="noStrike" cap="none">
                  <a:solidFill>
                    <a:srgbClr val="FFFFFF"/>
                  </a:solidFill>
                  <a:latin typeface="Calibri"/>
                  <a:ea typeface="Calibri"/>
                  <a:cs typeface="Calibri"/>
                  <a:sym typeface="Calibri"/>
                </a:rPr>
                <a:t>Hosted tools with login: </a:t>
              </a:r>
              <a:r>
                <a:rPr lang="en-GB" sz="900" b="0" i="0" u="none" strike="noStrike" cap="none">
                  <a:solidFill>
                    <a:srgbClr val="93A9C0"/>
                  </a:solidFill>
                  <a:latin typeface="Calibri"/>
                  <a:ea typeface="Calibri"/>
                  <a:cs typeface="Calibri"/>
                  <a:sym typeface="Calibri"/>
                </a:rPr>
                <a:t>Jira, Confluence.</a:t>
              </a:r>
              <a:endParaRPr sz="1200"/>
            </a:p>
          </p:txBody>
        </p:sp>
        <p:sp>
          <p:nvSpPr>
            <p:cNvPr id="532" name="Google Shape;532;p46"/>
            <p:cNvSpPr/>
            <p:nvPr/>
          </p:nvSpPr>
          <p:spPr>
            <a:xfrm>
              <a:off x="4846320" y="3934119"/>
              <a:ext cx="63900" cy="6390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p>
          </p:txBody>
        </p:sp>
        <p:sp>
          <p:nvSpPr>
            <p:cNvPr id="533" name="Google Shape;533;p46"/>
            <p:cNvSpPr txBox="1"/>
            <p:nvPr/>
          </p:nvSpPr>
          <p:spPr>
            <a:xfrm>
              <a:off x="4992624" y="3842679"/>
              <a:ext cx="3612000" cy="25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900" b="1" i="0" u="none" strike="noStrike" cap="none">
                  <a:solidFill>
                    <a:srgbClr val="FFFFFF"/>
                  </a:solidFill>
                  <a:latin typeface="Calibri"/>
                  <a:ea typeface="Calibri"/>
                  <a:cs typeface="Calibri"/>
                  <a:sym typeface="Calibri"/>
                </a:rPr>
                <a:t>Live exploration: </a:t>
              </a:r>
              <a:r>
                <a:rPr lang="en-GB" sz="900" b="0" i="0" u="none" strike="noStrike" cap="none">
                  <a:solidFill>
                    <a:srgbClr val="93A9C0"/>
                  </a:solidFill>
                  <a:latin typeface="Calibri"/>
                  <a:ea typeface="Calibri"/>
                  <a:cs typeface="Calibri"/>
                  <a:sym typeface="Calibri"/>
                </a:rPr>
                <a:t>one step at a time.</a:t>
              </a:r>
              <a:endParaRPr sz="12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38"/>
        <p:cNvGrpSpPr/>
        <p:nvPr/>
      </p:nvGrpSpPr>
      <p:grpSpPr>
        <a:xfrm>
          <a:off x="0" y="0"/>
          <a:ext cx="0" cy="0"/>
          <a:chOff x="0" y="0"/>
          <a:chExt cx="0" cy="0"/>
        </a:xfrm>
      </p:grpSpPr>
      <p:sp>
        <p:nvSpPr>
          <p:cNvPr id="539" name="Google Shape;539;p47"/>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Example building block: Skills and Sub Agents</a:t>
            </a:r>
            <a:endParaRPr sz="1900"/>
          </a:p>
        </p:txBody>
      </p:sp>
      <p:sp>
        <p:nvSpPr>
          <p:cNvPr id="540" name="Google Shape;540;p47"/>
          <p:cNvSpPr/>
          <p:nvPr/>
        </p:nvSpPr>
        <p:spPr>
          <a:xfrm>
            <a:off x="493776" y="1062990"/>
            <a:ext cx="4320600" cy="2057400"/>
          </a:xfrm>
          <a:prstGeom prst="roundRect">
            <a:avLst>
              <a:gd name="adj" fmla="val 2667"/>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41" name="Google Shape;541;p47"/>
          <p:cNvSpPr txBox="1"/>
          <p:nvPr/>
        </p:nvSpPr>
        <p:spPr>
          <a:xfrm>
            <a:off x="630936" y="1165860"/>
            <a:ext cx="4080600" cy="178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800"/>
              <a:buFont typeface="Courier New"/>
              <a:buNone/>
            </a:pPr>
            <a:r>
              <a:rPr lang="en-GB" sz="800" b="1" i="0" u="none" strike="noStrike" cap="none">
                <a:solidFill>
                  <a:srgbClr val="7FC6F3"/>
                </a:solidFill>
                <a:latin typeface="Courier New"/>
                <a:ea typeface="Courier New"/>
                <a:cs typeface="Courier New"/>
                <a:sym typeface="Courier New"/>
              </a:rPr>
              <a:t>.claude/skills/api-tests/SKILL.md</a:t>
            </a:r>
            <a:endParaRPr sz="800" b="0" i="0" u="none" strike="noStrike" cap="none">
              <a:solidFill>
                <a:schemeClr val="dk1"/>
              </a:solidFill>
              <a:latin typeface="Calibri"/>
              <a:ea typeface="Calibri"/>
              <a:cs typeface="Calibri"/>
              <a:sym typeface="Calibri"/>
            </a:endParaRPr>
          </a:p>
        </p:txBody>
      </p:sp>
      <p:sp>
        <p:nvSpPr>
          <p:cNvPr id="542" name="Google Shape;542;p47"/>
          <p:cNvSpPr txBox="1"/>
          <p:nvPr/>
        </p:nvSpPr>
        <p:spPr>
          <a:xfrm>
            <a:off x="630936" y="1385316"/>
            <a:ext cx="4059900" cy="1666500"/>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name: api-tests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description: Write Playwright API 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(no browser) based on the team docs.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Use when asked to write API 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1. Search the team docs first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2. Cover every error code; keep checking</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async results until they settle</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3. Run them, report which doc each</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   is based on</a:t>
            </a:r>
            <a:endParaRPr sz="800" b="0" i="0" u="none" strike="noStrike" cap="none">
              <a:solidFill>
                <a:schemeClr val="dk1"/>
              </a:solidFill>
              <a:latin typeface="Calibri"/>
              <a:ea typeface="Calibri"/>
              <a:cs typeface="Calibri"/>
              <a:sym typeface="Calibri"/>
            </a:endParaRPr>
          </a:p>
        </p:txBody>
      </p:sp>
      <p:sp>
        <p:nvSpPr>
          <p:cNvPr id="543" name="Google Shape;543;p47"/>
          <p:cNvSpPr/>
          <p:nvPr/>
        </p:nvSpPr>
        <p:spPr>
          <a:xfrm>
            <a:off x="4903470" y="1062990"/>
            <a:ext cx="3751200" cy="1371600"/>
          </a:xfrm>
          <a:prstGeom prst="roundRect">
            <a:avLst>
              <a:gd name="adj" fmla="val 4000"/>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44" name="Google Shape;544;p47"/>
          <p:cNvSpPr txBox="1"/>
          <p:nvPr/>
        </p:nvSpPr>
        <p:spPr>
          <a:xfrm>
            <a:off x="5040630" y="1165860"/>
            <a:ext cx="3511200" cy="178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800"/>
              <a:buFont typeface="Courier New"/>
              <a:buNone/>
            </a:pPr>
            <a:r>
              <a:rPr lang="en-GB" sz="800" b="1" i="0" u="none" strike="noStrike" cap="none">
                <a:solidFill>
                  <a:srgbClr val="7FC6F3"/>
                </a:solidFill>
                <a:latin typeface="Courier New"/>
                <a:ea typeface="Courier New"/>
                <a:cs typeface="Courier New"/>
                <a:sym typeface="Courier New"/>
              </a:rPr>
              <a:t>.claude/agents/test-reviewer.md</a:t>
            </a:r>
            <a:endParaRPr sz="800" b="0" i="0" u="none" strike="noStrike" cap="none">
              <a:solidFill>
                <a:schemeClr val="dk1"/>
              </a:solidFill>
              <a:latin typeface="Calibri"/>
              <a:ea typeface="Calibri"/>
              <a:cs typeface="Calibri"/>
              <a:sym typeface="Calibri"/>
            </a:endParaRPr>
          </a:p>
        </p:txBody>
      </p:sp>
      <p:sp>
        <p:nvSpPr>
          <p:cNvPr id="545" name="Google Shape;545;p47"/>
          <p:cNvSpPr txBox="1"/>
          <p:nvPr/>
        </p:nvSpPr>
        <p:spPr>
          <a:xfrm>
            <a:off x="5040630" y="1385316"/>
            <a:ext cx="3490800" cy="980700"/>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name: test-reviewer</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description: Reviews new tests for</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hard waits, weak asserts, flakiness.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tools: Read, Grep</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p:txBody>
      </p:sp>
      <p:sp>
        <p:nvSpPr>
          <p:cNvPr id="546" name="Google Shape;546;p47"/>
          <p:cNvSpPr txBox="1"/>
          <p:nvPr/>
        </p:nvSpPr>
        <p:spPr>
          <a:xfrm>
            <a:off x="4903470" y="2537460"/>
            <a:ext cx="3751200" cy="342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93A9C0"/>
              </a:buClr>
              <a:buSzPts val="900"/>
              <a:buFont typeface="Calibri"/>
              <a:buNone/>
            </a:pPr>
            <a:r>
              <a:rPr lang="en-GB" sz="900" b="0" i="1" u="none" strike="noStrike" cap="none">
                <a:solidFill>
                  <a:srgbClr val="93A9C0"/>
                </a:solidFill>
                <a:latin typeface="Calibri"/>
                <a:ea typeface="Calibri"/>
                <a:cs typeface="Calibri"/>
                <a:sym typeface="Calibri"/>
              </a:rPr>
              <a:t>Works in its own working memory and reports back a short verdict.</a:t>
            </a:r>
            <a:endParaRPr sz="900" b="0" i="0" u="none" strike="noStrike" cap="none">
              <a:solidFill>
                <a:schemeClr val="dk1"/>
              </a:solidFill>
              <a:latin typeface="Calibri"/>
              <a:ea typeface="Calibri"/>
              <a:cs typeface="Calibri"/>
              <a:sym typeface="Calibri"/>
            </a:endParaRPr>
          </a:p>
        </p:txBody>
      </p:sp>
      <p:sp>
        <p:nvSpPr>
          <p:cNvPr id="547" name="Google Shape;547;p47"/>
          <p:cNvSpPr txBox="1"/>
          <p:nvPr/>
        </p:nvSpPr>
        <p:spPr>
          <a:xfrm>
            <a:off x="493776" y="3257550"/>
            <a:ext cx="8160900" cy="342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900"/>
              <a:buFont typeface="Calibri"/>
              <a:buNone/>
            </a:pPr>
            <a:endParaRPr sz="900" b="0" i="0" u="none" strike="noStrike" cap="none">
              <a:solidFill>
                <a:schemeClr val="dk1"/>
              </a:solidFill>
              <a:latin typeface="Calibri"/>
              <a:ea typeface="Calibri"/>
              <a:cs typeface="Calibri"/>
              <a:sym typeface="Calibri"/>
            </a:endParaRPr>
          </a:p>
        </p:txBody>
      </p:sp>
      <p:sp>
        <p:nvSpPr>
          <p:cNvPr id="548" name="Google Shape;548;p47"/>
          <p:cNvSpPr txBox="1"/>
          <p:nvPr/>
        </p:nvSpPr>
        <p:spPr>
          <a:xfrm>
            <a:off x="493776" y="3669030"/>
            <a:ext cx="4114800" cy="20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272B4"/>
              </a:buClr>
              <a:buSzPts val="1100"/>
              <a:buFont typeface="Century Schoolbook"/>
              <a:buNone/>
            </a:pPr>
            <a:r>
              <a:rPr lang="en-GB" sz="1100" b="1" i="0" u="none" strike="noStrike" cap="none">
                <a:solidFill>
                  <a:srgbClr val="4FB0EA"/>
                </a:solidFill>
                <a:latin typeface="Century Schoolbook"/>
                <a:ea typeface="Century Schoolbook"/>
                <a:cs typeface="Century Schoolbook"/>
                <a:sym typeface="Century Schoolbook"/>
              </a:rPr>
              <a:t>Where to get skills</a:t>
            </a:r>
            <a:endParaRPr sz="1100" b="0" i="0" u="none" strike="noStrike" cap="none">
              <a:solidFill>
                <a:schemeClr val="dk1"/>
              </a:solidFill>
              <a:latin typeface="Calibri"/>
              <a:ea typeface="Calibri"/>
              <a:cs typeface="Calibri"/>
              <a:sym typeface="Calibri"/>
            </a:endParaRPr>
          </a:p>
        </p:txBody>
      </p:sp>
      <p:sp>
        <p:nvSpPr>
          <p:cNvPr id="549" name="Google Shape;549;p47"/>
          <p:cNvSpPr/>
          <p:nvPr/>
        </p:nvSpPr>
        <p:spPr>
          <a:xfrm>
            <a:off x="493776"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50" name="Google Shape;550;p47"/>
          <p:cNvSpPr/>
          <p:nvPr/>
        </p:nvSpPr>
        <p:spPr>
          <a:xfrm>
            <a:off x="644652"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51" name="Google Shape;551;p47"/>
          <p:cNvSpPr txBox="1"/>
          <p:nvPr/>
        </p:nvSpPr>
        <p:spPr>
          <a:xfrm>
            <a:off x="644652"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1</a:t>
            </a:r>
            <a:endParaRPr sz="1100" b="0" i="0" u="none" strike="noStrike" cap="none">
              <a:solidFill>
                <a:schemeClr val="dk1"/>
              </a:solidFill>
              <a:latin typeface="Calibri"/>
              <a:ea typeface="Calibri"/>
              <a:cs typeface="Calibri"/>
              <a:sym typeface="Calibri"/>
            </a:endParaRPr>
          </a:p>
        </p:txBody>
      </p:sp>
      <p:sp>
        <p:nvSpPr>
          <p:cNvPr id="552" name="Google Shape;552;p47"/>
          <p:cNvSpPr txBox="1"/>
          <p:nvPr/>
        </p:nvSpPr>
        <p:spPr>
          <a:xfrm>
            <a:off x="1028700"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anthropics/skills: webapp-testing (Playwright)</a:t>
            </a:r>
            <a:endParaRPr sz="900" b="0" i="0" u="none" strike="noStrike" cap="none">
              <a:solidFill>
                <a:schemeClr val="dk1"/>
              </a:solidFill>
              <a:latin typeface="Calibri"/>
              <a:ea typeface="Calibri"/>
              <a:cs typeface="Calibri"/>
              <a:sym typeface="Calibri"/>
            </a:endParaRPr>
          </a:p>
        </p:txBody>
      </p:sp>
      <p:sp>
        <p:nvSpPr>
          <p:cNvPr id="553" name="Google Shape;553;p47"/>
          <p:cNvSpPr/>
          <p:nvPr/>
        </p:nvSpPr>
        <p:spPr>
          <a:xfrm>
            <a:off x="3257550"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54" name="Google Shape;554;p47"/>
          <p:cNvSpPr/>
          <p:nvPr/>
        </p:nvSpPr>
        <p:spPr>
          <a:xfrm>
            <a:off x="3408426"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55" name="Google Shape;555;p47"/>
          <p:cNvSpPr txBox="1"/>
          <p:nvPr/>
        </p:nvSpPr>
        <p:spPr>
          <a:xfrm>
            <a:off x="3408426"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2</a:t>
            </a:r>
            <a:endParaRPr sz="1100" b="0" i="0" u="none" strike="noStrike" cap="none">
              <a:solidFill>
                <a:schemeClr val="dk1"/>
              </a:solidFill>
              <a:latin typeface="Calibri"/>
              <a:ea typeface="Calibri"/>
              <a:cs typeface="Calibri"/>
              <a:sym typeface="Calibri"/>
            </a:endParaRPr>
          </a:p>
        </p:txBody>
      </p:sp>
      <p:sp>
        <p:nvSpPr>
          <p:cNvPr id="556" name="Google Shape;556;p47"/>
          <p:cNvSpPr txBox="1"/>
          <p:nvPr/>
        </p:nvSpPr>
        <p:spPr>
          <a:xfrm>
            <a:off x="3792474"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qaskills.sh: hundreds of QA skills, npx qaskills add …</a:t>
            </a:r>
            <a:endParaRPr sz="900" b="0" i="0" u="none" strike="noStrike" cap="none">
              <a:solidFill>
                <a:schemeClr val="dk1"/>
              </a:solidFill>
              <a:latin typeface="Calibri"/>
              <a:ea typeface="Calibri"/>
              <a:cs typeface="Calibri"/>
              <a:sym typeface="Calibri"/>
            </a:endParaRPr>
          </a:p>
        </p:txBody>
      </p:sp>
      <p:sp>
        <p:nvSpPr>
          <p:cNvPr id="557" name="Google Shape;557;p47"/>
          <p:cNvSpPr/>
          <p:nvPr/>
        </p:nvSpPr>
        <p:spPr>
          <a:xfrm>
            <a:off x="6021324"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58" name="Google Shape;558;p47"/>
          <p:cNvSpPr/>
          <p:nvPr/>
        </p:nvSpPr>
        <p:spPr>
          <a:xfrm>
            <a:off x="6172200"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59" name="Google Shape;559;p47"/>
          <p:cNvSpPr txBox="1"/>
          <p:nvPr/>
        </p:nvSpPr>
        <p:spPr>
          <a:xfrm>
            <a:off x="6172200"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3</a:t>
            </a:r>
            <a:endParaRPr sz="1100" b="0" i="0" u="none" strike="noStrike" cap="none">
              <a:solidFill>
                <a:schemeClr val="dk1"/>
              </a:solidFill>
              <a:latin typeface="Calibri"/>
              <a:ea typeface="Calibri"/>
              <a:cs typeface="Calibri"/>
              <a:sym typeface="Calibri"/>
            </a:endParaRPr>
          </a:p>
        </p:txBody>
      </p:sp>
      <p:sp>
        <p:nvSpPr>
          <p:cNvPr id="560" name="Google Shape;560;p47"/>
          <p:cNvSpPr txBox="1"/>
          <p:nvPr/>
        </p:nvSpPr>
        <p:spPr>
          <a:xfrm>
            <a:off x="6556248"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Plugin marketplaces: /plugin</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565"/>
        <p:cNvGrpSpPr/>
        <p:nvPr/>
      </p:nvGrpSpPr>
      <p:grpSpPr>
        <a:xfrm>
          <a:off x="0" y="0"/>
          <a:ext cx="0" cy="0"/>
          <a:chOff x="0" y="0"/>
          <a:chExt cx="0" cy="0"/>
        </a:xfrm>
      </p:grpSpPr>
      <p:sp>
        <p:nvSpPr>
          <p:cNvPr id="566" name="Google Shape;566;p48"/>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Best practices</a:t>
            </a:r>
            <a:endParaRPr sz="1900"/>
          </a:p>
        </p:txBody>
      </p:sp>
      <p:sp>
        <p:nvSpPr>
          <p:cNvPr id="567" name="Google Shape;567;p48"/>
          <p:cNvSpPr txBox="1"/>
          <p:nvPr/>
        </p:nvSpPr>
        <p:spPr>
          <a:xfrm>
            <a:off x="685800" y="3108960"/>
            <a:ext cx="7772400" cy="36576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GB" sz="1800" b="0" i="0" u="none" strike="noStrike" cap="none">
                <a:solidFill>
                  <a:srgbClr val="CFE6F8"/>
                </a:solidFill>
                <a:latin typeface="Calibri"/>
                <a:ea typeface="Calibri"/>
                <a:cs typeface="Calibri"/>
                <a:sym typeface="Calibri"/>
              </a:rPr>
              <a:t>Ground it in your docs  ·  Give it rules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72"/>
        <p:cNvGrpSpPr/>
        <p:nvPr/>
      </p:nvGrpSpPr>
      <p:grpSpPr>
        <a:xfrm>
          <a:off x="0" y="0"/>
          <a:ext cx="0" cy="0"/>
          <a:chOff x="0" y="0"/>
          <a:chExt cx="0" cy="0"/>
        </a:xfrm>
      </p:grpSpPr>
      <p:sp>
        <p:nvSpPr>
          <p:cNvPr id="573" name="Google Shape;573;p4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Inside RAG: how it finds the right page</a:t>
            </a:r>
            <a:endParaRPr sz="1900"/>
          </a:p>
        </p:txBody>
      </p:sp>
      <p:sp>
        <p:nvSpPr>
          <p:cNvPr id="574" name="Google Shape;574;p49"/>
          <p:cNvSpPr/>
          <p:nvPr/>
        </p:nvSpPr>
        <p:spPr>
          <a:xfrm>
            <a:off x="493776" y="1345456"/>
            <a:ext cx="1847100" cy="10242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49"/>
          <p:cNvSpPr/>
          <p:nvPr/>
        </p:nvSpPr>
        <p:spPr>
          <a:xfrm>
            <a:off x="621792" y="1455184"/>
            <a:ext cx="255900" cy="25590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1</a:t>
            </a:r>
            <a:endParaRPr/>
          </a:p>
        </p:txBody>
      </p:sp>
      <p:sp>
        <p:nvSpPr>
          <p:cNvPr id="576" name="Google Shape;576;p49"/>
          <p:cNvSpPr txBox="1"/>
          <p:nvPr/>
        </p:nvSpPr>
        <p:spPr>
          <a:xfrm>
            <a:off x="950976" y="1427752"/>
            <a:ext cx="12984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Your docs</a:t>
            </a:r>
            <a:endParaRPr/>
          </a:p>
        </p:txBody>
      </p:sp>
      <p:sp>
        <p:nvSpPr>
          <p:cNvPr id="577" name="Google Shape;577;p49"/>
          <p:cNvSpPr txBox="1"/>
          <p:nvPr/>
        </p:nvSpPr>
        <p:spPr>
          <a:xfrm>
            <a:off x="621792" y="1766080"/>
            <a:ext cx="1609200" cy="329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Runbooks, specs, tickets, incidents</a:t>
            </a:r>
            <a:endParaRPr/>
          </a:p>
        </p:txBody>
      </p:sp>
      <p:sp>
        <p:nvSpPr>
          <p:cNvPr id="578" name="Google Shape;578;p49"/>
          <p:cNvSpPr txBox="1"/>
          <p:nvPr/>
        </p:nvSpPr>
        <p:spPr>
          <a:xfrm>
            <a:off x="2340864" y="1674640"/>
            <a:ext cx="255900" cy="365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579" name="Google Shape;579;p49"/>
          <p:cNvSpPr/>
          <p:nvPr/>
        </p:nvSpPr>
        <p:spPr>
          <a:xfrm>
            <a:off x="2596896" y="1345456"/>
            <a:ext cx="1847100" cy="10242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49"/>
          <p:cNvSpPr/>
          <p:nvPr/>
        </p:nvSpPr>
        <p:spPr>
          <a:xfrm>
            <a:off x="2724912" y="1455184"/>
            <a:ext cx="255900" cy="25590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2</a:t>
            </a:r>
            <a:endParaRPr/>
          </a:p>
        </p:txBody>
      </p:sp>
      <p:sp>
        <p:nvSpPr>
          <p:cNvPr id="581" name="Google Shape;581;p49"/>
          <p:cNvSpPr txBox="1"/>
          <p:nvPr/>
        </p:nvSpPr>
        <p:spPr>
          <a:xfrm>
            <a:off x="3054096" y="1427752"/>
            <a:ext cx="12984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Chunk</a:t>
            </a:r>
            <a:endParaRPr/>
          </a:p>
        </p:txBody>
      </p:sp>
      <p:sp>
        <p:nvSpPr>
          <p:cNvPr id="582" name="Google Shape;582;p49"/>
          <p:cNvSpPr txBox="1"/>
          <p:nvPr/>
        </p:nvSpPr>
        <p:spPr>
          <a:xfrm>
            <a:off x="2724912" y="1766080"/>
            <a:ext cx="1609200" cy="329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Passages of a few hundred tokens, small overlap</a:t>
            </a:r>
            <a:endParaRPr/>
          </a:p>
        </p:txBody>
      </p:sp>
      <p:sp>
        <p:nvSpPr>
          <p:cNvPr id="583" name="Google Shape;583;p49"/>
          <p:cNvSpPr txBox="1"/>
          <p:nvPr/>
        </p:nvSpPr>
        <p:spPr>
          <a:xfrm>
            <a:off x="4443984" y="1674640"/>
            <a:ext cx="255900" cy="365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584" name="Google Shape;584;p49"/>
          <p:cNvSpPr/>
          <p:nvPr/>
        </p:nvSpPr>
        <p:spPr>
          <a:xfrm>
            <a:off x="4700016" y="1345456"/>
            <a:ext cx="1847100" cy="10242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49"/>
          <p:cNvSpPr/>
          <p:nvPr/>
        </p:nvSpPr>
        <p:spPr>
          <a:xfrm>
            <a:off x="4828032" y="1455184"/>
            <a:ext cx="255900" cy="25590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3</a:t>
            </a:r>
            <a:endParaRPr/>
          </a:p>
        </p:txBody>
      </p:sp>
      <p:sp>
        <p:nvSpPr>
          <p:cNvPr id="586" name="Google Shape;586;p49"/>
          <p:cNvSpPr txBox="1"/>
          <p:nvPr/>
        </p:nvSpPr>
        <p:spPr>
          <a:xfrm>
            <a:off x="5157216" y="1427752"/>
            <a:ext cx="12984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Embed</a:t>
            </a:r>
            <a:endParaRPr/>
          </a:p>
        </p:txBody>
      </p:sp>
      <p:sp>
        <p:nvSpPr>
          <p:cNvPr id="587" name="Google Shape;587;p49"/>
          <p:cNvSpPr txBox="1"/>
          <p:nvPr/>
        </p:nvSpPr>
        <p:spPr>
          <a:xfrm>
            <a:off x="4828032" y="1766080"/>
            <a:ext cx="1609200" cy="329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Each chunk becomes a vector of 384 numbers</a:t>
            </a:r>
            <a:endParaRPr/>
          </a:p>
        </p:txBody>
      </p:sp>
      <p:sp>
        <p:nvSpPr>
          <p:cNvPr id="588" name="Google Shape;588;p49"/>
          <p:cNvSpPr txBox="1"/>
          <p:nvPr/>
        </p:nvSpPr>
        <p:spPr>
          <a:xfrm>
            <a:off x="6547104" y="1674640"/>
            <a:ext cx="255900" cy="365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589" name="Google Shape;589;p49"/>
          <p:cNvSpPr/>
          <p:nvPr/>
        </p:nvSpPr>
        <p:spPr>
          <a:xfrm>
            <a:off x="6803136" y="1345456"/>
            <a:ext cx="1847100" cy="102420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9"/>
          <p:cNvSpPr/>
          <p:nvPr/>
        </p:nvSpPr>
        <p:spPr>
          <a:xfrm>
            <a:off x="6931152" y="1455184"/>
            <a:ext cx="255900" cy="25590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4</a:t>
            </a:r>
            <a:endParaRPr/>
          </a:p>
        </p:txBody>
      </p:sp>
      <p:sp>
        <p:nvSpPr>
          <p:cNvPr id="591" name="Google Shape;591;p49"/>
          <p:cNvSpPr txBox="1"/>
          <p:nvPr/>
        </p:nvSpPr>
        <p:spPr>
          <a:xfrm>
            <a:off x="7260336" y="1427752"/>
            <a:ext cx="1298400" cy="310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Store</a:t>
            </a:r>
            <a:endParaRPr/>
          </a:p>
        </p:txBody>
      </p:sp>
      <p:sp>
        <p:nvSpPr>
          <p:cNvPr id="592" name="Google Shape;592;p49"/>
          <p:cNvSpPr txBox="1"/>
          <p:nvPr/>
        </p:nvSpPr>
        <p:spPr>
          <a:xfrm>
            <a:off x="6931152" y="1766080"/>
            <a:ext cx="1609200" cy="329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Vector database plus a BM25 keyword index</a:t>
            </a:r>
            <a:endParaRPr/>
          </a:p>
        </p:txBody>
      </p:sp>
      <p:sp>
        <p:nvSpPr>
          <p:cNvPr id="593" name="Google Shape;593;p49"/>
          <p:cNvSpPr/>
          <p:nvPr/>
        </p:nvSpPr>
        <p:spPr>
          <a:xfrm>
            <a:off x="493776" y="2957093"/>
            <a:ext cx="3968400" cy="146310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49"/>
          <p:cNvSpPr txBox="1"/>
          <p:nvPr/>
        </p:nvSpPr>
        <p:spPr>
          <a:xfrm>
            <a:off x="658368" y="3030245"/>
            <a:ext cx="36393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BM25</a:t>
            </a:r>
            <a:r>
              <a:rPr lang="en-GB" sz="900" b="1" i="0" u="none" strike="noStrike" cap="none">
                <a:solidFill>
                  <a:srgbClr val="4FB0EA"/>
                </a:solidFill>
                <a:latin typeface="Calibri"/>
                <a:ea typeface="Calibri"/>
                <a:cs typeface="Calibri"/>
                <a:sym typeface="Calibri"/>
              </a:rPr>
              <a:t>   KEYWORDS</a:t>
            </a:r>
            <a:endParaRPr/>
          </a:p>
        </p:txBody>
      </p:sp>
      <p:sp>
        <p:nvSpPr>
          <p:cNvPr id="595" name="Google Shape;595;p49"/>
          <p:cNvSpPr txBox="1"/>
          <p:nvPr/>
        </p:nvSpPr>
        <p:spPr>
          <a:xfrm>
            <a:off x="658368" y="3304565"/>
            <a:ext cx="3639300" cy="219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Ranks chunks by matching words. Rare words count more.</a:t>
            </a:r>
            <a:endParaRPr/>
          </a:p>
        </p:txBody>
      </p:sp>
      <p:sp>
        <p:nvSpPr>
          <p:cNvPr id="596" name="Google Shape;596;p49"/>
          <p:cNvSpPr/>
          <p:nvPr/>
        </p:nvSpPr>
        <p:spPr>
          <a:xfrm>
            <a:off x="658368" y="3578885"/>
            <a:ext cx="3639300" cy="274200"/>
          </a:xfrm>
          <a:prstGeom prst="roundRect">
            <a:avLst>
              <a:gd name="adj" fmla="val 30000"/>
            </a:avLst>
          </a:prstGeom>
          <a:solidFill>
            <a:srgbClr val="06223A"/>
          </a:solidFill>
          <a:ln w="9525" cap="flat" cmpd="sng">
            <a:solidFill>
              <a:srgbClr val="0272B4"/>
            </a:solidFill>
            <a:prstDash val="solid"/>
            <a:round/>
            <a:headEnd type="none" w="sm" len="sm"/>
            <a:tailEnd type="none" w="sm" len="sm"/>
          </a:ln>
        </p:spPr>
        <p:txBody>
          <a:bodyPr spcFirstLastPara="1" wrap="square" lIns="82275" tIns="82275" rIns="82275" bIns="8227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ourier New"/>
                <a:ea typeface="Courier New"/>
                <a:cs typeface="Courier New"/>
                <a:sym typeface="Courier New"/>
              </a:rPr>
              <a:t>search_docs(“</a:t>
            </a:r>
            <a:r>
              <a:rPr lang="en-GB" sz="950" b="1" i="0" u="none" strike="noStrike" cap="none">
                <a:solidFill>
                  <a:srgbClr val="7FC6F3"/>
                </a:solidFill>
                <a:latin typeface="Courier New"/>
                <a:ea typeface="Courier New"/>
                <a:cs typeface="Courier New"/>
                <a:sym typeface="Courier New"/>
              </a:rPr>
              <a:t>QA-1432 payment-status</a:t>
            </a:r>
            <a:r>
              <a:rPr lang="en-GB" sz="900" b="1" i="0" u="none" strike="noStrike" cap="none">
                <a:solidFill>
                  <a:srgbClr val="93A9C0"/>
                </a:solidFill>
                <a:latin typeface="Courier New"/>
                <a:ea typeface="Courier New"/>
                <a:cs typeface="Courier New"/>
                <a:sym typeface="Courier New"/>
              </a:rPr>
              <a:t>”)</a:t>
            </a:r>
            <a:endParaRPr/>
          </a:p>
        </p:txBody>
      </p:sp>
      <p:sp>
        <p:nvSpPr>
          <p:cNvPr id="597" name="Google Shape;597;p49"/>
          <p:cNvSpPr txBox="1"/>
          <p:nvPr/>
        </p:nvSpPr>
        <p:spPr>
          <a:xfrm>
            <a:off x="658368" y="3889781"/>
            <a:ext cx="3639300" cy="23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  Finds </a:t>
            </a:r>
            <a:r>
              <a:rPr lang="en-GB" sz="1000" b="0" i="0" u="none" strike="noStrike" cap="none">
                <a:solidFill>
                  <a:srgbClr val="EAF1F7"/>
                </a:solidFill>
                <a:latin typeface="Calibri"/>
                <a:ea typeface="Calibri"/>
                <a:cs typeface="Calibri"/>
                <a:sym typeface="Calibri"/>
              </a:rPr>
              <a:t>the ticket and the test with that exact ID</a:t>
            </a:r>
            <a:endParaRPr/>
          </a:p>
        </p:txBody>
      </p:sp>
      <p:sp>
        <p:nvSpPr>
          <p:cNvPr id="598" name="Google Shape;598;p49"/>
          <p:cNvSpPr txBox="1"/>
          <p:nvPr/>
        </p:nvSpPr>
        <p:spPr>
          <a:xfrm>
            <a:off x="658368" y="4127525"/>
            <a:ext cx="3639300" cy="23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1" i="0" u="none" strike="noStrike" cap="none">
                <a:solidFill>
                  <a:srgbClr val="4FB0EA"/>
                </a:solidFill>
                <a:latin typeface="Calibri"/>
                <a:ea typeface="Calibri"/>
                <a:cs typeface="Calibri"/>
                <a:sym typeface="Calibri"/>
              </a:rPr>
              <a:t>Best at: </a:t>
            </a:r>
            <a:r>
              <a:rPr lang="en-GB" sz="950" b="1" i="0" u="none" strike="noStrike" cap="none">
                <a:solidFill>
                  <a:srgbClr val="FFFFFF"/>
                </a:solidFill>
                <a:latin typeface="Calibri"/>
                <a:ea typeface="Calibri"/>
                <a:cs typeface="Calibri"/>
                <a:sym typeface="Calibri"/>
              </a:rPr>
              <a:t>exact IDs, error codes, locators</a:t>
            </a:r>
            <a:endParaRPr/>
          </a:p>
        </p:txBody>
      </p:sp>
      <p:sp>
        <p:nvSpPr>
          <p:cNvPr id="599" name="Google Shape;599;p49"/>
          <p:cNvSpPr/>
          <p:nvPr/>
        </p:nvSpPr>
        <p:spPr>
          <a:xfrm>
            <a:off x="4681728" y="2957093"/>
            <a:ext cx="3968400" cy="146310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49"/>
          <p:cNvSpPr txBox="1"/>
          <p:nvPr/>
        </p:nvSpPr>
        <p:spPr>
          <a:xfrm>
            <a:off x="4846320" y="3030245"/>
            <a:ext cx="36393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Embeddings</a:t>
            </a:r>
            <a:r>
              <a:rPr lang="en-GB" sz="900" b="1" i="0" u="none" strike="noStrike" cap="none">
                <a:solidFill>
                  <a:srgbClr val="4FB0EA"/>
                </a:solidFill>
                <a:latin typeface="Calibri"/>
                <a:ea typeface="Calibri"/>
                <a:cs typeface="Calibri"/>
                <a:sym typeface="Calibri"/>
              </a:rPr>
              <a:t>   MEANING</a:t>
            </a:r>
            <a:endParaRPr/>
          </a:p>
        </p:txBody>
      </p:sp>
      <p:sp>
        <p:nvSpPr>
          <p:cNvPr id="601" name="Google Shape;601;p49"/>
          <p:cNvSpPr txBox="1"/>
          <p:nvPr/>
        </p:nvSpPr>
        <p:spPr>
          <a:xfrm>
            <a:off x="4846320" y="3304565"/>
            <a:ext cx="3639300" cy="219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Finds the chunk vectors nearest to the question.</a:t>
            </a:r>
            <a:endParaRPr/>
          </a:p>
        </p:txBody>
      </p:sp>
      <p:sp>
        <p:nvSpPr>
          <p:cNvPr id="602" name="Google Shape;602;p49"/>
          <p:cNvSpPr/>
          <p:nvPr/>
        </p:nvSpPr>
        <p:spPr>
          <a:xfrm>
            <a:off x="4846320" y="3578885"/>
            <a:ext cx="3639300" cy="274200"/>
          </a:xfrm>
          <a:prstGeom prst="roundRect">
            <a:avLst>
              <a:gd name="adj" fmla="val 30000"/>
            </a:avLst>
          </a:prstGeom>
          <a:solidFill>
            <a:srgbClr val="06223A"/>
          </a:solidFill>
          <a:ln w="9525" cap="flat" cmpd="sng">
            <a:solidFill>
              <a:srgbClr val="0272B4"/>
            </a:solidFill>
            <a:prstDash val="solid"/>
            <a:round/>
            <a:headEnd type="none" w="sm" len="sm"/>
            <a:tailEnd type="none" w="sm" len="sm"/>
          </a:ln>
        </p:spPr>
        <p:txBody>
          <a:bodyPr spcFirstLastPara="1" wrap="square" lIns="82275" tIns="82275" rIns="82275" bIns="8227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ourier New"/>
                <a:ea typeface="Courier New"/>
                <a:cs typeface="Courier New"/>
                <a:sym typeface="Courier New"/>
              </a:rPr>
              <a:t>search_docs(“</a:t>
            </a:r>
            <a:r>
              <a:rPr lang="en-GB" sz="950" b="1" i="0" u="none" strike="noStrike" cap="none">
                <a:solidFill>
                  <a:srgbClr val="7FC6F3"/>
                </a:solidFill>
                <a:latin typeface="Courier New"/>
                <a:ea typeface="Courier New"/>
                <a:cs typeface="Courier New"/>
                <a:sym typeface="Courier New"/>
              </a:rPr>
              <a:t>why is checkout slow?</a:t>
            </a:r>
            <a:r>
              <a:rPr lang="en-GB" sz="900" b="1" i="0" u="none" strike="noStrike" cap="none">
                <a:solidFill>
                  <a:srgbClr val="93A9C0"/>
                </a:solidFill>
                <a:latin typeface="Courier New"/>
                <a:ea typeface="Courier New"/>
                <a:cs typeface="Courier New"/>
                <a:sym typeface="Courier New"/>
              </a:rPr>
              <a:t>”)</a:t>
            </a:r>
            <a:endParaRPr/>
          </a:p>
        </p:txBody>
      </p:sp>
      <p:sp>
        <p:nvSpPr>
          <p:cNvPr id="603" name="Google Shape;603;p49"/>
          <p:cNvSpPr txBox="1"/>
          <p:nvPr/>
        </p:nvSpPr>
        <p:spPr>
          <a:xfrm>
            <a:off x="4846320" y="3889781"/>
            <a:ext cx="3639300" cy="23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  Finds </a:t>
            </a:r>
            <a:r>
              <a:rPr lang="en-GB" sz="1000" b="0" i="0" u="none" strike="noStrike" cap="none">
                <a:solidFill>
                  <a:srgbClr val="EAF1F7"/>
                </a:solidFill>
                <a:latin typeface="Calibri"/>
                <a:ea typeface="Calibri"/>
                <a:cs typeface="Calibri"/>
                <a:sym typeface="Calibri"/>
              </a:rPr>
              <a:t>“up to 8 s at peak”, with no shared words</a:t>
            </a:r>
            <a:endParaRPr/>
          </a:p>
        </p:txBody>
      </p:sp>
      <p:sp>
        <p:nvSpPr>
          <p:cNvPr id="604" name="Google Shape;604;p49"/>
          <p:cNvSpPr txBox="1"/>
          <p:nvPr/>
        </p:nvSpPr>
        <p:spPr>
          <a:xfrm>
            <a:off x="4846320" y="4127525"/>
            <a:ext cx="3639300" cy="23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1" i="0" u="none" strike="noStrike" cap="none">
                <a:solidFill>
                  <a:srgbClr val="4FB0EA"/>
                </a:solidFill>
                <a:latin typeface="Calibri"/>
                <a:ea typeface="Calibri"/>
                <a:cs typeface="Calibri"/>
                <a:sym typeface="Calibri"/>
              </a:rPr>
              <a:t>Best at: </a:t>
            </a:r>
            <a:r>
              <a:rPr lang="en-GB" sz="950" b="1" i="0" u="none" strike="noStrike" cap="none">
                <a:solidFill>
                  <a:srgbClr val="FFFFFF"/>
                </a:solidFill>
                <a:latin typeface="Calibri"/>
                <a:ea typeface="Calibri"/>
                <a:cs typeface="Calibri"/>
                <a:sym typeface="Calibri"/>
              </a:rPr>
              <a:t>synonyms, plain-English questions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08"/>
        <p:cNvGrpSpPr/>
        <p:nvPr/>
      </p:nvGrpSpPr>
      <p:grpSpPr>
        <a:xfrm>
          <a:off x="0" y="0"/>
          <a:ext cx="0" cy="0"/>
          <a:chOff x="0" y="0"/>
          <a:chExt cx="0" cy="0"/>
        </a:xfrm>
      </p:grpSpPr>
      <p:sp>
        <p:nvSpPr>
          <p:cNvPr id="609" name="Google Shape;609;p50"/>
          <p:cNvSpPr/>
          <p:nvPr/>
        </p:nvSpPr>
        <p:spPr>
          <a:xfrm>
            <a:off x="457200"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0" name="Google Shape;610;p50"/>
          <p:cNvSpPr/>
          <p:nvPr/>
        </p:nvSpPr>
        <p:spPr>
          <a:xfrm>
            <a:off x="2550319"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1" name="Google Shape;611;p50"/>
          <p:cNvSpPr/>
          <p:nvPr/>
        </p:nvSpPr>
        <p:spPr>
          <a:xfrm>
            <a:off x="4643438"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2" name="Google Shape;612;p50"/>
          <p:cNvSpPr/>
          <p:nvPr/>
        </p:nvSpPr>
        <p:spPr>
          <a:xfrm>
            <a:off x="6736556" y="1748853"/>
            <a:ext cx="1950300" cy="2078700"/>
          </a:xfrm>
          <a:prstGeom prst="roundRect">
            <a:avLst>
              <a:gd name="adj" fmla="val 586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3" name="Google Shape;613;p50"/>
          <p:cNvSpPr/>
          <p:nvPr/>
        </p:nvSpPr>
        <p:spPr>
          <a:xfrm>
            <a:off x="607219"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4" name="Google Shape;614;p50"/>
          <p:cNvSpPr/>
          <p:nvPr/>
        </p:nvSpPr>
        <p:spPr>
          <a:xfrm>
            <a:off x="2700338"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5" name="Google Shape;615;p50"/>
          <p:cNvSpPr/>
          <p:nvPr/>
        </p:nvSpPr>
        <p:spPr>
          <a:xfrm>
            <a:off x="4793456"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6" name="Google Shape;616;p50"/>
          <p:cNvSpPr/>
          <p:nvPr/>
        </p:nvSpPr>
        <p:spPr>
          <a:xfrm>
            <a:off x="6886575" y="3313334"/>
            <a:ext cx="1650300" cy="307200"/>
          </a:xfrm>
          <a:prstGeom prst="roundRect">
            <a:avLst>
              <a:gd name="adj" fmla="val 18604"/>
            </a:avLst>
          </a:prstGeom>
          <a:solidFill>
            <a:srgbClr val="081C33"/>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7" name="Google Shape;617;p50"/>
          <p:cNvSpPr/>
          <p:nvPr/>
        </p:nvSpPr>
        <p:spPr>
          <a:xfrm>
            <a:off x="607219" y="2463228"/>
            <a:ext cx="257100" cy="21300"/>
          </a:xfrm>
          <a:prstGeom prst="rect">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8" name="Google Shape;618;p50"/>
          <p:cNvSpPr/>
          <p:nvPr/>
        </p:nvSpPr>
        <p:spPr>
          <a:xfrm>
            <a:off x="2700338" y="2463228"/>
            <a:ext cx="257100" cy="21300"/>
          </a:xfrm>
          <a:prstGeom prst="rect">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19" name="Google Shape;619;p50"/>
          <p:cNvSpPr/>
          <p:nvPr/>
        </p:nvSpPr>
        <p:spPr>
          <a:xfrm>
            <a:off x="4793456" y="2463228"/>
            <a:ext cx="257100" cy="21300"/>
          </a:xfrm>
          <a:prstGeom prst="rect">
            <a:avLst/>
          </a:prstGeom>
          <a:solidFill>
            <a:srgbClr val="6366F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20" name="Google Shape;620;p50"/>
          <p:cNvSpPr/>
          <p:nvPr/>
        </p:nvSpPr>
        <p:spPr>
          <a:xfrm>
            <a:off x="6886575" y="2463228"/>
            <a:ext cx="257100" cy="21300"/>
          </a:xfrm>
          <a:prstGeom prst="rect">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21" name="Google Shape;621;p50"/>
          <p:cNvSpPr txBox="1"/>
          <p:nvPr/>
        </p:nvSpPr>
        <p:spPr>
          <a:xfrm>
            <a:off x="480060" y="411480"/>
            <a:ext cx="8195310" cy="63093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FFFFFF"/>
                </a:solidFill>
                <a:latin typeface="Century Schoolbook"/>
                <a:ea typeface="Century Schoolbook"/>
                <a:cs typeface="Century Schoolbook"/>
                <a:sym typeface="Century Schoolbook"/>
              </a:rPr>
              <a:t>The 4 Evolution Stages of RAG</a:t>
            </a:r>
            <a:endParaRPr sz="1100" b="0" i="0" u="none" strike="noStrike" cap="none">
              <a:solidFill>
                <a:srgbClr val="000000"/>
              </a:solidFill>
              <a:latin typeface="Arial"/>
              <a:ea typeface="Arial"/>
              <a:cs typeface="Arial"/>
              <a:sym typeface="Arial"/>
            </a:endParaRPr>
          </a:p>
        </p:txBody>
      </p:sp>
      <p:sp>
        <p:nvSpPr>
          <p:cNvPr id="622" name="Google Shape;622;p50"/>
          <p:cNvSpPr txBox="1"/>
          <p:nvPr/>
        </p:nvSpPr>
        <p:spPr>
          <a:xfrm>
            <a:off x="707231" y="3338053"/>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3A9C0"/>
                </a:solidFill>
                <a:latin typeface="Calibri"/>
                <a:ea typeface="Calibri"/>
                <a:cs typeface="Calibri"/>
                <a:sym typeface="Calibri"/>
              </a:rPr>
              <a:t> Fastest • Fragile with noise </a:t>
            </a:r>
            <a:endParaRPr sz="1100" b="0" i="0" u="none" strike="noStrike" cap="none">
              <a:solidFill>
                <a:srgbClr val="000000"/>
              </a:solidFill>
              <a:latin typeface="Arial"/>
              <a:ea typeface="Arial"/>
              <a:cs typeface="Arial"/>
              <a:sym typeface="Arial"/>
            </a:endParaRPr>
          </a:p>
        </p:txBody>
      </p:sp>
      <p:sp>
        <p:nvSpPr>
          <p:cNvPr id="623" name="Google Shape;623;p50"/>
          <p:cNvSpPr txBox="1"/>
          <p:nvPr/>
        </p:nvSpPr>
        <p:spPr>
          <a:xfrm>
            <a:off x="2764675" y="3330928"/>
            <a:ext cx="15216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4FB0EA"/>
                </a:solidFill>
                <a:latin typeface="Calibri"/>
                <a:ea typeface="Calibri"/>
                <a:cs typeface="Calibri"/>
                <a:sym typeface="Calibri"/>
              </a:rPr>
              <a:t> High Precision • Production default </a:t>
            </a:r>
            <a:endParaRPr sz="1100" b="0" i="0" u="none" strike="noStrike" cap="none">
              <a:solidFill>
                <a:srgbClr val="000000"/>
              </a:solidFill>
              <a:latin typeface="Arial"/>
              <a:ea typeface="Arial"/>
              <a:cs typeface="Arial"/>
              <a:sym typeface="Arial"/>
            </a:endParaRPr>
          </a:p>
        </p:txBody>
      </p:sp>
      <p:sp>
        <p:nvSpPr>
          <p:cNvPr id="624" name="Google Shape;624;p50"/>
          <p:cNvSpPr txBox="1"/>
          <p:nvPr/>
        </p:nvSpPr>
        <p:spPr>
          <a:xfrm>
            <a:off x="4893469" y="3338053"/>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818CF8"/>
                </a:solidFill>
                <a:latin typeface="Calibri"/>
                <a:ea typeface="Calibri"/>
                <a:cs typeface="Calibri"/>
                <a:sym typeface="Calibri"/>
              </a:rPr>
              <a:t> Deep Reasoning • Gap Analysis </a:t>
            </a:r>
            <a:endParaRPr sz="1100" b="0" i="0" u="none" strike="noStrike" cap="none">
              <a:solidFill>
                <a:srgbClr val="000000"/>
              </a:solidFill>
              <a:latin typeface="Arial"/>
              <a:ea typeface="Arial"/>
              <a:cs typeface="Arial"/>
              <a:sym typeface="Arial"/>
            </a:endParaRPr>
          </a:p>
        </p:txBody>
      </p:sp>
      <p:sp>
        <p:nvSpPr>
          <p:cNvPr id="625" name="Google Shape;625;p50"/>
          <p:cNvSpPr txBox="1"/>
          <p:nvPr/>
        </p:nvSpPr>
        <p:spPr>
          <a:xfrm>
            <a:off x="6957888" y="3413072"/>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4FB0EA"/>
                </a:solidFill>
                <a:latin typeface="Calibri"/>
                <a:ea typeface="Calibri"/>
                <a:cs typeface="Calibri"/>
                <a:sym typeface="Calibri"/>
              </a:rPr>
              <a:t> Iterative • Self-Healing </a:t>
            </a:r>
            <a:endParaRPr sz="1100" b="0" i="0" u="none" strike="noStrike" cap="none">
              <a:solidFill>
                <a:srgbClr val="000000"/>
              </a:solidFill>
              <a:latin typeface="Arial"/>
              <a:ea typeface="Arial"/>
              <a:cs typeface="Arial"/>
              <a:sym typeface="Arial"/>
            </a:endParaRPr>
          </a:p>
        </p:txBody>
      </p:sp>
      <p:sp>
        <p:nvSpPr>
          <p:cNvPr id="626" name="Google Shape;626;p50"/>
          <p:cNvSpPr txBox="1"/>
          <p:nvPr/>
        </p:nvSpPr>
        <p:spPr>
          <a:xfrm>
            <a:off x="607219"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Naive RAG</a:t>
            </a:r>
            <a:endParaRPr sz="1100" b="0" i="0" u="none" strike="noStrike" cap="none">
              <a:solidFill>
                <a:srgbClr val="000000"/>
              </a:solidFill>
              <a:latin typeface="Arial"/>
              <a:ea typeface="Arial"/>
              <a:cs typeface="Arial"/>
              <a:sym typeface="Arial"/>
            </a:endParaRPr>
          </a:p>
        </p:txBody>
      </p:sp>
      <p:sp>
        <p:nvSpPr>
          <p:cNvPr id="627" name="Google Shape;627;p50"/>
          <p:cNvSpPr txBox="1"/>
          <p:nvPr/>
        </p:nvSpPr>
        <p:spPr>
          <a:xfrm>
            <a:off x="607219"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Single-pass lookup. Best for querying a QA wiki or fetching a single known Jira ticket.</a:t>
            </a:r>
            <a:endParaRPr sz="1100" b="0" i="0" u="none" strike="noStrike" cap="none">
              <a:solidFill>
                <a:srgbClr val="000000"/>
              </a:solidFill>
              <a:latin typeface="Arial"/>
              <a:ea typeface="Arial"/>
              <a:cs typeface="Arial"/>
              <a:sym typeface="Arial"/>
            </a:endParaRPr>
          </a:p>
        </p:txBody>
      </p:sp>
      <p:sp>
        <p:nvSpPr>
          <p:cNvPr id="628" name="Google Shape;628;p50"/>
          <p:cNvSpPr txBox="1"/>
          <p:nvPr/>
        </p:nvSpPr>
        <p:spPr>
          <a:xfrm>
            <a:off x="2700338"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Advanced RAG</a:t>
            </a:r>
            <a:endParaRPr sz="1100" b="0" i="0" u="none" strike="noStrike" cap="none">
              <a:solidFill>
                <a:srgbClr val="000000"/>
              </a:solidFill>
              <a:latin typeface="Arial"/>
              <a:ea typeface="Arial"/>
              <a:cs typeface="Arial"/>
              <a:sym typeface="Arial"/>
            </a:endParaRPr>
          </a:p>
        </p:txBody>
      </p:sp>
      <p:sp>
        <p:nvSpPr>
          <p:cNvPr id="629" name="Google Shape;629;p50"/>
          <p:cNvSpPr txBox="1"/>
          <p:nvPr/>
        </p:nvSpPr>
        <p:spPr>
          <a:xfrm>
            <a:off x="2700338"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Reranks CI logs + Confluence to find the exact root cause of a flaky test failure.</a:t>
            </a:r>
            <a:endParaRPr sz="1100" b="0" i="0" u="none" strike="noStrike" cap="none">
              <a:solidFill>
                <a:srgbClr val="000000"/>
              </a:solidFill>
              <a:latin typeface="Arial"/>
              <a:ea typeface="Arial"/>
              <a:cs typeface="Arial"/>
              <a:sym typeface="Arial"/>
            </a:endParaRPr>
          </a:p>
        </p:txBody>
      </p:sp>
      <p:sp>
        <p:nvSpPr>
          <p:cNvPr id="630" name="Google Shape;630;p50"/>
          <p:cNvSpPr txBox="1"/>
          <p:nvPr/>
        </p:nvSpPr>
        <p:spPr>
          <a:xfrm>
            <a:off x="4793456"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GraphRAG</a:t>
            </a:r>
            <a:endParaRPr sz="1100" b="0" i="0" u="none" strike="noStrike" cap="none">
              <a:solidFill>
                <a:srgbClr val="000000"/>
              </a:solidFill>
              <a:latin typeface="Arial"/>
              <a:ea typeface="Arial"/>
              <a:cs typeface="Arial"/>
              <a:sym typeface="Arial"/>
            </a:endParaRPr>
          </a:p>
        </p:txBody>
      </p:sp>
      <p:sp>
        <p:nvSpPr>
          <p:cNvPr id="631" name="Google Shape;631;p50"/>
          <p:cNvSpPr txBox="1"/>
          <p:nvPr/>
        </p:nvSpPr>
        <p:spPr>
          <a:xfrm>
            <a:off x="4793456"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Maps knowledge graphs to link requirements, test coverage, and code defects.</a:t>
            </a:r>
            <a:endParaRPr sz="1100" b="0" i="0" u="none" strike="noStrike" cap="none">
              <a:solidFill>
                <a:srgbClr val="000000"/>
              </a:solidFill>
              <a:latin typeface="Arial"/>
              <a:ea typeface="Arial"/>
              <a:cs typeface="Arial"/>
              <a:sym typeface="Arial"/>
            </a:endParaRPr>
          </a:p>
        </p:txBody>
      </p:sp>
      <p:sp>
        <p:nvSpPr>
          <p:cNvPr id="632" name="Google Shape;632;p50"/>
          <p:cNvSpPr txBox="1"/>
          <p:nvPr/>
        </p:nvSpPr>
        <p:spPr>
          <a:xfrm>
            <a:off x="6886575"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Agentic RAG</a:t>
            </a:r>
            <a:endParaRPr sz="1100" b="0" i="0" u="none" strike="noStrike" cap="none">
              <a:solidFill>
                <a:srgbClr val="000000"/>
              </a:solidFill>
              <a:latin typeface="Arial"/>
              <a:ea typeface="Arial"/>
              <a:cs typeface="Arial"/>
              <a:sym typeface="Arial"/>
            </a:endParaRPr>
          </a:p>
        </p:txBody>
      </p:sp>
      <p:sp>
        <p:nvSpPr>
          <p:cNvPr id="633" name="Google Shape;633;p50"/>
          <p:cNvSpPr txBox="1"/>
          <p:nvPr/>
        </p:nvSpPr>
        <p:spPr>
          <a:xfrm>
            <a:off x="6886575"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Autonomous testing loops: writes test, runs it, reads logs, fixes code, repeats until passing.</a:t>
            </a:r>
            <a:endParaRPr sz="1100" b="0" i="0" u="none" strike="noStrike" cap="none">
              <a:solidFill>
                <a:srgbClr val="000000"/>
              </a:solidFill>
              <a:latin typeface="Arial"/>
              <a:ea typeface="Arial"/>
              <a:cs typeface="Arial"/>
              <a:sym typeface="Arial"/>
            </a:endParaRPr>
          </a:p>
        </p:txBody>
      </p:sp>
      <p:pic>
        <p:nvPicPr>
          <p:cNvPr id="634" name="Google Shape;634;p50"/>
          <p:cNvPicPr preferRelativeResize="0"/>
          <p:nvPr/>
        </p:nvPicPr>
        <p:blipFill rotWithShape="1">
          <a:blip r:embed="rId3">
            <a:alphaModFix/>
          </a:blip>
          <a:srcRect/>
          <a:stretch/>
        </p:blipFill>
        <p:spPr>
          <a:xfrm>
            <a:off x="1154424" y="1097080"/>
            <a:ext cx="627325" cy="627325"/>
          </a:xfrm>
          <a:prstGeom prst="rect">
            <a:avLst/>
          </a:prstGeom>
          <a:noFill/>
          <a:ln>
            <a:noFill/>
          </a:ln>
        </p:spPr>
      </p:pic>
      <p:pic>
        <p:nvPicPr>
          <p:cNvPr id="635" name="Google Shape;635;p50"/>
          <p:cNvPicPr preferRelativeResize="0"/>
          <p:nvPr/>
        </p:nvPicPr>
        <p:blipFill rotWithShape="1">
          <a:blip r:embed="rId4">
            <a:alphaModFix/>
          </a:blip>
          <a:srcRect/>
          <a:stretch/>
        </p:blipFill>
        <p:spPr>
          <a:xfrm>
            <a:off x="3213927" y="1176786"/>
            <a:ext cx="545550" cy="545550"/>
          </a:xfrm>
          <a:prstGeom prst="rect">
            <a:avLst/>
          </a:prstGeom>
          <a:noFill/>
          <a:ln>
            <a:noFill/>
          </a:ln>
        </p:spPr>
      </p:pic>
      <p:pic>
        <p:nvPicPr>
          <p:cNvPr id="636" name="Google Shape;636;p50"/>
          <p:cNvPicPr preferRelativeResize="0"/>
          <p:nvPr/>
        </p:nvPicPr>
        <p:blipFill rotWithShape="1">
          <a:blip r:embed="rId5">
            <a:alphaModFix/>
          </a:blip>
          <a:srcRect/>
          <a:stretch/>
        </p:blipFill>
        <p:spPr>
          <a:xfrm>
            <a:off x="5351925" y="1176780"/>
            <a:ext cx="545550" cy="572075"/>
          </a:xfrm>
          <a:prstGeom prst="rect">
            <a:avLst/>
          </a:prstGeom>
          <a:noFill/>
          <a:ln>
            <a:noFill/>
          </a:ln>
        </p:spPr>
      </p:pic>
      <p:pic>
        <p:nvPicPr>
          <p:cNvPr id="637" name="Google Shape;637;p50"/>
          <p:cNvPicPr preferRelativeResize="0"/>
          <p:nvPr/>
        </p:nvPicPr>
        <p:blipFill rotWithShape="1">
          <a:blip r:embed="rId6">
            <a:alphaModFix/>
          </a:blip>
          <a:srcRect/>
          <a:stretch/>
        </p:blipFill>
        <p:spPr>
          <a:xfrm>
            <a:off x="7433738" y="1079268"/>
            <a:ext cx="627325" cy="662950"/>
          </a:xfrm>
          <a:prstGeom prst="rect">
            <a:avLst/>
          </a:prstGeom>
          <a:noFill/>
          <a:ln>
            <a:noFill/>
          </a:ln>
        </p:spPr>
      </p:pic>
      <p:sp>
        <p:nvSpPr>
          <p:cNvPr id="638" name="Google Shape;638;p50"/>
          <p:cNvSpPr/>
          <p:nvPr/>
        </p:nvSpPr>
        <p:spPr>
          <a:xfrm>
            <a:off x="457200"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Start simple: no index</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The Atlassian MCP server searches Confluence and Jira live.</a:t>
            </a:r>
            <a:endParaRPr/>
          </a:p>
        </p:txBody>
      </p:sp>
      <p:sp>
        <p:nvSpPr>
          <p:cNvPr id="639" name="Google Shape;639;p50"/>
          <p:cNvSpPr/>
          <p:nvPr/>
        </p:nvSpPr>
        <p:spPr>
          <a:xfrm>
            <a:off x="3249168"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Our demo setup</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Chroma plus a small search_docs MCP server. Local and free.</a:t>
            </a:r>
            <a:endParaRPr/>
          </a:p>
        </p:txBody>
      </p:sp>
      <p:sp>
        <p:nvSpPr>
          <p:cNvPr id="640" name="Google Shape;640;p50"/>
          <p:cNvSpPr/>
          <p:nvPr/>
        </p:nvSpPr>
        <p:spPr>
          <a:xfrm>
            <a:off x="6041136"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Managed</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Bedrock Knowledge Bases or Vertex AI RAG Engine do the indexing.</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45"/>
        <p:cNvGrpSpPr/>
        <p:nvPr/>
      </p:nvGrpSpPr>
      <p:grpSpPr>
        <a:xfrm>
          <a:off x="0" y="0"/>
          <a:ext cx="0" cy="0"/>
          <a:chOff x="0" y="0"/>
          <a:chExt cx="0" cy="0"/>
        </a:xfrm>
      </p:grpSpPr>
      <p:sp>
        <p:nvSpPr>
          <p:cNvPr id="646" name="Google Shape;646;p51"/>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/karpathy-guidelines: one file, four rules</a:t>
            </a:r>
            <a:endParaRPr sz="1900"/>
          </a:p>
        </p:txBody>
      </p:sp>
      <p:sp>
        <p:nvSpPr>
          <p:cNvPr id="647" name="Google Shape;647;p51"/>
          <p:cNvSpPr txBox="1"/>
          <p:nvPr/>
        </p:nvSpPr>
        <p:spPr>
          <a:xfrm>
            <a:off x="480051" y="1354737"/>
            <a:ext cx="5577900" cy="201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GET IT: TWO COMMANDS</a:t>
            </a:r>
            <a:endParaRPr/>
          </a:p>
        </p:txBody>
      </p:sp>
      <p:sp>
        <p:nvSpPr>
          <p:cNvPr id="648" name="Google Shape;648;p51"/>
          <p:cNvSpPr/>
          <p:nvPr/>
        </p:nvSpPr>
        <p:spPr>
          <a:xfrm>
            <a:off x="480051" y="1647345"/>
            <a:ext cx="5577900" cy="1188600"/>
          </a:xfrm>
          <a:prstGeom prst="roundRect">
            <a:avLst>
              <a:gd name="adj" fmla="val 9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51"/>
          <p:cNvSpPr/>
          <p:nvPr/>
        </p:nvSpPr>
        <p:spPr>
          <a:xfrm>
            <a:off x="662931" y="1784505"/>
            <a:ext cx="91500" cy="9150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51"/>
          <p:cNvSpPr/>
          <p:nvPr/>
        </p:nvSpPr>
        <p:spPr>
          <a:xfrm>
            <a:off x="818379" y="1784505"/>
            <a:ext cx="91500" cy="9150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51"/>
          <p:cNvSpPr/>
          <p:nvPr/>
        </p:nvSpPr>
        <p:spPr>
          <a:xfrm>
            <a:off x="973827" y="1784505"/>
            <a:ext cx="91500" cy="9150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51"/>
          <p:cNvSpPr txBox="1"/>
          <p:nvPr/>
        </p:nvSpPr>
        <p:spPr>
          <a:xfrm>
            <a:off x="681219" y="2122833"/>
            <a:ext cx="5248800" cy="64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050" b="1" i="0" u="none" strike="noStrike" cap="none">
                <a:solidFill>
                  <a:srgbClr val="FFFFFF"/>
                </a:solidFill>
                <a:latin typeface="Courier New"/>
                <a:ea typeface="Courier New"/>
                <a:cs typeface="Courier New"/>
                <a:sym typeface="Courier New"/>
              </a:rPr>
              <a:t>/plugin marketplace add multica-ai/andrej-karpathy-skills</a:t>
            </a:r>
            <a:endParaRPr/>
          </a:p>
          <a:p>
            <a:pPr marL="0" marR="0" lvl="0" indent="0" algn="l" rtl="0">
              <a:lnSpc>
                <a:spcPct val="100000"/>
              </a:lnSpc>
              <a:spcBef>
                <a:spcPts val="50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050" b="1" i="0" u="none" strike="noStrike" cap="none">
                <a:solidFill>
                  <a:srgbClr val="FFFFFF"/>
                </a:solidFill>
                <a:latin typeface="Courier New"/>
                <a:ea typeface="Courier New"/>
                <a:cs typeface="Courier New"/>
                <a:sym typeface="Courier New"/>
              </a:rPr>
              <a:t>/plugin install andrej-karpathy-skills@karpathy-skills</a:t>
            </a:r>
            <a:endParaRPr/>
          </a:p>
        </p:txBody>
      </p:sp>
      <p:sp>
        <p:nvSpPr>
          <p:cNvPr id="653" name="Google Shape;653;p51"/>
          <p:cNvSpPr txBox="1"/>
          <p:nvPr/>
        </p:nvSpPr>
        <p:spPr>
          <a:xfrm>
            <a:off x="6510528" y="1005840"/>
            <a:ext cx="2139696" cy="201168"/>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SCAN TO GET IT</a:t>
            </a:r>
            <a:endParaRPr/>
          </a:p>
        </p:txBody>
      </p:sp>
      <p:sp>
        <p:nvSpPr>
          <p:cNvPr id="654" name="Google Shape;654;p51"/>
          <p:cNvSpPr/>
          <p:nvPr/>
        </p:nvSpPr>
        <p:spPr>
          <a:xfrm>
            <a:off x="6665976" y="1280160"/>
            <a:ext cx="1828800" cy="1828800"/>
          </a:xfrm>
          <a:prstGeom prst="roundRect">
            <a:avLst>
              <a:gd name="adj" fmla="val 6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55" name="Google Shape;655;p51" descr="QR code linking to github.com/multica-ai/andrej-karpathy-skills"/>
          <p:cNvPicPr preferRelativeResize="0"/>
          <p:nvPr/>
        </p:nvPicPr>
        <p:blipFill rotWithShape="1">
          <a:blip r:embed="rId3">
            <a:alphaModFix/>
          </a:blip>
          <a:srcRect/>
          <a:stretch/>
        </p:blipFill>
        <p:spPr>
          <a:xfrm>
            <a:off x="6784848" y="1399032"/>
            <a:ext cx="1591056" cy="1591056"/>
          </a:xfrm>
          <a:prstGeom prst="rect">
            <a:avLst/>
          </a:prstGeom>
          <a:noFill/>
          <a:ln>
            <a:noFill/>
          </a:ln>
        </p:spPr>
      </p:pic>
      <p:sp>
        <p:nvSpPr>
          <p:cNvPr id="656" name="Google Shape;656;p51"/>
          <p:cNvSpPr txBox="1"/>
          <p:nvPr/>
        </p:nvSpPr>
        <p:spPr>
          <a:xfrm>
            <a:off x="6510528" y="3200400"/>
            <a:ext cx="2139696" cy="36576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github.com/multica-ai/</a:t>
            </a:r>
            <a:endParaRPr/>
          </a:p>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andrej-karpathy-skills</a:t>
            </a:r>
            <a:endParaRPr/>
          </a:p>
        </p:txBody>
      </p:sp>
      <p:sp>
        <p:nvSpPr>
          <p:cNvPr id="657" name="Google Shape;657;p51"/>
          <p:cNvSpPr txBox="1"/>
          <p:nvPr/>
        </p:nvSpPr>
        <p:spPr>
          <a:xfrm>
            <a:off x="493776" y="3767328"/>
            <a:ext cx="8156448"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FOUR RULES, ONE PER SLIDE NEXT</a:t>
            </a:r>
            <a:endParaRPr/>
          </a:p>
        </p:txBody>
      </p:sp>
      <p:sp>
        <p:nvSpPr>
          <p:cNvPr id="658" name="Google Shape;658;p51"/>
          <p:cNvSpPr/>
          <p:nvPr/>
        </p:nvSpPr>
        <p:spPr>
          <a:xfrm>
            <a:off x="493776"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51"/>
          <p:cNvSpPr/>
          <p:nvPr/>
        </p:nvSpPr>
        <p:spPr>
          <a:xfrm>
            <a:off x="612648"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1</a:t>
            </a:r>
            <a:endParaRPr/>
          </a:p>
        </p:txBody>
      </p:sp>
      <p:sp>
        <p:nvSpPr>
          <p:cNvPr id="660" name="Google Shape;660;p51"/>
          <p:cNvSpPr txBox="1"/>
          <p:nvPr/>
        </p:nvSpPr>
        <p:spPr>
          <a:xfrm>
            <a:off x="950976"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Think first</a:t>
            </a:r>
            <a:endParaRPr/>
          </a:p>
        </p:txBody>
      </p:sp>
      <p:sp>
        <p:nvSpPr>
          <p:cNvPr id="661" name="Google Shape;661;p51"/>
          <p:cNvSpPr/>
          <p:nvPr/>
        </p:nvSpPr>
        <p:spPr>
          <a:xfrm>
            <a:off x="2569464"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51"/>
          <p:cNvSpPr/>
          <p:nvPr/>
        </p:nvSpPr>
        <p:spPr>
          <a:xfrm>
            <a:off x="2688336"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2</a:t>
            </a:r>
            <a:endParaRPr/>
          </a:p>
        </p:txBody>
      </p:sp>
      <p:sp>
        <p:nvSpPr>
          <p:cNvPr id="663" name="Google Shape;663;p51"/>
          <p:cNvSpPr txBox="1"/>
          <p:nvPr/>
        </p:nvSpPr>
        <p:spPr>
          <a:xfrm>
            <a:off x="3026664"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Keep it simple</a:t>
            </a:r>
            <a:endParaRPr/>
          </a:p>
        </p:txBody>
      </p:sp>
      <p:sp>
        <p:nvSpPr>
          <p:cNvPr id="664" name="Google Shape;664;p51"/>
          <p:cNvSpPr/>
          <p:nvPr/>
        </p:nvSpPr>
        <p:spPr>
          <a:xfrm>
            <a:off x="4645152"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51"/>
          <p:cNvSpPr/>
          <p:nvPr/>
        </p:nvSpPr>
        <p:spPr>
          <a:xfrm>
            <a:off x="4764024"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3</a:t>
            </a:r>
            <a:endParaRPr/>
          </a:p>
        </p:txBody>
      </p:sp>
      <p:sp>
        <p:nvSpPr>
          <p:cNvPr id="666" name="Google Shape;666;p51"/>
          <p:cNvSpPr txBox="1"/>
          <p:nvPr/>
        </p:nvSpPr>
        <p:spPr>
          <a:xfrm>
            <a:off x="5102352"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Touch only the task</a:t>
            </a:r>
            <a:endParaRPr/>
          </a:p>
        </p:txBody>
      </p:sp>
      <p:sp>
        <p:nvSpPr>
          <p:cNvPr id="667" name="Google Shape;667;p51"/>
          <p:cNvSpPr/>
          <p:nvPr/>
        </p:nvSpPr>
        <p:spPr>
          <a:xfrm>
            <a:off x="6720840"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51"/>
          <p:cNvSpPr/>
          <p:nvPr/>
        </p:nvSpPr>
        <p:spPr>
          <a:xfrm>
            <a:off x="6839712"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4</a:t>
            </a:r>
            <a:endParaRPr/>
          </a:p>
        </p:txBody>
      </p:sp>
      <p:sp>
        <p:nvSpPr>
          <p:cNvPr id="669" name="Google Shape;669;p51"/>
          <p:cNvSpPr txBox="1"/>
          <p:nvPr/>
        </p:nvSpPr>
        <p:spPr>
          <a:xfrm>
            <a:off x="7178040"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Prove it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74"/>
        <p:cNvGrpSpPr/>
        <p:nvPr/>
      </p:nvGrpSpPr>
      <p:grpSpPr>
        <a:xfrm>
          <a:off x="0" y="0"/>
          <a:ext cx="0" cy="0"/>
          <a:chOff x="0" y="0"/>
          <a:chExt cx="0" cy="0"/>
        </a:xfrm>
      </p:grpSpPr>
      <p:sp>
        <p:nvSpPr>
          <p:cNvPr id="675" name="Google Shape;675;p52"/>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1 — Wrong </a:t>
            </a:r>
            <a:r>
              <a:rPr lang="en-GB" sz="2000">
                <a:solidFill>
                  <a:srgbClr val="FFFFFF"/>
                </a:solidFill>
              </a:rPr>
              <a:t>A</a:t>
            </a:r>
            <a:r>
              <a:rPr lang="en-GB" sz="2000" b="1">
                <a:solidFill>
                  <a:srgbClr val="FFFFFF"/>
                </a:solidFill>
                <a:latin typeface="Century Schoolbook"/>
                <a:ea typeface="Century Schoolbook"/>
                <a:cs typeface="Century Schoolbook"/>
                <a:sym typeface="Century Schoolbook"/>
              </a:rPr>
              <a:t>ssumptions</a:t>
            </a:r>
            <a:endParaRPr sz="1900"/>
          </a:p>
        </p:txBody>
      </p:sp>
      <p:pic>
        <p:nvPicPr>
          <p:cNvPr id="676" name="Google Shape;676;p52" descr="Sketch: blindfolded Clappy robot sprinting into a brick wall labelled WRONG ASSUMPTION, thinking “10 s will be enough”."/>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677" name="Google Shape;677;p52"/>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678" name="Google Shape;678;p52"/>
          <p:cNvSpPr/>
          <p:nvPr/>
        </p:nvSpPr>
        <p:spPr>
          <a:xfrm>
            <a:off x="250545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52"/>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52"/>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52"/>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52"/>
          <p:cNvSpPr txBox="1"/>
          <p:nvPr/>
        </p:nvSpPr>
        <p:spPr>
          <a:xfrm>
            <a:off x="4919472" y="907896"/>
            <a:ext cx="373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1700" b="1" i="0" u="none" strike="noStrike" cap="none">
                <a:solidFill>
                  <a:srgbClr val="7FC6F3"/>
                </a:solidFill>
                <a:latin typeface="Courier New"/>
                <a:ea typeface="Courier New"/>
                <a:cs typeface="Courier New"/>
                <a:sym typeface="Courier New"/>
              </a:rPr>
              <a:t>Think first</a:t>
            </a:r>
            <a:endParaRPr sz="1100"/>
          </a:p>
        </p:txBody>
      </p:sp>
      <p:sp>
        <p:nvSpPr>
          <p:cNvPr id="683" name="Google Shape;683;p52"/>
          <p:cNvSpPr txBox="1"/>
          <p:nvPr/>
        </p:nvSpPr>
        <p:spPr>
          <a:xfrm>
            <a:off x="4919472" y="1310232"/>
            <a:ext cx="3730800" cy="51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000" b="0" i="0" u="none" strike="noStrike" cap="none">
                <a:solidFill>
                  <a:srgbClr val="FFFFFF"/>
                </a:solidFill>
                <a:latin typeface="Calibri"/>
                <a:ea typeface="Calibri"/>
                <a:cs typeface="Calibri"/>
                <a:sym typeface="Calibri"/>
              </a:rPr>
              <a:t>State your assumptions. If something is unclear, ask before writing any code.</a:t>
            </a:r>
            <a:endParaRPr sz="1100"/>
          </a:p>
        </p:txBody>
      </p:sp>
      <p:sp>
        <p:nvSpPr>
          <p:cNvPr id="684" name="Google Shape;684;p52"/>
          <p:cNvSpPr txBox="1"/>
          <p:nvPr/>
        </p:nvSpPr>
        <p:spPr>
          <a:xfrm>
            <a:off x="4919472" y="1940163"/>
            <a:ext cx="37308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685" name="Google Shape;685;p52"/>
          <p:cNvSpPr/>
          <p:nvPr/>
        </p:nvSpPr>
        <p:spPr>
          <a:xfrm>
            <a:off x="4919472" y="2159619"/>
            <a:ext cx="3730800" cy="133500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52"/>
          <p:cNvSpPr txBox="1"/>
          <p:nvPr/>
        </p:nvSpPr>
        <p:spPr>
          <a:xfrm>
            <a:off x="5065776" y="2251059"/>
            <a:ext cx="3456300" cy="118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Fix the flaky checkout test.</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Silently sets a 10 s timeout, picked from what it saw on this laptop.</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Asks first: “I don't know how fast your CI is.”</a:t>
            </a:r>
            <a:endParaRPr/>
          </a:p>
        </p:txBody>
      </p:sp>
      <p:sp>
        <p:nvSpPr>
          <p:cNvPr id="687" name="Google Shape;687;p52"/>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688" name="Google Shape;688;p52"/>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Guesses surface as questions your docs or team can answer, not as failures in CI.</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93"/>
        <p:cNvGrpSpPr/>
        <p:nvPr/>
      </p:nvGrpSpPr>
      <p:grpSpPr>
        <a:xfrm>
          <a:off x="0" y="0"/>
          <a:ext cx="0" cy="0"/>
          <a:chOff x="0" y="0"/>
          <a:chExt cx="0" cy="0"/>
        </a:xfrm>
      </p:grpSpPr>
      <p:sp>
        <p:nvSpPr>
          <p:cNvPr id="694" name="Google Shape;694;p5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2 — Over </a:t>
            </a:r>
            <a:r>
              <a:rPr lang="en-GB" sz="2000">
                <a:solidFill>
                  <a:srgbClr val="FFFFFF"/>
                </a:solidFill>
              </a:rPr>
              <a:t>C</a:t>
            </a:r>
            <a:r>
              <a:rPr lang="en-GB" sz="2000" b="1">
                <a:solidFill>
                  <a:srgbClr val="FFFFFF"/>
                </a:solidFill>
                <a:latin typeface="Century Schoolbook"/>
                <a:ea typeface="Century Schoolbook"/>
                <a:cs typeface="Century Schoolbook"/>
                <a:sym typeface="Century Schoolbook"/>
              </a:rPr>
              <a:t>omplication</a:t>
            </a:r>
            <a:endParaRPr sz="1900"/>
          </a:p>
        </p:txBody>
      </p:sp>
      <p:pic>
        <p:nvPicPr>
          <p:cNvPr id="695" name="Google Shape;695;p53" descr="Sketch: a tangled machine of retry(3), sleep(10000), helper.ts, config.yaml and gears, just to reach one “confirmed” message."/>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696" name="Google Shape;696;p53"/>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697" name="Google Shape;697;p53"/>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53"/>
          <p:cNvSpPr/>
          <p:nvPr/>
        </p:nvSpPr>
        <p:spPr>
          <a:xfrm>
            <a:off x="268833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53"/>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53"/>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53"/>
          <p:cNvSpPr txBox="1"/>
          <p:nvPr/>
        </p:nvSpPr>
        <p:spPr>
          <a:xfrm>
            <a:off x="4919472" y="989296"/>
            <a:ext cx="373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1700" b="1" i="0" u="none" strike="noStrike" cap="none">
                <a:solidFill>
                  <a:srgbClr val="7FC6F3"/>
                </a:solidFill>
                <a:latin typeface="Courier New"/>
                <a:ea typeface="Courier New"/>
                <a:cs typeface="Courier New"/>
                <a:sym typeface="Courier New"/>
              </a:rPr>
              <a:t>Keep it simple</a:t>
            </a:r>
            <a:endParaRPr sz="1100"/>
          </a:p>
        </p:txBody>
      </p:sp>
      <p:sp>
        <p:nvSpPr>
          <p:cNvPr id="702" name="Google Shape;702;p53"/>
          <p:cNvSpPr txBox="1"/>
          <p:nvPr/>
        </p:nvSpPr>
        <p:spPr>
          <a:xfrm>
            <a:off x="4919472" y="1391632"/>
            <a:ext cx="3730800" cy="51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000" b="0" i="0" u="none" strike="noStrike" cap="none">
                <a:solidFill>
                  <a:srgbClr val="FFFFFF"/>
                </a:solidFill>
                <a:latin typeface="Calibri"/>
                <a:ea typeface="Calibri"/>
                <a:cs typeface="Calibri"/>
                <a:sym typeface="Calibri"/>
              </a:rPr>
              <a:t>Write the minimum code that solves the task. No speculative helpers, retries or options.</a:t>
            </a:r>
            <a:endParaRPr sz="1100"/>
          </a:p>
        </p:txBody>
      </p:sp>
      <p:sp>
        <p:nvSpPr>
          <p:cNvPr id="703" name="Google Shape;703;p53"/>
          <p:cNvSpPr txBox="1"/>
          <p:nvPr/>
        </p:nvSpPr>
        <p:spPr>
          <a:xfrm>
            <a:off x="4919472" y="2084837"/>
            <a:ext cx="37308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704" name="Google Shape;704;p53"/>
          <p:cNvSpPr/>
          <p:nvPr/>
        </p:nvSpPr>
        <p:spPr>
          <a:xfrm>
            <a:off x="4919472" y="2304292"/>
            <a:ext cx="3730800" cy="133500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53"/>
          <p:cNvSpPr txBox="1"/>
          <p:nvPr/>
        </p:nvSpPr>
        <p:spPr>
          <a:xfrm>
            <a:off x="5065776" y="2395733"/>
            <a:ext cx="3456300" cy="118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Make the test wait for the payment.</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A retry wrapper, sleep(10000) and a new polling util.</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Waits for the real “confirmed” response, then one retrying assertion.</a:t>
            </a:r>
            <a:endParaRPr/>
          </a:p>
        </p:txBody>
      </p:sp>
      <p:sp>
        <p:nvSpPr>
          <p:cNvPr id="706" name="Google Shape;706;p53"/>
          <p:cNvSpPr txBox="1"/>
          <p:nvPr/>
        </p:nvSpPr>
        <p:spPr>
          <a:xfrm>
            <a:off x="4919497" y="3986770"/>
            <a:ext cx="37308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707" name="Google Shape;707;p53"/>
          <p:cNvSpPr txBox="1"/>
          <p:nvPr/>
        </p:nvSpPr>
        <p:spPr>
          <a:xfrm>
            <a:off x="4919497" y="4187938"/>
            <a:ext cx="37308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Less test code to maintain, and the real cause stays visible instead of buried under retries.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12"/>
        <p:cNvGrpSpPr/>
        <p:nvPr/>
      </p:nvGrpSpPr>
      <p:grpSpPr>
        <a:xfrm>
          <a:off x="0" y="0"/>
          <a:ext cx="0" cy="0"/>
          <a:chOff x="0" y="0"/>
          <a:chExt cx="0" cy="0"/>
        </a:xfrm>
      </p:grpSpPr>
      <p:sp>
        <p:nvSpPr>
          <p:cNvPr id="713" name="Google Shape;713;p5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3 — Collateral </a:t>
            </a:r>
            <a:r>
              <a:rPr lang="en-GB" sz="2000">
                <a:solidFill>
                  <a:srgbClr val="FFFFFF"/>
                </a:solidFill>
              </a:rPr>
              <a:t>D</a:t>
            </a:r>
            <a:r>
              <a:rPr lang="en-GB" sz="2000" b="1">
                <a:solidFill>
                  <a:srgbClr val="FFFFFF"/>
                </a:solidFill>
                <a:latin typeface="Century Schoolbook"/>
                <a:ea typeface="Century Schoolbook"/>
                <a:cs typeface="Century Schoolbook"/>
                <a:sym typeface="Century Schoolbook"/>
              </a:rPr>
              <a:t>amage</a:t>
            </a:r>
            <a:endParaRPr sz="1900"/>
          </a:p>
        </p:txBody>
      </p:sp>
      <p:pic>
        <p:nvPicPr>
          <p:cNvPr id="714" name="Google Shape;714;p54" descr="Sketch: Clappy swings a REFACTOR hammer at a tower of framework blocks; only checkout.spec was the task."/>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715" name="Google Shape;715;p54"/>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716" name="Google Shape;716;p54"/>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54"/>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54"/>
          <p:cNvSpPr/>
          <p:nvPr/>
        </p:nvSpPr>
        <p:spPr>
          <a:xfrm>
            <a:off x="287121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54"/>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54"/>
          <p:cNvSpPr txBox="1"/>
          <p:nvPr/>
        </p:nvSpPr>
        <p:spPr>
          <a:xfrm>
            <a:off x="4919472" y="1042421"/>
            <a:ext cx="373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1600" b="1" i="0" u="none" strike="noStrike" cap="none">
                <a:solidFill>
                  <a:srgbClr val="7FC6F3"/>
                </a:solidFill>
                <a:latin typeface="Courier New"/>
                <a:ea typeface="Courier New"/>
                <a:cs typeface="Courier New"/>
                <a:sym typeface="Courier New"/>
              </a:rPr>
              <a:t>Touch only the task</a:t>
            </a:r>
            <a:endParaRPr sz="1000"/>
          </a:p>
        </p:txBody>
      </p:sp>
      <p:sp>
        <p:nvSpPr>
          <p:cNvPr id="721" name="Google Shape;721;p54"/>
          <p:cNvSpPr txBox="1"/>
          <p:nvPr/>
        </p:nvSpPr>
        <p:spPr>
          <a:xfrm>
            <a:off x="4919472" y="1408132"/>
            <a:ext cx="3730800" cy="51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000" b="0" i="0" u="none" strike="noStrike" cap="none">
                <a:solidFill>
                  <a:srgbClr val="FFFFFF"/>
                </a:solidFill>
                <a:latin typeface="Calibri"/>
                <a:ea typeface="Calibri"/>
                <a:cs typeface="Calibri"/>
                <a:sym typeface="Calibri"/>
              </a:rPr>
              <a:t>Change only what the task needs. Match the existing style. Mention other issues, don't fix them.</a:t>
            </a:r>
            <a:endParaRPr sz="1000"/>
          </a:p>
        </p:txBody>
      </p:sp>
      <p:sp>
        <p:nvSpPr>
          <p:cNvPr id="722" name="Google Shape;722;p54"/>
          <p:cNvSpPr txBox="1"/>
          <p:nvPr/>
        </p:nvSpPr>
        <p:spPr>
          <a:xfrm>
            <a:off x="4919472" y="1993374"/>
            <a:ext cx="37308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723" name="Google Shape;723;p54"/>
          <p:cNvSpPr/>
          <p:nvPr/>
        </p:nvSpPr>
        <p:spPr>
          <a:xfrm>
            <a:off x="4919472" y="2212830"/>
            <a:ext cx="3730800" cy="133500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4"/>
          <p:cNvSpPr txBox="1"/>
          <p:nvPr/>
        </p:nvSpPr>
        <p:spPr>
          <a:xfrm>
            <a:off x="5065776" y="2304270"/>
            <a:ext cx="3456300" cy="118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Fix checkout.spec.</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Renames locators, adds a utils file, edits login.spec too.</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One test changed. Same getByRole / getByTestId locators.</a:t>
            </a:r>
            <a:endParaRPr/>
          </a:p>
        </p:txBody>
      </p:sp>
      <p:sp>
        <p:nvSpPr>
          <p:cNvPr id="725" name="Google Shape;725;p54"/>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726" name="Google Shape;726;p54"/>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Small diffs reviewers can trust, and no surprise failures in tests nobody asked to change.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31"/>
        <p:cNvGrpSpPr/>
        <p:nvPr/>
      </p:nvGrpSpPr>
      <p:grpSpPr>
        <a:xfrm>
          <a:off x="0" y="0"/>
          <a:ext cx="0" cy="0"/>
          <a:chOff x="0" y="0"/>
          <a:chExt cx="0" cy="0"/>
        </a:xfrm>
      </p:grpSpPr>
      <p:sp>
        <p:nvSpPr>
          <p:cNvPr id="732" name="Google Shape;732;p5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4 — “Done” without proof</a:t>
            </a:r>
            <a:endParaRPr sz="1900"/>
          </a:p>
        </p:txBody>
      </p:sp>
      <p:pic>
        <p:nvPicPr>
          <p:cNvPr id="733" name="Google Shape;733;p55" descr="Sketch: smug Clappy says DONE! in front of a burning CI board full of red failures."/>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734" name="Google Shape;734;p55"/>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735" name="Google Shape;735;p55"/>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55"/>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305409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txBox="1"/>
          <p:nvPr/>
        </p:nvSpPr>
        <p:spPr>
          <a:xfrm>
            <a:off x="4928610" y="1042421"/>
            <a:ext cx="373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1600" b="1" i="0" u="none" strike="noStrike" cap="none">
                <a:solidFill>
                  <a:srgbClr val="7FC6F3"/>
                </a:solidFill>
                <a:latin typeface="Courier New"/>
                <a:ea typeface="Courier New"/>
                <a:cs typeface="Courier New"/>
                <a:sym typeface="Courier New"/>
              </a:rPr>
              <a:t>Prove it</a:t>
            </a:r>
            <a:endParaRPr sz="1000"/>
          </a:p>
        </p:txBody>
      </p:sp>
      <p:sp>
        <p:nvSpPr>
          <p:cNvPr id="740" name="Google Shape;740;p55"/>
          <p:cNvSpPr txBox="1"/>
          <p:nvPr/>
        </p:nvSpPr>
        <p:spPr>
          <a:xfrm>
            <a:off x="4928610" y="1444757"/>
            <a:ext cx="3730800" cy="51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900" b="0" i="0" u="none" strike="noStrike" cap="none">
                <a:solidFill>
                  <a:srgbClr val="FFFFFF"/>
                </a:solidFill>
                <a:latin typeface="Calibri"/>
                <a:ea typeface="Calibri"/>
                <a:cs typeface="Calibri"/>
                <a:sym typeface="Calibri"/>
              </a:rPr>
              <a:t>Define success before you start, then show the evidence, not just “done”.</a:t>
            </a:r>
            <a:endParaRPr sz="1000"/>
          </a:p>
        </p:txBody>
      </p:sp>
      <p:sp>
        <p:nvSpPr>
          <p:cNvPr id="741" name="Google Shape;741;p55"/>
          <p:cNvSpPr txBox="1"/>
          <p:nvPr/>
        </p:nvSpPr>
        <p:spPr>
          <a:xfrm>
            <a:off x="4919472" y="1892787"/>
            <a:ext cx="3730800" cy="18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742" name="Google Shape;742;p55"/>
          <p:cNvSpPr/>
          <p:nvPr/>
        </p:nvSpPr>
        <p:spPr>
          <a:xfrm>
            <a:off x="4919472" y="2112242"/>
            <a:ext cx="3730800" cy="133500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txBox="1"/>
          <p:nvPr/>
        </p:nvSpPr>
        <p:spPr>
          <a:xfrm>
            <a:off x="5065776" y="2203683"/>
            <a:ext cx="3456300" cy="118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Make the checkout test stable.</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Says “Done!” after a single green run.</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Runs it 30 times with --repeat-each and reports “passed 30/30”.</a:t>
            </a:r>
            <a:endParaRPr/>
          </a:p>
        </p:txBody>
      </p:sp>
      <p:sp>
        <p:nvSpPr>
          <p:cNvPr id="744" name="Google Shape;744;p55"/>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745" name="Google Shape;745;p55"/>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 green build means something again: you review evidence, not claims.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750"/>
        <p:cNvGrpSpPr/>
        <p:nvPr/>
      </p:nvGrpSpPr>
      <p:grpSpPr>
        <a:xfrm>
          <a:off x="0" y="0"/>
          <a:ext cx="0" cy="0"/>
          <a:chOff x="0" y="0"/>
          <a:chExt cx="0" cy="0"/>
        </a:xfrm>
      </p:grpSpPr>
      <p:sp>
        <p:nvSpPr>
          <p:cNvPr id="751" name="Google Shape;751;p56"/>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Real Problems - Real Solutions</a:t>
            </a:r>
            <a:endParaRPr sz="1900"/>
          </a:p>
        </p:txBody>
      </p:sp>
      <p:sp>
        <p:nvSpPr>
          <p:cNvPr id="752" name="Google Shape;752;p56"/>
          <p:cNvSpPr txBox="1"/>
          <p:nvPr/>
        </p:nvSpPr>
        <p:spPr>
          <a:xfrm>
            <a:off x="685800" y="1737360"/>
            <a:ext cx="7772400" cy="27432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CFE6F8"/>
                </a:solidFill>
                <a:latin typeface="Calibri"/>
                <a:ea typeface="Calibri"/>
                <a:cs typeface="Calibri"/>
                <a:sym typeface="Calibri"/>
              </a:rPr>
              <a:t>PART 2</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57"/>
        <p:cNvGrpSpPr/>
        <p:nvPr/>
      </p:nvGrpSpPr>
      <p:grpSpPr>
        <a:xfrm>
          <a:off x="0" y="0"/>
          <a:ext cx="0" cy="0"/>
          <a:chOff x="0" y="0"/>
          <a:chExt cx="0" cy="0"/>
        </a:xfrm>
      </p:grpSpPr>
      <p:sp>
        <p:nvSpPr>
          <p:cNvPr id="758" name="Google Shape;758;p57"/>
          <p:cNvSpPr/>
          <p:nvPr/>
        </p:nvSpPr>
        <p:spPr>
          <a:xfrm>
            <a:off x="8915400" y="891540"/>
            <a:ext cx="96012" cy="96012"/>
          </a:xfrm>
          <a:prstGeom prst="ellipse">
            <a:avLst/>
          </a:prstGeom>
          <a:solidFill>
            <a:srgbClr val="0272B4">
              <a:alpha val="40000"/>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59" name="Google Shape;759;p57"/>
          <p:cNvSpPr/>
          <p:nvPr/>
        </p:nvSpPr>
        <p:spPr>
          <a:xfrm>
            <a:off x="8983980" y="1508760"/>
            <a:ext cx="54864" cy="54864"/>
          </a:xfrm>
          <a:prstGeom prst="ellipse">
            <a:avLst/>
          </a:prstGeom>
          <a:solidFill>
            <a:srgbClr val="0272B4">
              <a:alpha val="30196"/>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0" name="Google Shape;760;p57"/>
          <p:cNvSpPr/>
          <p:nvPr/>
        </p:nvSpPr>
        <p:spPr>
          <a:xfrm>
            <a:off x="8915400" y="2125980"/>
            <a:ext cx="68580" cy="68580"/>
          </a:xfrm>
          <a:prstGeom prst="ellipse">
            <a:avLst/>
          </a:prstGeom>
          <a:solidFill>
            <a:srgbClr val="0272B4">
              <a:alpha val="25098"/>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1" name="Google Shape;761;p57"/>
          <p:cNvSpPr/>
          <p:nvPr/>
        </p:nvSpPr>
        <p:spPr>
          <a:xfrm>
            <a:off x="8949690" y="2846070"/>
            <a:ext cx="82296" cy="82296"/>
          </a:xfrm>
          <a:prstGeom prst="ellipse">
            <a:avLst/>
          </a:prstGeom>
          <a:solidFill>
            <a:srgbClr val="0272B4">
              <a:alpha val="34902"/>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2" name="Google Shape;762;p57"/>
          <p:cNvSpPr/>
          <p:nvPr/>
        </p:nvSpPr>
        <p:spPr>
          <a:xfrm>
            <a:off x="8915400" y="3566160"/>
            <a:ext cx="61722" cy="61722"/>
          </a:xfrm>
          <a:prstGeom prst="ellipse">
            <a:avLst/>
          </a:prstGeom>
          <a:solidFill>
            <a:srgbClr val="0272B4">
              <a:alpha val="25098"/>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3" name="Google Shape;763;p57"/>
          <p:cNvSpPr/>
          <p:nvPr/>
        </p:nvSpPr>
        <p:spPr>
          <a:xfrm>
            <a:off x="8983980" y="4046220"/>
            <a:ext cx="68580" cy="68580"/>
          </a:xfrm>
          <a:prstGeom prst="ellipse">
            <a:avLst/>
          </a:prstGeom>
          <a:solidFill>
            <a:srgbClr val="0272B4">
              <a:alpha val="30196"/>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4" name="Google Shape;764;p57"/>
          <p:cNvSpPr/>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FFFFFF"/>
              </a:buClr>
              <a:buSzPts val="2300"/>
              <a:buFont typeface="Calibri"/>
              <a:buNone/>
            </a:pPr>
            <a:r>
              <a:rPr lang="en-GB" sz="2000" b="1" i="0" u="none" strike="noStrike" cap="none">
                <a:solidFill>
                  <a:srgbClr val="FFFFFF"/>
                </a:solidFill>
                <a:latin typeface="Century Schoolbook"/>
                <a:ea typeface="Century Schoolbook"/>
                <a:cs typeface="Century Schoolbook"/>
                <a:sym typeface="Century Schoolbook"/>
              </a:rPr>
              <a:t>A typical QA problem: the flaky checkout test</a:t>
            </a:r>
            <a:endParaRPr sz="2300" b="0" i="0" u="none" strike="noStrike" cap="none">
              <a:solidFill>
                <a:schemeClr val="dk1"/>
              </a:solidFill>
              <a:latin typeface="Calibri"/>
              <a:ea typeface="Calibri"/>
              <a:cs typeface="Calibri"/>
              <a:sym typeface="Calibri"/>
            </a:endParaRPr>
          </a:p>
        </p:txBody>
      </p:sp>
      <p:sp>
        <p:nvSpPr>
          <p:cNvPr id="765" name="Google Shape;765;p57"/>
          <p:cNvSpPr/>
          <p:nvPr/>
        </p:nvSpPr>
        <p:spPr>
          <a:xfrm>
            <a:off x="411480" y="1577340"/>
            <a:ext cx="342900" cy="342900"/>
          </a:xfrm>
          <a:prstGeom prst="ellipse">
            <a:avLst/>
          </a:prstGeom>
          <a:solidFill>
            <a:srgbClr val="E84A5F"/>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766" name="Google Shape;766;p57" descr="preencoded.png"/>
          <p:cNvPicPr preferRelativeResize="0"/>
          <p:nvPr/>
        </p:nvPicPr>
        <p:blipFill rotWithShape="1">
          <a:blip r:embed="rId3">
            <a:alphaModFix/>
          </a:blip>
          <a:srcRect/>
          <a:stretch/>
        </p:blipFill>
        <p:spPr>
          <a:xfrm>
            <a:off x="504063" y="1669923"/>
            <a:ext cx="157734" cy="157734"/>
          </a:xfrm>
          <a:prstGeom prst="rect">
            <a:avLst/>
          </a:prstGeom>
          <a:noFill/>
          <a:ln>
            <a:noFill/>
          </a:ln>
        </p:spPr>
      </p:pic>
      <p:sp>
        <p:nvSpPr>
          <p:cNvPr id="767" name="Google Shape;767;p57"/>
          <p:cNvSpPr/>
          <p:nvPr/>
        </p:nvSpPr>
        <p:spPr>
          <a:xfrm>
            <a:off x="857250" y="153619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you see:  </a:t>
            </a:r>
            <a:r>
              <a:rPr lang="en-GB" sz="1000" b="0" i="0" u="none" strike="noStrike" cap="none">
                <a:solidFill>
                  <a:srgbClr val="CFE6F8"/>
                </a:solidFill>
                <a:latin typeface="Calibri"/>
                <a:ea typeface="Calibri"/>
                <a:cs typeface="Calibri"/>
                <a:sym typeface="Calibri"/>
              </a:rPr>
              <a:t>the checkout test fails about 4 runs in 10 (Received: “Processing payment…”), then passes on a re-run</a:t>
            </a:r>
            <a:endParaRPr sz="1400" b="0" i="0" u="none" strike="noStrike" cap="none">
              <a:solidFill>
                <a:srgbClr val="000000"/>
              </a:solidFill>
              <a:latin typeface="Calibri"/>
              <a:ea typeface="Calibri"/>
              <a:cs typeface="Calibri"/>
              <a:sym typeface="Calibri"/>
            </a:endParaRPr>
          </a:p>
        </p:txBody>
      </p:sp>
      <p:sp>
        <p:nvSpPr>
          <p:cNvPr id="768" name="Google Shape;768;p57"/>
          <p:cNvSpPr/>
          <p:nvPr/>
        </p:nvSpPr>
        <p:spPr>
          <a:xfrm>
            <a:off x="411480" y="205740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769" name="Google Shape;769;p57" descr="preencoded.png"/>
          <p:cNvPicPr preferRelativeResize="0"/>
          <p:nvPr/>
        </p:nvPicPr>
        <p:blipFill rotWithShape="1">
          <a:blip r:embed="rId4">
            <a:alphaModFix/>
          </a:blip>
          <a:srcRect/>
          <a:stretch/>
        </p:blipFill>
        <p:spPr>
          <a:xfrm>
            <a:off x="504063" y="2149983"/>
            <a:ext cx="157734" cy="157734"/>
          </a:xfrm>
          <a:prstGeom prst="rect">
            <a:avLst/>
          </a:prstGeom>
          <a:noFill/>
          <a:ln>
            <a:noFill/>
          </a:ln>
        </p:spPr>
      </p:pic>
      <p:sp>
        <p:nvSpPr>
          <p:cNvPr id="770" name="Google Shape;770;p57"/>
          <p:cNvSpPr/>
          <p:nvPr/>
        </p:nvSpPr>
        <p:spPr>
          <a:xfrm>
            <a:off x="857250" y="201625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teams usually do:  </a:t>
            </a:r>
            <a:r>
              <a:rPr lang="en-GB" sz="1000" b="0" i="0" u="none" strike="noStrike" cap="none">
                <a:solidFill>
                  <a:srgbClr val="CFE6F8"/>
                </a:solidFill>
                <a:latin typeface="Calibri"/>
                <a:ea typeface="Calibri"/>
                <a:cs typeface="Calibri"/>
                <a:sym typeface="Calibri"/>
              </a:rPr>
              <a:t>add CI retries, or raise the fixed wait in the test (ticket QA-1432)</a:t>
            </a:r>
            <a:endParaRPr sz="1400" b="0" i="0" u="none" strike="noStrike" cap="none">
              <a:solidFill>
                <a:srgbClr val="000000"/>
              </a:solidFill>
              <a:latin typeface="Calibri"/>
              <a:ea typeface="Calibri"/>
              <a:cs typeface="Calibri"/>
              <a:sym typeface="Calibri"/>
            </a:endParaRPr>
          </a:p>
        </p:txBody>
      </p:sp>
      <p:sp>
        <p:nvSpPr>
          <p:cNvPr id="771" name="Google Shape;771;p57"/>
          <p:cNvSpPr/>
          <p:nvPr/>
        </p:nvSpPr>
        <p:spPr>
          <a:xfrm>
            <a:off x="411480" y="253746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772" name="Google Shape;772;p57" descr="preencoded.png"/>
          <p:cNvPicPr preferRelativeResize="0"/>
          <p:nvPr/>
        </p:nvPicPr>
        <p:blipFill rotWithShape="1">
          <a:blip r:embed="rId5">
            <a:alphaModFix/>
          </a:blip>
          <a:srcRect/>
          <a:stretch/>
        </p:blipFill>
        <p:spPr>
          <a:xfrm>
            <a:off x="504063" y="2630043"/>
            <a:ext cx="157734" cy="157734"/>
          </a:xfrm>
          <a:prstGeom prst="rect">
            <a:avLst/>
          </a:prstGeom>
          <a:noFill/>
          <a:ln>
            <a:noFill/>
          </a:ln>
        </p:spPr>
      </p:pic>
      <p:sp>
        <p:nvSpPr>
          <p:cNvPr id="773" name="Google Shape;773;p57"/>
          <p:cNvSpPr/>
          <p:nvPr/>
        </p:nvSpPr>
        <p:spPr>
          <a:xfrm>
            <a:off x="857250" y="249631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it costs:  </a:t>
            </a:r>
            <a:r>
              <a:rPr lang="en-GB" sz="1000" b="0" i="0" u="none" strike="noStrike" cap="none">
                <a:solidFill>
                  <a:srgbClr val="CFE6F8"/>
                </a:solidFill>
                <a:latin typeface="Calibri"/>
                <a:ea typeface="Calibri"/>
                <a:cs typeface="Calibri"/>
                <a:sym typeface="Calibri"/>
              </a:rPr>
              <a:t>slower releases, and nobody trusts a red build any more</a:t>
            </a:r>
            <a:endParaRPr sz="1100" b="0" i="0" u="none" strike="noStrike" cap="none">
              <a:solidFill>
                <a:schemeClr val="dk1"/>
              </a:solidFill>
              <a:latin typeface="Calibri"/>
              <a:ea typeface="Calibri"/>
              <a:cs typeface="Calibri"/>
              <a:sym typeface="Calibri"/>
            </a:endParaRPr>
          </a:p>
        </p:txBody>
      </p:sp>
      <p:sp>
        <p:nvSpPr>
          <p:cNvPr id="774" name="Google Shape;774;p57"/>
          <p:cNvSpPr/>
          <p:nvPr/>
        </p:nvSpPr>
        <p:spPr>
          <a:xfrm>
            <a:off x="411480" y="301752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775" name="Google Shape;775;p57" descr="preencoded.png"/>
          <p:cNvPicPr preferRelativeResize="0"/>
          <p:nvPr/>
        </p:nvPicPr>
        <p:blipFill rotWithShape="1">
          <a:blip r:embed="rId6">
            <a:alphaModFix/>
          </a:blip>
          <a:srcRect/>
          <a:stretch/>
        </p:blipFill>
        <p:spPr>
          <a:xfrm>
            <a:off x="504063" y="3110103"/>
            <a:ext cx="157734" cy="157734"/>
          </a:xfrm>
          <a:prstGeom prst="rect">
            <a:avLst/>
          </a:prstGeom>
          <a:noFill/>
          <a:ln>
            <a:noFill/>
          </a:ln>
        </p:spPr>
      </p:pic>
      <p:sp>
        <p:nvSpPr>
          <p:cNvPr id="776" name="Google Shape;776;p57"/>
          <p:cNvSpPr/>
          <p:nvPr/>
        </p:nvSpPr>
        <p:spPr>
          <a:xfrm>
            <a:off x="857250" y="297637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Where it happens:  </a:t>
            </a:r>
            <a:r>
              <a:rPr lang="en-GB" sz="1000" b="0" i="0" u="none" strike="noStrike" cap="none">
                <a:solidFill>
                  <a:srgbClr val="CFE6F8"/>
                </a:solidFill>
                <a:latin typeface="Calibri"/>
                <a:ea typeface="Calibri"/>
                <a:cs typeface="Calibri"/>
                <a:sym typeface="Calibri"/>
              </a:rPr>
              <a:t>a web shop whose payment confirms asynchronously (1–3 s, up to 8 s at peak). The app works; the test checks too early.</a:t>
            </a:r>
            <a:endParaRPr sz="1400" b="0" i="0" u="none" strike="noStrike" cap="none">
              <a:solidFill>
                <a:srgbClr val="000000"/>
              </a:solidFill>
              <a:latin typeface="Calibri"/>
              <a:ea typeface="Calibri"/>
              <a:cs typeface="Calibri"/>
              <a:sym typeface="Calibri"/>
            </a:endParaRPr>
          </a:p>
        </p:txBody>
      </p:sp>
      <p:sp>
        <p:nvSpPr>
          <p:cNvPr id="777" name="Google Shape;777;p57"/>
          <p:cNvSpPr/>
          <p:nvPr/>
        </p:nvSpPr>
        <p:spPr>
          <a:xfrm>
            <a:off x="5795070" y="1363966"/>
            <a:ext cx="2880300" cy="2044541"/>
          </a:xfrm>
          <a:prstGeom prst="roundRect">
            <a:avLst>
              <a:gd name="adj" fmla="val 2332"/>
            </a:avLst>
          </a:prstGeom>
          <a:solidFill>
            <a:srgbClr val="FFFFFF"/>
          </a:solidFill>
          <a:ln w="12700" cap="flat" cmpd="sng">
            <a:solidFill>
              <a:srgbClr val="DCE3F2"/>
            </a:solidFill>
            <a:prstDash val="solid"/>
            <a:round/>
            <a:headEnd type="none" w="sm" len="sm"/>
            <a:tailEnd type="none" w="sm" len="sm"/>
          </a:ln>
          <a:effectLst>
            <a:outerShdw blurRad="101600" dist="25400" dir="8100000" algn="bl" rotWithShape="0">
              <a:srgbClr val="1E2761">
                <a:alpha val="7843"/>
              </a:srgbClr>
            </a:outerShdw>
          </a:effectLst>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778" name="Google Shape;778;p57" descr="/Users/tlytvyn/projects/Applause/testcon-deck-build/shop-trim.png"/>
          <p:cNvPicPr preferRelativeResize="0"/>
          <p:nvPr/>
        </p:nvPicPr>
        <p:blipFill rotWithShape="1">
          <a:blip r:embed="rId7">
            <a:alphaModFix/>
          </a:blip>
          <a:srcRect/>
          <a:stretch/>
        </p:blipFill>
        <p:spPr>
          <a:xfrm>
            <a:off x="5897940" y="1466836"/>
            <a:ext cx="2674620" cy="1941671"/>
          </a:xfrm>
          <a:prstGeom prst="rect">
            <a:avLst/>
          </a:prstGeom>
          <a:noFill/>
          <a:ln>
            <a:noFill/>
          </a:ln>
        </p:spPr>
      </p:pic>
      <p:sp>
        <p:nvSpPr>
          <p:cNvPr id="779" name="Google Shape;779;p57"/>
          <p:cNvSpPr/>
          <p:nvPr/>
        </p:nvSpPr>
        <p:spPr>
          <a:xfrm>
            <a:off x="411477" y="3566150"/>
            <a:ext cx="4300800" cy="240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272B4"/>
              </a:buClr>
              <a:buSzPts val="1100"/>
              <a:buFont typeface="Calibri"/>
              <a:buNone/>
            </a:pPr>
            <a:r>
              <a:rPr lang="en-GB" sz="1100" b="1" i="0" u="none" strike="noStrike" cap="none">
                <a:solidFill>
                  <a:srgbClr val="4FB0EA"/>
                </a:solidFill>
                <a:latin typeface="Calibri"/>
                <a:ea typeface="Calibri"/>
                <a:cs typeface="Calibri"/>
                <a:sym typeface="Calibri"/>
              </a:rPr>
              <a:t>Fixing it with the four /karpathy-guidelines rules</a:t>
            </a:r>
            <a:endParaRPr sz="1100" b="0" i="0" u="none" strike="noStrike" cap="none">
              <a:solidFill>
                <a:schemeClr val="dk1"/>
              </a:solidFill>
              <a:latin typeface="Calibri"/>
              <a:ea typeface="Calibri"/>
              <a:cs typeface="Calibri"/>
              <a:sym typeface="Calibri"/>
            </a:endParaRPr>
          </a:p>
        </p:txBody>
      </p:sp>
      <p:sp>
        <p:nvSpPr>
          <p:cNvPr id="780" name="Google Shape;780;p57"/>
          <p:cNvSpPr/>
          <p:nvPr/>
        </p:nvSpPr>
        <p:spPr>
          <a:xfrm>
            <a:off x="8387334" y="4766310"/>
            <a:ext cx="342900" cy="192024"/>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9FD4F7"/>
              </a:buClr>
              <a:buSzPts val="700"/>
              <a:buFont typeface="Calibri"/>
              <a:buNone/>
            </a:pPr>
            <a:r>
              <a:rPr lang="en-GB" sz="700" b="0" i="0" u="none" strike="noStrike" cap="none">
                <a:solidFill>
                  <a:srgbClr val="9FD4F7"/>
                </a:solidFill>
                <a:latin typeface="Calibri"/>
                <a:ea typeface="Calibri"/>
                <a:cs typeface="Calibri"/>
                <a:sym typeface="Calibri"/>
              </a:rPr>
              <a:t>13</a:t>
            </a:r>
            <a:endParaRPr sz="700" b="0" i="0" u="none" strike="noStrike" cap="none">
              <a:solidFill>
                <a:schemeClr val="dk1"/>
              </a:solidFill>
              <a:latin typeface="Calibri"/>
              <a:ea typeface="Calibri"/>
              <a:cs typeface="Calibri"/>
              <a:sym typeface="Calibri"/>
            </a:endParaRPr>
          </a:p>
        </p:txBody>
      </p:sp>
      <p:sp>
        <p:nvSpPr>
          <p:cNvPr id="781" name="Google Shape;781;p57"/>
          <p:cNvSpPr/>
          <p:nvPr/>
        </p:nvSpPr>
        <p:spPr>
          <a:xfrm>
            <a:off x="411480"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2" name="Google Shape;782;p57"/>
          <p:cNvSpPr txBox="1"/>
          <p:nvPr/>
        </p:nvSpPr>
        <p:spPr>
          <a:xfrm>
            <a:off x="502920" y="3929633"/>
            <a:ext cx="1840200" cy="315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1  Think first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reproduce it, watch it, read the docs</a:t>
            </a:r>
            <a:endParaRPr sz="1400" b="0" i="0" u="none" strike="noStrike" cap="none">
              <a:solidFill>
                <a:srgbClr val="000000"/>
              </a:solidFill>
              <a:latin typeface="Arial"/>
              <a:ea typeface="Arial"/>
              <a:cs typeface="Arial"/>
              <a:sym typeface="Arial"/>
            </a:endParaRPr>
          </a:p>
        </p:txBody>
      </p:sp>
      <p:sp>
        <p:nvSpPr>
          <p:cNvPr id="783" name="Google Shape;783;p57"/>
          <p:cNvSpPr/>
          <p:nvPr/>
        </p:nvSpPr>
        <p:spPr>
          <a:xfrm>
            <a:off x="2516168"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57"/>
          <p:cNvSpPr txBox="1"/>
          <p:nvPr/>
        </p:nvSpPr>
        <p:spPr>
          <a:xfrm>
            <a:off x="2607608" y="3929633"/>
            <a:ext cx="1840200" cy="315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2  Keep it simple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wait for the real "confirmed" event</a:t>
            </a:r>
            <a:endParaRPr sz="1400" b="0" i="0" u="none" strike="noStrike" cap="none">
              <a:solidFill>
                <a:srgbClr val="000000"/>
              </a:solidFill>
              <a:latin typeface="Arial"/>
              <a:ea typeface="Arial"/>
              <a:cs typeface="Arial"/>
              <a:sym typeface="Arial"/>
            </a:endParaRPr>
          </a:p>
        </p:txBody>
      </p:sp>
      <p:sp>
        <p:nvSpPr>
          <p:cNvPr id="785" name="Google Shape;785;p57"/>
          <p:cNvSpPr/>
          <p:nvPr/>
        </p:nvSpPr>
        <p:spPr>
          <a:xfrm>
            <a:off x="4620856"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6" name="Google Shape;786;p57"/>
          <p:cNvSpPr txBox="1"/>
          <p:nvPr/>
        </p:nvSpPr>
        <p:spPr>
          <a:xfrm>
            <a:off x="4712296" y="3929633"/>
            <a:ext cx="1840200" cy="315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dirty="0">
                <a:solidFill>
                  <a:srgbClr val="EAF1F7"/>
                </a:solidFill>
                <a:latin typeface="Calibri"/>
                <a:ea typeface="Calibri"/>
                <a:cs typeface="Calibri"/>
                <a:sym typeface="Calibri"/>
              </a:rPr>
              <a:t>3  Touch only the task</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dirty="0">
                <a:solidFill>
                  <a:srgbClr val="CFE6F8"/>
                </a:solidFill>
                <a:latin typeface="Calibri"/>
                <a:ea typeface="Calibri"/>
                <a:cs typeface="Calibri"/>
                <a:sym typeface="Calibri"/>
              </a:rPr>
              <a:t>one test changed, same locators</a:t>
            </a:r>
            <a:endParaRPr sz="1400" b="0" i="0" u="none" strike="noStrike" cap="none" dirty="0">
              <a:solidFill>
                <a:srgbClr val="000000"/>
              </a:solidFill>
              <a:latin typeface="Arial"/>
              <a:ea typeface="Arial"/>
              <a:cs typeface="Arial"/>
              <a:sym typeface="Arial"/>
            </a:endParaRPr>
          </a:p>
        </p:txBody>
      </p:sp>
      <p:sp>
        <p:nvSpPr>
          <p:cNvPr id="787" name="Google Shape;787;p57"/>
          <p:cNvSpPr/>
          <p:nvPr/>
        </p:nvSpPr>
        <p:spPr>
          <a:xfrm>
            <a:off x="6725544"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8" name="Google Shape;788;p57"/>
          <p:cNvSpPr txBox="1"/>
          <p:nvPr/>
        </p:nvSpPr>
        <p:spPr>
          <a:xfrm>
            <a:off x="6816984" y="3929633"/>
            <a:ext cx="1840200" cy="46166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dirty="0">
                <a:solidFill>
                  <a:srgbClr val="EAF1F7"/>
                </a:solidFill>
                <a:latin typeface="Calibri"/>
                <a:ea typeface="Calibri"/>
                <a:cs typeface="Calibri"/>
                <a:sym typeface="Calibri"/>
              </a:rPr>
              <a:t>4  Prove it</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dirty="0">
                <a:solidFill>
                  <a:srgbClr val="CFE6F8"/>
                </a:solidFill>
                <a:latin typeface="Calibri"/>
                <a:ea typeface="Calibri"/>
                <a:cs typeface="Calibri"/>
                <a:sym typeface="Calibri"/>
              </a:rPr>
              <a:t>several</a:t>
            </a:r>
            <a:r>
              <a:rPr lang="en-GB" sz="950" b="0" i="0" u="none" strike="noStrike" cap="none" dirty="0">
                <a:solidFill>
                  <a:srgbClr val="CFE6F8"/>
                </a:solidFill>
                <a:latin typeface="Calibri"/>
                <a:ea typeface="Calibri"/>
                <a:cs typeface="Calibri"/>
                <a:sym typeface="Calibri"/>
              </a:rPr>
              <a:t> runs in a row, </a:t>
            </a: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dirty="0">
                <a:solidFill>
                  <a:srgbClr val="CFE6F8"/>
                </a:solidFill>
                <a:latin typeface="Calibri"/>
                <a:ea typeface="Calibri"/>
                <a:cs typeface="Calibri"/>
                <a:sym typeface="Calibri"/>
              </a:rPr>
              <a:t>also on a slow day</a:t>
            </a:r>
            <a:endParaRPr sz="1400" b="0"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79">
                                            <p:txEl>
                                              <p:pRg st="0" end="0"/>
                                            </p:txEl>
                                          </p:spTgt>
                                        </p:tgtEl>
                                        <p:attrNameLst>
                                          <p:attrName>style.visibility</p:attrName>
                                        </p:attrNameLst>
                                      </p:cBhvr>
                                      <p:to>
                                        <p:strVal val="visible"/>
                                      </p:to>
                                    </p:set>
                                    <p:anim calcmode="lin" valueType="num">
                                      <p:cBhvr additive="base">
                                        <p:cTn id="7" dur="1000"/>
                                        <p:tgtEl>
                                          <p:spTgt spid="779">
                                            <p:txEl>
                                              <p:pRg st="0" end="0"/>
                                            </p:txEl>
                                          </p:spTgt>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781"/>
                                        </p:tgtEl>
                                        <p:attrNameLst>
                                          <p:attrName>style.visibility</p:attrName>
                                        </p:attrNameLst>
                                      </p:cBhvr>
                                      <p:to>
                                        <p:strVal val="visible"/>
                                      </p:to>
                                    </p:set>
                                  </p:childTnLst>
                                </p:cTn>
                              </p:par>
                              <p:par>
                                <p:cTn id="12" presetID="1" presetClass="entr" presetSubtype="0" fill="hold" nodeType="withEffect">
                                  <p:stCondLst>
                                    <p:cond delay="0"/>
                                  </p:stCondLst>
                                  <p:childTnLst>
                                    <p:set>
                                      <p:cBhvr>
                                        <p:cTn id="13" dur="1" fill="hold">
                                          <p:stCondLst>
                                            <p:cond delay="0"/>
                                          </p:stCondLst>
                                        </p:cTn>
                                        <p:tgtEl>
                                          <p:spTgt spid="782"/>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784"/>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78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86"/>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785"/>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788"/>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7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93"/>
        <p:cNvGrpSpPr/>
        <p:nvPr/>
      </p:nvGrpSpPr>
      <p:grpSpPr>
        <a:xfrm>
          <a:off x="0" y="0"/>
          <a:ext cx="0" cy="0"/>
          <a:chOff x="0" y="0"/>
          <a:chExt cx="0" cy="0"/>
        </a:xfrm>
      </p:grpSpPr>
      <p:sp>
        <p:nvSpPr>
          <p:cNvPr id="794" name="Google Shape;794;p5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1: Start with a good project structure</a:t>
            </a:r>
            <a:endParaRPr sz="1900"/>
          </a:p>
        </p:txBody>
      </p:sp>
      <p:sp>
        <p:nvSpPr>
          <p:cNvPr id="795" name="Google Shape;795;p58"/>
          <p:cNvSpPr/>
          <p:nvPr/>
        </p:nvSpPr>
        <p:spPr>
          <a:xfrm>
            <a:off x="493776" y="1051560"/>
            <a:ext cx="4572000" cy="2852928"/>
          </a:xfrm>
          <a:prstGeom prst="roundRect">
            <a:avLst>
              <a:gd name="adj" fmla="val 4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6" name="Google Shape;796;p58"/>
          <p:cNvSpPr/>
          <p:nvPr/>
        </p:nvSpPr>
        <p:spPr>
          <a:xfrm>
            <a:off x="676656" y="1197864"/>
            <a:ext cx="91440" cy="91440"/>
          </a:xfrm>
          <a:prstGeom prst="ellipse">
            <a:avLst/>
          </a:prstGeom>
          <a:solidFill>
            <a:srgbClr val="FF5F5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7" name="Google Shape;797;p58"/>
          <p:cNvSpPr/>
          <p:nvPr/>
        </p:nvSpPr>
        <p:spPr>
          <a:xfrm>
            <a:off x="832104" y="1197864"/>
            <a:ext cx="91440" cy="91440"/>
          </a:xfrm>
          <a:prstGeom prst="ellipse">
            <a:avLst/>
          </a:prstGeom>
          <a:solidFill>
            <a:srgbClr val="FEBC2E"/>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8" name="Google Shape;798;p58"/>
          <p:cNvSpPr/>
          <p:nvPr/>
        </p:nvSpPr>
        <p:spPr>
          <a:xfrm>
            <a:off x="987552" y="1197864"/>
            <a:ext cx="91440" cy="91440"/>
          </a:xfrm>
          <a:prstGeom prst="ellipse">
            <a:avLst/>
          </a:prstGeom>
          <a:solidFill>
            <a:srgbClr val="28C84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9" name="Google Shape;799;p58"/>
          <p:cNvSpPr txBox="1"/>
          <p:nvPr/>
        </p:nvSpPr>
        <p:spPr>
          <a:xfrm>
            <a:off x="1225296" y="1124712"/>
            <a:ext cx="3108960"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your-test-repo/</a:t>
            </a:r>
            <a:endParaRPr sz="1400" b="0" i="0" u="none" strike="noStrike" cap="none">
              <a:solidFill>
                <a:srgbClr val="000000"/>
              </a:solidFill>
              <a:latin typeface="Arial"/>
              <a:ea typeface="Arial"/>
              <a:cs typeface="Arial"/>
              <a:sym typeface="Arial"/>
            </a:endParaRPr>
          </a:p>
        </p:txBody>
      </p:sp>
      <p:cxnSp>
        <p:nvCxnSpPr>
          <p:cNvPr id="800" name="Google Shape;800;p58"/>
          <p:cNvCxnSpPr/>
          <p:nvPr/>
        </p:nvCxnSpPr>
        <p:spPr>
          <a:xfrm>
            <a:off x="493776" y="1435608"/>
            <a:ext cx="4572000" cy="0"/>
          </a:xfrm>
          <a:prstGeom prst="straightConnector1">
            <a:avLst/>
          </a:prstGeom>
          <a:noFill/>
          <a:ln w="9525" cap="flat" cmpd="sng">
            <a:solidFill>
              <a:srgbClr val="1E3044"/>
            </a:solidFill>
            <a:prstDash val="solid"/>
            <a:round/>
            <a:headEnd type="none" w="sm" len="sm"/>
            <a:tailEnd type="none" w="sm" len="sm"/>
          </a:ln>
        </p:spPr>
      </p:cxnSp>
      <p:sp>
        <p:nvSpPr>
          <p:cNvPr id="801" name="Google Shape;801;p58"/>
          <p:cNvSpPr txBox="1"/>
          <p:nvPr/>
        </p:nvSpPr>
        <p:spPr>
          <a:xfrm>
            <a:off x="694944" y="1527048"/>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7FC6F3"/>
                </a:solidFill>
                <a:latin typeface="Courier New"/>
                <a:ea typeface="Courier New"/>
                <a:cs typeface="Courier New"/>
                <a:sym typeface="Courier New"/>
              </a:rPr>
              <a:t>CLAUDE.md</a:t>
            </a:r>
            <a:endParaRPr sz="1400" b="0" i="0" u="none" strike="noStrike" cap="none">
              <a:solidFill>
                <a:srgbClr val="000000"/>
              </a:solidFill>
              <a:latin typeface="Arial"/>
              <a:ea typeface="Arial"/>
              <a:cs typeface="Arial"/>
              <a:sym typeface="Arial"/>
            </a:endParaRPr>
          </a:p>
        </p:txBody>
      </p:sp>
      <p:sp>
        <p:nvSpPr>
          <p:cNvPr id="802" name="Google Shape;802;p58"/>
          <p:cNvSpPr txBox="1"/>
          <p:nvPr/>
        </p:nvSpPr>
        <p:spPr>
          <a:xfrm>
            <a:off x="2779776" y="1527048"/>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team rules</a:t>
            </a:r>
            <a:endParaRPr sz="1400" b="0" i="0" u="none" strike="noStrike" cap="none">
              <a:solidFill>
                <a:srgbClr val="000000"/>
              </a:solidFill>
              <a:latin typeface="Arial"/>
              <a:ea typeface="Arial"/>
              <a:cs typeface="Arial"/>
              <a:sym typeface="Arial"/>
            </a:endParaRPr>
          </a:p>
        </p:txBody>
      </p:sp>
      <p:sp>
        <p:nvSpPr>
          <p:cNvPr id="803" name="Google Shape;803;p58"/>
          <p:cNvSpPr/>
          <p:nvPr/>
        </p:nvSpPr>
        <p:spPr>
          <a:xfrm>
            <a:off x="4151376" y="1618488"/>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MEMORY</a:t>
            </a:r>
            <a:endParaRPr sz="1400" b="0" i="0" u="none" strike="noStrike" cap="none">
              <a:solidFill>
                <a:srgbClr val="000000"/>
              </a:solidFill>
              <a:latin typeface="Arial"/>
              <a:ea typeface="Arial"/>
              <a:cs typeface="Arial"/>
              <a:sym typeface="Arial"/>
            </a:endParaRPr>
          </a:p>
        </p:txBody>
      </p:sp>
      <p:sp>
        <p:nvSpPr>
          <p:cNvPr id="804" name="Google Shape;804;p58"/>
          <p:cNvSpPr txBox="1"/>
          <p:nvPr/>
        </p:nvSpPr>
        <p:spPr>
          <a:xfrm>
            <a:off x="694944" y="1911096"/>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7FC6F3"/>
                </a:solidFill>
                <a:latin typeface="Courier New"/>
                <a:ea typeface="Courier New"/>
                <a:cs typeface="Courier New"/>
                <a:sym typeface="Courier New"/>
              </a:rPr>
              <a:t>.mcp.json</a:t>
            </a:r>
            <a:endParaRPr sz="1400" b="0" i="0" u="none" strike="noStrike" cap="none">
              <a:solidFill>
                <a:srgbClr val="000000"/>
              </a:solidFill>
              <a:latin typeface="Arial"/>
              <a:ea typeface="Arial"/>
              <a:cs typeface="Arial"/>
              <a:sym typeface="Arial"/>
            </a:endParaRPr>
          </a:p>
        </p:txBody>
      </p:sp>
      <p:sp>
        <p:nvSpPr>
          <p:cNvPr id="805" name="Google Shape;805;p58"/>
          <p:cNvSpPr txBox="1"/>
          <p:nvPr/>
        </p:nvSpPr>
        <p:spPr>
          <a:xfrm>
            <a:off x="2779776" y="1911096"/>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browser + team docs</a:t>
            </a:r>
            <a:endParaRPr sz="1400" b="0" i="0" u="none" strike="noStrike" cap="none">
              <a:solidFill>
                <a:srgbClr val="000000"/>
              </a:solidFill>
              <a:latin typeface="Arial"/>
              <a:ea typeface="Arial"/>
              <a:cs typeface="Arial"/>
              <a:sym typeface="Arial"/>
            </a:endParaRPr>
          </a:p>
        </p:txBody>
      </p:sp>
      <p:sp>
        <p:nvSpPr>
          <p:cNvPr id="806" name="Google Shape;806;p58"/>
          <p:cNvSpPr/>
          <p:nvPr/>
        </p:nvSpPr>
        <p:spPr>
          <a:xfrm>
            <a:off x="4151376" y="2002536"/>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MCP</a:t>
            </a:r>
            <a:endParaRPr sz="1400" b="0" i="0" u="none" strike="noStrike" cap="none">
              <a:solidFill>
                <a:srgbClr val="000000"/>
              </a:solidFill>
              <a:latin typeface="Arial"/>
              <a:ea typeface="Arial"/>
              <a:cs typeface="Arial"/>
              <a:sym typeface="Arial"/>
            </a:endParaRPr>
          </a:p>
        </p:txBody>
      </p:sp>
      <p:sp>
        <p:nvSpPr>
          <p:cNvPr id="807" name="Google Shape;807;p58"/>
          <p:cNvSpPr txBox="1"/>
          <p:nvPr/>
        </p:nvSpPr>
        <p:spPr>
          <a:xfrm>
            <a:off x="694944" y="2295144"/>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FFFFFF"/>
                </a:solidFill>
                <a:latin typeface="Courier New"/>
                <a:ea typeface="Courier New"/>
                <a:cs typeface="Courier New"/>
                <a:sym typeface="Courier New"/>
              </a:rPr>
              <a:t>.claude/</a:t>
            </a:r>
            <a:endParaRPr sz="1400" b="0" i="0" u="none" strike="noStrike" cap="none">
              <a:solidFill>
                <a:srgbClr val="000000"/>
              </a:solidFill>
              <a:latin typeface="Arial"/>
              <a:ea typeface="Arial"/>
              <a:cs typeface="Arial"/>
              <a:sym typeface="Arial"/>
            </a:endParaRPr>
          </a:p>
        </p:txBody>
      </p:sp>
      <p:sp>
        <p:nvSpPr>
          <p:cNvPr id="808" name="Google Shape;808;p58"/>
          <p:cNvSpPr txBox="1"/>
          <p:nvPr/>
        </p:nvSpPr>
        <p:spPr>
          <a:xfrm>
            <a:off x="694944" y="2679192"/>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skills/</a:t>
            </a:r>
            <a:endParaRPr sz="1400" b="0" i="0" u="none" strike="noStrike" cap="none">
              <a:solidFill>
                <a:srgbClr val="000000"/>
              </a:solidFill>
              <a:latin typeface="Arial"/>
              <a:ea typeface="Arial"/>
              <a:cs typeface="Arial"/>
              <a:sym typeface="Arial"/>
            </a:endParaRPr>
          </a:p>
        </p:txBody>
      </p:sp>
      <p:sp>
        <p:nvSpPr>
          <p:cNvPr id="809" name="Google Shape;809;p58"/>
          <p:cNvSpPr txBox="1"/>
          <p:nvPr/>
        </p:nvSpPr>
        <p:spPr>
          <a:xfrm>
            <a:off x="2779776" y="2679192"/>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team skills</a:t>
            </a:r>
            <a:endParaRPr sz="1400" b="0" i="0" u="none" strike="noStrike" cap="none">
              <a:solidFill>
                <a:srgbClr val="000000"/>
              </a:solidFill>
              <a:latin typeface="Arial"/>
              <a:ea typeface="Arial"/>
              <a:cs typeface="Arial"/>
              <a:sym typeface="Arial"/>
            </a:endParaRPr>
          </a:p>
        </p:txBody>
      </p:sp>
      <p:sp>
        <p:nvSpPr>
          <p:cNvPr id="810" name="Google Shape;810;p58"/>
          <p:cNvSpPr/>
          <p:nvPr/>
        </p:nvSpPr>
        <p:spPr>
          <a:xfrm>
            <a:off x="4151376" y="2770632"/>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SKILL</a:t>
            </a:r>
            <a:endParaRPr sz="1400" b="0" i="0" u="none" strike="noStrike" cap="none">
              <a:solidFill>
                <a:srgbClr val="000000"/>
              </a:solidFill>
              <a:latin typeface="Arial"/>
              <a:ea typeface="Arial"/>
              <a:cs typeface="Arial"/>
              <a:sym typeface="Arial"/>
            </a:endParaRPr>
          </a:p>
        </p:txBody>
      </p:sp>
      <p:sp>
        <p:nvSpPr>
          <p:cNvPr id="811" name="Google Shape;811;p58"/>
          <p:cNvSpPr txBox="1"/>
          <p:nvPr/>
        </p:nvSpPr>
        <p:spPr>
          <a:xfrm>
            <a:off x="694944" y="3063240"/>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agents/</a:t>
            </a:r>
            <a:endParaRPr sz="1400" b="0" i="0" u="none" strike="noStrike" cap="none">
              <a:solidFill>
                <a:srgbClr val="000000"/>
              </a:solidFill>
              <a:latin typeface="Arial"/>
              <a:ea typeface="Arial"/>
              <a:cs typeface="Arial"/>
              <a:sym typeface="Arial"/>
            </a:endParaRPr>
          </a:p>
        </p:txBody>
      </p:sp>
      <p:sp>
        <p:nvSpPr>
          <p:cNvPr id="812" name="Google Shape;812;p58"/>
          <p:cNvSpPr txBox="1"/>
          <p:nvPr/>
        </p:nvSpPr>
        <p:spPr>
          <a:xfrm>
            <a:off x="2779776" y="3063240"/>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test-reviewer</a:t>
            </a:r>
            <a:endParaRPr sz="1400" b="0" i="0" u="none" strike="noStrike" cap="none">
              <a:solidFill>
                <a:srgbClr val="000000"/>
              </a:solidFill>
              <a:latin typeface="Arial"/>
              <a:ea typeface="Arial"/>
              <a:cs typeface="Arial"/>
              <a:sym typeface="Arial"/>
            </a:endParaRPr>
          </a:p>
        </p:txBody>
      </p:sp>
      <p:sp>
        <p:nvSpPr>
          <p:cNvPr id="813" name="Google Shape;813;p58"/>
          <p:cNvSpPr/>
          <p:nvPr/>
        </p:nvSpPr>
        <p:spPr>
          <a:xfrm>
            <a:off x="4151376" y="3154680"/>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SUBAGENT</a:t>
            </a:r>
            <a:endParaRPr sz="1400" b="0" i="0" u="none" strike="noStrike" cap="none">
              <a:solidFill>
                <a:srgbClr val="000000"/>
              </a:solidFill>
              <a:latin typeface="Arial"/>
              <a:ea typeface="Arial"/>
              <a:cs typeface="Arial"/>
              <a:sym typeface="Arial"/>
            </a:endParaRPr>
          </a:p>
        </p:txBody>
      </p:sp>
      <p:sp>
        <p:nvSpPr>
          <p:cNvPr id="814" name="Google Shape;814;p58"/>
          <p:cNvSpPr txBox="1"/>
          <p:nvPr/>
        </p:nvSpPr>
        <p:spPr>
          <a:xfrm>
            <a:off x="694944" y="3447288"/>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settings.json</a:t>
            </a:r>
            <a:endParaRPr sz="1400" b="0" i="0" u="none" strike="noStrike" cap="none">
              <a:solidFill>
                <a:srgbClr val="000000"/>
              </a:solidFill>
              <a:latin typeface="Arial"/>
              <a:ea typeface="Arial"/>
              <a:cs typeface="Arial"/>
              <a:sym typeface="Arial"/>
            </a:endParaRPr>
          </a:p>
        </p:txBody>
      </p:sp>
      <p:sp>
        <p:nvSpPr>
          <p:cNvPr id="815" name="Google Shape;815;p58"/>
          <p:cNvSpPr txBox="1"/>
          <p:nvPr/>
        </p:nvSpPr>
        <p:spPr>
          <a:xfrm>
            <a:off x="2779776" y="3447288"/>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hooks for everyone</a:t>
            </a:r>
            <a:endParaRPr sz="1400" b="0" i="0" u="none" strike="noStrike" cap="none">
              <a:solidFill>
                <a:srgbClr val="000000"/>
              </a:solidFill>
              <a:latin typeface="Arial"/>
              <a:ea typeface="Arial"/>
              <a:cs typeface="Arial"/>
              <a:sym typeface="Arial"/>
            </a:endParaRPr>
          </a:p>
        </p:txBody>
      </p:sp>
      <p:sp>
        <p:nvSpPr>
          <p:cNvPr id="816" name="Google Shape;816;p58"/>
          <p:cNvSpPr/>
          <p:nvPr/>
        </p:nvSpPr>
        <p:spPr>
          <a:xfrm>
            <a:off x="4151376" y="3538728"/>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HOOK</a:t>
            </a:r>
            <a:endParaRPr sz="1400" b="0" i="0" u="none" strike="noStrike" cap="none">
              <a:solidFill>
                <a:srgbClr val="000000"/>
              </a:solidFill>
              <a:latin typeface="Arial"/>
              <a:ea typeface="Arial"/>
              <a:cs typeface="Arial"/>
              <a:sym typeface="Arial"/>
            </a:endParaRPr>
          </a:p>
        </p:txBody>
      </p:sp>
      <p:sp>
        <p:nvSpPr>
          <p:cNvPr id="817" name="Google Shape;817;p58"/>
          <p:cNvSpPr/>
          <p:nvPr/>
        </p:nvSpPr>
        <p:spPr>
          <a:xfrm>
            <a:off x="5394960" y="1097280"/>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1</a:t>
            </a:r>
            <a:endParaRPr sz="1400" b="0" i="0" u="none" strike="noStrike" cap="none">
              <a:solidFill>
                <a:srgbClr val="000000"/>
              </a:solidFill>
              <a:latin typeface="Arial"/>
              <a:ea typeface="Arial"/>
              <a:cs typeface="Arial"/>
              <a:sym typeface="Arial"/>
            </a:endParaRPr>
          </a:p>
        </p:txBody>
      </p:sp>
      <p:sp>
        <p:nvSpPr>
          <p:cNvPr id="818" name="Google Shape;818;p58"/>
          <p:cNvSpPr txBox="1"/>
          <p:nvPr/>
        </p:nvSpPr>
        <p:spPr>
          <a:xfrm>
            <a:off x="5870448" y="1078992"/>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Start with</a:t>
            </a:r>
            <a:endParaRPr sz="1400" b="0" i="0" u="none" strike="noStrike" cap="none">
              <a:solidFill>
                <a:srgbClr val="000000"/>
              </a:solidFill>
              <a:latin typeface="Arial"/>
              <a:ea typeface="Arial"/>
              <a:cs typeface="Arial"/>
              <a:sym typeface="Arial"/>
            </a:endParaRPr>
          </a:p>
        </p:txBody>
      </p:sp>
      <p:sp>
        <p:nvSpPr>
          <p:cNvPr id="819" name="Google Shape;819;p58"/>
          <p:cNvSpPr txBox="1"/>
          <p:nvPr/>
        </p:nvSpPr>
        <p:spPr>
          <a:xfrm>
            <a:off x="5870448" y="1426464"/>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One person runs /init once in the test repo. It writes a first CLAUDE.md.</a:t>
            </a:r>
            <a:endParaRPr sz="1400" b="0" i="0" u="none" strike="noStrike" cap="none">
              <a:solidFill>
                <a:srgbClr val="000000"/>
              </a:solidFill>
              <a:latin typeface="Arial"/>
              <a:ea typeface="Arial"/>
              <a:cs typeface="Arial"/>
              <a:sym typeface="Arial"/>
            </a:endParaRPr>
          </a:p>
        </p:txBody>
      </p:sp>
      <p:sp>
        <p:nvSpPr>
          <p:cNvPr id="820" name="Google Shape;820;p58"/>
          <p:cNvSpPr/>
          <p:nvPr/>
        </p:nvSpPr>
        <p:spPr>
          <a:xfrm>
            <a:off x="5394960" y="2048256"/>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2</a:t>
            </a:r>
            <a:endParaRPr sz="1400" b="0" i="0" u="none" strike="noStrike" cap="none">
              <a:solidFill>
                <a:srgbClr val="000000"/>
              </a:solidFill>
              <a:latin typeface="Arial"/>
              <a:ea typeface="Arial"/>
              <a:cs typeface="Arial"/>
              <a:sym typeface="Arial"/>
            </a:endParaRPr>
          </a:p>
        </p:txBody>
      </p:sp>
      <p:sp>
        <p:nvSpPr>
          <p:cNvPr id="821" name="Google Shape;821;p58"/>
          <p:cNvSpPr txBox="1"/>
          <p:nvPr/>
        </p:nvSpPr>
        <p:spPr>
          <a:xfrm>
            <a:off x="5870448" y="2029968"/>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Commit it</a:t>
            </a:r>
            <a:endParaRPr sz="1400" b="0" i="0" u="none" strike="noStrike" cap="none">
              <a:solidFill>
                <a:srgbClr val="000000"/>
              </a:solidFill>
              <a:latin typeface="Arial"/>
              <a:ea typeface="Arial"/>
              <a:cs typeface="Arial"/>
              <a:sym typeface="Arial"/>
            </a:endParaRPr>
          </a:p>
        </p:txBody>
      </p:sp>
      <p:sp>
        <p:nvSpPr>
          <p:cNvPr id="822" name="Google Shape;822;p58"/>
          <p:cNvSpPr txBox="1"/>
          <p:nvPr/>
        </p:nvSpPr>
        <p:spPr>
          <a:xfrm>
            <a:off x="5870448" y="2377440"/>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The whole team shares the same rules, and changes them by pull request, like code.</a:t>
            </a:r>
            <a:endParaRPr sz="1400" b="0" i="0" u="none" strike="noStrike" cap="none">
              <a:solidFill>
                <a:srgbClr val="000000"/>
              </a:solidFill>
              <a:latin typeface="Arial"/>
              <a:ea typeface="Arial"/>
              <a:cs typeface="Arial"/>
              <a:sym typeface="Arial"/>
            </a:endParaRPr>
          </a:p>
        </p:txBody>
      </p:sp>
      <p:sp>
        <p:nvSpPr>
          <p:cNvPr id="823" name="Google Shape;823;p58"/>
          <p:cNvSpPr/>
          <p:nvPr/>
        </p:nvSpPr>
        <p:spPr>
          <a:xfrm>
            <a:off x="5394960" y="2999232"/>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3</a:t>
            </a:r>
            <a:endParaRPr sz="1400" b="0" i="0" u="none" strike="noStrike" cap="none">
              <a:solidFill>
                <a:srgbClr val="000000"/>
              </a:solidFill>
              <a:latin typeface="Arial"/>
              <a:ea typeface="Arial"/>
              <a:cs typeface="Arial"/>
              <a:sym typeface="Arial"/>
            </a:endParaRPr>
          </a:p>
        </p:txBody>
      </p:sp>
      <p:sp>
        <p:nvSpPr>
          <p:cNvPr id="824" name="Google Shape;824;p58"/>
          <p:cNvSpPr txBox="1"/>
          <p:nvPr/>
        </p:nvSpPr>
        <p:spPr>
          <a:xfrm>
            <a:off x="5870448" y="2980944"/>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Keep personal preferences out</a:t>
            </a:r>
            <a:endParaRPr sz="1400" b="0" i="0" u="none" strike="noStrike" cap="none">
              <a:solidFill>
                <a:srgbClr val="000000"/>
              </a:solidFill>
              <a:latin typeface="Arial"/>
              <a:ea typeface="Arial"/>
              <a:cs typeface="Arial"/>
              <a:sym typeface="Arial"/>
            </a:endParaRPr>
          </a:p>
        </p:txBody>
      </p:sp>
      <p:sp>
        <p:nvSpPr>
          <p:cNvPr id="825" name="Google Shape;825;p58"/>
          <p:cNvSpPr txBox="1"/>
          <p:nvPr/>
        </p:nvSpPr>
        <p:spPr>
          <a:xfrm>
            <a:off x="5870448" y="3328416"/>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Each tester's own ~/.claude/CLAUDE.md, not in the repo.</a:t>
            </a:r>
            <a:endParaRPr sz="1400" b="0" i="0" u="none" strike="noStrike" cap="none">
              <a:solidFill>
                <a:srgbClr val="000000"/>
              </a:solidFill>
              <a:latin typeface="Arial"/>
              <a:ea typeface="Arial"/>
              <a:cs typeface="Arial"/>
              <a:sym typeface="Arial"/>
            </a:endParaRPr>
          </a:p>
        </p:txBody>
      </p:sp>
      <p:sp>
        <p:nvSpPr>
          <p:cNvPr id="826" name="Google Shape;826;p58"/>
          <p:cNvSpPr/>
          <p:nvPr/>
        </p:nvSpPr>
        <p:spPr>
          <a:xfrm>
            <a:off x="493776" y="4160520"/>
            <a:ext cx="8156448" cy="420624"/>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4FB0EA"/>
                </a:solidFill>
                <a:latin typeface="Calibri"/>
                <a:ea typeface="Calibri"/>
                <a:cs typeface="Calibri"/>
                <a:sym typeface="Calibri"/>
              </a:rPr>
              <a:t>Why first:  </a:t>
            </a:r>
            <a:r>
              <a:rPr lang="en-GB" sz="1200" b="0" i="0" u="none" strike="noStrike" cap="none">
                <a:solidFill>
                  <a:srgbClr val="EAF1F7"/>
                </a:solidFill>
                <a:latin typeface="Calibri"/>
                <a:ea typeface="Calibri"/>
                <a:cs typeface="Calibri"/>
                <a:sym typeface="Calibri"/>
              </a:rPr>
              <a:t>every tester's Claude now starts with the same rules, skills and tools.</a:t>
            </a: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2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2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31"/>
        <p:cNvGrpSpPr/>
        <p:nvPr/>
      </p:nvGrpSpPr>
      <p:grpSpPr>
        <a:xfrm>
          <a:off x="0" y="0"/>
          <a:ext cx="0" cy="0"/>
          <a:chOff x="0" y="0"/>
          <a:chExt cx="0" cy="0"/>
        </a:xfrm>
      </p:grpSpPr>
      <p:sp>
        <p:nvSpPr>
          <p:cNvPr id="832" name="Google Shape;832;p5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2: without your docs, Claude can only guess</a:t>
            </a:r>
            <a:endParaRPr/>
          </a:p>
        </p:txBody>
      </p:sp>
      <p:sp>
        <p:nvSpPr>
          <p:cNvPr id="833" name="Google Shape;833;p59"/>
          <p:cNvSpPr txBox="1"/>
          <p:nvPr/>
        </p:nvSpPr>
        <p:spPr>
          <a:xfrm>
            <a:off x="493776" y="914400"/>
            <a:ext cx="8138160" cy="430887"/>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0" i="0" u="none" strike="noStrike" cap="none" dirty="0">
                <a:solidFill>
                  <a:srgbClr val="EAF1F7"/>
                </a:solidFill>
                <a:latin typeface="Calibri"/>
                <a:ea typeface="Calibri"/>
                <a:cs typeface="Calibri"/>
                <a:sym typeface="Calibri"/>
              </a:rPr>
              <a:t>The bug: payment takes 1–8 s, but the test checks once after 2 s. </a:t>
            </a:r>
          </a:p>
          <a:p>
            <a:pPr marL="0" marR="0" lvl="0" indent="0" algn="l" rtl="0">
              <a:lnSpc>
                <a:spcPct val="100000"/>
              </a:lnSpc>
              <a:spcBef>
                <a:spcPts val="0"/>
              </a:spcBef>
              <a:spcAft>
                <a:spcPts val="0"/>
              </a:spcAft>
              <a:buClr>
                <a:srgbClr val="000000"/>
              </a:buClr>
              <a:buSzPts val="1400"/>
              <a:buFont typeface="Arial"/>
              <a:buNone/>
            </a:pPr>
            <a:r>
              <a:rPr lang="en-GB" sz="1400" b="0" i="0" u="none" strike="noStrike" cap="none" dirty="0">
                <a:solidFill>
                  <a:srgbClr val="93A9C0"/>
                </a:solidFill>
                <a:latin typeface="Calibri"/>
                <a:ea typeface="Calibri"/>
                <a:cs typeface="Calibri"/>
                <a:sym typeface="Calibri"/>
              </a:rPr>
              <a:t>We asked Claude to fix it with no team docs, twice.</a:t>
            </a:r>
            <a:endParaRPr sz="1400" b="0" i="0" u="none" strike="noStrike" cap="none" dirty="0">
              <a:solidFill>
                <a:srgbClr val="000000"/>
              </a:solidFill>
              <a:latin typeface="Arial"/>
              <a:ea typeface="Arial"/>
              <a:cs typeface="Arial"/>
              <a:sym typeface="Arial"/>
            </a:endParaRPr>
          </a:p>
        </p:txBody>
      </p:sp>
      <p:sp>
        <p:nvSpPr>
          <p:cNvPr id="834" name="Google Shape;834;p59"/>
          <p:cNvSpPr/>
          <p:nvPr/>
        </p:nvSpPr>
        <p:spPr>
          <a:xfrm>
            <a:off x="1363980" y="1856232"/>
            <a:ext cx="1264920" cy="128016"/>
          </a:xfrm>
          <a:prstGeom prst="rect">
            <a:avLst/>
          </a:prstGeom>
          <a:solidFill>
            <a:srgbClr val="1F5A3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835" name="Google Shape;835;p59"/>
          <p:cNvSpPr/>
          <p:nvPr/>
        </p:nvSpPr>
        <p:spPr>
          <a:xfrm>
            <a:off x="2628900" y="1856232"/>
            <a:ext cx="3162299" cy="128016"/>
          </a:xfrm>
          <a:prstGeom prst="rect">
            <a:avLst/>
          </a:prstGeom>
          <a:solidFill>
            <a:srgbClr val="5A4316"/>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836" name="Google Shape;836;p59"/>
          <p:cNvCxnSpPr/>
          <p:nvPr/>
        </p:nvCxnSpPr>
        <p:spPr>
          <a:xfrm>
            <a:off x="731520" y="1920240"/>
            <a:ext cx="7589520" cy="0"/>
          </a:xfrm>
          <a:prstGeom prst="straightConnector1">
            <a:avLst/>
          </a:prstGeom>
          <a:noFill/>
          <a:ln w="12700" cap="flat" cmpd="sng">
            <a:solidFill>
              <a:srgbClr val="93A9C0"/>
            </a:solidFill>
            <a:prstDash val="solid"/>
            <a:round/>
            <a:headEnd type="none" w="sm" len="sm"/>
            <a:tailEnd type="none" w="sm" len="sm"/>
          </a:ln>
          <a:effectLst>
            <a:outerShdw blurRad="40000" dist="20000" dir="5400000" rotWithShape="0">
              <a:srgbClr val="000000">
                <a:alpha val="38039"/>
              </a:srgbClr>
            </a:outerShdw>
          </a:effectLst>
        </p:spPr>
      </p:cxnSp>
      <p:sp>
        <p:nvSpPr>
          <p:cNvPr id="837" name="Google Shape;837;p59"/>
          <p:cNvSpPr txBox="1"/>
          <p:nvPr/>
        </p:nvSpPr>
        <p:spPr>
          <a:xfrm>
            <a:off x="457200"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0 s</a:t>
            </a:r>
            <a:endParaRPr sz="1400" b="0" i="0" u="none" strike="noStrike" cap="none">
              <a:solidFill>
                <a:srgbClr val="000000"/>
              </a:solidFill>
              <a:latin typeface="Arial"/>
              <a:ea typeface="Arial"/>
              <a:cs typeface="Arial"/>
              <a:sym typeface="Arial"/>
            </a:endParaRPr>
          </a:p>
        </p:txBody>
      </p:sp>
      <p:sp>
        <p:nvSpPr>
          <p:cNvPr id="838" name="Google Shape;838;p59"/>
          <p:cNvSpPr txBox="1"/>
          <p:nvPr/>
        </p:nvSpPr>
        <p:spPr>
          <a:xfrm>
            <a:off x="2987040"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4 s</a:t>
            </a:r>
            <a:endParaRPr sz="1400" b="0" i="0" u="none" strike="noStrike" cap="none">
              <a:solidFill>
                <a:srgbClr val="000000"/>
              </a:solidFill>
              <a:latin typeface="Arial"/>
              <a:ea typeface="Arial"/>
              <a:cs typeface="Arial"/>
              <a:sym typeface="Arial"/>
            </a:endParaRPr>
          </a:p>
        </p:txBody>
      </p:sp>
      <p:sp>
        <p:nvSpPr>
          <p:cNvPr id="839" name="Google Shape;839;p59"/>
          <p:cNvSpPr txBox="1"/>
          <p:nvPr/>
        </p:nvSpPr>
        <p:spPr>
          <a:xfrm>
            <a:off x="425195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6 s</a:t>
            </a:r>
            <a:endParaRPr sz="1400" b="0" i="0" u="none" strike="noStrike" cap="none">
              <a:solidFill>
                <a:srgbClr val="000000"/>
              </a:solidFill>
              <a:latin typeface="Arial"/>
              <a:ea typeface="Arial"/>
              <a:cs typeface="Arial"/>
              <a:sym typeface="Arial"/>
            </a:endParaRPr>
          </a:p>
        </p:txBody>
      </p:sp>
      <p:sp>
        <p:nvSpPr>
          <p:cNvPr id="840" name="Google Shape;840;p59"/>
          <p:cNvSpPr txBox="1"/>
          <p:nvPr/>
        </p:nvSpPr>
        <p:spPr>
          <a:xfrm>
            <a:off x="551687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8 s</a:t>
            </a:r>
            <a:endParaRPr sz="1400" b="0" i="0" u="none" strike="noStrike" cap="none">
              <a:solidFill>
                <a:srgbClr val="000000"/>
              </a:solidFill>
              <a:latin typeface="Arial"/>
              <a:ea typeface="Arial"/>
              <a:cs typeface="Arial"/>
              <a:sym typeface="Arial"/>
            </a:endParaRPr>
          </a:p>
        </p:txBody>
      </p:sp>
      <p:sp>
        <p:nvSpPr>
          <p:cNvPr id="841" name="Google Shape;841;p59"/>
          <p:cNvSpPr txBox="1"/>
          <p:nvPr/>
        </p:nvSpPr>
        <p:spPr>
          <a:xfrm>
            <a:off x="804671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12 s</a:t>
            </a:r>
            <a:endParaRPr sz="1400" b="0" i="0" u="none" strike="noStrike" cap="none">
              <a:solidFill>
                <a:srgbClr val="000000"/>
              </a:solidFill>
              <a:latin typeface="Arial"/>
              <a:ea typeface="Arial"/>
              <a:cs typeface="Arial"/>
              <a:sym typeface="Arial"/>
            </a:endParaRPr>
          </a:p>
        </p:txBody>
      </p:sp>
      <p:sp>
        <p:nvSpPr>
          <p:cNvPr id="842" name="Google Shape;842;p59"/>
          <p:cNvSpPr txBox="1"/>
          <p:nvPr/>
        </p:nvSpPr>
        <p:spPr>
          <a:xfrm>
            <a:off x="1363980" y="1591056"/>
            <a:ext cx="126492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dirty="0">
                <a:solidFill>
                  <a:srgbClr val="5FD08A"/>
                </a:solidFill>
                <a:latin typeface="Calibri"/>
                <a:ea typeface="Calibri"/>
                <a:cs typeface="Calibri"/>
                <a:sym typeface="Calibri"/>
              </a:rPr>
              <a:t>usual 1–3 s</a:t>
            </a:r>
            <a:endParaRPr sz="1400" b="0" i="0" u="none" strike="noStrike" cap="none" dirty="0">
              <a:solidFill>
                <a:srgbClr val="000000"/>
              </a:solidFill>
              <a:latin typeface="Arial"/>
              <a:ea typeface="Arial"/>
              <a:cs typeface="Arial"/>
              <a:sym typeface="Arial"/>
            </a:endParaRPr>
          </a:p>
        </p:txBody>
      </p:sp>
      <p:sp>
        <p:nvSpPr>
          <p:cNvPr id="843" name="Google Shape;843;p59"/>
          <p:cNvSpPr txBox="1"/>
          <p:nvPr/>
        </p:nvSpPr>
        <p:spPr>
          <a:xfrm>
            <a:off x="2628900" y="1591056"/>
            <a:ext cx="3162300" cy="146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dirty="0">
                <a:solidFill>
                  <a:srgbClr val="7FC6F3"/>
                </a:solidFill>
                <a:latin typeface="Calibri"/>
                <a:ea typeface="Calibri"/>
                <a:cs typeface="Calibri"/>
                <a:sym typeface="Calibri"/>
              </a:rPr>
              <a:t>busy hours: up to 8 s (our runbook)</a:t>
            </a:r>
            <a:endParaRPr sz="1400" b="0" i="0" u="none" strike="noStrike" cap="none" dirty="0">
              <a:solidFill>
                <a:srgbClr val="000000"/>
              </a:solidFill>
              <a:latin typeface="Arial"/>
              <a:ea typeface="Arial"/>
              <a:cs typeface="Arial"/>
              <a:sym typeface="Arial"/>
            </a:endParaRPr>
          </a:p>
        </p:txBody>
      </p:sp>
      <p:cxnSp>
        <p:nvCxnSpPr>
          <p:cNvPr id="844" name="Google Shape;844;p59"/>
          <p:cNvCxnSpPr/>
          <p:nvPr/>
        </p:nvCxnSpPr>
        <p:spPr>
          <a:xfrm>
            <a:off x="1996439" y="1719072"/>
            <a:ext cx="0" cy="566928"/>
          </a:xfrm>
          <a:prstGeom prst="straightConnector1">
            <a:avLst/>
          </a:prstGeom>
          <a:noFill/>
          <a:ln w="28575" cap="flat" cmpd="sng">
            <a:solidFill>
              <a:srgbClr val="F06A5F"/>
            </a:solidFill>
            <a:prstDash val="solid"/>
            <a:round/>
            <a:headEnd type="none" w="sm" len="sm"/>
            <a:tailEnd type="none" w="sm" len="sm"/>
          </a:ln>
          <a:effectLst>
            <a:outerShdw blurRad="40000" dist="20000" dir="5400000" rotWithShape="0">
              <a:srgbClr val="000000">
                <a:alpha val="38039"/>
              </a:srgbClr>
            </a:outerShdw>
          </a:effectLst>
        </p:spPr>
      </p:cxnSp>
      <p:sp>
        <p:nvSpPr>
          <p:cNvPr id="845" name="Google Shape;845;p59"/>
          <p:cNvSpPr txBox="1"/>
          <p:nvPr/>
        </p:nvSpPr>
        <p:spPr>
          <a:xfrm>
            <a:off x="1173480" y="2304288"/>
            <a:ext cx="164592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06A5F"/>
                </a:solidFill>
                <a:latin typeface="Calibri"/>
                <a:ea typeface="Calibri"/>
                <a:cs typeface="Calibri"/>
                <a:sym typeface="Calibri"/>
              </a:rPr>
              <a:t>old test checks (2 s)</a:t>
            </a:r>
            <a:endParaRPr sz="1400" b="0" i="0" u="none" strike="noStrike" cap="none">
              <a:solidFill>
                <a:srgbClr val="000000"/>
              </a:solidFill>
              <a:latin typeface="Arial"/>
              <a:ea typeface="Arial"/>
              <a:cs typeface="Arial"/>
              <a:sym typeface="Arial"/>
            </a:endParaRPr>
          </a:p>
        </p:txBody>
      </p:sp>
      <p:cxnSp>
        <p:nvCxnSpPr>
          <p:cNvPr id="846" name="Google Shape;846;p59"/>
          <p:cNvCxnSpPr/>
          <p:nvPr/>
        </p:nvCxnSpPr>
        <p:spPr>
          <a:xfrm>
            <a:off x="3893819" y="1719072"/>
            <a:ext cx="0" cy="566928"/>
          </a:xfrm>
          <a:prstGeom prst="straightConnector1">
            <a:avLst/>
          </a:prstGeom>
          <a:noFill/>
          <a:ln w="28575" cap="flat" cmpd="sng">
            <a:solidFill>
              <a:srgbClr val="4FB0EA"/>
            </a:solidFill>
            <a:prstDash val="solid"/>
            <a:round/>
            <a:headEnd type="none" w="sm" len="sm"/>
            <a:tailEnd type="none" w="sm" len="sm"/>
          </a:ln>
          <a:effectLst>
            <a:outerShdw blurRad="40000" dist="20000" dir="5400000" rotWithShape="0">
              <a:srgbClr val="000000">
                <a:alpha val="38039"/>
              </a:srgbClr>
            </a:outerShdw>
          </a:effectLst>
        </p:spPr>
      </p:cxnSp>
      <p:sp>
        <p:nvSpPr>
          <p:cNvPr id="847" name="Google Shape;847;p59"/>
          <p:cNvSpPr txBox="1"/>
          <p:nvPr/>
        </p:nvSpPr>
        <p:spPr>
          <a:xfrm>
            <a:off x="2770859" y="2304288"/>
            <a:ext cx="2245800" cy="1539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A and B give up (5 s)</a:t>
            </a:r>
            <a:endParaRPr sz="1400" b="0" i="0" u="none" strike="noStrike" cap="none">
              <a:solidFill>
                <a:srgbClr val="000000"/>
              </a:solidFill>
              <a:latin typeface="Arial"/>
              <a:ea typeface="Arial"/>
              <a:cs typeface="Arial"/>
              <a:sym typeface="Arial"/>
            </a:endParaRPr>
          </a:p>
        </p:txBody>
      </p:sp>
      <p:sp>
        <p:nvSpPr>
          <p:cNvPr id="848" name="Google Shape;848;p59"/>
          <p:cNvSpPr/>
          <p:nvPr/>
        </p:nvSpPr>
        <p:spPr>
          <a:xfrm>
            <a:off x="493776" y="2697480"/>
            <a:ext cx="4005072" cy="1234440"/>
          </a:xfrm>
          <a:prstGeom prst="roundRect">
            <a:avLst>
              <a:gd name="adj" fmla="val 8000"/>
            </a:avLst>
          </a:prstGeom>
          <a:solidFill>
            <a:srgbClr val="0A131E"/>
          </a:solidFill>
          <a:ln w="15875"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849" name="Google Shape;849;p59"/>
          <p:cNvSpPr txBox="1"/>
          <p:nvPr/>
        </p:nvSpPr>
        <p:spPr>
          <a:xfrm>
            <a:off x="630936" y="2761488"/>
            <a:ext cx="3749100" cy="1031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A · Plain prompt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toHaveText(checkoutTexts.paymentDone)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Removed the sleep (Playwright waits up to 5 s). Ran it on this laptop and said “Fixed.”</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1" i="0" u="none" strike="noStrike" cap="none">
                <a:solidFill>
                  <a:srgbClr val="F06A5F"/>
                </a:solidFill>
                <a:latin typeface="Calibri"/>
                <a:ea typeface="Calibri"/>
                <a:cs typeface="Calibri"/>
                <a:sym typeface="Calibri"/>
              </a:rPr>
              <a:t>✗  Fails when payment takes 8 s.</a:t>
            </a:r>
            <a:endParaRPr sz="1400" b="0" i="0" u="none" strike="noStrike" cap="none">
              <a:solidFill>
                <a:srgbClr val="000000"/>
              </a:solidFill>
              <a:latin typeface="Arial"/>
              <a:ea typeface="Arial"/>
              <a:cs typeface="Arial"/>
              <a:sym typeface="Arial"/>
            </a:endParaRPr>
          </a:p>
        </p:txBody>
      </p:sp>
      <p:sp>
        <p:nvSpPr>
          <p:cNvPr id="850" name="Google Shape;850;p59"/>
          <p:cNvSpPr/>
          <p:nvPr/>
        </p:nvSpPr>
        <p:spPr>
          <a:xfrm>
            <a:off x="4645152" y="2697480"/>
            <a:ext cx="4005072" cy="1234440"/>
          </a:xfrm>
          <a:prstGeom prst="roundRect">
            <a:avLst>
              <a:gd name="adj" fmla="val 8000"/>
            </a:avLst>
          </a:prstGeom>
          <a:solidFill>
            <a:srgbClr val="0A131E"/>
          </a:solidFill>
          <a:ln w="15875"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851" name="Google Shape;851;p59"/>
          <p:cNvSpPr txBox="1"/>
          <p:nvPr/>
        </p:nvSpPr>
        <p:spPr>
          <a:xfrm>
            <a:off x="4782312" y="2761488"/>
            <a:ext cx="3749100" cy="1031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B · + /karpathy-guidelines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the same change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…and it warned us: “only 1.5 s of slack… I haven't seen CI timings. Say if you want it.”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1" i="0" u="none" strike="noStrike" cap="none">
                <a:solidFill>
                  <a:srgbClr val="C98A2E"/>
                </a:solidFill>
                <a:latin typeface="Calibri"/>
                <a:ea typeface="Calibri"/>
                <a:cs typeface="Calibri"/>
                <a:sym typeface="Calibri"/>
              </a:rPr>
              <a:t>Honest, but still fails at 8 s.</a:t>
            </a:r>
            <a:endParaRPr sz="1400" b="0" i="0" u="none" strike="noStrike" cap="none">
              <a:solidFill>
                <a:srgbClr val="000000"/>
              </a:solidFill>
              <a:latin typeface="Arial"/>
              <a:ea typeface="Arial"/>
              <a:cs typeface="Arial"/>
              <a:sym typeface="Arial"/>
            </a:endParaRPr>
          </a:p>
        </p:txBody>
      </p:sp>
      <p:sp>
        <p:nvSpPr>
          <p:cNvPr id="852" name="Google Shape;852;p59"/>
          <p:cNvSpPr txBox="1"/>
          <p:nvPr/>
        </p:nvSpPr>
        <p:spPr>
          <a:xfrm>
            <a:off x="493776" y="4114800"/>
            <a:ext cx="8138100" cy="40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GB" sz="1300" b="1" i="1" u="none" strike="noStrike" cap="none">
                <a:solidFill>
                  <a:srgbClr val="7FC6F3"/>
                </a:solidFill>
                <a:latin typeface="Century Schoolbook"/>
                <a:ea typeface="Century Schoolbook"/>
                <a:cs typeface="Century Schoolbook"/>
                <a:sym typeface="Century Schoolbook"/>
              </a:rPr>
              <a:t>Same code, different answers. Only your docs know the real answer: wait for “confirmed”, not a time.</a:t>
            </a: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4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4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4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5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4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4" grpId="0" animBg="1"/>
      <p:bldP spid="835" grpId="0" animBg="1"/>
      <p:bldP spid="842" grpId="0"/>
      <p:bldP spid="843" grpId="0"/>
      <p:bldP spid="845" grpId="0"/>
      <p:bldP spid="847" grpId="0"/>
      <p:bldP spid="848" grpId="0" animBg="1"/>
      <p:bldP spid="849" grpId="0"/>
      <p:bldP spid="850" grpId="0" animBg="1"/>
      <p:bldP spid="851" grpId="0"/>
      <p:bldP spid="85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60"/>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EAF1F7"/>
              </a:buClr>
              <a:buSzPts val="1900"/>
              <a:buFont typeface="Century Schoolbook"/>
              <a:buNone/>
            </a:pPr>
            <a:r>
              <a:rPr lang="en-GB" sz="1900" b="1">
                <a:solidFill>
                  <a:srgbClr val="EAF1F6"/>
                </a:solidFill>
                <a:latin typeface="Century Schoolbook"/>
                <a:ea typeface="Century Schoolbook"/>
                <a:cs typeface="Century Schoolbook"/>
                <a:sym typeface="Century Schoolbook"/>
              </a:rPr>
              <a:t>One more layer: the karpathy rules + your team's knowledge</a:t>
            </a:r>
            <a:endParaRPr/>
          </a:p>
        </p:txBody>
      </p:sp>
      <p:sp>
        <p:nvSpPr>
          <p:cNvPr id="858" name="Google Shape;858;p60"/>
          <p:cNvSpPr/>
          <p:nvPr/>
        </p:nvSpPr>
        <p:spPr>
          <a:xfrm>
            <a:off x="493776" y="960120"/>
            <a:ext cx="4572000" cy="566928"/>
          </a:xfrm>
          <a:prstGeom prst="roundRect">
            <a:avLst>
              <a:gd name="adj" fmla="val 8000"/>
            </a:avLst>
          </a:prstGeom>
          <a:solidFill>
            <a:srgbClr val="0E141B"/>
          </a:solidFill>
          <a:ln w="19050" cap="flat" cmpd="sng">
            <a:solidFill>
              <a:srgbClr val="4FA8E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59" name="Google Shape;859;p60"/>
          <p:cNvSpPr txBox="1"/>
          <p:nvPr/>
        </p:nvSpPr>
        <p:spPr>
          <a:xfrm>
            <a:off x="640080" y="1014984"/>
            <a:ext cx="4343400" cy="4754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300" b="1" i="0" u="none" strike="noStrike" cap="none">
                <a:solidFill>
                  <a:srgbClr val="EAF1F6"/>
                </a:solidFill>
                <a:latin typeface="Century Schoolbook"/>
                <a:ea typeface="Century Schoolbook"/>
                <a:cs typeface="Century Schoolbook"/>
                <a:sym typeface="Century Schoolbook"/>
              </a:rPr>
              <a:t>Karpathy's four rules</a:t>
            </a:r>
            <a:r>
              <a:rPr lang="en-GB" sz="1050" b="1" i="0" u="none" strike="noStrike" cap="none">
                <a:solidFill>
                  <a:srgbClr val="4FA8E0"/>
                </a:solidFill>
                <a:latin typeface="Calibri"/>
                <a:ea typeface="Calibri"/>
                <a:cs typeface="Calibri"/>
                <a:sym typeface="Calibri"/>
              </a:rPr>
              <a:t>   HOW TO WORK</a:t>
            </a:r>
            <a:endParaRPr/>
          </a:p>
          <a:p>
            <a:pPr marL="0" marR="0" lvl="0" indent="0" algn="l" rtl="0">
              <a:lnSpc>
                <a:spcPct val="100000"/>
              </a:lnSpc>
              <a:spcBef>
                <a:spcPts val="100"/>
              </a:spcBef>
              <a:spcAft>
                <a:spcPts val="0"/>
              </a:spcAft>
              <a:buNone/>
            </a:pPr>
            <a:r>
              <a:rPr lang="en-GB" sz="1050" b="0" i="0" u="none" strike="noStrike" cap="none">
                <a:solidFill>
                  <a:srgbClr val="8FA0AE"/>
                </a:solidFill>
                <a:latin typeface="Calibri"/>
                <a:ea typeface="Calibri"/>
                <a:cs typeface="Calibri"/>
                <a:sym typeface="Calibri"/>
              </a:rPr>
              <a:t>think first · keep it simple · touch only the task · prove it</a:t>
            </a:r>
            <a:endParaRPr/>
          </a:p>
        </p:txBody>
      </p:sp>
      <p:sp>
        <p:nvSpPr>
          <p:cNvPr id="860" name="Google Shape;860;p60"/>
          <p:cNvSpPr txBox="1"/>
          <p:nvPr/>
        </p:nvSpPr>
        <p:spPr>
          <a:xfrm>
            <a:off x="493776" y="1527048"/>
            <a:ext cx="4572000" cy="23774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500" b="1" i="0" u="none" strike="noStrike" cap="none">
                <a:solidFill>
                  <a:srgbClr val="8FA0AE"/>
                </a:solidFill>
                <a:latin typeface="Calibri"/>
                <a:ea typeface="Calibri"/>
                <a:cs typeface="Calibri"/>
                <a:sym typeface="Calibri"/>
              </a:rPr>
              <a:t>+</a:t>
            </a:r>
            <a:endParaRPr/>
          </a:p>
        </p:txBody>
      </p:sp>
      <p:sp>
        <p:nvSpPr>
          <p:cNvPr id="861" name="Google Shape;861;p60"/>
          <p:cNvSpPr/>
          <p:nvPr/>
        </p:nvSpPr>
        <p:spPr>
          <a:xfrm>
            <a:off x="493776" y="1764792"/>
            <a:ext cx="4572000" cy="566928"/>
          </a:xfrm>
          <a:prstGeom prst="roundRect">
            <a:avLst>
              <a:gd name="adj" fmla="val 8000"/>
            </a:avLst>
          </a:prstGeom>
          <a:solidFill>
            <a:srgbClr val="0E141B"/>
          </a:solidFill>
          <a:ln w="19050" cap="flat" cmpd="sng">
            <a:solidFill>
              <a:srgbClr val="E6B15E"/>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62" name="Google Shape;862;p60"/>
          <p:cNvSpPr txBox="1"/>
          <p:nvPr/>
        </p:nvSpPr>
        <p:spPr>
          <a:xfrm>
            <a:off x="640080" y="1819656"/>
            <a:ext cx="4343400" cy="4754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300" b="1" i="0" u="none" strike="noStrike" cap="none">
                <a:solidFill>
                  <a:srgbClr val="EAF1F6"/>
                </a:solidFill>
                <a:latin typeface="Century Schoolbook"/>
                <a:ea typeface="Century Schoolbook"/>
                <a:cs typeface="Century Schoolbook"/>
                <a:sym typeface="Century Schoolbook"/>
              </a:rPr>
              <a:t>Your team's docs (RAG)</a:t>
            </a:r>
            <a:r>
              <a:rPr lang="en-GB" sz="1050" b="1" i="0" u="none" strike="noStrike" cap="none">
                <a:solidFill>
                  <a:srgbClr val="E6B15E"/>
                </a:solidFill>
                <a:latin typeface="Calibri"/>
                <a:ea typeface="Calibri"/>
                <a:cs typeface="Calibri"/>
                <a:sym typeface="Calibri"/>
              </a:rPr>
              <a:t>   WHAT IS TRUE</a:t>
            </a:r>
            <a:endParaRPr/>
          </a:p>
          <a:p>
            <a:pPr marL="0" marR="0" lvl="0" indent="0" algn="l" rtl="0">
              <a:lnSpc>
                <a:spcPct val="100000"/>
              </a:lnSpc>
              <a:spcBef>
                <a:spcPts val="100"/>
              </a:spcBef>
              <a:spcAft>
                <a:spcPts val="0"/>
              </a:spcAft>
              <a:buNone/>
            </a:pPr>
            <a:r>
              <a:rPr lang="en-GB" sz="1050" b="0" i="0" u="none" strike="noStrike" cap="none">
                <a:solidFill>
                  <a:srgbClr val="8FA0AE"/>
                </a:solidFill>
                <a:latin typeface="Calibri"/>
                <a:ea typeface="Calibri"/>
                <a:cs typeface="Calibri"/>
                <a:sym typeface="Calibri"/>
              </a:rPr>
              <a:t>search_docs via MCP finds the runbook: wait for “confirmed”, up to 8 s</a:t>
            </a:r>
            <a:endParaRPr/>
          </a:p>
        </p:txBody>
      </p:sp>
      <p:sp>
        <p:nvSpPr>
          <p:cNvPr id="863" name="Google Shape;863;p60"/>
          <p:cNvSpPr txBox="1"/>
          <p:nvPr/>
        </p:nvSpPr>
        <p:spPr>
          <a:xfrm>
            <a:off x="493776" y="2331720"/>
            <a:ext cx="4572000" cy="23774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500" b="1" i="0" u="none" strike="noStrike" cap="none">
                <a:solidFill>
                  <a:srgbClr val="8FA0AE"/>
                </a:solidFill>
                <a:latin typeface="Calibri"/>
                <a:ea typeface="Calibri"/>
                <a:cs typeface="Calibri"/>
                <a:sym typeface="Calibri"/>
              </a:rPr>
              <a:t>+</a:t>
            </a:r>
            <a:endParaRPr/>
          </a:p>
        </p:txBody>
      </p:sp>
      <p:sp>
        <p:nvSpPr>
          <p:cNvPr id="864" name="Google Shape;864;p60"/>
          <p:cNvSpPr/>
          <p:nvPr/>
        </p:nvSpPr>
        <p:spPr>
          <a:xfrm>
            <a:off x="493776" y="2569464"/>
            <a:ext cx="4572000" cy="566928"/>
          </a:xfrm>
          <a:prstGeom prst="roundRect">
            <a:avLst>
              <a:gd name="adj" fmla="val 8000"/>
            </a:avLst>
          </a:prstGeom>
          <a:solidFill>
            <a:srgbClr val="0E141B"/>
          </a:solidFill>
          <a:ln w="19050" cap="flat" cmpd="sng">
            <a:solidFill>
              <a:srgbClr val="3FC8B8"/>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65" name="Google Shape;865;p60"/>
          <p:cNvSpPr txBox="1"/>
          <p:nvPr/>
        </p:nvSpPr>
        <p:spPr>
          <a:xfrm>
            <a:off x="640080" y="2624328"/>
            <a:ext cx="4343400" cy="4754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300" b="1" i="0" u="none" strike="noStrike" cap="none">
                <a:solidFill>
                  <a:srgbClr val="EAF1F6"/>
                </a:solidFill>
                <a:latin typeface="Century Schoolbook"/>
                <a:ea typeface="Century Schoolbook"/>
                <a:cs typeface="Century Schoolbook"/>
                <a:sym typeface="Century Schoolbook"/>
              </a:rPr>
              <a:t>A real browser</a:t>
            </a:r>
            <a:r>
              <a:rPr lang="en-GB" sz="1050" b="1" i="0" u="none" strike="noStrike" cap="none">
                <a:solidFill>
                  <a:srgbClr val="3FC8B8"/>
                </a:solidFill>
                <a:latin typeface="Calibri"/>
                <a:ea typeface="Calibri"/>
                <a:cs typeface="Calibri"/>
                <a:sym typeface="Calibri"/>
              </a:rPr>
              <a:t>   WHAT REALLY HAPPENS</a:t>
            </a:r>
            <a:endParaRPr/>
          </a:p>
          <a:p>
            <a:pPr marL="0" marR="0" lvl="0" indent="0" algn="l" rtl="0">
              <a:lnSpc>
                <a:spcPct val="100000"/>
              </a:lnSpc>
              <a:spcBef>
                <a:spcPts val="100"/>
              </a:spcBef>
              <a:spcAft>
                <a:spcPts val="0"/>
              </a:spcAft>
              <a:buNone/>
            </a:pPr>
            <a:r>
              <a:rPr lang="en-GB" sz="1050" b="0" i="0" u="none" strike="noStrike" cap="none">
                <a:solidFill>
                  <a:srgbClr val="8FA0AE"/>
                </a:solidFill>
                <a:latin typeface="Calibri"/>
                <a:ea typeface="Calibri"/>
                <a:cs typeface="Calibri"/>
                <a:sym typeface="Calibri"/>
              </a:rPr>
              <a:t>Playwright MCP watches the page: Pay → 202 → pending → confirmed</a:t>
            </a:r>
            <a:endParaRPr/>
          </a:p>
        </p:txBody>
      </p:sp>
      <p:sp>
        <p:nvSpPr>
          <p:cNvPr id="866" name="Google Shape;866;p60"/>
          <p:cNvSpPr txBox="1"/>
          <p:nvPr/>
        </p:nvSpPr>
        <p:spPr>
          <a:xfrm>
            <a:off x="493776" y="3136392"/>
            <a:ext cx="4572000" cy="23774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500" b="1" i="0" u="none" strike="noStrike" cap="none">
                <a:solidFill>
                  <a:srgbClr val="8FA0AE"/>
                </a:solidFill>
                <a:latin typeface="Calibri"/>
                <a:ea typeface="Calibri"/>
                <a:cs typeface="Calibri"/>
                <a:sym typeface="Calibri"/>
              </a:rPr>
              <a:t>=</a:t>
            </a:r>
            <a:endParaRPr/>
          </a:p>
        </p:txBody>
      </p:sp>
      <p:sp>
        <p:nvSpPr>
          <p:cNvPr id="867" name="Google Shape;867;p60"/>
          <p:cNvSpPr/>
          <p:nvPr/>
        </p:nvSpPr>
        <p:spPr>
          <a:xfrm>
            <a:off x="493776" y="3383280"/>
            <a:ext cx="4572000" cy="566928"/>
          </a:xfrm>
          <a:prstGeom prst="roundRect">
            <a:avLst>
              <a:gd name="adj" fmla="val 8000"/>
            </a:avLst>
          </a:prstGeom>
          <a:solidFill>
            <a:srgbClr val="1B2A3D"/>
          </a:solidFill>
          <a:ln w="25400" cap="flat" cmpd="sng">
            <a:solidFill>
              <a:srgbClr val="E6B15E"/>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68" name="Google Shape;868;p60"/>
          <p:cNvSpPr txBox="1"/>
          <p:nvPr/>
        </p:nvSpPr>
        <p:spPr>
          <a:xfrm>
            <a:off x="640080" y="3383280"/>
            <a:ext cx="4343400" cy="56692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600" b="1" i="0" u="none" strike="noStrike" cap="none">
                <a:solidFill>
                  <a:srgbClr val="E6B15E"/>
                </a:solidFill>
                <a:latin typeface="Courier New"/>
                <a:ea typeface="Courier New"/>
                <a:cs typeface="Courier New"/>
                <a:sym typeface="Courier New"/>
              </a:rPr>
              <a:t>/fix-flaky</a:t>
            </a:r>
            <a:r>
              <a:rPr lang="en-GB" sz="1200" b="0" i="0" u="none" strike="noStrike" cap="none">
                <a:solidFill>
                  <a:srgbClr val="EAF1F6"/>
                </a:solidFill>
                <a:latin typeface="Calibri"/>
                <a:ea typeface="Calibri"/>
                <a:cs typeface="Calibri"/>
                <a:sym typeface="Calibri"/>
              </a:rPr>
              <a:t>   one command, every tester</a:t>
            </a:r>
            <a:endParaRPr/>
          </a:p>
        </p:txBody>
      </p:sp>
      <p:sp>
        <p:nvSpPr>
          <p:cNvPr id="869" name="Google Shape;869;p60"/>
          <p:cNvSpPr txBox="1"/>
          <p:nvPr/>
        </p:nvSpPr>
        <p:spPr>
          <a:xfrm>
            <a:off x="493776" y="4069080"/>
            <a:ext cx="4663440" cy="5486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250" b="1" i="1" u="none" strike="noStrike" cap="none">
                <a:solidFill>
                  <a:srgbClr val="E6B15E"/>
                </a:solidFill>
                <a:latin typeface="Century Schoolbook"/>
                <a:ea typeface="Century Schoolbook"/>
                <a:cs typeface="Century Schoolbook"/>
                <a:sym typeface="Century Schoolbook"/>
              </a:rPr>
              <a:t>Rules alone made Claude honest. Rules + docs made it right.</a:t>
            </a:r>
            <a:endParaRPr/>
          </a:p>
        </p:txBody>
      </p:sp>
      <p:sp>
        <p:nvSpPr>
          <p:cNvPr id="870" name="Google Shape;870;p60"/>
          <p:cNvSpPr txBox="1"/>
          <p:nvPr/>
        </p:nvSpPr>
        <p:spPr>
          <a:xfrm>
            <a:off x="5349240" y="914400"/>
            <a:ext cx="329184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100" b="1" i="0" u="none" strike="noStrike" cap="none">
                <a:solidFill>
                  <a:srgbClr val="4FA8E0"/>
                </a:solidFill>
                <a:latin typeface="Calibri"/>
                <a:ea typeface="Calibri"/>
                <a:cs typeface="Calibri"/>
                <a:sym typeface="Calibri"/>
              </a:rPr>
              <a:t>READ MORE</a:t>
            </a:r>
            <a:endParaRPr/>
          </a:p>
        </p:txBody>
      </p:sp>
      <p:pic>
        <p:nvPicPr>
          <p:cNvPr id="871" name="Google Shape;871;p60" descr="qr-x.png"/>
          <p:cNvPicPr preferRelativeResize="0"/>
          <p:nvPr/>
        </p:nvPicPr>
        <p:blipFill rotWithShape="1">
          <a:blip r:embed="rId3">
            <a:alphaModFix/>
          </a:blip>
          <a:srcRect/>
          <a:stretch/>
        </p:blipFill>
        <p:spPr>
          <a:xfrm>
            <a:off x="5349240" y="1207008"/>
            <a:ext cx="896112" cy="896112"/>
          </a:xfrm>
          <a:prstGeom prst="rect">
            <a:avLst/>
          </a:prstGeom>
          <a:noFill/>
          <a:ln>
            <a:noFill/>
          </a:ln>
        </p:spPr>
      </p:pic>
      <p:sp>
        <p:nvSpPr>
          <p:cNvPr id="872" name="Google Shape;872;p60"/>
          <p:cNvSpPr txBox="1"/>
          <p:nvPr/>
        </p:nvSpPr>
        <p:spPr>
          <a:xfrm>
            <a:off x="5294001" y="2121708"/>
            <a:ext cx="1006590" cy="27699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950" b="1" i="0" u="none" strike="noStrike" cap="none" dirty="0">
                <a:solidFill>
                  <a:srgbClr val="EAF1F6"/>
                </a:solidFill>
                <a:latin typeface="Calibri"/>
                <a:ea typeface="Calibri"/>
                <a:cs typeface="Calibri"/>
                <a:sym typeface="Calibri"/>
              </a:rPr>
              <a:t>1. </a:t>
            </a:r>
            <a:r>
              <a:rPr lang="en-GB" sz="950" b="1" i="0" u="none" strike="noStrike" cap="none" dirty="0" err="1">
                <a:solidFill>
                  <a:srgbClr val="EAF1F6"/>
                </a:solidFill>
                <a:latin typeface="Calibri"/>
                <a:ea typeface="Calibri"/>
                <a:cs typeface="Calibri"/>
                <a:sym typeface="Calibri"/>
              </a:rPr>
              <a:t>Karpathy's</a:t>
            </a:r>
            <a:r>
              <a:rPr lang="en-GB" sz="950" b="1" i="0" u="none" strike="noStrike" cap="none" dirty="0">
                <a:solidFill>
                  <a:srgbClr val="EAF1F6"/>
                </a:solidFill>
                <a:latin typeface="Calibri"/>
                <a:ea typeface="Calibri"/>
                <a:cs typeface="Calibri"/>
                <a:sym typeface="Calibri"/>
              </a:rPr>
              <a:t> notes</a:t>
            </a:r>
            <a:endParaRPr dirty="0"/>
          </a:p>
          <a:p>
            <a:pPr marL="0" marR="0" lvl="0" indent="0" algn="l" rtl="0">
              <a:lnSpc>
                <a:spcPct val="100000"/>
              </a:lnSpc>
              <a:spcBef>
                <a:spcPts val="0"/>
              </a:spcBef>
              <a:spcAft>
                <a:spcPts val="0"/>
              </a:spcAft>
              <a:buNone/>
            </a:pPr>
            <a:r>
              <a:rPr lang="en-GB" sz="850" b="0" i="0" u="none" strike="noStrike" cap="none" dirty="0">
                <a:solidFill>
                  <a:srgbClr val="8FA0AE"/>
                </a:solidFill>
                <a:latin typeface="Calibri"/>
                <a:ea typeface="Calibri"/>
                <a:cs typeface="Calibri"/>
                <a:sym typeface="Calibri"/>
              </a:rPr>
              <a:t>      </a:t>
            </a:r>
            <a:r>
              <a:rPr lang="en-GB" sz="850" b="0" i="0" u="none" strike="noStrike" cap="none" dirty="0" err="1">
                <a:solidFill>
                  <a:srgbClr val="8FA0AE"/>
                </a:solidFill>
                <a:latin typeface="Calibri"/>
                <a:ea typeface="Calibri"/>
                <a:cs typeface="Calibri"/>
                <a:sym typeface="Calibri"/>
              </a:rPr>
              <a:t>x.com</a:t>
            </a:r>
            <a:r>
              <a:rPr lang="en-GB" sz="850" b="0" i="0" u="none" strike="noStrike" cap="none" dirty="0">
                <a:solidFill>
                  <a:srgbClr val="8FA0AE"/>
                </a:solidFill>
                <a:latin typeface="Calibri"/>
                <a:ea typeface="Calibri"/>
                <a:cs typeface="Calibri"/>
                <a:sym typeface="Calibri"/>
              </a:rPr>
              <a:t>/</a:t>
            </a:r>
            <a:r>
              <a:rPr lang="en-GB" sz="850" b="0" i="0" u="none" strike="noStrike" cap="none" dirty="0" err="1">
                <a:solidFill>
                  <a:srgbClr val="8FA0AE"/>
                </a:solidFill>
                <a:latin typeface="Calibri"/>
                <a:ea typeface="Calibri"/>
                <a:cs typeface="Calibri"/>
                <a:sym typeface="Calibri"/>
              </a:rPr>
              <a:t>karpathy</a:t>
            </a:r>
            <a:endParaRPr dirty="0"/>
          </a:p>
        </p:txBody>
      </p:sp>
      <p:pic>
        <p:nvPicPr>
          <p:cNvPr id="873" name="Google Shape;873;p60" descr="qr-skill.png"/>
          <p:cNvPicPr preferRelativeResize="0"/>
          <p:nvPr/>
        </p:nvPicPr>
        <p:blipFill rotWithShape="1">
          <a:blip r:embed="rId4">
            <a:alphaModFix/>
          </a:blip>
          <a:srcRect/>
          <a:stretch/>
        </p:blipFill>
        <p:spPr>
          <a:xfrm>
            <a:off x="7040879" y="1207008"/>
            <a:ext cx="896112" cy="896112"/>
          </a:xfrm>
          <a:prstGeom prst="rect">
            <a:avLst/>
          </a:prstGeom>
          <a:noFill/>
          <a:ln>
            <a:noFill/>
          </a:ln>
        </p:spPr>
      </p:pic>
      <p:sp>
        <p:nvSpPr>
          <p:cNvPr id="874" name="Google Shape;874;p60"/>
          <p:cNvSpPr txBox="1"/>
          <p:nvPr/>
        </p:nvSpPr>
        <p:spPr>
          <a:xfrm>
            <a:off x="7123325" y="2129503"/>
            <a:ext cx="746511" cy="40780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950" b="1" i="0" u="none" strike="noStrike" cap="none" dirty="0">
                <a:solidFill>
                  <a:srgbClr val="EAF1F6"/>
                </a:solidFill>
                <a:latin typeface="Calibri"/>
                <a:ea typeface="Calibri"/>
                <a:cs typeface="Calibri"/>
                <a:sym typeface="Calibri"/>
              </a:rPr>
              <a:t>2. The skill file </a:t>
            </a:r>
            <a:endParaRPr dirty="0"/>
          </a:p>
          <a:p>
            <a:pPr marL="0" marR="0" lvl="0" indent="0" algn="l" rtl="0">
              <a:lnSpc>
                <a:spcPct val="100000"/>
              </a:lnSpc>
              <a:spcBef>
                <a:spcPts val="0"/>
              </a:spcBef>
              <a:spcAft>
                <a:spcPts val="0"/>
              </a:spcAft>
              <a:buNone/>
            </a:pPr>
            <a:r>
              <a:rPr lang="en-GB" sz="850" b="0" i="0" u="none" strike="noStrike" cap="none" dirty="0">
                <a:solidFill>
                  <a:srgbClr val="8FA0AE"/>
                </a:solidFill>
                <a:latin typeface="Calibri"/>
                <a:ea typeface="Calibri"/>
                <a:cs typeface="Calibri"/>
                <a:sym typeface="Calibri"/>
              </a:rPr>
              <a:t>    </a:t>
            </a:r>
            <a:r>
              <a:rPr lang="en-GB" sz="850" b="0" i="0" u="none" strike="noStrike" cap="none" dirty="0" err="1">
                <a:solidFill>
                  <a:srgbClr val="8FA0AE"/>
                </a:solidFill>
                <a:latin typeface="Calibri"/>
                <a:ea typeface="Calibri"/>
                <a:cs typeface="Calibri"/>
                <a:sym typeface="Calibri"/>
              </a:rPr>
              <a:t>github.com</a:t>
            </a:r>
            <a:r>
              <a:rPr lang="en-GB" sz="850" b="0" i="0" u="none" strike="noStrike" cap="none" dirty="0">
                <a:solidFill>
                  <a:srgbClr val="8FA0AE"/>
                </a:solidFill>
                <a:latin typeface="Calibri"/>
                <a:ea typeface="Calibri"/>
                <a:cs typeface="Calibri"/>
                <a:sym typeface="Calibri"/>
              </a:rPr>
              <a:t>/</a:t>
            </a:r>
          </a:p>
          <a:p>
            <a:pPr marL="0" marR="0" lvl="0" indent="0" algn="l" rtl="0">
              <a:lnSpc>
                <a:spcPct val="100000"/>
              </a:lnSpc>
              <a:spcBef>
                <a:spcPts val="0"/>
              </a:spcBef>
              <a:spcAft>
                <a:spcPts val="0"/>
              </a:spcAft>
              <a:buNone/>
            </a:pPr>
            <a:r>
              <a:rPr lang="en-GB" sz="850" b="0" i="0" u="none" strike="noStrike" cap="none" dirty="0">
                <a:solidFill>
                  <a:srgbClr val="8FA0AE"/>
                </a:solidFill>
                <a:latin typeface="Calibri"/>
                <a:ea typeface="Calibri"/>
                <a:cs typeface="Calibri"/>
                <a:sym typeface="Calibri"/>
              </a:rPr>
              <a:t>      </a:t>
            </a:r>
            <a:r>
              <a:rPr lang="en-GB" sz="850" b="0" i="0" u="none" strike="noStrike" cap="none" dirty="0" err="1">
                <a:solidFill>
                  <a:srgbClr val="8FA0AE"/>
                </a:solidFill>
                <a:latin typeface="Calibri"/>
                <a:ea typeface="Calibri"/>
                <a:cs typeface="Calibri"/>
                <a:sym typeface="Calibri"/>
              </a:rPr>
              <a:t>multica</a:t>
            </a:r>
            <a:r>
              <a:rPr lang="en-GB" sz="850" b="0" i="0" u="none" strike="noStrike" cap="none" dirty="0">
                <a:solidFill>
                  <a:srgbClr val="8FA0AE"/>
                </a:solidFill>
                <a:latin typeface="Calibri"/>
                <a:ea typeface="Calibri"/>
                <a:cs typeface="Calibri"/>
                <a:sym typeface="Calibri"/>
              </a:rPr>
              <a:t>-ai/…</a:t>
            </a:r>
            <a:endParaRPr dirty="0"/>
          </a:p>
        </p:txBody>
      </p:sp>
      <p:pic>
        <p:nvPicPr>
          <p:cNvPr id="875" name="Google Shape;875;p60" descr="qr-medium.png"/>
          <p:cNvPicPr preferRelativeResize="0"/>
          <p:nvPr/>
        </p:nvPicPr>
        <p:blipFill rotWithShape="1">
          <a:blip r:embed="rId5">
            <a:alphaModFix/>
          </a:blip>
          <a:srcRect/>
          <a:stretch/>
        </p:blipFill>
        <p:spPr>
          <a:xfrm>
            <a:off x="5349240" y="2779776"/>
            <a:ext cx="896112" cy="896112"/>
          </a:xfrm>
          <a:prstGeom prst="rect">
            <a:avLst/>
          </a:prstGeom>
          <a:noFill/>
          <a:ln>
            <a:noFill/>
          </a:ln>
        </p:spPr>
      </p:pic>
      <p:sp>
        <p:nvSpPr>
          <p:cNvPr id="876" name="Google Shape;876;p60"/>
          <p:cNvSpPr txBox="1"/>
          <p:nvPr/>
        </p:nvSpPr>
        <p:spPr>
          <a:xfrm>
            <a:off x="5349240" y="3694176"/>
            <a:ext cx="951351" cy="27699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950" b="1" i="0" u="none" strike="noStrike" cap="none" dirty="0">
                <a:solidFill>
                  <a:srgbClr val="EAF1F6"/>
                </a:solidFill>
                <a:latin typeface="Calibri"/>
                <a:ea typeface="Calibri"/>
                <a:cs typeface="Calibri"/>
                <a:sym typeface="Calibri"/>
              </a:rPr>
              <a:t>3. Why it took off</a:t>
            </a:r>
            <a:endParaRPr dirty="0"/>
          </a:p>
          <a:p>
            <a:pPr marL="0" marR="0" lvl="0" indent="0" algn="l" rtl="0">
              <a:lnSpc>
                <a:spcPct val="100000"/>
              </a:lnSpc>
              <a:spcBef>
                <a:spcPts val="0"/>
              </a:spcBef>
              <a:spcAft>
                <a:spcPts val="0"/>
              </a:spcAft>
              <a:buNone/>
            </a:pPr>
            <a:r>
              <a:rPr lang="en-GB" sz="850" b="0" i="0" u="none" strike="noStrike" cap="none" dirty="0">
                <a:solidFill>
                  <a:srgbClr val="8FA0AE"/>
                </a:solidFill>
                <a:latin typeface="Calibri"/>
                <a:ea typeface="Calibri"/>
                <a:cs typeface="Calibri"/>
                <a:sym typeface="Calibri"/>
              </a:rPr>
              <a:t>           Medium</a:t>
            </a:r>
            <a:endParaRPr dirty="0"/>
          </a:p>
        </p:txBody>
      </p:sp>
      <p:pic>
        <p:nvPicPr>
          <p:cNvPr id="877" name="Google Shape;877;p60" descr="qr-devto.png"/>
          <p:cNvPicPr preferRelativeResize="0"/>
          <p:nvPr/>
        </p:nvPicPr>
        <p:blipFill rotWithShape="1">
          <a:blip r:embed="rId6">
            <a:alphaModFix/>
          </a:blip>
          <a:srcRect/>
          <a:stretch/>
        </p:blipFill>
        <p:spPr>
          <a:xfrm>
            <a:off x="7040879" y="2779776"/>
            <a:ext cx="896112" cy="896112"/>
          </a:xfrm>
          <a:prstGeom prst="rect">
            <a:avLst/>
          </a:prstGeom>
          <a:noFill/>
          <a:ln>
            <a:noFill/>
          </a:ln>
        </p:spPr>
      </p:pic>
      <p:sp>
        <p:nvSpPr>
          <p:cNvPr id="878" name="Google Shape;878;p60"/>
          <p:cNvSpPr txBox="1"/>
          <p:nvPr/>
        </p:nvSpPr>
        <p:spPr>
          <a:xfrm>
            <a:off x="7033383" y="3694176"/>
            <a:ext cx="951351" cy="423193"/>
          </a:xfrm>
          <a:prstGeom prst="rect">
            <a:avLst/>
          </a:prstGeom>
          <a:noFill/>
          <a:ln>
            <a:noFill/>
          </a:ln>
        </p:spPr>
        <p:txBody>
          <a:bodyPr spcFirstLastPara="1" wrap="square" lIns="0" tIns="0" rIns="0" bIns="0" anchor="t" anchorCtr="0">
            <a:spAutoFit/>
          </a:bodyPr>
          <a:lstStyle/>
          <a:p>
            <a:pPr marR="0" lvl="0" algn="l" rtl="0">
              <a:lnSpc>
                <a:spcPct val="100000"/>
              </a:lnSpc>
              <a:spcBef>
                <a:spcPts val="0"/>
              </a:spcBef>
              <a:spcAft>
                <a:spcPts val="0"/>
              </a:spcAft>
            </a:pPr>
            <a:r>
              <a:rPr lang="en-GB" sz="950" b="1" i="0" u="none" strike="noStrike" cap="none" dirty="0">
                <a:solidFill>
                  <a:srgbClr val="EAF1F6"/>
                </a:solidFill>
                <a:latin typeface="Calibri"/>
                <a:ea typeface="Calibri"/>
                <a:cs typeface="Calibri"/>
                <a:sym typeface="Calibri"/>
              </a:rPr>
              <a:t>4. Most popular </a:t>
            </a:r>
          </a:p>
          <a:p>
            <a:pPr marR="0" lvl="0" algn="l" rtl="0">
              <a:lnSpc>
                <a:spcPct val="100000"/>
              </a:lnSpc>
              <a:spcBef>
                <a:spcPts val="0"/>
              </a:spcBef>
              <a:spcAft>
                <a:spcPts val="0"/>
              </a:spcAft>
            </a:pPr>
            <a:r>
              <a:rPr lang="en-GB" sz="950" b="1" dirty="0">
                <a:solidFill>
                  <a:srgbClr val="EAF1F6"/>
                </a:solidFill>
                <a:latin typeface="Calibri"/>
                <a:ea typeface="Calibri"/>
                <a:cs typeface="Calibri"/>
                <a:sym typeface="Calibri"/>
              </a:rPr>
              <a:t>   </a:t>
            </a:r>
            <a:r>
              <a:rPr lang="en-GB" sz="950" b="1" i="0" u="none" strike="noStrike" cap="none" dirty="0">
                <a:solidFill>
                  <a:srgbClr val="EAF1F6"/>
                </a:solidFill>
                <a:latin typeface="Calibri"/>
                <a:ea typeface="Calibri"/>
                <a:cs typeface="Calibri"/>
                <a:sym typeface="Calibri"/>
              </a:rPr>
              <a:t>AI coding skills  </a:t>
            </a:r>
            <a:endParaRPr dirty="0"/>
          </a:p>
          <a:p>
            <a:pPr marL="0" marR="0" lvl="0" indent="0" algn="l" rtl="0">
              <a:lnSpc>
                <a:spcPct val="100000"/>
              </a:lnSpc>
              <a:spcBef>
                <a:spcPts val="0"/>
              </a:spcBef>
              <a:spcAft>
                <a:spcPts val="0"/>
              </a:spcAft>
              <a:buNone/>
            </a:pPr>
            <a:r>
              <a:rPr lang="en-GB" sz="850" b="0" i="0" u="none" strike="noStrike" cap="none" dirty="0">
                <a:solidFill>
                  <a:srgbClr val="8FA0AE"/>
                </a:solidFill>
                <a:latin typeface="Calibri"/>
                <a:ea typeface="Calibri"/>
                <a:cs typeface="Calibri"/>
                <a:sym typeface="Calibri"/>
              </a:rPr>
              <a:t>        </a:t>
            </a:r>
            <a:r>
              <a:rPr lang="en-GB" sz="850" b="0" i="0" u="none" strike="noStrike" cap="none" dirty="0" err="1">
                <a:solidFill>
                  <a:srgbClr val="8FA0AE"/>
                </a:solidFill>
                <a:latin typeface="Calibri"/>
                <a:ea typeface="Calibri"/>
                <a:cs typeface="Calibri"/>
                <a:sym typeface="Calibri"/>
              </a:rPr>
              <a:t>dev.to</a:t>
            </a:r>
            <a:r>
              <a:rPr lang="en-GB" sz="850" b="0" i="0" u="none" strike="noStrike" cap="none" dirty="0">
                <a:solidFill>
                  <a:srgbClr val="8FA0AE"/>
                </a:solidFill>
                <a:latin typeface="Calibri"/>
                <a:ea typeface="Calibri"/>
                <a:cs typeface="Calibri"/>
                <a:sym typeface="Calibri"/>
              </a:rPr>
              <a:t>/</a:t>
            </a:r>
            <a:r>
              <a:rPr lang="en-GB" sz="850" b="0" i="0" u="none" strike="noStrike" cap="none" dirty="0" err="1">
                <a:solidFill>
                  <a:srgbClr val="8FA0AE"/>
                </a:solidFill>
                <a:latin typeface="Calibri"/>
                <a:ea typeface="Calibri"/>
                <a:cs typeface="Calibri"/>
                <a:sym typeface="Calibri"/>
              </a:rPr>
              <a:t>aws</a:t>
            </a:r>
            <a:r>
              <a:rPr lang="en-GB" sz="850" b="0" i="0" u="none" strike="noStrike" cap="none" dirty="0">
                <a:solidFill>
                  <a:srgbClr val="8FA0AE"/>
                </a:solidFill>
                <a:latin typeface="Calibri"/>
                <a:ea typeface="Calibri"/>
                <a:cs typeface="Calibri"/>
                <a:sym typeface="Calibri"/>
              </a:rPr>
              <a:t>     </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83"/>
        <p:cNvGrpSpPr/>
        <p:nvPr/>
      </p:nvGrpSpPr>
      <p:grpSpPr>
        <a:xfrm>
          <a:off x="0" y="0"/>
          <a:ext cx="0" cy="0"/>
          <a:chOff x="0" y="0"/>
          <a:chExt cx="0" cy="0"/>
        </a:xfrm>
      </p:grpSpPr>
      <p:sp>
        <p:nvSpPr>
          <p:cNvPr id="884" name="Google Shape;884;p61"/>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3: write the four rules down once, as a team skill</a:t>
            </a:r>
            <a:endParaRPr sz="1900"/>
          </a:p>
        </p:txBody>
      </p:sp>
      <p:sp>
        <p:nvSpPr>
          <p:cNvPr id="885" name="Google Shape;885;p61"/>
          <p:cNvSpPr/>
          <p:nvPr/>
        </p:nvSpPr>
        <p:spPr>
          <a:xfrm>
            <a:off x="493776" y="1051560"/>
            <a:ext cx="4892040" cy="3154680"/>
          </a:xfrm>
          <a:prstGeom prst="roundRect">
            <a:avLst>
              <a:gd name="adj" fmla="val 4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6" name="Google Shape;886;p61"/>
          <p:cNvSpPr/>
          <p:nvPr/>
        </p:nvSpPr>
        <p:spPr>
          <a:xfrm>
            <a:off x="676656" y="1197864"/>
            <a:ext cx="91440" cy="91440"/>
          </a:xfrm>
          <a:prstGeom prst="ellipse">
            <a:avLst/>
          </a:prstGeom>
          <a:solidFill>
            <a:srgbClr val="FF5F5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7" name="Google Shape;887;p61"/>
          <p:cNvSpPr/>
          <p:nvPr/>
        </p:nvSpPr>
        <p:spPr>
          <a:xfrm>
            <a:off x="832104" y="1197864"/>
            <a:ext cx="91440" cy="91440"/>
          </a:xfrm>
          <a:prstGeom prst="ellipse">
            <a:avLst/>
          </a:prstGeom>
          <a:solidFill>
            <a:srgbClr val="FEBC2E"/>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8" name="Google Shape;888;p61"/>
          <p:cNvSpPr/>
          <p:nvPr/>
        </p:nvSpPr>
        <p:spPr>
          <a:xfrm>
            <a:off x="987552" y="1197864"/>
            <a:ext cx="91440" cy="91440"/>
          </a:xfrm>
          <a:prstGeom prst="ellipse">
            <a:avLst/>
          </a:prstGeom>
          <a:solidFill>
            <a:srgbClr val="28C84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9" name="Google Shape;889;p61"/>
          <p:cNvSpPr txBox="1"/>
          <p:nvPr/>
        </p:nvSpPr>
        <p:spPr>
          <a:xfrm>
            <a:off x="1179576" y="1124712"/>
            <a:ext cx="3977640"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.claude/skills/fix-flaky/SKILL.md</a:t>
            </a:r>
            <a:endParaRPr sz="1400" b="0" i="0" u="none" strike="noStrike" cap="none">
              <a:solidFill>
                <a:srgbClr val="000000"/>
              </a:solidFill>
              <a:latin typeface="Arial"/>
              <a:ea typeface="Arial"/>
              <a:cs typeface="Arial"/>
              <a:sym typeface="Arial"/>
            </a:endParaRPr>
          </a:p>
        </p:txBody>
      </p:sp>
      <p:cxnSp>
        <p:nvCxnSpPr>
          <p:cNvPr id="890" name="Google Shape;890;p61"/>
          <p:cNvCxnSpPr/>
          <p:nvPr/>
        </p:nvCxnSpPr>
        <p:spPr>
          <a:xfrm>
            <a:off x="493776" y="1435608"/>
            <a:ext cx="4892040" cy="0"/>
          </a:xfrm>
          <a:prstGeom prst="straightConnector1">
            <a:avLst/>
          </a:prstGeom>
          <a:noFill/>
          <a:ln w="9525" cap="flat" cmpd="sng">
            <a:solidFill>
              <a:srgbClr val="1E3044"/>
            </a:solidFill>
            <a:prstDash val="solid"/>
            <a:round/>
            <a:headEnd type="none" w="sm" len="sm"/>
            <a:tailEnd type="none" w="sm" len="sm"/>
          </a:ln>
        </p:spPr>
      </p:cxnSp>
      <p:sp>
        <p:nvSpPr>
          <p:cNvPr id="891" name="Google Shape;891;p61"/>
          <p:cNvSpPr/>
          <p:nvPr/>
        </p:nvSpPr>
        <p:spPr>
          <a:xfrm>
            <a:off x="722376" y="1618488"/>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1</a:t>
            </a:r>
            <a:endParaRPr sz="1400" b="0" i="0" u="none" strike="noStrike" cap="none">
              <a:solidFill>
                <a:srgbClr val="000000"/>
              </a:solidFill>
              <a:latin typeface="Arial"/>
              <a:ea typeface="Arial"/>
              <a:cs typeface="Arial"/>
              <a:sym typeface="Arial"/>
            </a:endParaRPr>
          </a:p>
        </p:txBody>
      </p:sp>
      <p:sp>
        <p:nvSpPr>
          <p:cNvPr id="892" name="Google Shape;892;p61"/>
          <p:cNvSpPr txBox="1"/>
          <p:nvPr/>
        </p:nvSpPr>
        <p:spPr>
          <a:xfrm>
            <a:off x="1179576" y="1563624"/>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Think first</a:t>
            </a:r>
            <a:endParaRPr sz="1400" b="0" i="0" u="none" strike="noStrike" cap="none">
              <a:solidFill>
                <a:srgbClr val="000000"/>
              </a:solidFill>
              <a:latin typeface="Arial"/>
              <a:ea typeface="Arial"/>
              <a:cs typeface="Arial"/>
              <a:sym typeface="Arial"/>
            </a:endParaRPr>
          </a:p>
        </p:txBody>
      </p:sp>
      <p:sp>
        <p:nvSpPr>
          <p:cNvPr id="893" name="Google Shape;893;p61"/>
          <p:cNvSpPr txBox="1"/>
          <p:nvPr/>
        </p:nvSpPr>
        <p:spPr>
          <a:xfrm>
            <a:off x="1179576" y="1847088"/>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Reproduce it, watch it in the browser, search the docs.</a:t>
            </a:r>
            <a:endParaRPr sz="1400" b="0" i="0" u="none" strike="noStrike" cap="none">
              <a:solidFill>
                <a:srgbClr val="000000"/>
              </a:solidFill>
              <a:latin typeface="Arial"/>
              <a:ea typeface="Arial"/>
              <a:cs typeface="Arial"/>
              <a:sym typeface="Arial"/>
            </a:endParaRPr>
          </a:p>
        </p:txBody>
      </p:sp>
      <p:sp>
        <p:nvSpPr>
          <p:cNvPr id="894" name="Google Shape;894;p61"/>
          <p:cNvSpPr/>
          <p:nvPr/>
        </p:nvSpPr>
        <p:spPr>
          <a:xfrm>
            <a:off x="722376" y="2267712"/>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2</a:t>
            </a:r>
            <a:endParaRPr sz="1400" b="0" i="0" u="none" strike="noStrike" cap="none">
              <a:solidFill>
                <a:srgbClr val="000000"/>
              </a:solidFill>
              <a:latin typeface="Arial"/>
              <a:ea typeface="Arial"/>
              <a:cs typeface="Arial"/>
              <a:sym typeface="Arial"/>
            </a:endParaRPr>
          </a:p>
        </p:txBody>
      </p:sp>
      <p:sp>
        <p:nvSpPr>
          <p:cNvPr id="895" name="Google Shape;895;p61"/>
          <p:cNvSpPr txBox="1"/>
          <p:nvPr/>
        </p:nvSpPr>
        <p:spPr>
          <a:xfrm>
            <a:off x="1179576" y="2212848"/>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Keep it simple</a:t>
            </a:r>
            <a:endParaRPr sz="1400" b="0" i="0" u="none" strike="noStrike" cap="none">
              <a:solidFill>
                <a:srgbClr val="000000"/>
              </a:solidFill>
              <a:latin typeface="Arial"/>
              <a:ea typeface="Arial"/>
              <a:cs typeface="Arial"/>
              <a:sym typeface="Arial"/>
            </a:endParaRPr>
          </a:p>
        </p:txBody>
      </p:sp>
      <p:sp>
        <p:nvSpPr>
          <p:cNvPr id="896" name="Google Shape;896;p61"/>
          <p:cNvSpPr txBox="1"/>
          <p:nvPr/>
        </p:nvSpPr>
        <p:spPr>
          <a:xfrm>
            <a:off x="1179576" y="2496312"/>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Wait for the real event, never a timeout.</a:t>
            </a:r>
            <a:endParaRPr sz="1400" b="0" i="0" u="none" strike="noStrike" cap="none">
              <a:solidFill>
                <a:srgbClr val="000000"/>
              </a:solidFill>
              <a:latin typeface="Arial"/>
              <a:ea typeface="Arial"/>
              <a:cs typeface="Arial"/>
              <a:sym typeface="Arial"/>
            </a:endParaRPr>
          </a:p>
        </p:txBody>
      </p:sp>
      <p:sp>
        <p:nvSpPr>
          <p:cNvPr id="897" name="Google Shape;897;p61"/>
          <p:cNvSpPr/>
          <p:nvPr/>
        </p:nvSpPr>
        <p:spPr>
          <a:xfrm>
            <a:off x="722376" y="2916936"/>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3</a:t>
            </a:r>
            <a:endParaRPr sz="1400" b="0" i="0" u="none" strike="noStrike" cap="none">
              <a:solidFill>
                <a:srgbClr val="000000"/>
              </a:solidFill>
              <a:latin typeface="Arial"/>
              <a:ea typeface="Arial"/>
              <a:cs typeface="Arial"/>
              <a:sym typeface="Arial"/>
            </a:endParaRPr>
          </a:p>
        </p:txBody>
      </p:sp>
      <p:sp>
        <p:nvSpPr>
          <p:cNvPr id="898" name="Google Shape;898;p61"/>
          <p:cNvSpPr txBox="1"/>
          <p:nvPr/>
        </p:nvSpPr>
        <p:spPr>
          <a:xfrm>
            <a:off x="1179576" y="2862072"/>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Touch only the task</a:t>
            </a:r>
            <a:endParaRPr sz="1400" b="0" i="0" u="none" strike="noStrike" cap="none">
              <a:solidFill>
                <a:srgbClr val="000000"/>
              </a:solidFill>
              <a:latin typeface="Arial"/>
              <a:ea typeface="Arial"/>
              <a:cs typeface="Arial"/>
              <a:sym typeface="Arial"/>
            </a:endParaRPr>
          </a:p>
        </p:txBody>
      </p:sp>
      <p:sp>
        <p:nvSpPr>
          <p:cNvPr id="899" name="Google Shape;899;p61"/>
          <p:cNvSpPr txBox="1"/>
          <p:nvPr/>
        </p:nvSpPr>
        <p:spPr>
          <a:xfrm>
            <a:off x="1179576" y="3145536"/>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Change only the test, in our existing style.</a:t>
            </a:r>
            <a:endParaRPr sz="1400" b="0" i="0" u="none" strike="noStrike" cap="none">
              <a:solidFill>
                <a:srgbClr val="000000"/>
              </a:solidFill>
              <a:latin typeface="Arial"/>
              <a:ea typeface="Arial"/>
              <a:cs typeface="Arial"/>
              <a:sym typeface="Arial"/>
            </a:endParaRPr>
          </a:p>
        </p:txBody>
      </p:sp>
      <p:sp>
        <p:nvSpPr>
          <p:cNvPr id="900" name="Google Shape;900;p61"/>
          <p:cNvSpPr/>
          <p:nvPr/>
        </p:nvSpPr>
        <p:spPr>
          <a:xfrm>
            <a:off x="722376" y="3566160"/>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4</a:t>
            </a:r>
            <a:endParaRPr sz="1400" b="0" i="0" u="none" strike="noStrike" cap="none">
              <a:solidFill>
                <a:srgbClr val="000000"/>
              </a:solidFill>
              <a:latin typeface="Arial"/>
              <a:ea typeface="Arial"/>
              <a:cs typeface="Arial"/>
              <a:sym typeface="Arial"/>
            </a:endParaRPr>
          </a:p>
        </p:txBody>
      </p:sp>
      <p:sp>
        <p:nvSpPr>
          <p:cNvPr id="901" name="Google Shape;901;p61"/>
          <p:cNvSpPr txBox="1"/>
          <p:nvPr/>
        </p:nvSpPr>
        <p:spPr>
          <a:xfrm>
            <a:off x="1179576" y="3511296"/>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Prove it</a:t>
            </a:r>
            <a:endParaRPr sz="1400" b="0" i="0" u="none" strike="noStrike" cap="none">
              <a:solidFill>
                <a:srgbClr val="000000"/>
              </a:solidFill>
              <a:latin typeface="Arial"/>
              <a:ea typeface="Arial"/>
              <a:cs typeface="Arial"/>
              <a:sym typeface="Arial"/>
            </a:endParaRPr>
          </a:p>
        </p:txBody>
      </p:sp>
      <p:sp>
        <p:nvSpPr>
          <p:cNvPr id="902" name="Google Shape;902;p61"/>
          <p:cNvSpPr txBox="1"/>
          <p:nvPr/>
        </p:nvSpPr>
        <p:spPr>
          <a:xfrm>
            <a:off x="1179576" y="3794760"/>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dirty="0">
                <a:solidFill>
                  <a:srgbClr val="EAF1F7"/>
                </a:solidFill>
                <a:latin typeface="Calibri"/>
                <a:ea typeface="Calibri"/>
                <a:cs typeface="Calibri"/>
                <a:sym typeface="Calibri"/>
              </a:rPr>
              <a:t>Run several times, name the docs you used.</a:t>
            </a:r>
            <a:endParaRPr sz="1400" b="0" i="0" u="none" strike="noStrike" cap="none" dirty="0">
              <a:solidFill>
                <a:srgbClr val="000000"/>
              </a:solidFill>
              <a:latin typeface="Arial"/>
              <a:ea typeface="Arial"/>
              <a:cs typeface="Arial"/>
              <a:sym typeface="Arial"/>
            </a:endParaRPr>
          </a:p>
        </p:txBody>
      </p:sp>
      <p:sp>
        <p:nvSpPr>
          <p:cNvPr id="903" name="Google Shape;903;p61"/>
          <p:cNvSpPr txBox="1"/>
          <p:nvPr/>
        </p:nvSpPr>
        <p:spPr>
          <a:xfrm>
            <a:off x="5669280" y="1051560"/>
            <a:ext cx="2980944"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NOW EVERY TESTER TYPES</a:t>
            </a:r>
            <a:endParaRPr sz="1400" b="0" i="0" u="none" strike="noStrike" cap="none">
              <a:solidFill>
                <a:srgbClr val="000000"/>
              </a:solidFill>
              <a:latin typeface="Arial"/>
              <a:ea typeface="Arial"/>
              <a:cs typeface="Arial"/>
              <a:sym typeface="Arial"/>
            </a:endParaRPr>
          </a:p>
        </p:txBody>
      </p:sp>
      <p:sp>
        <p:nvSpPr>
          <p:cNvPr id="904" name="Google Shape;904;p61"/>
          <p:cNvSpPr/>
          <p:nvPr/>
        </p:nvSpPr>
        <p:spPr>
          <a:xfrm>
            <a:off x="5669280" y="1344168"/>
            <a:ext cx="2980944" cy="1005840"/>
          </a:xfrm>
          <a:prstGeom prst="roundRect">
            <a:avLst>
              <a:gd name="adj" fmla="val 8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5" name="Google Shape;905;p61"/>
          <p:cNvSpPr/>
          <p:nvPr/>
        </p:nvSpPr>
        <p:spPr>
          <a:xfrm>
            <a:off x="5833872" y="1472184"/>
            <a:ext cx="82296" cy="82296"/>
          </a:xfrm>
          <a:prstGeom prst="ellipse">
            <a:avLst/>
          </a:prstGeom>
          <a:solidFill>
            <a:srgbClr val="FF5F5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6" name="Google Shape;906;p61"/>
          <p:cNvSpPr/>
          <p:nvPr/>
        </p:nvSpPr>
        <p:spPr>
          <a:xfrm>
            <a:off x="5980176" y="1472184"/>
            <a:ext cx="82296" cy="82296"/>
          </a:xfrm>
          <a:prstGeom prst="ellipse">
            <a:avLst/>
          </a:prstGeom>
          <a:solidFill>
            <a:srgbClr val="FEBC2E"/>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7" name="Google Shape;907;p61"/>
          <p:cNvSpPr/>
          <p:nvPr/>
        </p:nvSpPr>
        <p:spPr>
          <a:xfrm>
            <a:off x="6126480" y="1472184"/>
            <a:ext cx="82296" cy="82296"/>
          </a:xfrm>
          <a:prstGeom prst="ellipse">
            <a:avLst/>
          </a:prstGeom>
          <a:solidFill>
            <a:srgbClr val="28C84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8" name="Google Shape;908;p61"/>
          <p:cNvSpPr txBox="1"/>
          <p:nvPr/>
        </p:nvSpPr>
        <p:spPr>
          <a:xfrm>
            <a:off x="5870448" y="1673352"/>
            <a:ext cx="2660904" cy="62179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FB0EA"/>
                </a:solidFill>
                <a:latin typeface="Courier New"/>
                <a:ea typeface="Courier New"/>
                <a:cs typeface="Courier New"/>
                <a:sym typeface="Courier New"/>
              </a:rPr>
              <a:t>&gt; </a:t>
            </a:r>
            <a:r>
              <a:rPr lang="en-GB" sz="2000" b="1" i="0" u="none" strike="noStrike" cap="none">
                <a:solidFill>
                  <a:srgbClr val="FFFFFF"/>
                </a:solidFill>
                <a:latin typeface="Courier New"/>
                <a:ea typeface="Courier New"/>
                <a:cs typeface="Courier New"/>
                <a:sym typeface="Courier New"/>
              </a:rPr>
              <a:t>/fix-flaky</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93A9C0"/>
                </a:solidFill>
                <a:latin typeface="Courier New"/>
                <a:ea typeface="Courier New"/>
                <a:cs typeface="Courier New"/>
                <a:sym typeface="Courier New"/>
              </a:rPr>
              <a:t>  the checkout test</a:t>
            </a:r>
            <a:endParaRPr sz="1400" b="0" i="0" u="none" strike="noStrike" cap="none">
              <a:solidFill>
                <a:srgbClr val="000000"/>
              </a:solidFill>
              <a:latin typeface="Arial"/>
              <a:ea typeface="Arial"/>
              <a:cs typeface="Arial"/>
              <a:sym typeface="Arial"/>
            </a:endParaRPr>
          </a:p>
        </p:txBody>
      </p:sp>
      <p:sp>
        <p:nvSpPr>
          <p:cNvPr id="909" name="Google Shape;909;p61"/>
          <p:cNvSpPr txBox="1"/>
          <p:nvPr/>
        </p:nvSpPr>
        <p:spPr>
          <a:xfrm>
            <a:off x="5669280" y="2551176"/>
            <a:ext cx="2980944"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00"/>
              <a:buFont typeface="Arial"/>
              <a:buNone/>
            </a:pPr>
            <a:r>
              <a:rPr lang="en-GB" sz="1500" b="0" i="1" u="none" strike="noStrike" cap="none">
                <a:solidFill>
                  <a:srgbClr val="7FC6F3"/>
                </a:solidFill>
                <a:latin typeface="Century Schoolbook"/>
                <a:ea typeface="Century Schoolbook"/>
                <a:cs typeface="Century Schoolbook"/>
                <a:sym typeface="Century Schoolbook"/>
              </a:rPr>
              <a:t>Same command, same quality, for everyone on the team.</a:t>
            </a:r>
            <a:endParaRPr sz="1400" b="0" i="0" u="none" strike="noStrike" cap="none">
              <a:solidFill>
                <a:srgbClr val="000000"/>
              </a:solidFill>
              <a:latin typeface="Arial"/>
              <a:ea typeface="Arial"/>
              <a:cs typeface="Arial"/>
              <a:sym typeface="Arial"/>
            </a:endParaRPr>
          </a:p>
        </p:txBody>
      </p:sp>
      <p:sp>
        <p:nvSpPr>
          <p:cNvPr id="910" name="Google Shape;910;p61"/>
          <p:cNvSpPr/>
          <p:nvPr/>
        </p:nvSpPr>
        <p:spPr>
          <a:xfrm>
            <a:off x="5669280" y="3639312"/>
            <a:ext cx="2980944" cy="566928"/>
          </a:xfrm>
          <a:prstGeom prst="roundRect">
            <a:avLst>
              <a:gd name="adj" fmla="val 18000"/>
            </a:avLst>
          </a:prstGeom>
          <a:solidFill>
            <a:srgbClr val="06223A"/>
          </a:solidFill>
          <a:ln w="9525" cap="flat" cmpd="sng">
            <a:solidFill>
              <a:srgbClr val="0272B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EAF1F7"/>
                </a:solidFill>
                <a:latin typeface="Calibri"/>
                <a:ea typeface="Calibri"/>
                <a:cs typeface="Calibri"/>
                <a:sym typeface="Calibri"/>
              </a:rPr>
              <a:t>The four /karpathy-guidelines rules, written once as steps your whole team runs.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15"/>
        <p:cNvGrpSpPr/>
        <p:nvPr/>
      </p:nvGrpSpPr>
      <p:grpSpPr>
        <a:xfrm>
          <a:off x="0" y="0"/>
          <a:ext cx="0" cy="0"/>
          <a:chOff x="0" y="0"/>
          <a:chExt cx="0" cy="0"/>
        </a:xfrm>
      </p:grpSpPr>
      <p:sp>
        <p:nvSpPr>
          <p:cNvPr id="916" name="Google Shape;916;p62"/>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dirty="0">
                <a:solidFill>
                  <a:srgbClr val="FFFFFF"/>
                </a:solidFill>
                <a:latin typeface="Century Schoolbook"/>
                <a:ea typeface="Century Schoolbook"/>
                <a:cs typeface="Century Schoolbook"/>
                <a:sym typeface="Century Schoolbook"/>
              </a:rPr>
              <a:t>Step 6: several testers, several Claudes, one repo</a:t>
            </a:r>
            <a:endParaRPr sz="1900" dirty="0"/>
          </a:p>
        </p:txBody>
      </p:sp>
      <p:sp>
        <p:nvSpPr>
          <p:cNvPr id="917" name="Google Shape;917;p62"/>
          <p:cNvSpPr txBox="1"/>
          <p:nvPr/>
        </p:nvSpPr>
        <p:spPr>
          <a:xfrm>
            <a:off x="493776" y="1028700"/>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alibri"/>
              <a:buNone/>
            </a:pPr>
            <a:r>
              <a:rPr lang="en-GB" sz="1000" b="0" i="0" u="none" strike="noStrike" cap="none" dirty="0">
                <a:solidFill>
                  <a:srgbClr val="EAF1F7"/>
                </a:solidFill>
                <a:latin typeface="Calibri"/>
                <a:ea typeface="Calibri"/>
                <a:cs typeface="Calibri"/>
                <a:sym typeface="Calibri"/>
              </a:rPr>
              <a:t>All testers now use these skills at the same time. How they avoid breaking each other's work:</a:t>
            </a:r>
            <a:endParaRPr sz="1000" b="0" i="0" u="none" strike="noStrike" cap="none" dirty="0">
              <a:solidFill>
                <a:schemeClr val="dk1"/>
              </a:solidFill>
              <a:latin typeface="Calibri"/>
              <a:ea typeface="Calibri"/>
              <a:cs typeface="Calibri"/>
              <a:sym typeface="Calibri"/>
            </a:endParaRPr>
          </a:p>
        </p:txBody>
      </p:sp>
      <p:sp>
        <p:nvSpPr>
          <p:cNvPr id="918" name="Google Shape;918;p62"/>
          <p:cNvSpPr/>
          <p:nvPr/>
        </p:nvSpPr>
        <p:spPr>
          <a:xfrm>
            <a:off x="845336" y="1447043"/>
            <a:ext cx="617100" cy="6171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919" name="Google Shape;919;p62" descr="/home/claude/work/assets/ic_branch_bone.png"/>
          <p:cNvPicPr preferRelativeResize="0"/>
          <p:nvPr/>
        </p:nvPicPr>
        <p:blipFill rotWithShape="1">
          <a:blip r:embed="rId3">
            <a:alphaModFix/>
          </a:blip>
          <a:srcRect/>
          <a:stretch/>
        </p:blipFill>
        <p:spPr>
          <a:xfrm>
            <a:off x="999641" y="1601348"/>
            <a:ext cx="308610" cy="308610"/>
          </a:xfrm>
          <a:prstGeom prst="rect">
            <a:avLst/>
          </a:prstGeom>
          <a:noFill/>
          <a:ln>
            <a:noFill/>
          </a:ln>
        </p:spPr>
      </p:pic>
      <p:sp>
        <p:nvSpPr>
          <p:cNvPr id="920" name="Google Shape;920;p62"/>
          <p:cNvSpPr txBox="1"/>
          <p:nvPr/>
        </p:nvSpPr>
        <p:spPr>
          <a:xfrm>
            <a:off x="365276" y="2098553"/>
            <a:ext cx="1577400" cy="20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1</a:t>
            </a:r>
            <a:endParaRPr sz="1000" b="0" i="0" u="none" strike="noStrike" cap="none">
              <a:solidFill>
                <a:schemeClr val="dk1"/>
              </a:solidFill>
              <a:latin typeface="Calibri"/>
              <a:ea typeface="Calibri"/>
              <a:cs typeface="Calibri"/>
              <a:sym typeface="Calibri"/>
            </a:endParaRPr>
          </a:p>
        </p:txBody>
      </p:sp>
      <p:sp>
        <p:nvSpPr>
          <p:cNvPr id="921" name="Google Shape;921;p62"/>
          <p:cNvSpPr txBox="1"/>
          <p:nvPr/>
        </p:nvSpPr>
        <p:spPr>
          <a:xfrm>
            <a:off x="330986" y="2283719"/>
            <a:ext cx="164580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Rules via PR</a:t>
            </a:r>
            <a:endParaRPr sz="1000" b="0" i="0" u="none" strike="noStrike" cap="none">
              <a:solidFill>
                <a:schemeClr val="dk1"/>
              </a:solidFill>
              <a:latin typeface="Calibri"/>
              <a:ea typeface="Calibri"/>
              <a:cs typeface="Calibri"/>
              <a:sym typeface="Calibri"/>
            </a:endParaRPr>
          </a:p>
        </p:txBody>
      </p:sp>
      <p:sp>
        <p:nvSpPr>
          <p:cNvPr id="922" name="Google Shape;922;p62"/>
          <p:cNvSpPr txBox="1"/>
          <p:nvPr/>
        </p:nvSpPr>
        <p:spPr>
          <a:xfrm>
            <a:off x="330986" y="2647192"/>
            <a:ext cx="1645800" cy="89160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1200" b="0" i="0" u="none" strike="noStrike" cap="none">
                <a:solidFill>
                  <a:srgbClr val="93A9C0"/>
                </a:solidFill>
                <a:latin typeface="Calibri"/>
                <a:ea typeface="Calibri"/>
                <a:cs typeface="Calibri"/>
                <a:sym typeface="Calibri"/>
              </a:rPr>
              <a:t>Edits to CLAUDE.md, skills and hooks get reviewed like code.</a:t>
            </a:r>
            <a:endParaRPr sz="1200" b="0" i="0" u="none" strike="noStrike" cap="none">
              <a:solidFill>
                <a:schemeClr val="dk1"/>
              </a:solidFill>
              <a:latin typeface="Calibri"/>
              <a:ea typeface="Calibri"/>
              <a:cs typeface="Calibri"/>
              <a:sym typeface="Calibri"/>
            </a:endParaRPr>
          </a:p>
        </p:txBody>
      </p:sp>
      <p:sp>
        <p:nvSpPr>
          <p:cNvPr id="923" name="Google Shape;923;p62"/>
          <p:cNvSpPr/>
          <p:nvPr/>
        </p:nvSpPr>
        <p:spPr>
          <a:xfrm>
            <a:off x="2592324"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924" name="Google Shape;924;p62" descr="/home/claude/work/assets/ic_branch_bone.png"/>
          <p:cNvPicPr preferRelativeResize="0"/>
          <p:nvPr/>
        </p:nvPicPr>
        <p:blipFill rotWithShape="1">
          <a:blip r:embed="rId3">
            <a:alphaModFix/>
          </a:blip>
          <a:srcRect/>
          <a:stretch/>
        </p:blipFill>
        <p:spPr>
          <a:xfrm>
            <a:off x="2746629" y="1594485"/>
            <a:ext cx="308610" cy="308610"/>
          </a:xfrm>
          <a:prstGeom prst="rect">
            <a:avLst/>
          </a:prstGeom>
          <a:noFill/>
          <a:ln>
            <a:noFill/>
          </a:ln>
        </p:spPr>
      </p:pic>
      <p:sp>
        <p:nvSpPr>
          <p:cNvPr id="925" name="Google Shape;925;p62"/>
          <p:cNvSpPr txBox="1"/>
          <p:nvPr/>
        </p:nvSpPr>
        <p:spPr>
          <a:xfrm>
            <a:off x="2112264"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2</a:t>
            </a:r>
            <a:endParaRPr sz="1000" b="0" i="0" u="none" strike="noStrike" cap="none">
              <a:solidFill>
                <a:schemeClr val="dk1"/>
              </a:solidFill>
              <a:latin typeface="Calibri"/>
              <a:ea typeface="Calibri"/>
              <a:cs typeface="Calibri"/>
              <a:sym typeface="Calibri"/>
            </a:endParaRPr>
          </a:p>
        </p:txBody>
      </p:sp>
      <p:sp>
        <p:nvSpPr>
          <p:cNvPr id="926" name="Google Shape;926;p62"/>
          <p:cNvSpPr txBox="1"/>
          <p:nvPr/>
        </p:nvSpPr>
        <p:spPr>
          <a:xfrm>
            <a:off x="2077974"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One task, one branch</a:t>
            </a:r>
            <a:endParaRPr sz="1000" b="0" i="0" u="none" strike="noStrike" cap="none">
              <a:solidFill>
                <a:schemeClr val="dk1"/>
              </a:solidFill>
              <a:latin typeface="Calibri"/>
              <a:ea typeface="Calibri"/>
              <a:cs typeface="Calibri"/>
              <a:sym typeface="Calibri"/>
            </a:endParaRPr>
          </a:p>
        </p:txBody>
      </p:sp>
      <p:sp>
        <p:nvSpPr>
          <p:cNvPr id="927" name="Google Shape;927;p62"/>
          <p:cNvSpPr txBox="1"/>
          <p:nvPr/>
        </p:nvSpPr>
        <p:spPr>
          <a:xfrm>
            <a:off x="2077974"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1200" b="0" i="0" u="none" strike="noStrike" cap="none">
                <a:solidFill>
                  <a:srgbClr val="93A9C0"/>
                </a:solidFill>
                <a:latin typeface="Calibri"/>
                <a:ea typeface="Calibri"/>
                <a:cs typeface="Calibri"/>
                <a:sym typeface="Calibri"/>
              </a:rPr>
              <a:t>Two agents at once? claude --worktree gives each its own repo copy.</a:t>
            </a:r>
            <a:endParaRPr sz="1200" b="0" i="0" u="none" strike="noStrike" cap="none">
              <a:solidFill>
                <a:schemeClr val="dk1"/>
              </a:solidFill>
              <a:latin typeface="Calibri"/>
              <a:ea typeface="Calibri"/>
              <a:cs typeface="Calibri"/>
              <a:sym typeface="Calibri"/>
            </a:endParaRPr>
          </a:p>
        </p:txBody>
      </p:sp>
      <p:sp>
        <p:nvSpPr>
          <p:cNvPr id="928" name="Google Shape;928;p62"/>
          <p:cNvSpPr/>
          <p:nvPr/>
        </p:nvSpPr>
        <p:spPr>
          <a:xfrm>
            <a:off x="4307212" y="1447043"/>
            <a:ext cx="617100" cy="6171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929" name="Google Shape;929;p62" descr="/home/claude/work/assets/ic_guard_bone.png"/>
          <p:cNvPicPr preferRelativeResize="0"/>
          <p:nvPr/>
        </p:nvPicPr>
        <p:blipFill rotWithShape="1">
          <a:blip r:embed="rId4">
            <a:alphaModFix/>
          </a:blip>
          <a:srcRect/>
          <a:stretch/>
        </p:blipFill>
        <p:spPr>
          <a:xfrm>
            <a:off x="4461517" y="1601348"/>
            <a:ext cx="308610" cy="308610"/>
          </a:xfrm>
          <a:prstGeom prst="rect">
            <a:avLst/>
          </a:prstGeom>
          <a:noFill/>
          <a:ln>
            <a:noFill/>
          </a:ln>
        </p:spPr>
      </p:pic>
      <p:sp>
        <p:nvSpPr>
          <p:cNvPr id="930" name="Google Shape;930;p62"/>
          <p:cNvSpPr txBox="1"/>
          <p:nvPr/>
        </p:nvSpPr>
        <p:spPr>
          <a:xfrm>
            <a:off x="3827152" y="2098553"/>
            <a:ext cx="1577400" cy="20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3</a:t>
            </a:r>
            <a:endParaRPr sz="1000" b="0" i="0" u="none" strike="noStrike" cap="none">
              <a:solidFill>
                <a:schemeClr val="dk1"/>
              </a:solidFill>
              <a:latin typeface="Calibri"/>
              <a:ea typeface="Calibri"/>
              <a:cs typeface="Calibri"/>
              <a:sym typeface="Calibri"/>
            </a:endParaRPr>
          </a:p>
        </p:txBody>
      </p:sp>
      <p:sp>
        <p:nvSpPr>
          <p:cNvPr id="931" name="Google Shape;931;p62"/>
          <p:cNvSpPr txBox="1"/>
          <p:nvPr/>
        </p:nvSpPr>
        <p:spPr>
          <a:xfrm>
            <a:off x="3792862" y="2283719"/>
            <a:ext cx="164580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Same guardrails for all</a:t>
            </a:r>
            <a:endParaRPr sz="1000" b="0" i="0" u="none" strike="noStrike" cap="none">
              <a:solidFill>
                <a:schemeClr val="dk1"/>
              </a:solidFill>
              <a:latin typeface="Calibri"/>
              <a:ea typeface="Calibri"/>
              <a:cs typeface="Calibri"/>
              <a:sym typeface="Calibri"/>
            </a:endParaRPr>
          </a:p>
        </p:txBody>
      </p:sp>
      <p:sp>
        <p:nvSpPr>
          <p:cNvPr id="932" name="Google Shape;932;p62"/>
          <p:cNvSpPr txBox="1"/>
          <p:nvPr/>
        </p:nvSpPr>
        <p:spPr>
          <a:xfrm>
            <a:off x="3792862" y="2647192"/>
            <a:ext cx="1645800" cy="89160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1200" b="0" i="0" u="none" strike="noStrike" cap="none" dirty="0">
                <a:solidFill>
                  <a:srgbClr val="93A9C0"/>
                </a:solidFill>
                <a:latin typeface="Calibri"/>
                <a:ea typeface="Calibri"/>
                <a:cs typeface="Calibri"/>
                <a:sym typeface="Calibri"/>
              </a:rPr>
              <a:t>Hooks (automatic checks) live in the shared settings and run for everyone.</a:t>
            </a:r>
            <a:endParaRPr sz="1200" b="0" i="0" u="none" strike="noStrike" cap="none" dirty="0">
              <a:solidFill>
                <a:schemeClr val="dk1"/>
              </a:solidFill>
              <a:latin typeface="Calibri"/>
              <a:ea typeface="Calibri"/>
              <a:cs typeface="Calibri"/>
              <a:sym typeface="Calibri"/>
            </a:endParaRPr>
          </a:p>
        </p:txBody>
      </p:sp>
      <p:sp>
        <p:nvSpPr>
          <p:cNvPr id="933" name="Google Shape;933;p62"/>
          <p:cNvSpPr/>
          <p:nvPr/>
        </p:nvSpPr>
        <p:spPr>
          <a:xfrm>
            <a:off x="6056363" y="1447043"/>
            <a:ext cx="617100" cy="6171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934" name="Google Shape;934;p62" descr="/home/claude/work/assets/ic_verify_bone.png"/>
          <p:cNvPicPr preferRelativeResize="0"/>
          <p:nvPr/>
        </p:nvPicPr>
        <p:blipFill rotWithShape="1">
          <a:blip r:embed="rId5">
            <a:alphaModFix/>
          </a:blip>
          <a:srcRect/>
          <a:stretch/>
        </p:blipFill>
        <p:spPr>
          <a:xfrm>
            <a:off x="6210668" y="1601348"/>
            <a:ext cx="308610" cy="308610"/>
          </a:xfrm>
          <a:prstGeom prst="rect">
            <a:avLst/>
          </a:prstGeom>
          <a:noFill/>
          <a:ln>
            <a:noFill/>
          </a:ln>
        </p:spPr>
      </p:pic>
      <p:sp>
        <p:nvSpPr>
          <p:cNvPr id="935" name="Google Shape;935;p62"/>
          <p:cNvSpPr txBox="1"/>
          <p:nvPr/>
        </p:nvSpPr>
        <p:spPr>
          <a:xfrm>
            <a:off x="5576302" y="2098553"/>
            <a:ext cx="1577400" cy="20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4</a:t>
            </a:r>
            <a:endParaRPr sz="1000" b="0" i="0" u="none" strike="noStrike" cap="none">
              <a:solidFill>
                <a:schemeClr val="dk1"/>
              </a:solidFill>
              <a:latin typeface="Calibri"/>
              <a:ea typeface="Calibri"/>
              <a:cs typeface="Calibri"/>
              <a:sym typeface="Calibri"/>
            </a:endParaRPr>
          </a:p>
        </p:txBody>
      </p:sp>
      <p:sp>
        <p:nvSpPr>
          <p:cNvPr id="936" name="Google Shape;936;p62"/>
          <p:cNvSpPr txBox="1"/>
          <p:nvPr/>
        </p:nvSpPr>
        <p:spPr>
          <a:xfrm>
            <a:off x="5542013" y="2283719"/>
            <a:ext cx="164580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Every PR is reviewed</a:t>
            </a:r>
            <a:endParaRPr sz="1000" b="0" i="0" u="none" strike="noStrike" cap="none">
              <a:solidFill>
                <a:schemeClr val="dk1"/>
              </a:solidFill>
              <a:latin typeface="Calibri"/>
              <a:ea typeface="Calibri"/>
              <a:cs typeface="Calibri"/>
              <a:sym typeface="Calibri"/>
            </a:endParaRPr>
          </a:p>
        </p:txBody>
      </p:sp>
      <p:sp>
        <p:nvSpPr>
          <p:cNvPr id="937" name="Google Shape;937;p62"/>
          <p:cNvSpPr txBox="1"/>
          <p:nvPr/>
        </p:nvSpPr>
        <p:spPr>
          <a:xfrm>
            <a:off x="5542013" y="2647192"/>
            <a:ext cx="1645800" cy="89160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1200" b="0" i="0" u="none" strike="noStrike" cap="none" dirty="0">
                <a:solidFill>
                  <a:srgbClr val="93A9C0"/>
                </a:solidFill>
                <a:latin typeface="Calibri"/>
                <a:ea typeface="Calibri"/>
                <a:cs typeface="Calibri"/>
                <a:sym typeface="Calibri"/>
              </a:rPr>
              <a:t>Claude in your CI (GitHub Action) plus a human reviewer.</a:t>
            </a:r>
            <a:endParaRPr sz="1200" b="0" i="0" u="none" strike="noStrike" cap="none" dirty="0">
              <a:solidFill>
                <a:schemeClr val="dk1"/>
              </a:solidFill>
              <a:latin typeface="Calibri"/>
              <a:ea typeface="Calibri"/>
              <a:cs typeface="Calibri"/>
              <a:sym typeface="Calibri"/>
            </a:endParaRPr>
          </a:p>
        </p:txBody>
      </p:sp>
      <p:sp>
        <p:nvSpPr>
          <p:cNvPr id="938" name="Google Shape;938;p62"/>
          <p:cNvSpPr/>
          <p:nvPr/>
        </p:nvSpPr>
        <p:spPr>
          <a:xfrm>
            <a:off x="7702163" y="1447005"/>
            <a:ext cx="617100" cy="6171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939" name="Google Shape;939;p62" descr="/home/claude/work/assets/ic_memory_bone.png"/>
          <p:cNvPicPr preferRelativeResize="0"/>
          <p:nvPr/>
        </p:nvPicPr>
        <p:blipFill rotWithShape="1">
          <a:blip r:embed="rId6">
            <a:alphaModFix/>
          </a:blip>
          <a:srcRect/>
          <a:stretch/>
        </p:blipFill>
        <p:spPr>
          <a:xfrm>
            <a:off x="7856468" y="1601310"/>
            <a:ext cx="308610" cy="308610"/>
          </a:xfrm>
          <a:prstGeom prst="rect">
            <a:avLst/>
          </a:prstGeom>
          <a:noFill/>
          <a:ln>
            <a:noFill/>
          </a:ln>
        </p:spPr>
      </p:pic>
      <p:sp>
        <p:nvSpPr>
          <p:cNvPr id="940" name="Google Shape;940;p62"/>
          <p:cNvSpPr txBox="1"/>
          <p:nvPr/>
        </p:nvSpPr>
        <p:spPr>
          <a:xfrm>
            <a:off x="7222103" y="2098515"/>
            <a:ext cx="1577400" cy="20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5</a:t>
            </a:r>
            <a:endParaRPr sz="1000" b="0" i="0" u="none" strike="noStrike" cap="none">
              <a:solidFill>
                <a:schemeClr val="dk1"/>
              </a:solidFill>
              <a:latin typeface="Calibri"/>
              <a:ea typeface="Calibri"/>
              <a:cs typeface="Calibri"/>
              <a:sym typeface="Calibri"/>
            </a:endParaRPr>
          </a:p>
        </p:txBody>
      </p:sp>
      <p:sp>
        <p:nvSpPr>
          <p:cNvPr id="941" name="Google Shape;941;p62"/>
          <p:cNvSpPr txBox="1"/>
          <p:nvPr/>
        </p:nvSpPr>
        <p:spPr>
          <a:xfrm>
            <a:off x="7187813" y="2283681"/>
            <a:ext cx="164580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Learnings go back</a:t>
            </a:r>
            <a:endParaRPr sz="1000" b="0" i="0" u="none" strike="noStrike" cap="none">
              <a:solidFill>
                <a:schemeClr val="dk1"/>
              </a:solidFill>
              <a:latin typeface="Calibri"/>
              <a:ea typeface="Calibri"/>
              <a:cs typeface="Calibri"/>
              <a:sym typeface="Calibri"/>
            </a:endParaRPr>
          </a:p>
        </p:txBody>
      </p:sp>
      <p:sp>
        <p:nvSpPr>
          <p:cNvPr id="942" name="Google Shape;942;p62"/>
          <p:cNvSpPr txBox="1"/>
          <p:nvPr/>
        </p:nvSpPr>
        <p:spPr>
          <a:xfrm>
            <a:off x="7187813" y="2647155"/>
            <a:ext cx="1645800" cy="89160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1200" b="0" i="0" u="none" strike="noStrike" cap="none">
                <a:solidFill>
                  <a:srgbClr val="93A9C0"/>
                </a:solidFill>
                <a:latin typeface="Calibri"/>
                <a:ea typeface="Calibri"/>
                <a:cs typeface="Calibri"/>
                <a:sym typeface="Calibri"/>
              </a:rPr>
              <a:t>A new team decision becomes a line in CLAUDE.md.</a:t>
            </a:r>
            <a:endParaRPr sz="1200" b="0" i="0" u="none" strike="noStrike" cap="none">
              <a:solidFill>
                <a:schemeClr val="dk1"/>
              </a:solidFill>
              <a:latin typeface="Calibri"/>
              <a:ea typeface="Calibri"/>
              <a:cs typeface="Calibri"/>
              <a:sym typeface="Calibri"/>
            </a:endParaRPr>
          </a:p>
        </p:txBody>
      </p:sp>
      <p:sp>
        <p:nvSpPr>
          <p:cNvPr id="943" name="Google Shape;943;p62"/>
          <p:cNvSpPr/>
          <p:nvPr/>
        </p:nvSpPr>
        <p:spPr>
          <a:xfrm>
            <a:off x="493776" y="3943350"/>
            <a:ext cx="8161020" cy="685800"/>
          </a:xfrm>
          <a:prstGeom prst="roundRect">
            <a:avLst>
              <a:gd name="adj" fmla="val 8000"/>
            </a:avLst>
          </a:prstGeom>
          <a:solidFill>
            <a:srgbClr val="111D2B"/>
          </a:solidFill>
          <a:ln w="12700" cap="flat" cmpd="sng">
            <a:solidFill>
              <a:srgbClr val="0272B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944" name="Google Shape;944;p62"/>
          <p:cNvSpPr txBox="1"/>
          <p:nvPr/>
        </p:nvSpPr>
        <p:spPr>
          <a:xfrm>
            <a:off x="685800" y="4080510"/>
            <a:ext cx="7818120" cy="48006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EAF1F7"/>
              </a:buClr>
              <a:buSzPts val="1100"/>
              <a:buFont typeface="Century Schoolbook"/>
              <a:buNone/>
            </a:pPr>
            <a:r>
              <a:rPr lang="en-GB" sz="1100" b="0" i="1" u="none" strike="noStrike" cap="none" dirty="0">
                <a:solidFill>
                  <a:srgbClr val="EAF1F7"/>
                </a:solidFill>
                <a:latin typeface="Century Schoolbook"/>
                <a:ea typeface="Century Schoolbook"/>
                <a:cs typeface="Century Schoolbook"/>
                <a:sym typeface="Century Schoolbook"/>
              </a:rPr>
              <a:t>Git keeps collisions small and visible: separate branches or </a:t>
            </a:r>
            <a:r>
              <a:rPr lang="en-GB" sz="1100" b="0" i="1" u="none" strike="noStrike" cap="none" dirty="0" err="1">
                <a:solidFill>
                  <a:srgbClr val="EAF1F7"/>
                </a:solidFill>
                <a:latin typeface="Century Schoolbook"/>
                <a:ea typeface="Century Schoolbook"/>
                <a:cs typeface="Century Schoolbook"/>
                <a:sym typeface="Century Schoolbook"/>
              </a:rPr>
              <a:t>worktrees</a:t>
            </a:r>
            <a:r>
              <a:rPr lang="en-GB" sz="1100" b="0" i="1" u="none" strike="noStrike" cap="none" dirty="0">
                <a:solidFill>
                  <a:srgbClr val="EAF1F7"/>
                </a:solidFill>
                <a:latin typeface="Century Schoolbook"/>
                <a:ea typeface="Century Schoolbook"/>
                <a:cs typeface="Century Schoolbook"/>
                <a:sym typeface="Century Schoolbook"/>
              </a:rPr>
              <a:t>, small tasks. Two people editing </a:t>
            </a:r>
            <a:r>
              <a:rPr lang="en-GB" sz="1100" b="0" i="1" u="none" strike="noStrike" cap="none" dirty="0" err="1">
                <a:solidFill>
                  <a:srgbClr val="EAF1F7"/>
                </a:solidFill>
                <a:latin typeface="Century Schoolbook"/>
                <a:ea typeface="Century Schoolbook"/>
                <a:cs typeface="Century Schoolbook"/>
                <a:sym typeface="Century Schoolbook"/>
              </a:rPr>
              <a:t>CLAUDE.md</a:t>
            </a:r>
            <a:r>
              <a:rPr lang="en-GB" sz="1100" b="0" i="1" u="none" strike="noStrike" cap="none" dirty="0">
                <a:solidFill>
                  <a:srgbClr val="EAF1F7"/>
                </a:solidFill>
                <a:latin typeface="Century Schoolbook"/>
                <a:ea typeface="Century Schoolbook"/>
                <a:cs typeface="Century Schoolbook"/>
                <a:sym typeface="Century Schoolbook"/>
              </a:rPr>
              <a:t>? A normal merge conflict, solved in review.</a:t>
            </a:r>
            <a:endParaRPr sz="11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49"/>
        <p:cNvGrpSpPr/>
        <p:nvPr/>
      </p:nvGrpSpPr>
      <p:grpSpPr>
        <a:xfrm>
          <a:off x="0" y="0"/>
          <a:ext cx="0" cy="0"/>
          <a:chOff x="0" y="0"/>
          <a:chExt cx="0" cy="0"/>
        </a:xfrm>
      </p:grpSpPr>
      <p:sp>
        <p:nvSpPr>
          <p:cNvPr id="950" name="Google Shape;950;p6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The result: the fix waits for the real event, not a number</a:t>
            </a:r>
            <a:endParaRPr sz="1900"/>
          </a:p>
        </p:txBody>
      </p:sp>
      <p:sp>
        <p:nvSpPr>
          <p:cNvPr id="951" name="Google Shape;951;p63"/>
          <p:cNvSpPr txBox="1"/>
          <p:nvPr/>
        </p:nvSpPr>
        <p:spPr>
          <a:xfrm>
            <a:off x="493776" y="941832"/>
            <a:ext cx="2011680" cy="292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Before</a:t>
            </a:r>
            <a:endParaRPr sz="1400" b="0" i="0" u="none" strike="noStrike" cap="none">
              <a:solidFill>
                <a:srgbClr val="000000"/>
              </a:solidFill>
              <a:latin typeface="Arial"/>
              <a:ea typeface="Arial"/>
              <a:cs typeface="Arial"/>
              <a:sym typeface="Arial"/>
            </a:endParaRPr>
          </a:p>
        </p:txBody>
      </p:sp>
      <p:sp>
        <p:nvSpPr>
          <p:cNvPr id="952" name="Google Shape;952;p63"/>
          <p:cNvSpPr txBox="1"/>
          <p:nvPr/>
        </p:nvSpPr>
        <p:spPr>
          <a:xfrm>
            <a:off x="493776" y="1207008"/>
            <a:ext cx="20116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the original test, 10 runs</a:t>
            </a:r>
            <a:endParaRPr sz="1400" b="0" i="0" u="none" strike="noStrike" cap="none">
              <a:solidFill>
                <a:srgbClr val="000000"/>
              </a:solidFill>
              <a:latin typeface="Arial"/>
              <a:ea typeface="Arial"/>
              <a:cs typeface="Arial"/>
              <a:sym typeface="Arial"/>
            </a:endParaRPr>
          </a:p>
        </p:txBody>
      </p:sp>
      <p:sp>
        <p:nvSpPr>
          <p:cNvPr id="953" name="Google Shape;953;p63"/>
          <p:cNvSpPr/>
          <p:nvPr/>
        </p:nvSpPr>
        <p:spPr>
          <a:xfrm>
            <a:off x="2514600"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54" name="Google Shape;954;p63"/>
          <p:cNvSpPr/>
          <p:nvPr/>
        </p:nvSpPr>
        <p:spPr>
          <a:xfrm>
            <a:off x="2820924"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55" name="Google Shape;955;p63"/>
          <p:cNvSpPr/>
          <p:nvPr/>
        </p:nvSpPr>
        <p:spPr>
          <a:xfrm>
            <a:off x="3127248"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56" name="Google Shape;956;p63"/>
          <p:cNvSpPr/>
          <p:nvPr/>
        </p:nvSpPr>
        <p:spPr>
          <a:xfrm>
            <a:off x="3433572"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57" name="Google Shape;957;p63"/>
          <p:cNvSpPr/>
          <p:nvPr/>
        </p:nvSpPr>
        <p:spPr>
          <a:xfrm>
            <a:off x="3739896"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58" name="Google Shape;958;p63"/>
          <p:cNvSpPr/>
          <p:nvPr/>
        </p:nvSpPr>
        <p:spPr>
          <a:xfrm>
            <a:off x="4046220"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59" name="Google Shape;959;p63"/>
          <p:cNvSpPr/>
          <p:nvPr/>
        </p:nvSpPr>
        <p:spPr>
          <a:xfrm>
            <a:off x="4352544"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0" name="Google Shape;960;p63"/>
          <p:cNvSpPr/>
          <p:nvPr/>
        </p:nvSpPr>
        <p:spPr>
          <a:xfrm>
            <a:off x="4658868"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1" name="Google Shape;961;p63"/>
          <p:cNvSpPr/>
          <p:nvPr/>
        </p:nvSpPr>
        <p:spPr>
          <a:xfrm>
            <a:off x="4965192"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2" name="Google Shape;962;p63"/>
          <p:cNvSpPr/>
          <p:nvPr/>
        </p:nvSpPr>
        <p:spPr>
          <a:xfrm>
            <a:off x="5271516"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3" name="Google Shape;963;p63"/>
          <p:cNvSpPr txBox="1"/>
          <p:nvPr/>
        </p:nvSpPr>
        <p:spPr>
          <a:xfrm>
            <a:off x="5669279" y="987552"/>
            <a:ext cx="301752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05A4F"/>
                </a:solidFill>
                <a:latin typeface="Calibri"/>
                <a:ea typeface="Calibri"/>
                <a:cs typeface="Calibri"/>
                <a:sym typeface="Calibri"/>
              </a:rPr>
              <a:t>fails about 4 in every 10</a:t>
            </a:r>
            <a:endParaRPr sz="1400" b="0" i="0" u="none" strike="noStrike" cap="none">
              <a:solidFill>
                <a:srgbClr val="000000"/>
              </a:solidFill>
              <a:latin typeface="Arial"/>
              <a:ea typeface="Arial"/>
              <a:cs typeface="Arial"/>
              <a:sym typeface="Arial"/>
            </a:endParaRPr>
          </a:p>
        </p:txBody>
      </p:sp>
      <p:sp>
        <p:nvSpPr>
          <p:cNvPr id="964" name="Google Shape;964;p63"/>
          <p:cNvSpPr txBox="1"/>
          <p:nvPr/>
        </p:nvSpPr>
        <p:spPr>
          <a:xfrm>
            <a:off x="493776" y="1581912"/>
            <a:ext cx="2011680" cy="292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After /fix-flaky</a:t>
            </a:r>
            <a:endParaRPr sz="1400" b="0" i="0" u="none" strike="noStrike" cap="none">
              <a:solidFill>
                <a:srgbClr val="000000"/>
              </a:solidFill>
              <a:latin typeface="Arial"/>
              <a:ea typeface="Arial"/>
              <a:cs typeface="Arial"/>
              <a:sym typeface="Arial"/>
            </a:endParaRPr>
          </a:p>
        </p:txBody>
      </p:sp>
      <p:sp>
        <p:nvSpPr>
          <p:cNvPr id="965" name="Google Shape;965;p63"/>
          <p:cNvSpPr txBox="1"/>
          <p:nvPr/>
        </p:nvSpPr>
        <p:spPr>
          <a:xfrm>
            <a:off x="493776" y="1847088"/>
            <a:ext cx="2011680" cy="16158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dirty="0">
                <a:solidFill>
                  <a:srgbClr val="93A9C0"/>
                </a:solidFill>
                <a:latin typeface="Calibri"/>
                <a:ea typeface="Calibri"/>
                <a:cs typeface="Calibri"/>
                <a:sym typeface="Calibri"/>
              </a:rPr>
              <a:t>re-run by us, 10 runs</a:t>
            </a:r>
            <a:endParaRPr sz="1400" b="0" i="0" u="none" strike="noStrike" cap="none" dirty="0">
              <a:solidFill>
                <a:srgbClr val="000000"/>
              </a:solidFill>
              <a:latin typeface="Arial"/>
              <a:ea typeface="Arial"/>
              <a:cs typeface="Arial"/>
              <a:sym typeface="Arial"/>
            </a:endParaRPr>
          </a:p>
        </p:txBody>
      </p:sp>
      <p:sp>
        <p:nvSpPr>
          <p:cNvPr id="966" name="Google Shape;966;p63"/>
          <p:cNvSpPr/>
          <p:nvPr/>
        </p:nvSpPr>
        <p:spPr>
          <a:xfrm>
            <a:off x="251460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7" name="Google Shape;967;p63"/>
          <p:cNvSpPr/>
          <p:nvPr/>
        </p:nvSpPr>
        <p:spPr>
          <a:xfrm>
            <a:off x="282092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8" name="Google Shape;968;p63"/>
          <p:cNvSpPr/>
          <p:nvPr/>
        </p:nvSpPr>
        <p:spPr>
          <a:xfrm>
            <a:off x="312724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9" name="Google Shape;969;p63"/>
          <p:cNvSpPr/>
          <p:nvPr/>
        </p:nvSpPr>
        <p:spPr>
          <a:xfrm>
            <a:off x="343357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70" name="Google Shape;970;p63"/>
          <p:cNvSpPr/>
          <p:nvPr/>
        </p:nvSpPr>
        <p:spPr>
          <a:xfrm>
            <a:off x="373989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71" name="Google Shape;971;p63"/>
          <p:cNvSpPr/>
          <p:nvPr/>
        </p:nvSpPr>
        <p:spPr>
          <a:xfrm>
            <a:off x="404622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72" name="Google Shape;972;p63"/>
          <p:cNvSpPr/>
          <p:nvPr/>
        </p:nvSpPr>
        <p:spPr>
          <a:xfrm>
            <a:off x="435254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73" name="Google Shape;973;p63"/>
          <p:cNvSpPr/>
          <p:nvPr/>
        </p:nvSpPr>
        <p:spPr>
          <a:xfrm>
            <a:off x="465886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74" name="Google Shape;974;p63"/>
          <p:cNvSpPr/>
          <p:nvPr/>
        </p:nvSpPr>
        <p:spPr>
          <a:xfrm>
            <a:off x="496519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75" name="Google Shape;975;p63"/>
          <p:cNvSpPr/>
          <p:nvPr/>
        </p:nvSpPr>
        <p:spPr>
          <a:xfrm>
            <a:off x="527151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86" name="Google Shape;986;p63"/>
          <p:cNvSpPr txBox="1"/>
          <p:nvPr/>
        </p:nvSpPr>
        <p:spPr>
          <a:xfrm>
            <a:off x="2514600" y="1938528"/>
            <a:ext cx="6126480" cy="18466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dirty="0">
                <a:solidFill>
                  <a:srgbClr val="4CC07A"/>
                </a:solidFill>
                <a:latin typeface="Calibri"/>
                <a:ea typeface="Calibri"/>
                <a:cs typeface="Calibri"/>
                <a:sym typeface="Calibri"/>
              </a:rPr>
              <a:t>1</a:t>
            </a:r>
            <a:r>
              <a:rPr lang="en-GB" sz="1200" b="1" i="0" u="none" strike="noStrike" cap="none" dirty="0">
                <a:solidFill>
                  <a:srgbClr val="4CC07A"/>
                </a:solidFill>
                <a:latin typeface="Calibri"/>
                <a:ea typeface="Calibri"/>
                <a:cs typeface="Calibri"/>
                <a:sym typeface="Calibri"/>
              </a:rPr>
              <a:t>0/10</a:t>
            </a:r>
            <a:r>
              <a:rPr lang="en-GB" sz="1100" b="0" i="0" u="none" strike="noStrike" cap="none" dirty="0">
                <a:solidFill>
                  <a:srgbClr val="93A9C0"/>
                </a:solidFill>
                <a:latin typeface="Calibri"/>
                <a:ea typeface="Calibri"/>
                <a:cs typeface="Calibri"/>
                <a:sym typeface="Calibri"/>
              </a:rPr>
              <a:t>  ·  also passes when payment takes 8 s and 12 s</a:t>
            </a:r>
            <a:endParaRPr sz="1400" b="0" i="0" u="none" strike="noStrike" cap="none" dirty="0">
              <a:solidFill>
                <a:srgbClr val="000000"/>
              </a:solidFill>
              <a:latin typeface="Arial"/>
              <a:ea typeface="Arial"/>
              <a:cs typeface="Arial"/>
              <a:sym typeface="Arial"/>
            </a:endParaRPr>
          </a:p>
        </p:txBody>
      </p:sp>
      <p:cxnSp>
        <p:nvCxnSpPr>
          <p:cNvPr id="987" name="Google Shape;987;p63"/>
          <p:cNvCxnSpPr/>
          <p:nvPr/>
        </p:nvCxnSpPr>
        <p:spPr>
          <a:xfrm>
            <a:off x="731520" y="2606040"/>
            <a:ext cx="7589520" cy="0"/>
          </a:xfrm>
          <a:prstGeom prst="straightConnector1">
            <a:avLst/>
          </a:prstGeom>
          <a:noFill/>
          <a:ln w="12700" cap="flat" cmpd="sng">
            <a:solidFill>
              <a:srgbClr val="93A9C0"/>
            </a:solidFill>
            <a:prstDash val="solid"/>
            <a:round/>
            <a:headEnd type="none" w="sm" len="sm"/>
            <a:tailEnd type="none" w="sm" len="sm"/>
          </a:ln>
          <a:effectLst>
            <a:outerShdw blurRad="40000" dist="20000" dir="5400000" rotWithShape="0">
              <a:srgbClr val="000000">
                <a:alpha val="38039"/>
              </a:srgbClr>
            </a:outerShdw>
          </a:effectLst>
        </p:spPr>
      </p:cxnSp>
      <p:sp>
        <p:nvSpPr>
          <p:cNvPr id="988" name="Google Shape;988;p63"/>
          <p:cNvSpPr/>
          <p:nvPr/>
        </p:nvSpPr>
        <p:spPr>
          <a:xfrm>
            <a:off x="921258" y="2551176"/>
            <a:ext cx="7399781" cy="109728"/>
          </a:xfrm>
          <a:prstGeom prst="rect">
            <a:avLst/>
          </a:prstGeom>
          <a:solidFill>
            <a:srgbClr val="1F5A3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89" name="Google Shape;989;p63"/>
          <p:cNvSpPr txBox="1"/>
          <p:nvPr/>
        </p:nvSpPr>
        <p:spPr>
          <a:xfrm>
            <a:off x="731520" y="2276856"/>
            <a:ext cx="7589519" cy="256032"/>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4CC07A"/>
                </a:solidFill>
                <a:latin typeface="Calibri"/>
                <a:ea typeface="Calibri"/>
                <a:cs typeface="Calibri"/>
                <a:sym typeface="Calibri"/>
              </a:rPr>
              <a:t>waits for the “confirmed” message, however long payment takes</a:t>
            </a:r>
            <a:endParaRPr sz="1400" b="0" i="0" u="none" strike="noStrike" cap="none">
              <a:solidFill>
                <a:srgbClr val="000000"/>
              </a:solidFill>
              <a:latin typeface="Arial"/>
              <a:ea typeface="Arial"/>
              <a:cs typeface="Arial"/>
              <a:sym typeface="Arial"/>
            </a:endParaRPr>
          </a:p>
        </p:txBody>
      </p:sp>
      <p:sp>
        <p:nvSpPr>
          <p:cNvPr id="990" name="Google Shape;990;p63"/>
          <p:cNvSpPr txBox="1"/>
          <p:nvPr/>
        </p:nvSpPr>
        <p:spPr>
          <a:xfrm>
            <a:off x="457200"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0 s</a:t>
            </a:r>
            <a:endParaRPr sz="1400" b="0" i="0" u="none" strike="noStrike" cap="none">
              <a:solidFill>
                <a:srgbClr val="000000"/>
              </a:solidFill>
              <a:latin typeface="Arial"/>
              <a:ea typeface="Arial"/>
              <a:cs typeface="Arial"/>
              <a:sym typeface="Arial"/>
            </a:endParaRPr>
          </a:p>
        </p:txBody>
      </p:sp>
      <p:sp>
        <p:nvSpPr>
          <p:cNvPr id="991" name="Google Shape;991;p63"/>
          <p:cNvSpPr txBox="1"/>
          <p:nvPr/>
        </p:nvSpPr>
        <p:spPr>
          <a:xfrm>
            <a:off x="172211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2 s</a:t>
            </a:r>
            <a:endParaRPr sz="1400" b="0" i="0" u="none" strike="noStrike" cap="none">
              <a:solidFill>
                <a:srgbClr val="000000"/>
              </a:solidFill>
              <a:latin typeface="Arial"/>
              <a:ea typeface="Arial"/>
              <a:cs typeface="Arial"/>
              <a:sym typeface="Arial"/>
            </a:endParaRPr>
          </a:p>
        </p:txBody>
      </p:sp>
      <p:sp>
        <p:nvSpPr>
          <p:cNvPr id="992" name="Google Shape;992;p63"/>
          <p:cNvSpPr txBox="1"/>
          <p:nvPr/>
        </p:nvSpPr>
        <p:spPr>
          <a:xfrm>
            <a:off x="2987040"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4 s</a:t>
            </a:r>
            <a:endParaRPr sz="1400" b="0" i="0" u="none" strike="noStrike" cap="none">
              <a:solidFill>
                <a:srgbClr val="000000"/>
              </a:solidFill>
              <a:latin typeface="Arial"/>
              <a:ea typeface="Arial"/>
              <a:cs typeface="Arial"/>
              <a:sym typeface="Arial"/>
            </a:endParaRPr>
          </a:p>
        </p:txBody>
      </p:sp>
      <p:sp>
        <p:nvSpPr>
          <p:cNvPr id="993" name="Google Shape;993;p63"/>
          <p:cNvSpPr txBox="1"/>
          <p:nvPr/>
        </p:nvSpPr>
        <p:spPr>
          <a:xfrm>
            <a:off x="425195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6 s</a:t>
            </a:r>
            <a:endParaRPr sz="1400" b="0" i="0" u="none" strike="noStrike" cap="none">
              <a:solidFill>
                <a:srgbClr val="000000"/>
              </a:solidFill>
              <a:latin typeface="Arial"/>
              <a:ea typeface="Arial"/>
              <a:cs typeface="Arial"/>
              <a:sym typeface="Arial"/>
            </a:endParaRPr>
          </a:p>
        </p:txBody>
      </p:sp>
      <p:sp>
        <p:nvSpPr>
          <p:cNvPr id="994" name="Google Shape;994;p63"/>
          <p:cNvSpPr txBox="1"/>
          <p:nvPr/>
        </p:nvSpPr>
        <p:spPr>
          <a:xfrm>
            <a:off x="551687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8 s</a:t>
            </a:r>
            <a:endParaRPr sz="1400" b="0" i="0" u="none" strike="noStrike" cap="none">
              <a:solidFill>
                <a:srgbClr val="000000"/>
              </a:solidFill>
              <a:latin typeface="Arial"/>
              <a:ea typeface="Arial"/>
              <a:cs typeface="Arial"/>
              <a:sym typeface="Arial"/>
            </a:endParaRPr>
          </a:p>
        </p:txBody>
      </p:sp>
      <p:sp>
        <p:nvSpPr>
          <p:cNvPr id="995" name="Google Shape;995;p63"/>
          <p:cNvSpPr txBox="1"/>
          <p:nvPr/>
        </p:nvSpPr>
        <p:spPr>
          <a:xfrm>
            <a:off x="678179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10 s</a:t>
            </a:r>
            <a:endParaRPr sz="1400" b="0" i="0" u="none" strike="noStrike" cap="none">
              <a:solidFill>
                <a:srgbClr val="000000"/>
              </a:solidFill>
              <a:latin typeface="Arial"/>
              <a:ea typeface="Arial"/>
              <a:cs typeface="Arial"/>
              <a:sym typeface="Arial"/>
            </a:endParaRPr>
          </a:p>
        </p:txBody>
      </p:sp>
      <p:sp>
        <p:nvSpPr>
          <p:cNvPr id="996" name="Google Shape;996;p63"/>
          <p:cNvSpPr txBox="1"/>
          <p:nvPr/>
        </p:nvSpPr>
        <p:spPr>
          <a:xfrm>
            <a:off x="804671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12 s</a:t>
            </a:r>
            <a:endParaRPr sz="1400" b="0" i="0" u="none" strike="noStrike" cap="none">
              <a:solidFill>
                <a:srgbClr val="000000"/>
              </a:solidFill>
              <a:latin typeface="Arial"/>
              <a:ea typeface="Arial"/>
              <a:cs typeface="Arial"/>
              <a:sym typeface="Arial"/>
            </a:endParaRPr>
          </a:p>
        </p:txBody>
      </p:sp>
      <p:sp>
        <p:nvSpPr>
          <p:cNvPr id="997" name="Google Shape;997;p63"/>
          <p:cNvSpPr/>
          <p:nvPr/>
        </p:nvSpPr>
        <p:spPr>
          <a:xfrm>
            <a:off x="5681471" y="2496312"/>
            <a:ext cx="219456" cy="219456"/>
          </a:xfrm>
          <a:prstGeom prst="ellipse">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98" name="Google Shape;998;p63"/>
          <p:cNvSpPr txBox="1"/>
          <p:nvPr/>
        </p:nvSpPr>
        <p:spPr>
          <a:xfrm>
            <a:off x="5681471" y="2496312"/>
            <a:ext cx="219456" cy="21945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0B1A12"/>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999" name="Google Shape;999;p63"/>
          <p:cNvSpPr/>
          <p:nvPr/>
        </p:nvSpPr>
        <p:spPr>
          <a:xfrm>
            <a:off x="8211312" y="2496312"/>
            <a:ext cx="219456" cy="219456"/>
          </a:xfrm>
          <a:prstGeom prst="ellipse">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00" name="Google Shape;1000;p63"/>
          <p:cNvSpPr txBox="1"/>
          <p:nvPr/>
        </p:nvSpPr>
        <p:spPr>
          <a:xfrm>
            <a:off x="8211312" y="2496312"/>
            <a:ext cx="219456" cy="21945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0B1A12"/>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1001" name="Google Shape;1001;p63"/>
          <p:cNvSpPr/>
          <p:nvPr/>
        </p:nvSpPr>
        <p:spPr>
          <a:xfrm>
            <a:off x="493776" y="4690872"/>
            <a:ext cx="8156448" cy="347472"/>
          </a:xfrm>
          <a:prstGeom prst="roundRect">
            <a:avLst>
              <a:gd name="adj" fmla="val 8000"/>
            </a:avLst>
          </a:prstGeom>
          <a:solidFill>
            <a:srgbClr val="0A131E"/>
          </a:solidFill>
          <a:ln w="1905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02" name="Google Shape;1002;p63"/>
          <p:cNvSpPr txBox="1"/>
          <p:nvPr/>
        </p:nvSpPr>
        <p:spPr>
          <a:xfrm>
            <a:off x="640080" y="4690872"/>
            <a:ext cx="7863900" cy="1848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300"/>
              <a:buFont typeface="Arial"/>
              <a:buNone/>
            </a:pPr>
            <a:r>
              <a:rPr lang="en-GB" sz="1200" b="1" i="0" u="none" strike="noStrike" cap="none">
                <a:solidFill>
                  <a:srgbClr val="7FC6F3"/>
                </a:solidFill>
                <a:latin typeface="Century Schoolbook"/>
                <a:ea typeface="Century Schoolbook"/>
                <a:cs typeface="Century Schoolbook"/>
                <a:sym typeface="Century Schoolbook"/>
              </a:rPr>
              <a:t>Your repo, same result: </a:t>
            </a:r>
            <a:r>
              <a:rPr lang="en-GB" sz="1150" b="0" i="0" u="none" strike="noStrike" cap="none">
                <a:solidFill>
                  <a:srgbClr val="EAF1F7"/>
                </a:solidFill>
                <a:latin typeface="Calibri"/>
                <a:ea typeface="Calibri"/>
                <a:cs typeface="Calibri"/>
                <a:sym typeface="Calibri"/>
              </a:rPr>
              <a:t>rules in CLAUDE.md + your docs connected + a /fix-flaky skill. Every tester gets this fix.</a:t>
            </a:r>
            <a:endParaRPr sz="1400" b="0" i="0" u="none" strike="noStrike" cap="none">
              <a:solidFill>
                <a:srgbClr val="000000"/>
              </a:solidFill>
              <a:latin typeface="Arial"/>
              <a:ea typeface="Arial"/>
              <a:cs typeface="Arial"/>
              <a:sym typeface="Arial"/>
            </a:endParaRPr>
          </a:p>
        </p:txBody>
      </p:sp>
      <p:sp>
        <p:nvSpPr>
          <p:cNvPr id="1003" name="Google Shape;1003;p63"/>
          <p:cNvSpPr txBox="1"/>
          <p:nvPr/>
        </p:nvSpPr>
        <p:spPr>
          <a:xfrm>
            <a:off x="493776" y="2889504"/>
            <a:ext cx="868800" cy="1692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100" b="1" i="0" u="none" strike="noStrike" cap="none">
                <a:solidFill>
                  <a:srgbClr val="E05A4F"/>
                </a:solidFill>
                <a:latin typeface="Calibri"/>
                <a:ea typeface="Calibri"/>
                <a:cs typeface="Calibri"/>
                <a:sym typeface="Calibri"/>
              </a:rPr>
              <a:t>BEFORE</a:t>
            </a:r>
            <a:endParaRPr/>
          </a:p>
        </p:txBody>
      </p:sp>
      <p:sp>
        <p:nvSpPr>
          <p:cNvPr id="1004" name="Google Shape;1004;p63"/>
          <p:cNvSpPr/>
          <p:nvPr/>
        </p:nvSpPr>
        <p:spPr>
          <a:xfrm>
            <a:off x="1371600" y="2889504"/>
            <a:ext cx="914400" cy="310896"/>
          </a:xfrm>
          <a:prstGeom prst="roundRect">
            <a:avLst>
              <a:gd name="adj" fmla="val 8000"/>
            </a:avLst>
          </a:prstGeom>
          <a:solidFill>
            <a:srgbClr val="2E1618"/>
          </a:solidFill>
          <a:ln w="12700" cap="flat" cmpd="sng">
            <a:solidFill>
              <a:srgbClr val="E05A4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05" name="Google Shape;1005;p63"/>
          <p:cNvSpPr txBox="1"/>
          <p:nvPr/>
        </p:nvSpPr>
        <p:spPr>
          <a:xfrm>
            <a:off x="1371600" y="2951011"/>
            <a:ext cx="9144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F2B8B2"/>
                </a:solidFill>
                <a:latin typeface="Calibri"/>
                <a:ea typeface="Calibri"/>
                <a:cs typeface="Calibri"/>
                <a:sym typeface="Calibri"/>
              </a:rPr>
              <a:t>Click Pay</a:t>
            </a:r>
            <a:endParaRPr dirty="0"/>
          </a:p>
        </p:txBody>
      </p:sp>
      <p:cxnSp>
        <p:nvCxnSpPr>
          <p:cNvPr id="1006" name="Google Shape;1006;p63"/>
          <p:cNvCxnSpPr/>
          <p:nvPr/>
        </p:nvCxnSpPr>
        <p:spPr>
          <a:xfrm>
            <a:off x="2313432" y="3044952"/>
            <a:ext cx="182880" cy="0"/>
          </a:xfrm>
          <a:prstGeom prst="straightConnector1">
            <a:avLst/>
          </a:prstGeom>
          <a:noFill/>
          <a:ln w="19050" cap="flat" cmpd="sng">
            <a:solidFill>
              <a:srgbClr val="8FA0AE"/>
            </a:solidFill>
            <a:prstDash val="solid"/>
            <a:round/>
            <a:headEnd type="none" w="sm" len="sm"/>
            <a:tailEnd type="triangle" w="med" len="med"/>
          </a:ln>
          <a:effectLst>
            <a:outerShdw blurRad="40000" dist="20000" dir="5400000" rotWithShape="0">
              <a:srgbClr val="000000">
                <a:alpha val="38039"/>
              </a:srgbClr>
            </a:outerShdw>
          </a:effectLst>
        </p:spPr>
      </p:cxnSp>
      <p:sp>
        <p:nvSpPr>
          <p:cNvPr id="1007" name="Google Shape;1007;p63"/>
          <p:cNvSpPr/>
          <p:nvPr/>
        </p:nvSpPr>
        <p:spPr>
          <a:xfrm>
            <a:off x="2523744" y="2889504"/>
            <a:ext cx="914400" cy="310896"/>
          </a:xfrm>
          <a:prstGeom prst="roundRect">
            <a:avLst>
              <a:gd name="adj" fmla="val 8000"/>
            </a:avLst>
          </a:prstGeom>
          <a:solidFill>
            <a:srgbClr val="2E1618"/>
          </a:solidFill>
          <a:ln w="12700" cap="flat" cmpd="sng">
            <a:solidFill>
              <a:srgbClr val="E05A4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08" name="Google Shape;1008;p63"/>
          <p:cNvSpPr txBox="1"/>
          <p:nvPr/>
        </p:nvSpPr>
        <p:spPr>
          <a:xfrm>
            <a:off x="2523744" y="2944133"/>
            <a:ext cx="9144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F2B8B2"/>
                </a:solidFill>
                <a:latin typeface="Calibri"/>
                <a:ea typeface="Calibri"/>
                <a:cs typeface="Calibri"/>
                <a:sym typeface="Calibri"/>
              </a:rPr>
              <a:t>Sleep 2 s</a:t>
            </a:r>
            <a:endParaRPr dirty="0"/>
          </a:p>
        </p:txBody>
      </p:sp>
      <p:cxnSp>
        <p:nvCxnSpPr>
          <p:cNvPr id="1009" name="Google Shape;1009;p63"/>
          <p:cNvCxnSpPr/>
          <p:nvPr/>
        </p:nvCxnSpPr>
        <p:spPr>
          <a:xfrm>
            <a:off x="3465575" y="3044952"/>
            <a:ext cx="182881" cy="0"/>
          </a:xfrm>
          <a:prstGeom prst="straightConnector1">
            <a:avLst/>
          </a:prstGeom>
          <a:noFill/>
          <a:ln w="19050" cap="flat" cmpd="sng">
            <a:solidFill>
              <a:srgbClr val="8FA0AE"/>
            </a:solidFill>
            <a:prstDash val="solid"/>
            <a:round/>
            <a:headEnd type="none" w="sm" len="sm"/>
            <a:tailEnd type="triangle" w="med" len="med"/>
          </a:ln>
          <a:effectLst>
            <a:outerShdw blurRad="40000" dist="20000" dir="5400000" rotWithShape="0">
              <a:srgbClr val="000000">
                <a:alpha val="38039"/>
              </a:srgbClr>
            </a:outerShdw>
          </a:effectLst>
        </p:spPr>
      </p:cxnSp>
      <p:sp>
        <p:nvSpPr>
          <p:cNvPr id="1010" name="Google Shape;1010;p63"/>
          <p:cNvSpPr/>
          <p:nvPr/>
        </p:nvSpPr>
        <p:spPr>
          <a:xfrm>
            <a:off x="3675887" y="2889504"/>
            <a:ext cx="1600200" cy="310896"/>
          </a:xfrm>
          <a:prstGeom prst="roundRect">
            <a:avLst>
              <a:gd name="adj" fmla="val 8000"/>
            </a:avLst>
          </a:prstGeom>
          <a:solidFill>
            <a:srgbClr val="2E1618"/>
          </a:solidFill>
          <a:ln w="12700" cap="flat" cmpd="sng">
            <a:solidFill>
              <a:srgbClr val="E05A4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11" name="Google Shape;1011;p63"/>
          <p:cNvSpPr txBox="1"/>
          <p:nvPr/>
        </p:nvSpPr>
        <p:spPr>
          <a:xfrm>
            <a:off x="3689603" y="2944133"/>
            <a:ext cx="16002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F2B8B2"/>
                </a:solidFill>
                <a:latin typeface="Calibri"/>
                <a:ea typeface="Calibri"/>
                <a:cs typeface="Calibri"/>
                <a:sym typeface="Calibri"/>
              </a:rPr>
              <a:t>Read the status once</a:t>
            </a:r>
            <a:endParaRPr dirty="0"/>
          </a:p>
        </p:txBody>
      </p:sp>
      <p:cxnSp>
        <p:nvCxnSpPr>
          <p:cNvPr id="1012" name="Google Shape;1012;p63"/>
          <p:cNvCxnSpPr/>
          <p:nvPr/>
        </p:nvCxnSpPr>
        <p:spPr>
          <a:xfrm>
            <a:off x="5303520" y="3044952"/>
            <a:ext cx="182879" cy="0"/>
          </a:xfrm>
          <a:prstGeom prst="straightConnector1">
            <a:avLst/>
          </a:prstGeom>
          <a:noFill/>
          <a:ln w="19050" cap="flat" cmpd="sng">
            <a:solidFill>
              <a:srgbClr val="8FA0AE"/>
            </a:solidFill>
            <a:prstDash val="solid"/>
            <a:round/>
            <a:headEnd type="none" w="sm" len="sm"/>
            <a:tailEnd type="triangle" w="med" len="med"/>
          </a:ln>
          <a:effectLst>
            <a:outerShdw blurRad="40000" dist="20000" dir="5400000" rotWithShape="0">
              <a:srgbClr val="000000">
                <a:alpha val="38039"/>
              </a:srgbClr>
            </a:outerShdw>
          </a:effectLst>
        </p:spPr>
      </p:cxnSp>
      <p:sp>
        <p:nvSpPr>
          <p:cNvPr id="1013" name="Google Shape;1013;p63"/>
          <p:cNvSpPr/>
          <p:nvPr/>
        </p:nvSpPr>
        <p:spPr>
          <a:xfrm>
            <a:off x="5513831" y="2889504"/>
            <a:ext cx="1600200" cy="310896"/>
          </a:xfrm>
          <a:prstGeom prst="roundRect">
            <a:avLst>
              <a:gd name="adj" fmla="val 8000"/>
            </a:avLst>
          </a:prstGeom>
          <a:solidFill>
            <a:srgbClr val="2E1618"/>
          </a:solidFill>
          <a:ln w="12700" cap="flat" cmpd="sng">
            <a:solidFill>
              <a:srgbClr val="E05A4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14" name="Google Shape;1014;p63"/>
          <p:cNvSpPr txBox="1"/>
          <p:nvPr/>
        </p:nvSpPr>
        <p:spPr>
          <a:xfrm>
            <a:off x="5513831" y="2944133"/>
            <a:ext cx="16002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F2B8B2"/>
                </a:solidFill>
                <a:latin typeface="Calibri"/>
                <a:ea typeface="Calibri"/>
                <a:cs typeface="Calibri"/>
                <a:sym typeface="Calibri"/>
              </a:rPr>
              <a:t>Hope it says “Done.”</a:t>
            </a:r>
            <a:endParaRPr dirty="0"/>
          </a:p>
        </p:txBody>
      </p:sp>
      <p:sp>
        <p:nvSpPr>
          <p:cNvPr id="1015" name="Google Shape;1015;p63"/>
          <p:cNvSpPr txBox="1"/>
          <p:nvPr/>
        </p:nvSpPr>
        <p:spPr>
          <a:xfrm>
            <a:off x="493776" y="3310128"/>
            <a:ext cx="868800" cy="1692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100" b="1" i="0" u="none" strike="noStrike" cap="none">
                <a:solidFill>
                  <a:srgbClr val="4CC07A"/>
                </a:solidFill>
                <a:latin typeface="Calibri"/>
                <a:ea typeface="Calibri"/>
                <a:cs typeface="Calibri"/>
                <a:sym typeface="Calibri"/>
              </a:rPr>
              <a:t>AFTER</a:t>
            </a:r>
            <a:endParaRPr/>
          </a:p>
        </p:txBody>
      </p:sp>
      <p:sp>
        <p:nvSpPr>
          <p:cNvPr id="1016" name="Google Shape;1016;p63"/>
          <p:cNvSpPr/>
          <p:nvPr/>
        </p:nvSpPr>
        <p:spPr>
          <a:xfrm>
            <a:off x="1371600" y="3310128"/>
            <a:ext cx="914400" cy="310896"/>
          </a:xfrm>
          <a:prstGeom prst="roundRect">
            <a:avLst>
              <a:gd name="adj" fmla="val 8000"/>
            </a:avLst>
          </a:prstGeom>
          <a:solidFill>
            <a:srgbClr val="122A1C"/>
          </a:solidFill>
          <a:ln w="1270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17" name="Google Shape;1017;p63"/>
          <p:cNvSpPr txBox="1"/>
          <p:nvPr/>
        </p:nvSpPr>
        <p:spPr>
          <a:xfrm>
            <a:off x="1371600" y="3356194"/>
            <a:ext cx="9144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BFEBCF"/>
                </a:solidFill>
                <a:latin typeface="Calibri"/>
                <a:ea typeface="Calibri"/>
                <a:cs typeface="Calibri"/>
                <a:sym typeface="Calibri"/>
              </a:rPr>
              <a:t>Click Pay</a:t>
            </a:r>
            <a:endParaRPr dirty="0"/>
          </a:p>
        </p:txBody>
      </p:sp>
      <p:cxnSp>
        <p:nvCxnSpPr>
          <p:cNvPr id="1018" name="Google Shape;1018;p63"/>
          <p:cNvCxnSpPr/>
          <p:nvPr/>
        </p:nvCxnSpPr>
        <p:spPr>
          <a:xfrm>
            <a:off x="2313432" y="3465576"/>
            <a:ext cx="182880" cy="0"/>
          </a:xfrm>
          <a:prstGeom prst="straightConnector1">
            <a:avLst/>
          </a:prstGeom>
          <a:noFill/>
          <a:ln w="19050" cap="flat" cmpd="sng">
            <a:solidFill>
              <a:srgbClr val="8FA0AE"/>
            </a:solidFill>
            <a:prstDash val="solid"/>
            <a:round/>
            <a:headEnd type="none" w="sm" len="sm"/>
            <a:tailEnd type="triangle" w="med" len="med"/>
          </a:ln>
          <a:effectLst>
            <a:outerShdw blurRad="40000" dist="20000" dir="5400000" rotWithShape="0">
              <a:srgbClr val="000000">
                <a:alpha val="38039"/>
              </a:srgbClr>
            </a:outerShdw>
          </a:effectLst>
        </p:spPr>
      </p:cxnSp>
      <p:sp>
        <p:nvSpPr>
          <p:cNvPr id="1019" name="Google Shape;1019;p63"/>
          <p:cNvSpPr/>
          <p:nvPr/>
        </p:nvSpPr>
        <p:spPr>
          <a:xfrm>
            <a:off x="2523744" y="3310128"/>
            <a:ext cx="2651760" cy="310896"/>
          </a:xfrm>
          <a:prstGeom prst="roundRect">
            <a:avLst>
              <a:gd name="adj" fmla="val 8000"/>
            </a:avLst>
          </a:prstGeom>
          <a:solidFill>
            <a:srgbClr val="122A1C"/>
          </a:solidFill>
          <a:ln w="1270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20" name="Google Shape;1020;p63"/>
          <p:cNvSpPr txBox="1"/>
          <p:nvPr/>
        </p:nvSpPr>
        <p:spPr>
          <a:xfrm>
            <a:off x="2527941" y="3364132"/>
            <a:ext cx="26517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BFEBCF"/>
                </a:solidFill>
                <a:latin typeface="Calibri"/>
                <a:ea typeface="Calibri"/>
                <a:cs typeface="Calibri"/>
                <a:sym typeface="Calibri"/>
              </a:rPr>
              <a:t>Wait for the server’s “confirmed” reply</a:t>
            </a:r>
            <a:endParaRPr dirty="0"/>
          </a:p>
        </p:txBody>
      </p:sp>
      <p:cxnSp>
        <p:nvCxnSpPr>
          <p:cNvPr id="1021" name="Google Shape;1021;p63"/>
          <p:cNvCxnSpPr/>
          <p:nvPr/>
        </p:nvCxnSpPr>
        <p:spPr>
          <a:xfrm>
            <a:off x="5202936" y="3465576"/>
            <a:ext cx="182880" cy="0"/>
          </a:xfrm>
          <a:prstGeom prst="straightConnector1">
            <a:avLst/>
          </a:prstGeom>
          <a:noFill/>
          <a:ln w="19050" cap="flat" cmpd="sng">
            <a:solidFill>
              <a:srgbClr val="8FA0AE"/>
            </a:solidFill>
            <a:prstDash val="solid"/>
            <a:round/>
            <a:headEnd type="none" w="sm" len="sm"/>
            <a:tailEnd type="triangle" w="med" len="med"/>
          </a:ln>
          <a:effectLst>
            <a:outerShdw blurRad="40000" dist="20000" dir="5400000" rotWithShape="0">
              <a:srgbClr val="000000">
                <a:alpha val="38039"/>
              </a:srgbClr>
            </a:outerShdw>
          </a:effectLst>
        </p:spPr>
      </p:cxnSp>
      <p:sp>
        <p:nvSpPr>
          <p:cNvPr id="1022" name="Google Shape;1022;p63"/>
          <p:cNvSpPr/>
          <p:nvPr/>
        </p:nvSpPr>
        <p:spPr>
          <a:xfrm>
            <a:off x="5413248" y="3310128"/>
            <a:ext cx="2788920" cy="310896"/>
          </a:xfrm>
          <a:prstGeom prst="roundRect">
            <a:avLst>
              <a:gd name="adj" fmla="val 8000"/>
            </a:avLst>
          </a:prstGeom>
          <a:solidFill>
            <a:srgbClr val="122A1C"/>
          </a:solidFill>
          <a:ln w="1270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023" name="Google Shape;1023;p63"/>
          <p:cNvSpPr txBox="1"/>
          <p:nvPr/>
        </p:nvSpPr>
        <p:spPr>
          <a:xfrm>
            <a:off x="5413308" y="3363032"/>
            <a:ext cx="2788800" cy="1617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1050" b="1" i="0" u="none" strike="noStrike" cap="none" dirty="0">
                <a:solidFill>
                  <a:srgbClr val="BFEBCF"/>
                </a:solidFill>
                <a:latin typeface="Calibri"/>
                <a:ea typeface="Calibri"/>
                <a:cs typeface="Calibri"/>
                <a:sym typeface="Calibri"/>
              </a:rPr>
              <a:t>Check the page says “Done.” (keeps checking)</a:t>
            </a:r>
            <a:endParaRPr dirty="0"/>
          </a:p>
        </p:txBody>
      </p:sp>
      <p:sp>
        <p:nvSpPr>
          <p:cNvPr id="1024" name="Google Shape;1024;p63"/>
          <p:cNvSpPr/>
          <p:nvPr/>
        </p:nvSpPr>
        <p:spPr>
          <a:xfrm>
            <a:off x="493776" y="3712463"/>
            <a:ext cx="8156448" cy="896112"/>
          </a:xfrm>
          <a:prstGeom prst="roundRect">
            <a:avLst>
              <a:gd name="adj" fmla="val 6000"/>
            </a:avLst>
          </a:prstGeom>
          <a:solidFill>
            <a:srgbClr val="0D131B"/>
          </a:solidFill>
          <a:ln w="12700" cap="flat" cmpd="sng">
            <a:solidFill>
              <a:srgbClr val="2A3A4C"/>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25" name="Google Shape;1025;p63"/>
          <p:cNvSpPr txBox="1"/>
          <p:nvPr/>
        </p:nvSpPr>
        <p:spPr>
          <a:xfrm>
            <a:off x="621792" y="3776472"/>
            <a:ext cx="7900500" cy="1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050" b="1" i="0" u="none" strike="noStrike" cap="none">
                <a:solidFill>
                  <a:srgbClr val="4FA8E0"/>
                </a:solidFill>
                <a:latin typeface="Calibri"/>
                <a:ea typeface="Calibri"/>
                <a:cs typeface="Calibri"/>
                <a:sym typeface="Calibri"/>
              </a:rPr>
              <a:t>Where the fix lives: </a:t>
            </a:r>
            <a:r>
              <a:rPr lang="en-GB" sz="1050" b="0" i="0" u="none" strike="noStrike" cap="none">
                <a:solidFill>
                  <a:srgbClr val="C9D1D9"/>
                </a:solidFill>
                <a:latin typeface="Calibri"/>
                <a:ea typeface="Calibri"/>
                <a:cs typeface="Calibri"/>
                <a:sym typeface="Calibri"/>
              </a:rPr>
              <a:t>the page object </a:t>
            </a:r>
            <a:r>
              <a:rPr lang="en-GB" sz="1050" b="1" i="0" u="none" strike="noStrike" cap="none">
                <a:solidFill>
                  <a:srgbClr val="D6DEEB"/>
                </a:solidFill>
                <a:latin typeface="Calibri"/>
                <a:ea typeface="Calibri"/>
                <a:cs typeface="Calibri"/>
                <a:sym typeface="Calibri"/>
              </a:rPr>
              <a:t>pages/checkout.page.ts</a:t>
            </a:r>
            <a:r>
              <a:rPr lang="en-GB" sz="1050" b="0" i="0" u="none" strike="noStrike" cap="none">
                <a:solidFill>
                  <a:srgbClr val="C9D1D9"/>
                </a:solidFill>
                <a:latin typeface="Calibri"/>
                <a:ea typeface="Calibri"/>
                <a:cs typeface="Calibri"/>
                <a:sym typeface="Calibri"/>
              </a:rPr>
              <a:t>. Every test calls its </a:t>
            </a:r>
            <a:r>
              <a:rPr lang="en-GB" sz="1050" b="1" i="0" u="none" strike="noStrike" cap="none">
                <a:solidFill>
                  <a:srgbClr val="82AAFF"/>
                </a:solidFill>
                <a:latin typeface="Calibri"/>
                <a:ea typeface="Calibri"/>
                <a:cs typeface="Calibri"/>
                <a:sym typeface="Calibri"/>
              </a:rPr>
              <a:t>pay()</a:t>
            </a:r>
            <a:r>
              <a:rPr lang="en-GB" sz="1050" b="0" i="0" u="none" strike="noStrike" cap="none">
                <a:solidFill>
                  <a:srgbClr val="C9D1D9"/>
                </a:solidFill>
                <a:latin typeface="Calibri"/>
                <a:ea typeface="Calibri"/>
                <a:cs typeface="Calibri"/>
                <a:sym typeface="Calibri"/>
              </a:rPr>
              <a:t> method, so this one change fixes them all.</a:t>
            </a:r>
            <a:endParaRPr/>
          </a:p>
        </p:txBody>
      </p:sp>
      <p:cxnSp>
        <p:nvCxnSpPr>
          <p:cNvPr id="1026" name="Google Shape;1026;p63"/>
          <p:cNvCxnSpPr/>
          <p:nvPr/>
        </p:nvCxnSpPr>
        <p:spPr>
          <a:xfrm>
            <a:off x="621792" y="4005072"/>
            <a:ext cx="7900416" cy="0"/>
          </a:xfrm>
          <a:prstGeom prst="straightConnector1">
            <a:avLst/>
          </a:prstGeom>
          <a:noFill/>
          <a:ln w="9525" cap="flat" cmpd="sng">
            <a:solidFill>
              <a:srgbClr val="2A3A4C"/>
            </a:solidFill>
            <a:prstDash val="solid"/>
            <a:round/>
            <a:headEnd type="none" w="sm" len="sm"/>
            <a:tailEnd type="none" w="sm" len="sm"/>
          </a:ln>
          <a:effectLst>
            <a:outerShdw blurRad="40000" dist="20000" dir="5400000" rotWithShape="0">
              <a:srgbClr val="000000">
                <a:alpha val="38039"/>
              </a:srgbClr>
            </a:outerShdw>
          </a:effectLst>
        </p:spPr>
      </p:cxnSp>
      <p:sp>
        <p:nvSpPr>
          <p:cNvPr id="1027" name="Google Shape;1027;p63"/>
          <p:cNvSpPr txBox="1"/>
          <p:nvPr/>
        </p:nvSpPr>
        <p:spPr>
          <a:xfrm>
            <a:off x="621792" y="4078224"/>
            <a:ext cx="731400" cy="161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050" b="1" i="0" u="none" strike="noStrike" cap="none">
                <a:solidFill>
                  <a:srgbClr val="E05A4F"/>
                </a:solidFill>
                <a:latin typeface="Calibri"/>
                <a:ea typeface="Calibri"/>
                <a:cs typeface="Calibri"/>
                <a:sym typeface="Calibri"/>
              </a:rPr>
              <a:t>BEFORE</a:t>
            </a:r>
            <a:endParaRPr/>
          </a:p>
        </p:txBody>
      </p:sp>
      <p:sp>
        <p:nvSpPr>
          <p:cNvPr id="1028" name="Google Shape;1028;p63"/>
          <p:cNvSpPr txBox="1"/>
          <p:nvPr/>
        </p:nvSpPr>
        <p:spPr>
          <a:xfrm>
            <a:off x="1408176" y="4078224"/>
            <a:ext cx="4206300" cy="1539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000" b="0" i="0" u="none" strike="noStrike" cap="none">
                <a:solidFill>
                  <a:srgbClr val="C792EA"/>
                </a:solidFill>
                <a:latin typeface="Roboto Mono"/>
                <a:ea typeface="Roboto Mono"/>
                <a:cs typeface="Roboto Mono"/>
                <a:sym typeface="Roboto Mono"/>
              </a:rPr>
              <a:t>await </a:t>
            </a:r>
            <a:r>
              <a:rPr lang="en-GB" sz="1000" b="0" i="0" u="none" strike="noStrike" cap="none">
                <a:solidFill>
                  <a:srgbClr val="D6DEEB"/>
                </a:solidFill>
                <a:latin typeface="Roboto Mono"/>
                <a:ea typeface="Roboto Mono"/>
                <a:cs typeface="Roboto Mono"/>
                <a:sym typeface="Roboto Mono"/>
              </a:rPr>
              <a:t>this.page.</a:t>
            </a:r>
            <a:r>
              <a:rPr lang="en-GB" sz="1000" b="1" i="0" u="none" strike="noStrike" cap="none">
                <a:solidFill>
                  <a:srgbClr val="F2B8B2"/>
                </a:solidFill>
                <a:latin typeface="Roboto Mono"/>
                <a:ea typeface="Roboto Mono"/>
                <a:cs typeface="Roboto Mono"/>
                <a:sym typeface="Roboto Mono"/>
              </a:rPr>
              <a:t>waitForTimeout(2000)</a:t>
            </a:r>
            <a:r>
              <a:rPr lang="en-GB" sz="1000" b="0" i="0" u="none" strike="noStrike" cap="none">
                <a:solidFill>
                  <a:srgbClr val="D6DEEB"/>
                </a:solidFill>
                <a:latin typeface="Roboto Mono"/>
                <a:ea typeface="Roboto Mono"/>
                <a:cs typeface="Roboto Mono"/>
                <a:sym typeface="Roboto Mono"/>
              </a:rPr>
              <a:t>;</a:t>
            </a:r>
            <a:endParaRPr/>
          </a:p>
        </p:txBody>
      </p:sp>
      <p:sp>
        <p:nvSpPr>
          <p:cNvPr id="1029" name="Google Shape;1029;p63"/>
          <p:cNvSpPr txBox="1"/>
          <p:nvPr/>
        </p:nvSpPr>
        <p:spPr>
          <a:xfrm>
            <a:off x="5751576" y="4078224"/>
            <a:ext cx="2770500" cy="161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050" b="0" i="0" u="none" strike="noStrike" cap="none">
                <a:solidFill>
                  <a:srgbClr val="F2B8B2"/>
                </a:solidFill>
                <a:latin typeface="Calibri"/>
                <a:ea typeface="Calibri"/>
                <a:cs typeface="Calibri"/>
                <a:sym typeface="Calibri"/>
              </a:rPr>
              <a:t>✗  sleeps 2 s, then hopes payment is done</a:t>
            </a:r>
            <a:endParaRPr/>
          </a:p>
        </p:txBody>
      </p:sp>
      <p:sp>
        <p:nvSpPr>
          <p:cNvPr id="1030" name="Google Shape;1030;p63"/>
          <p:cNvSpPr txBox="1"/>
          <p:nvPr/>
        </p:nvSpPr>
        <p:spPr>
          <a:xfrm>
            <a:off x="621792" y="4325112"/>
            <a:ext cx="731400" cy="161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050" b="1" i="0" u="none" strike="noStrike" cap="none">
                <a:solidFill>
                  <a:srgbClr val="4CC07A"/>
                </a:solidFill>
                <a:latin typeface="Calibri"/>
                <a:ea typeface="Calibri"/>
                <a:cs typeface="Calibri"/>
                <a:sym typeface="Calibri"/>
              </a:rPr>
              <a:t>AFTER</a:t>
            </a:r>
            <a:endParaRPr/>
          </a:p>
        </p:txBody>
      </p:sp>
      <p:sp>
        <p:nvSpPr>
          <p:cNvPr id="1031" name="Google Shape;1031;p63"/>
          <p:cNvSpPr txBox="1"/>
          <p:nvPr/>
        </p:nvSpPr>
        <p:spPr>
          <a:xfrm>
            <a:off x="1408176" y="4325112"/>
            <a:ext cx="4206300" cy="1539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000" b="0" i="0" u="none" strike="noStrike" cap="none">
                <a:solidFill>
                  <a:srgbClr val="C792EA"/>
                </a:solidFill>
                <a:latin typeface="Roboto Mono"/>
                <a:ea typeface="Roboto Mono"/>
                <a:cs typeface="Roboto Mono"/>
                <a:sym typeface="Roboto Mono"/>
              </a:rPr>
              <a:t>await </a:t>
            </a:r>
            <a:r>
              <a:rPr lang="en-GB" sz="1000" b="0" i="0" u="none" strike="noStrike" cap="none">
                <a:solidFill>
                  <a:srgbClr val="D6DEEB"/>
                </a:solidFill>
                <a:latin typeface="Roboto Mono"/>
                <a:ea typeface="Roboto Mono"/>
                <a:cs typeface="Roboto Mono"/>
                <a:sym typeface="Roboto Mono"/>
              </a:rPr>
              <a:t>this.page.</a:t>
            </a:r>
            <a:r>
              <a:rPr lang="en-GB" sz="1000" b="1" i="0" u="none" strike="noStrike" cap="none">
                <a:solidFill>
                  <a:srgbClr val="4CC07A"/>
                </a:solidFill>
                <a:latin typeface="Roboto Mono"/>
                <a:ea typeface="Roboto Mono"/>
                <a:cs typeface="Roboto Mono"/>
                <a:sym typeface="Roboto Mono"/>
              </a:rPr>
              <a:t>waitForResponse(… "confirmed")</a:t>
            </a:r>
            <a:r>
              <a:rPr lang="en-GB" sz="1000" b="0" i="0" u="none" strike="noStrike" cap="none">
                <a:solidFill>
                  <a:srgbClr val="D6DEEB"/>
                </a:solidFill>
                <a:latin typeface="Roboto Mono"/>
                <a:ea typeface="Roboto Mono"/>
                <a:cs typeface="Roboto Mono"/>
                <a:sym typeface="Roboto Mono"/>
              </a:rPr>
              <a:t>;</a:t>
            </a:r>
            <a:endParaRPr/>
          </a:p>
        </p:txBody>
      </p:sp>
      <p:sp>
        <p:nvSpPr>
          <p:cNvPr id="1032" name="Google Shape;1032;p63"/>
          <p:cNvSpPr txBox="1"/>
          <p:nvPr/>
        </p:nvSpPr>
        <p:spPr>
          <a:xfrm>
            <a:off x="5751576" y="4325112"/>
            <a:ext cx="2770500" cy="161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050" b="0" i="0" u="none" strike="noStrike" cap="none">
                <a:solidFill>
                  <a:srgbClr val="4CC07A"/>
                </a:solidFill>
                <a:latin typeface="Calibri"/>
                <a:ea typeface="Calibri"/>
                <a:cs typeface="Calibri"/>
                <a:sym typeface="Calibri"/>
              </a:rPr>
              <a:t>✓  waits for the server’s real “confirmed” reply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0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0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0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0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0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0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1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1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2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0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2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02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0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00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0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025"/>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02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02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02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02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03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031"/>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0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6"/>
        <p:cNvGrpSpPr/>
        <p:nvPr/>
      </p:nvGrpSpPr>
      <p:grpSpPr>
        <a:xfrm>
          <a:off x="0" y="0"/>
          <a:ext cx="0" cy="0"/>
          <a:chOff x="0" y="0"/>
          <a:chExt cx="0" cy="0"/>
        </a:xfrm>
      </p:grpSpPr>
      <p:sp>
        <p:nvSpPr>
          <p:cNvPr id="1037" name="Google Shape;1037;p6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EAF1F7"/>
              </a:buClr>
              <a:buSzPts val="1900"/>
              <a:buFont typeface="Century Schoolbook"/>
              <a:buNone/>
            </a:pPr>
            <a:r>
              <a:rPr lang="en-GB" sz="1900" b="1">
                <a:solidFill>
                  <a:srgbClr val="EAF1F6"/>
                </a:solidFill>
                <a:latin typeface="Century Schoolbook"/>
                <a:ea typeface="Century Schoolbook"/>
                <a:cs typeface="Century Schoolbook"/>
                <a:sym typeface="Century Schoolbook"/>
              </a:rPr>
              <a:t>What made the difference</a:t>
            </a:r>
            <a:endParaRPr/>
          </a:p>
        </p:txBody>
      </p:sp>
      <p:sp>
        <p:nvSpPr>
          <p:cNvPr id="1038" name="Google Shape;1038;p64"/>
          <p:cNvSpPr txBox="1"/>
          <p:nvPr/>
        </p:nvSpPr>
        <p:spPr>
          <a:xfrm>
            <a:off x="603504" y="932688"/>
            <a:ext cx="3108960" cy="2377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000" b="1" i="0" u="none" strike="noStrike" cap="none">
                <a:solidFill>
                  <a:srgbClr val="4FA8E0"/>
                </a:solidFill>
                <a:latin typeface="Calibri"/>
                <a:ea typeface="Calibri"/>
                <a:cs typeface="Calibri"/>
                <a:sym typeface="Calibri"/>
              </a:rPr>
              <a:t>WHAT CLAUDE HAD</a:t>
            </a:r>
            <a:endParaRPr/>
          </a:p>
        </p:txBody>
      </p:sp>
      <p:sp>
        <p:nvSpPr>
          <p:cNvPr id="1039" name="Google Shape;1039;p64"/>
          <p:cNvSpPr txBox="1"/>
          <p:nvPr/>
        </p:nvSpPr>
        <p:spPr>
          <a:xfrm>
            <a:off x="3813048" y="932688"/>
            <a:ext cx="2926080" cy="2377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000" b="1" i="0" u="none" strike="noStrike" cap="none">
                <a:solidFill>
                  <a:srgbClr val="4FA8E0"/>
                </a:solidFill>
                <a:latin typeface="Calibri"/>
                <a:ea typeface="Calibri"/>
                <a:cs typeface="Calibri"/>
                <a:sym typeface="Calibri"/>
              </a:rPr>
              <a:t>WHAT IT DID</a:t>
            </a:r>
            <a:endParaRPr/>
          </a:p>
        </p:txBody>
      </p:sp>
      <p:sp>
        <p:nvSpPr>
          <p:cNvPr id="1040" name="Google Shape;1040;p64"/>
          <p:cNvSpPr txBox="1"/>
          <p:nvPr/>
        </p:nvSpPr>
        <p:spPr>
          <a:xfrm>
            <a:off x="6830568" y="932688"/>
            <a:ext cx="1920240" cy="2377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1000" b="1" i="0" u="none" strike="noStrike" cap="none">
                <a:solidFill>
                  <a:srgbClr val="4FA8E0"/>
                </a:solidFill>
                <a:latin typeface="Calibri"/>
                <a:ea typeface="Calibri"/>
                <a:cs typeface="Calibri"/>
                <a:sym typeface="Calibri"/>
              </a:rPr>
              <a:t>RESULT</a:t>
            </a:r>
            <a:endParaRPr/>
          </a:p>
        </p:txBody>
      </p:sp>
      <p:sp>
        <p:nvSpPr>
          <p:cNvPr id="1041" name="Google Shape;1041;p64"/>
          <p:cNvSpPr/>
          <p:nvPr/>
        </p:nvSpPr>
        <p:spPr>
          <a:xfrm>
            <a:off x="493776" y="1207008"/>
            <a:ext cx="8156448" cy="786384"/>
          </a:xfrm>
          <a:prstGeom prst="roundRect">
            <a:avLst>
              <a:gd name="adj" fmla="val 8000"/>
            </a:avLst>
          </a:prstGeom>
          <a:solidFill>
            <a:srgbClr val="0E141B"/>
          </a:solidFill>
          <a:ln w="19050" cap="flat" cmpd="sng">
            <a:solidFill>
              <a:srgbClr val="E05A4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42" name="Google Shape;1042;p64"/>
          <p:cNvSpPr/>
          <p:nvPr/>
        </p:nvSpPr>
        <p:spPr>
          <a:xfrm>
            <a:off x="493776" y="1207008"/>
            <a:ext cx="73152" cy="786384"/>
          </a:xfrm>
          <a:prstGeom prst="rect">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43" name="Google Shape;1043;p64"/>
          <p:cNvSpPr/>
          <p:nvPr/>
        </p:nvSpPr>
        <p:spPr>
          <a:xfrm>
            <a:off x="676656" y="1426464"/>
            <a:ext cx="894283" cy="310896"/>
          </a:xfrm>
          <a:prstGeom prst="roundRect">
            <a:avLst>
              <a:gd name="adj" fmla="val 8000"/>
            </a:avLst>
          </a:prstGeom>
          <a:solidFill>
            <a:srgbClr val="141E2A"/>
          </a:solidFill>
          <a:ln w="12700" cap="flat" cmpd="sng">
            <a:solidFill>
              <a:srgbClr val="E05A4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44" name="Google Shape;1044;p64"/>
          <p:cNvSpPr txBox="1"/>
          <p:nvPr/>
        </p:nvSpPr>
        <p:spPr>
          <a:xfrm>
            <a:off x="676656" y="1426464"/>
            <a:ext cx="894283" cy="31089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950" b="1" i="0" u="none" strike="noStrike" cap="none">
                <a:solidFill>
                  <a:srgbClr val="EAF1F6"/>
                </a:solidFill>
                <a:latin typeface="Calibri"/>
                <a:ea typeface="Calibri"/>
                <a:cs typeface="Calibri"/>
                <a:sym typeface="Calibri"/>
              </a:rPr>
              <a:t>Just a prompt</a:t>
            </a:r>
            <a:endParaRPr/>
          </a:p>
        </p:txBody>
      </p:sp>
      <p:sp>
        <p:nvSpPr>
          <p:cNvPr id="1045" name="Google Shape;1045;p64"/>
          <p:cNvSpPr txBox="1"/>
          <p:nvPr/>
        </p:nvSpPr>
        <p:spPr>
          <a:xfrm>
            <a:off x="3813048" y="1261872"/>
            <a:ext cx="2834640" cy="67665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150" b="0" i="0" u="none" strike="noStrike" cap="none">
                <a:solidFill>
                  <a:srgbClr val="8FA0AE"/>
                </a:solidFill>
                <a:latin typeface="Calibri"/>
                <a:ea typeface="Calibri"/>
                <a:cs typeface="Calibri"/>
                <a:sym typeface="Calibri"/>
              </a:rPr>
              <a:t>Removed the sleep and said “Fixed.”</a:t>
            </a:r>
            <a:endParaRPr/>
          </a:p>
        </p:txBody>
      </p:sp>
      <p:sp>
        <p:nvSpPr>
          <p:cNvPr id="1046" name="Google Shape;1046;p64"/>
          <p:cNvSpPr txBox="1"/>
          <p:nvPr/>
        </p:nvSpPr>
        <p:spPr>
          <a:xfrm>
            <a:off x="6812279" y="1261872"/>
            <a:ext cx="1783080" cy="67665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200" b="1" i="0" u="none" strike="noStrike" cap="none">
                <a:solidFill>
                  <a:srgbClr val="E05A4F"/>
                </a:solidFill>
                <a:latin typeface="Calibri"/>
                <a:ea typeface="Calibri"/>
                <a:cs typeface="Calibri"/>
                <a:sym typeface="Calibri"/>
              </a:rPr>
              <a:t>✗  Fails on a busy day (8 s)</a:t>
            </a:r>
            <a:endParaRPr/>
          </a:p>
        </p:txBody>
      </p:sp>
      <p:sp>
        <p:nvSpPr>
          <p:cNvPr id="1047" name="Google Shape;1047;p64"/>
          <p:cNvSpPr/>
          <p:nvPr/>
        </p:nvSpPr>
        <p:spPr>
          <a:xfrm>
            <a:off x="493776" y="2103120"/>
            <a:ext cx="8156448" cy="786384"/>
          </a:xfrm>
          <a:prstGeom prst="roundRect">
            <a:avLst>
              <a:gd name="adj" fmla="val 8000"/>
            </a:avLst>
          </a:prstGeom>
          <a:solidFill>
            <a:srgbClr val="0E141B"/>
          </a:solidFill>
          <a:ln w="19050" cap="flat" cmpd="sng">
            <a:solidFill>
              <a:srgbClr val="E6A23C"/>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48" name="Google Shape;1048;p64"/>
          <p:cNvSpPr/>
          <p:nvPr/>
        </p:nvSpPr>
        <p:spPr>
          <a:xfrm>
            <a:off x="493776" y="2103120"/>
            <a:ext cx="73152" cy="786384"/>
          </a:xfrm>
          <a:prstGeom prst="rect">
            <a:avLst/>
          </a:prstGeom>
          <a:solidFill>
            <a:srgbClr val="E6A23C"/>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49" name="Google Shape;1049;p64"/>
          <p:cNvSpPr/>
          <p:nvPr/>
        </p:nvSpPr>
        <p:spPr>
          <a:xfrm>
            <a:off x="676656" y="2322576"/>
            <a:ext cx="471830" cy="310896"/>
          </a:xfrm>
          <a:prstGeom prst="roundRect">
            <a:avLst>
              <a:gd name="adj" fmla="val 8000"/>
            </a:avLst>
          </a:prstGeom>
          <a:solidFill>
            <a:srgbClr val="141E2A"/>
          </a:solidFill>
          <a:ln w="12700" cap="flat" cmpd="sng">
            <a:solidFill>
              <a:srgbClr val="E6A23C"/>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50" name="Google Shape;1050;p64"/>
          <p:cNvSpPr txBox="1"/>
          <p:nvPr/>
        </p:nvSpPr>
        <p:spPr>
          <a:xfrm>
            <a:off x="676656" y="2322576"/>
            <a:ext cx="471830" cy="31089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950" b="1" i="0" u="none" strike="noStrike" cap="none">
                <a:solidFill>
                  <a:srgbClr val="EAF1F6"/>
                </a:solidFill>
                <a:latin typeface="Calibri"/>
                <a:ea typeface="Calibri"/>
                <a:cs typeface="Calibri"/>
                <a:sym typeface="Calibri"/>
              </a:rPr>
              <a:t>Prompt</a:t>
            </a:r>
            <a:endParaRPr/>
          </a:p>
        </p:txBody>
      </p:sp>
      <p:sp>
        <p:nvSpPr>
          <p:cNvPr id="1051" name="Google Shape;1051;p64"/>
          <p:cNvSpPr/>
          <p:nvPr/>
        </p:nvSpPr>
        <p:spPr>
          <a:xfrm>
            <a:off x="1221638" y="2322576"/>
            <a:ext cx="1075334" cy="310896"/>
          </a:xfrm>
          <a:prstGeom prst="roundRect">
            <a:avLst>
              <a:gd name="adj" fmla="val 8000"/>
            </a:avLst>
          </a:prstGeom>
          <a:solidFill>
            <a:srgbClr val="141E2A"/>
          </a:solidFill>
          <a:ln w="12700" cap="flat" cmpd="sng">
            <a:solidFill>
              <a:srgbClr val="E6A23C"/>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52" name="Google Shape;1052;p64"/>
          <p:cNvSpPr txBox="1"/>
          <p:nvPr/>
        </p:nvSpPr>
        <p:spPr>
          <a:xfrm>
            <a:off x="1221638" y="2322576"/>
            <a:ext cx="1075334" cy="31089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950" b="1" i="0" u="none" strike="noStrike" cap="none">
                <a:solidFill>
                  <a:srgbClr val="EAF1F6"/>
                </a:solidFill>
                <a:latin typeface="Calibri"/>
                <a:ea typeface="Calibri"/>
                <a:cs typeface="Calibri"/>
                <a:sym typeface="Calibri"/>
              </a:rPr>
              <a:t>+ karpathy rules</a:t>
            </a:r>
            <a:endParaRPr/>
          </a:p>
        </p:txBody>
      </p:sp>
      <p:sp>
        <p:nvSpPr>
          <p:cNvPr id="1053" name="Google Shape;1053;p64"/>
          <p:cNvSpPr txBox="1"/>
          <p:nvPr/>
        </p:nvSpPr>
        <p:spPr>
          <a:xfrm>
            <a:off x="3813048" y="2157984"/>
            <a:ext cx="2834640" cy="67665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150" b="0" i="0" u="none" strike="noStrike" cap="none">
                <a:solidFill>
                  <a:srgbClr val="8FA0AE"/>
                </a:solidFill>
                <a:latin typeface="Calibri"/>
                <a:ea typeface="Calibri"/>
                <a:cs typeface="Calibri"/>
                <a:sym typeface="Calibri"/>
              </a:rPr>
              <a:t>The same fix, but warned us it didn’t know the CI timings.</a:t>
            </a:r>
            <a:endParaRPr/>
          </a:p>
        </p:txBody>
      </p:sp>
      <p:sp>
        <p:nvSpPr>
          <p:cNvPr id="1054" name="Google Shape;1054;p64"/>
          <p:cNvSpPr txBox="1"/>
          <p:nvPr/>
        </p:nvSpPr>
        <p:spPr>
          <a:xfrm>
            <a:off x="6812279" y="2157984"/>
            <a:ext cx="1783080" cy="67665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200" b="1" i="0" u="none" strike="noStrike" cap="none">
                <a:solidFill>
                  <a:srgbClr val="E6A23C"/>
                </a:solidFill>
                <a:latin typeface="Calibri"/>
                <a:ea typeface="Calibri"/>
                <a:cs typeface="Calibri"/>
                <a:sym typeface="Calibri"/>
              </a:rPr>
              <a:t>✗  Still fails at 8 s, but honest</a:t>
            </a:r>
            <a:endParaRPr/>
          </a:p>
        </p:txBody>
      </p:sp>
      <p:sp>
        <p:nvSpPr>
          <p:cNvPr id="1055" name="Google Shape;1055;p64"/>
          <p:cNvSpPr/>
          <p:nvPr/>
        </p:nvSpPr>
        <p:spPr>
          <a:xfrm>
            <a:off x="493776" y="2999232"/>
            <a:ext cx="8156448" cy="786384"/>
          </a:xfrm>
          <a:prstGeom prst="roundRect">
            <a:avLst>
              <a:gd name="adj" fmla="val 8000"/>
            </a:avLst>
          </a:prstGeom>
          <a:solidFill>
            <a:srgbClr val="0E141B"/>
          </a:solidFill>
          <a:ln w="1905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56" name="Google Shape;1056;p64"/>
          <p:cNvSpPr/>
          <p:nvPr/>
        </p:nvSpPr>
        <p:spPr>
          <a:xfrm>
            <a:off x="493776" y="2999232"/>
            <a:ext cx="73152" cy="786384"/>
          </a:xfrm>
          <a:prstGeom prst="rect">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57" name="Google Shape;1057;p64"/>
          <p:cNvSpPr/>
          <p:nvPr/>
        </p:nvSpPr>
        <p:spPr>
          <a:xfrm>
            <a:off x="676656" y="3218687"/>
            <a:ext cx="954633" cy="310896"/>
          </a:xfrm>
          <a:prstGeom prst="roundRect">
            <a:avLst>
              <a:gd name="adj" fmla="val 8000"/>
            </a:avLst>
          </a:prstGeom>
          <a:solidFill>
            <a:srgbClr val="141E2A"/>
          </a:solidFill>
          <a:ln w="1270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58" name="Google Shape;1058;p64"/>
          <p:cNvSpPr txBox="1"/>
          <p:nvPr/>
        </p:nvSpPr>
        <p:spPr>
          <a:xfrm>
            <a:off x="676656" y="3218687"/>
            <a:ext cx="954633" cy="31089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950" b="1" i="0" u="none" strike="noStrike" cap="none">
                <a:solidFill>
                  <a:srgbClr val="EAF1F6"/>
                </a:solidFill>
                <a:latin typeface="Calibri"/>
                <a:ea typeface="Calibri"/>
                <a:cs typeface="Calibri"/>
                <a:sym typeface="Calibri"/>
              </a:rPr>
              <a:t>karpathy rules</a:t>
            </a:r>
            <a:endParaRPr/>
          </a:p>
        </p:txBody>
      </p:sp>
      <p:sp>
        <p:nvSpPr>
          <p:cNvPr id="1059" name="Google Shape;1059;p64"/>
          <p:cNvSpPr/>
          <p:nvPr/>
        </p:nvSpPr>
        <p:spPr>
          <a:xfrm>
            <a:off x="1704441" y="3218687"/>
            <a:ext cx="1075334" cy="310896"/>
          </a:xfrm>
          <a:prstGeom prst="roundRect">
            <a:avLst>
              <a:gd name="adj" fmla="val 8000"/>
            </a:avLst>
          </a:prstGeom>
          <a:solidFill>
            <a:srgbClr val="141E2A"/>
          </a:solidFill>
          <a:ln w="1270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60" name="Google Shape;1060;p64"/>
          <p:cNvSpPr txBox="1"/>
          <p:nvPr/>
        </p:nvSpPr>
        <p:spPr>
          <a:xfrm>
            <a:off x="1704441" y="3218687"/>
            <a:ext cx="1075334" cy="31089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950" b="1" i="0" u="none" strike="noStrike" cap="none">
                <a:solidFill>
                  <a:srgbClr val="EAF1F6"/>
                </a:solidFill>
                <a:latin typeface="Calibri"/>
                <a:ea typeface="Calibri"/>
                <a:cs typeface="Calibri"/>
                <a:sym typeface="Calibri"/>
              </a:rPr>
              <a:t>+ our docs (RAG)</a:t>
            </a:r>
            <a:endParaRPr/>
          </a:p>
        </p:txBody>
      </p:sp>
      <p:sp>
        <p:nvSpPr>
          <p:cNvPr id="1061" name="Google Shape;1061;p64"/>
          <p:cNvSpPr/>
          <p:nvPr/>
        </p:nvSpPr>
        <p:spPr>
          <a:xfrm>
            <a:off x="2852928" y="3218687"/>
            <a:ext cx="652881" cy="310896"/>
          </a:xfrm>
          <a:prstGeom prst="roundRect">
            <a:avLst>
              <a:gd name="adj" fmla="val 8000"/>
            </a:avLst>
          </a:prstGeom>
          <a:solidFill>
            <a:srgbClr val="141E2A"/>
          </a:solidFill>
          <a:ln w="12700" cap="flat" cmpd="sng">
            <a:solidFill>
              <a:srgbClr val="4CC07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62" name="Google Shape;1062;p64"/>
          <p:cNvSpPr txBox="1"/>
          <p:nvPr/>
        </p:nvSpPr>
        <p:spPr>
          <a:xfrm>
            <a:off x="2852928" y="3218687"/>
            <a:ext cx="652881" cy="31089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GB" sz="950" b="1" i="0" u="none" strike="noStrike" cap="none">
                <a:solidFill>
                  <a:srgbClr val="EAF1F6"/>
                </a:solidFill>
                <a:latin typeface="Calibri"/>
                <a:ea typeface="Calibri"/>
                <a:cs typeface="Calibri"/>
                <a:sym typeface="Calibri"/>
              </a:rPr>
              <a:t>+ browser</a:t>
            </a:r>
            <a:endParaRPr/>
          </a:p>
        </p:txBody>
      </p:sp>
      <p:sp>
        <p:nvSpPr>
          <p:cNvPr id="1063" name="Google Shape;1063;p64"/>
          <p:cNvSpPr txBox="1"/>
          <p:nvPr/>
        </p:nvSpPr>
        <p:spPr>
          <a:xfrm>
            <a:off x="3813048" y="3054096"/>
            <a:ext cx="2834640" cy="67665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150" b="0" i="0" u="none" strike="noStrike" cap="none">
                <a:solidFill>
                  <a:srgbClr val="8FA0AE"/>
                </a:solidFill>
                <a:latin typeface="Calibri"/>
                <a:ea typeface="Calibri"/>
                <a:cs typeface="Calibri"/>
                <a:sym typeface="Calibri"/>
              </a:rPr>
              <a:t>/fix-flaky waited for the real “confirmed” reply, in our page object, in our style.</a:t>
            </a:r>
            <a:endParaRPr/>
          </a:p>
        </p:txBody>
      </p:sp>
      <p:sp>
        <p:nvSpPr>
          <p:cNvPr id="1064" name="Google Shape;1064;p64"/>
          <p:cNvSpPr txBox="1"/>
          <p:nvPr/>
        </p:nvSpPr>
        <p:spPr>
          <a:xfrm>
            <a:off x="6812279" y="3207758"/>
            <a:ext cx="1783080" cy="36933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GB" sz="1200" b="1" i="0" u="none" strike="noStrike" cap="none" dirty="0">
                <a:solidFill>
                  <a:srgbClr val="4CC07A"/>
                </a:solidFill>
                <a:latin typeface="Calibri"/>
                <a:ea typeface="Calibri"/>
                <a:cs typeface="Calibri"/>
                <a:sym typeface="Calibri"/>
              </a:rPr>
              <a:t>✓  </a:t>
            </a:r>
            <a:r>
              <a:rPr lang="uk-UA" sz="1200" b="1" i="0" u="none" strike="noStrike" cap="none" dirty="0">
                <a:solidFill>
                  <a:srgbClr val="4CC07A"/>
                </a:solidFill>
                <a:latin typeface="Calibri"/>
                <a:ea typeface="Calibri"/>
                <a:cs typeface="Calibri"/>
                <a:sym typeface="Calibri"/>
              </a:rPr>
              <a:t>1</a:t>
            </a:r>
            <a:r>
              <a:rPr lang="en-GB" sz="1200" b="1" i="0" u="none" strike="noStrike" cap="none" dirty="0">
                <a:solidFill>
                  <a:srgbClr val="4CC07A"/>
                </a:solidFill>
                <a:latin typeface="Calibri"/>
                <a:ea typeface="Calibri"/>
                <a:cs typeface="Calibri"/>
                <a:sym typeface="Calibri"/>
              </a:rPr>
              <a:t>0/</a:t>
            </a:r>
            <a:r>
              <a:rPr lang="uk-UA" sz="1200" b="1" i="0" u="none" strike="noStrike" cap="none" dirty="0">
                <a:solidFill>
                  <a:srgbClr val="4CC07A"/>
                </a:solidFill>
                <a:latin typeface="Calibri"/>
                <a:ea typeface="Calibri"/>
                <a:cs typeface="Calibri"/>
                <a:sym typeface="Calibri"/>
              </a:rPr>
              <a:t>1</a:t>
            </a:r>
            <a:r>
              <a:rPr lang="en-GB" sz="1200" b="1" i="0" u="none" strike="noStrike" cap="none" dirty="0">
                <a:solidFill>
                  <a:srgbClr val="4CC07A"/>
                </a:solidFill>
                <a:latin typeface="Calibri"/>
                <a:ea typeface="Calibri"/>
                <a:cs typeface="Calibri"/>
                <a:sym typeface="Calibri"/>
              </a:rPr>
              <a:t>0, passes at 8 s and 12 s</a:t>
            </a:r>
            <a:endParaRPr dirty="0"/>
          </a:p>
        </p:txBody>
      </p:sp>
      <p:sp>
        <p:nvSpPr>
          <p:cNvPr id="1065" name="Google Shape;1065;p64"/>
          <p:cNvSpPr txBox="1"/>
          <p:nvPr/>
        </p:nvSpPr>
        <p:spPr>
          <a:xfrm>
            <a:off x="493776" y="4041648"/>
            <a:ext cx="8156400" cy="4617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500" b="1" i="1" u="none" strike="noStrike" cap="none">
                <a:solidFill>
                  <a:srgbClr val="E6B15E"/>
                </a:solidFill>
                <a:latin typeface="Century Schoolbook"/>
                <a:ea typeface="Century Schoolbook"/>
                <a:cs typeface="Century Schoolbook"/>
                <a:sym typeface="Century Schoolbook"/>
              </a:rPr>
              <a:t>Rules make Claude honest. Your docs make it right. </a:t>
            </a:r>
            <a:endParaRPr sz="1500" b="1" i="1" u="none" strike="noStrike" cap="none">
              <a:solidFill>
                <a:srgbClr val="E6B15E"/>
              </a:solidFill>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None/>
            </a:pPr>
            <a:r>
              <a:rPr lang="en-GB" sz="1500" b="0" i="1" u="none" strike="noStrike" cap="none">
                <a:solidFill>
                  <a:srgbClr val="E6B15E"/>
                </a:solidFill>
                <a:latin typeface="Century Schoolbook"/>
                <a:ea typeface="Century Schoolbook"/>
                <a:cs typeface="Century Schoolbook"/>
                <a:sym typeface="Century Schoolbook"/>
              </a:rPr>
              <a:t>A team skill makes it the same for everyone.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1070"/>
        <p:cNvGrpSpPr/>
        <p:nvPr/>
      </p:nvGrpSpPr>
      <p:grpSpPr>
        <a:xfrm>
          <a:off x="0" y="0"/>
          <a:ext cx="0" cy="0"/>
          <a:chOff x="0" y="0"/>
          <a:chExt cx="0" cy="0"/>
        </a:xfrm>
      </p:grpSpPr>
      <p:sp>
        <p:nvSpPr>
          <p:cNvPr id="1071" name="Google Shape;1071;p65"/>
          <p:cNvSpPr txBox="1">
            <a:spLocks noGrp="1"/>
          </p:cNvSpPr>
          <p:nvPr>
            <p:ph type="title"/>
          </p:nvPr>
        </p:nvSpPr>
        <p:spPr>
          <a:xfrm>
            <a:off x="365760" y="2167128"/>
            <a:ext cx="841248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3400" b="1">
                <a:solidFill>
                  <a:srgbClr val="FFFFFF"/>
                </a:solidFill>
                <a:latin typeface="Century Schoolbook"/>
                <a:ea typeface="Century Schoolbook"/>
                <a:cs typeface="Century Schoolbook"/>
                <a:sym typeface="Century Schoolbook"/>
              </a:rPr>
              <a:t>One test fixed. Now the whole team.</a:t>
            </a:r>
            <a:endParaRPr sz="1900"/>
          </a:p>
        </p:txBody>
      </p:sp>
      <p:sp>
        <p:nvSpPr>
          <p:cNvPr id="1072" name="Google Shape;1072;p65"/>
          <p:cNvSpPr txBox="1"/>
          <p:nvPr/>
        </p:nvSpPr>
        <p:spPr>
          <a:xfrm>
            <a:off x="685800" y="1737360"/>
            <a:ext cx="7772400" cy="27432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CFE6F8"/>
                </a:solidFill>
                <a:latin typeface="Calibri"/>
                <a:ea typeface="Calibri"/>
                <a:cs typeface="Calibri"/>
                <a:sym typeface="Calibri"/>
              </a:rPr>
              <a:t>PART 3</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077"/>
        <p:cNvGrpSpPr/>
        <p:nvPr/>
      </p:nvGrpSpPr>
      <p:grpSpPr>
        <a:xfrm>
          <a:off x="0" y="0"/>
          <a:ext cx="0" cy="0"/>
          <a:chOff x="0" y="0"/>
          <a:chExt cx="0" cy="0"/>
        </a:xfrm>
      </p:grpSpPr>
      <p:pic>
        <p:nvPicPr>
          <p:cNvPr id="1078" name="Google Shape;1078;p66" descr="/home/claude/work/assets/clappy_wave.png"/>
          <p:cNvPicPr preferRelativeResize="0"/>
          <p:nvPr/>
        </p:nvPicPr>
        <p:blipFill rotWithShape="1">
          <a:blip r:embed="rId3">
            <a:alphaModFix/>
          </a:blip>
          <a:srcRect/>
          <a:stretch/>
        </p:blipFill>
        <p:spPr>
          <a:xfrm>
            <a:off x="5877306" y="1145286"/>
            <a:ext cx="2297430" cy="2527173"/>
          </a:xfrm>
          <a:prstGeom prst="rect">
            <a:avLst/>
          </a:prstGeom>
          <a:noFill/>
          <a:ln>
            <a:noFill/>
          </a:ln>
        </p:spPr>
      </p:pic>
      <p:sp>
        <p:nvSpPr>
          <p:cNvPr id="1079" name="Google Shape;1079;p66"/>
          <p:cNvSpPr/>
          <p:nvPr/>
        </p:nvSpPr>
        <p:spPr>
          <a:xfrm>
            <a:off x="5795010" y="925830"/>
            <a:ext cx="1885950" cy="438912"/>
          </a:xfrm>
          <a:prstGeom prst="roundRect">
            <a:avLst>
              <a:gd name="adj" fmla="val 45455"/>
            </a:avLst>
          </a:prstGeom>
          <a:solidFill>
            <a:srgbClr val="EAF1F7"/>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080" name="Google Shape;1080;p66"/>
          <p:cNvSpPr/>
          <p:nvPr/>
        </p:nvSpPr>
        <p:spPr>
          <a:xfrm rot="10800000">
            <a:off x="6446520" y="1351026"/>
            <a:ext cx="205740" cy="178308"/>
          </a:xfrm>
          <a:prstGeom prst="triangle">
            <a:avLst>
              <a:gd name="adj" fmla="val 50000"/>
            </a:avLst>
          </a:prstGeom>
          <a:solidFill>
            <a:srgbClr val="EAF1F7"/>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081" name="Google Shape;1081;p66"/>
          <p:cNvSpPr txBox="1"/>
          <p:nvPr/>
        </p:nvSpPr>
        <p:spPr>
          <a:xfrm>
            <a:off x="5877306" y="925830"/>
            <a:ext cx="1721358" cy="438912"/>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1" u="none" strike="noStrike" cap="none" dirty="0">
                <a:solidFill>
                  <a:srgbClr val="000000"/>
                </a:solidFill>
                <a:latin typeface="Century Schoolbook"/>
                <a:ea typeface="Century Schoolbook"/>
                <a:cs typeface="Century Schoolbook"/>
                <a:sym typeface="Century Schoolbook"/>
              </a:rPr>
              <a:t>I'm the one we built.</a:t>
            </a:r>
            <a:endParaRPr sz="1100" b="0" i="0" u="none" strike="noStrike" cap="none" dirty="0">
              <a:solidFill>
                <a:schemeClr val="dk1"/>
              </a:solidFill>
              <a:latin typeface="Calibri"/>
              <a:ea typeface="Calibri"/>
              <a:cs typeface="Calibri"/>
              <a:sym typeface="Calibri"/>
            </a:endParaRPr>
          </a:p>
        </p:txBody>
      </p:sp>
      <p:sp>
        <p:nvSpPr>
          <p:cNvPr id="1082" name="Google Shape;1082;p66"/>
          <p:cNvSpPr txBox="1"/>
          <p:nvPr/>
        </p:nvSpPr>
        <p:spPr>
          <a:xfrm>
            <a:off x="548640" y="1128760"/>
            <a:ext cx="5212080" cy="8229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4100"/>
              <a:buFont typeface="Century Schoolbook"/>
              <a:buNone/>
            </a:pPr>
            <a:r>
              <a:rPr lang="en-GB" sz="4100" b="1" i="0" u="none" strike="noStrike" cap="none">
                <a:solidFill>
                  <a:srgbClr val="EAF1F7"/>
                </a:solidFill>
                <a:latin typeface="Century Schoolbook"/>
                <a:ea typeface="Century Schoolbook"/>
                <a:cs typeface="Century Schoolbook"/>
                <a:sym typeface="Century Schoolbook"/>
              </a:rPr>
              <a:t>Meet Clappy</a:t>
            </a:r>
            <a:endParaRPr sz="4100" b="0" i="0" u="none" strike="noStrike" cap="none">
              <a:solidFill>
                <a:schemeClr val="dk1"/>
              </a:solidFill>
              <a:latin typeface="Calibri"/>
              <a:ea typeface="Calibri"/>
              <a:cs typeface="Calibri"/>
              <a:sym typeface="Calibri"/>
            </a:endParaRPr>
          </a:p>
        </p:txBody>
      </p:sp>
      <p:cxnSp>
        <p:nvCxnSpPr>
          <p:cNvPr id="1083" name="Google Shape;1083;p66"/>
          <p:cNvCxnSpPr/>
          <p:nvPr/>
        </p:nvCxnSpPr>
        <p:spPr>
          <a:xfrm>
            <a:off x="562356" y="2088880"/>
            <a:ext cx="4389120" cy="0"/>
          </a:xfrm>
          <a:prstGeom prst="straightConnector1">
            <a:avLst/>
          </a:prstGeom>
          <a:noFill/>
          <a:ln w="19050" cap="flat" cmpd="sng">
            <a:solidFill>
              <a:srgbClr val="1E3044"/>
            </a:solidFill>
            <a:prstDash val="solid"/>
            <a:round/>
            <a:headEnd type="none" w="sm" len="sm"/>
            <a:tailEnd type="none" w="sm" len="sm"/>
          </a:ln>
        </p:spPr>
      </p:cxnSp>
      <p:sp>
        <p:nvSpPr>
          <p:cNvPr id="1084" name="Google Shape;1084;p66"/>
          <p:cNvSpPr txBox="1"/>
          <p:nvPr/>
        </p:nvSpPr>
        <p:spPr>
          <a:xfrm>
            <a:off x="562356" y="2260330"/>
            <a:ext cx="4800600" cy="1971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0272B4"/>
              </a:buClr>
              <a:buSzPts val="1400"/>
              <a:buFont typeface="Calibri"/>
              <a:buNone/>
            </a:pPr>
            <a:r>
              <a:rPr lang="en-GB" sz="1400" b="1" i="0" u="none" strike="noStrike" cap="none" dirty="0">
                <a:solidFill>
                  <a:srgbClr val="4FB0EA"/>
                </a:solidFill>
                <a:latin typeface="Calibri"/>
                <a:ea typeface="Calibri"/>
                <a:cs typeface="Calibri"/>
                <a:sym typeface="Calibri"/>
              </a:rPr>
              <a:t>The SDK we built at Applause. </a:t>
            </a:r>
            <a:r>
              <a:rPr lang="en-GB" sz="1400" b="0" i="0" u="none" strike="noStrike" cap="none" dirty="0">
                <a:solidFill>
                  <a:srgbClr val="93A9C0"/>
                </a:solidFill>
                <a:latin typeface="Calibri"/>
                <a:ea typeface="Calibri"/>
                <a:cs typeface="Calibri"/>
                <a:sym typeface="Calibri"/>
              </a:rPr>
              <a:t>It does three jobs:</a:t>
            </a:r>
            <a:endParaRPr sz="1400" b="0" i="0" u="none" strike="noStrike" cap="none" dirty="0">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dirty="0">
                <a:solidFill>
                  <a:srgbClr val="4FB0EA"/>
                </a:solidFill>
                <a:latin typeface="Calibri"/>
                <a:ea typeface="Calibri"/>
                <a:cs typeface="Calibri"/>
                <a:sym typeface="Calibri"/>
              </a:rPr>
              <a:t>1.  Writes tests from plain English. </a:t>
            </a:r>
            <a:r>
              <a:rPr lang="en-GB" sz="1400" b="0" i="0" u="none" strike="noStrike" cap="none" dirty="0">
                <a:solidFill>
                  <a:srgbClr val="93A9C0"/>
                </a:solidFill>
                <a:latin typeface="Calibri"/>
                <a:ea typeface="Calibri"/>
                <a:cs typeface="Calibri"/>
                <a:sym typeface="Calibri"/>
              </a:rPr>
              <a:t>Describe it; it drives a real browser or phone (web, Android, iOS) and saves the code.</a:t>
            </a:r>
            <a:endParaRPr sz="1400" b="0" i="0" u="none" strike="noStrike" cap="none" dirty="0">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dirty="0">
                <a:solidFill>
                  <a:srgbClr val="4FB0EA"/>
                </a:solidFill>
                <a:latin typeface="Calibri"/>
                <a:ea typeface="Calibri"/>
                <a:cs typeface="Calibri"/>
                <a:sym typeface="Calibri"/>
              </a:rPr>
              <a:t>2.  Keeps them running. </a:t>
            </a:r>
            <a:r>
              <a:rPr lang="en-GB" sz="1400" b="0" i="0" u="none" strike="noStrike" cap="none" dirty="0">
                <a:solidFill>
                  <a:srgbClr val="93A9C0"/>
                </a:solidFill>
                <a:latin typeface="Calibri"/>
                <a:ea typeface="Calibri"/>
                <a:cs typeface="Calibri"/>
                <a:sym typeface="Calibri"/>
              </a:rPr>
              <a:t>It replays them and fixes broken locators itself.</a:t>
            </a:r>
            <a:endParaRPr sz="1400" b="0" i="0" u="none" strike="noStrike" cap="none" dirty="0">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dirty="0">
                <a:solidFill>
                  <a:srgbClr val="4FB0EA"/>
                </a:solidFill>
                <a:latin typeface="Calibri"/>
                <a:ea typeface="Calibri"/>
                <a:cs typeface="Calibri"/>
                <a:sym typeface="Calibri"/>
              </a:rPr>
              <a:t>3.  Builds your framework. </a:t>
            </a:r>
            <a:r>
              <a:rPr lang="en-GB" sz="1400" b="0" i="0" u="none" strike="noStrike" cap="none" dirty="0">
                <a:solidFill>
                  <a:srgbClr val="93A9C0"/>
                </a:solidFill>
                <a:latin typeface="Calibri"/>
                <a:ea typeface="Calibri"/>
                <a:cs typeface="Calibri"/>
                <a:sym typeface="Calibri"/>
              </a:rPr>
              <a:t>It turns everyone's tests into one consistent Playwright framework.</a:t>
            </a:r>
            <a:endParaRPr sz="1400" b="0" i="0" u="none" strike="noStrike" cap="none" dirty="0">
              <a:solidFill>
                <a:schemeClr val="dk1"/>
              </a:solidFill>
              <a:latin typeface="Calibri"/>
              <a:ea typeface="Calibri"/>
              <a:cs typeface="Calibri"/>
              <a:sym typeface="Calibri"/>
            </a:endParaRPr>
          </a:p>
        </p:txBody>
      </p:sp>
      <p:pic>
        <p:nvPicPr>
          <p:cNvPr id="1085" name="Google Shape;1085;p66" descr="clappy-logo-dark.png"/>
          <p:cNvPicPr preferRelativeResize="0"/>
          <p:nvPr/>
        </p:nvPicPr>
        <p:blipFill rotWithShape="1">
          <a:blip r:embed="rId4">
            <a:alphaModFix/>
          </a:blip>
          <a:srcRect/>
          <a:stretch/>
        </p:blipFill>
        <p:spPr>
          <a:xfrm>
            <a:off x="548640" y="500000"/>
            <a:ext cx="2180492" cy="566928"/>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090"/>
        <p:cNvGrpSpPr/>
        <p:nvPr/>
      </p:nvGrpSpPr>
      <p:grpSpPr>
        <a:xfrm>
          <a:off x="0" y="0"/>
          <a:ext cx="0" cy="0"/>
          <a:chOff x="0" y="0"/>
          <a:chExt cx="0" cy="0"/>
        </a:xfrm>
      </p:grpSpPr>
      <p:sp>
        <p:nvSpPr>
          <p:cNvPr id="1091" name="Google Shape;1091;p67"/>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From plain English to a test framework with Clappy</a:t>
            </a:r>
            <a:endParaRPr sz="1900"/>
          </a:p>
        </p:txBody>
      </p:sp>
      <p:sp>
        <p:nvSpPr>
          <p:cNvPr id="1092" name="Google Shape;1092;p67"/>
          <p:cNvSpPr txBox="1"/>
          <p:nvPr/>
        </p:nvSpPr>
        <p:spPr>
          <a:xfrm>
            <a:off x="493776" y="4023360"/>
            <a:ext cx="8156448" cy="36576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1" u="none" strike="noStrike" cap="none">
                <a:solidFill>
                  <a:srgbClr val="7FC6F3"/>
                </a:solidFill>
                <a:latin typeface="Century Schoolbook"/>
                <a:ea typeface="Century Schoolbook"/>
                <a:cs typeface="Century Schoolbook"/>
                <a:sym typeface="Century Schoolbook"/>
              </a:rPr>
              <a:t>Testers describe the tests; Clappy writes, runs and maintains them, </a:t>
            </a:r>
            <a:r>
              <a:rPr lang="en-GB" sz="1100" b="0" i="1" u="none" strike="noStrike" cap="none">
                <a:solidFill>
                  <a:srgbClr val="7FC6F3"/>
                </a:solidFill>
                <a:latin typeface="Century Schoolbook"/>
                <a:ea typeface="Century Schoolbook"/>
                <a:cs typeface="Century Schoolbook"/>
                <a:sym typeface="Century Schoolbook"/>
              </a:rPr>
              <a:t>and builds the framework your team reviews as a pull request.</a:t>
            </a:r>
            <a:endParaRPr sz="1400" b="0" i="0" u="none" strike="noStrike" cap="none">
              <a:solidFill>
                <a:srgbClr val="000000"/>
              </a:solidFill>
              <a:latin typeface="Arial"/>
              <a:ea typeface="Arial"/>
              <a:cs typeface="Arial"/>
              <a:sym typeface="Arial"/>
            </a:endParaRPr>
          </a:p>
        </p:txBody>
      </p:sp>
      <p:sp>
        <p:nvSpPr>
          <p:cNvPr id="1093" name="Google Shape;1093;p67"/>
          <p:cNvSpPr txBox="1"/>
          <p:nvPr/>
        </p:nvSpPr>
        <p:spPr>
          <a:xfrm>
            <a:off x="493776" y="914400"/>
            <a:ext cx="8156448"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0" i="0" u="none" strike="noStrike" cap="none">
                <a:solidFill>
                  <a:srgbClr val="B9C8D8"/>
                </a:solidFill>
                <a:latin typeface="Calibri"/>
                <a:ea typeface="Calibri"/>
                <a:cs typeface="Calibri"/>
                <a:sym typeface="Calibri"/>
              </a:rPr>
              <a:t>In our test platform, testers describe what to test. Clappy does the rest.</a:t>
            </a:r>
            <a:endParaRPr sz="1400" b="0" i="0" u="none" strike="noStrike" cap="none">
              <a:solidFill>
                <a:srgbClr val="000000"/>
              </a:solidFill>
              <a:latin typeface="Calibri"/>
              <a:ea typeface="Calibri"/>
              <a:cs typeface="Calibri"/>
              <a:sym typeface="Calibri"/>
            </a:endParaRPr>
          </a:p>
        </p:txBody>
      </p:sp>
      <p:sp>
        <p:nvSpPr>
          <p:cNvPr id="1094" name="Google Shape;1094;p67"/>
          <p:cNvSpPr/>
          <p:nvPr/>
        </p:nvSpPr>
        <p:spPr>
          <a:xfrm>
            <a:off x="493776" y="1371600"/>
            <a:ext cx="1883664" cy="173736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095" name="Google Shape;1095;p67"/>
          <p:cNvSpPr txBox="1"/>
          <p:nvPr/>
        </p:nvSpPr>
        <p:spPr>
          <a:xfrm>
            <a:off x="603504" y="1463040"/>
            <a:ext cx="1664208" cy="160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800" b="1" i="0" u="none" strike="noStrike" cap="none">
                <a:solidFill>
                  <a:srgbClr val="4FB0EA"/>
                </a:solidFill>
                <a:latin typeface="Century Schoolbook"/>
                <a:ea typeface="Century Schoolbook"/>
                <a:cs typeface="Century Schoolbook"/>
                <a:sym typeface="Century Schoolbook"/>
              </a:rPr>
              <a:t>1</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300" b="1" i="0" u="none" strike="noStrike" cap="none">
                <a:solidFill>
                  <a:srgbClr val="EAF1F7"/>
                </a:solidFill>
                <a:latin typeface="Century Schoolbook"/>
                <a:ea typeface="Century Schoolbook"/>
                <a:cs typeface="Century Schoolbook"/>
                <a:sym typeface="Century Schoolbook"/>
              </a:rPr>
              <a:t>Describe it</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1050" b="0" i="0" u="none" strike="noStrike" cap="none">
                <a:solidFill>
                  <a:srgbClr val="B9C8D8"/>
                </a:solidFill>
                <a:latin typeface="Calibri"/>
                <a:ea typeface="Calibri"/>
                <a:cs typeface="Calibri"/>
                <a:sym typeface="Calibri"/>
              </a:rPr>
              <a:t>Write the test in plain English: “Log in, add the backpack to the cart, check the cart shows 1.”</a:t>
            </a:r>
            <a:endParaRPr sz="1400" b="0" i="0" u="none" strike="noStrike" cap="none">
              <a:solidFill>
                <a:srgbClr val="000000"/>
              </a:solidFill>
              <a:latin typeface="Calibri"/>
              <a:ea typeface="Calibri"/>
              <a:cs typeface="Calibri"/>
              <a:sym typeface="Calibri"/>
            </a:endParaRPr>
          </a:p>
        </p:txBody>
      </p:sp>
      <p:cxnSp>
        <p:nvCxnSpPr>
          <p:cNvPr id="1096" name="Google Shape;1096;p67"/>
          <p:cNvCxnSpPr/>
          <p:nvPr/>
        </p:nvCxnSpPr>
        <p:spPr>
          <a:xfrm>
            <a:off x="2395728" y="2240280"/>
            <a:ext cx="170078"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097" name="Google Shape;1097;p67"/>
          <p:cNvSpPr/>
          <p:nvPr/>
        </p:nvSpPr>
        <p:spPr>
          <a:xfrm>
            <a:off x="2584094" y="1371600"/>
            <a:ext cx="1883664" cy="173736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098" name="Google Shape;1098;p67"/>
          <p:cNvSpPr txBox="1"/>
          <p:nvPr/>
        </p:nvSpPr>
        <p:spPr>
          <a:xfrm>
            <a:off x="2693822" y="1463040"/>
            <a:ext cx="1664208" cy="160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800" b="1" i="0" u="none" strike="noStrike" cap="none">
                <a:solidFill>
                  <a:srgbClr val="4FB0EA"/>
                </a:solidFill>
                <a:latin typeface="Century Schoolbook"/>
                <a:ea typeface="Century Schoolbook"/>
                <a:cs typeface="Century Schoolbook"/>
                <a:sym typeface="Century Schoolbook"/>
              </a:rPr>
              <a:t>2</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300" b="1" i="0" u="none" strike="noStrike" cap="none">
                <a:solidFill>
                  <a:srgbClr val="EAF1F7"/>
                </a:solidFill>
                <a:latin typeface="Century Schoolbook"/>
                <a:ea typeface="Century Schoolbook"/>
                <a:cs typeface="Century Schoolbook"/>
                <a:sym typeface="Century Schoolbook"/>
              </a:rPr>
              <a:t>Clappy runs it</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1050" b="0" i="0" u="none" strike="noStrike" cap="none">
                <a:solidFill>
                  <a:srgbClr val="B9C8D8"/>
                </a:solidFill>
                <a:latin typeface="Calibri"/>
                <a:ea typeface="Calibri"/>
                <a:cs typeface="Calibri"/>
                <a:sym typeface="Calibri"/>
              </a:rPr>
              <a:t>It drives a real browser or phone (web, Android, iOS) and saves the steps and the test code.</a:t>
            </a:r>
            <a:endParaRPr sz="1400" b="0" i="0" u="none" strike="noStrike" cap="none">
              <a:solidFill>
                <a:srgbClr val="000000"/>
              </a:solidFill>
              <a:latin typeface="Calibri"/>
              <a:ea typeface="Calibri"/>
              <a:cs typeface="Calibri"/>
              <a:sym typeface="Calibri"/>
            </a:endParaRPr>
          </a:p>
        </p:txBody>
      </p:sp>
      <p:cxnSp>
        <p:nvCxnSpPr>
          <p:cNvPr id="1099" name="Google Shape;1099;p67"/>
          <p:cNvCxnSpPr/>
          <p:nvPr/>
        </p:nvCxnSpPr>
        <p:spPr>
          <a:xfrm>
            <a:off x="4486046" y="2240280"/>
            <a:ext cx="170078"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00" name="Google Shape;1100;p67"/>
          <p:cNvSpPr/>
          <p:nvPr/>
        </p:nvSpPr>
        <p:spPr>
          <a:xfrm>
            <a:off x="4674412" y="1371600"/>
            <a:ext cx="1883664" cy="173736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01" name="Google Shape;1101;p67"/>
          <p:cNvSpPr txBox="1"/>
          <p:nvPr/>
        </p:nvSpPr>
        <p:spPr>
          <a:xfrm>
            <a:off x="4784140" y="1463040"/>
            <a:ext cx="1664208" cy="160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800" b="1" i="0" u="none" strike="noStrike" cap="none">
                <a:solidFill>
                  <a:srgbClr val="4FB0EA"/>
                </a:solidFill>
                <a:latin typeface="Century Schoolbook"/>
                <a:ea typeface="Century Schoolbook"/>
                <a:cs typeface="Century Schoolbook"/>
                <a:sym typeface="Century Schoolbook"/>
              </a:rPr>
              <a:t>3</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300" b="1" i="0" u="none" strike="noStrike" cap="none">
                <a:solidFill>
                  <a:srgbClr val="EAF1F7"/>
                </a:solidFill>
                <a:latin typeface="Century Schoolbook"/>
                <a:ea typeface="Century Schoolbook"/>
                <a:cs typeface="Century Schoolbook"/>
                <a:sym typeface="Century Schoolbook"/>
              </a:rPr>
              <a:t>Keeps it running</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1050" b="0" i="0" u="none" strike="noStrike" cap="none">
                <a:solidFill>
                  <a:srgbClr val="B9C8D8"/>
                </a:solidFill>
                <a:latin typeface="Calibri"/>
                <a:ea typeface="Calibri"/>
                <a:cs typeface="Calibri"/>
                <a:sym typeface="Calibri"/>
              </a:rPr>
              <a:t>Runs replay the saved steps fast. If the page changed, the AI agent finishes the test from your description.</a:t>
            </a:r>
            <a:endParaRPr sz="1400" b="0" i="0" u="none" strike="noStrike" cap="none">
              <a:solidFill>
                <a:srgbClr val="000000"/>
              </a:solidFill>
              <a:latin typeface="Calibri"/>
              <a:ea typeface="Calibri"/>
              <a:cs typeface="Calibri"/>
              <a:sym typeface="Calibri"/>
            </a:endParaRPr>
          </a:p>
        </p:txBody>
      </p:sp>
      <p:cxnSp>
        <p:nvCxnSpPr>
          <p:cNvPr id="1102" name="Google Shape;1102;p67"/>
          <p:cNvCxnSpPr/>
          <p:nvPr/>
        </p:nvCxnSpPr>
        <p:spPr>
          <a:xfrm>
            <a:off x="6576364" y="2240280"/>
            <a:ext cx="170078"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03" name="Google Shape;1103;p67"/>
          <p:cNvSpPr/>
          <p:nvPr/>
        </p:nvSpPr>
        <p:spPr>
          <a:xfrm>
            <a:off x="6764731" y="1371600"/>
            <a:ext cx="1883664" cy="173736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04" name="Google Shape;1104;p67"/>
          <p:cNvSpPr txBox="1"/>
          <p:nvPr/>
        </p:nvSpPr>
        <p:spPr>
          <a:xfrm>
            <a:off x="6874459" y="1463040"/>
            <a:ext cx="1664208" cy="160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800" b="1" i="0" u="none" strike="noStrike" cap="none">
                <a:solidFill>
                  <a:srgbClr val="4FB0EA"/>
                </a:solidFill>
                <a:latin typeface="Century Schoolbook"/>
                <a:ea typeface="Century Schoolbook"/>
                <a:cs typeface="Century Schoolbook"/>
                <a:sym typeface="Century Schoolbook"/>
              </a:rPr>
              <a:t>4</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300" b="1" i="0" u="none" strike="noStrike" cap="none">
                <a:solidFill>
                  <a:srgbClr val="EAF1F7"/>
                </a:solidFill>
                <a:latin typeface="Century Schoolbook"/>
                <a:ea typeface="Century Schoolbook"/>
                <a:cs typeface="Century Schoolbook"/>
                <a:sym typeface="Century Schoolbook"/>
              </a:rPr>
              <a:t>Build the framework</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1050" b="0" i="0" u="none" strike="noStrike" cap="none">
                <a:solidFill>
                  <a:srgbClr val="B9C8D8"/>
                </a:solidFill>
                <a:latin typeface="Calibri"/>
                <a:ea typeface="Calibri"/>
                <a:cs typeface="Calibri"/>
                <a:sym typeface="Calibri"/>
              </a:rPr>
              <a:t>One click, Generate TAF: page objects, specs, configs and a CI workflow, as a pull request.</a:t>
            </a:r>
            <a:endParaRPr sz="1400" b="0" i="0" u="none" strike="noStrike" cap="none">
              <a:solidFill>
                <a:srgbClr val="000000"/>
              </a:solidFill>
              <a:latin typeface="Calibri"/>
              <a:ea typeface="Calibri"/>
              <a:cs typeface="Calibri"/>
              <a:sym typeface="Calibri"/>
            </a:endParaRPr>
          </a:p>
        </p:txBody>
      </p:sp>
      <p:sp>
        <p:nvSpPr>
          <p:cNvPr id="1105" name="Google Shape;1105;p67"/>
          <p:cNvSpPr txBox="1"/>
          <p:nvPr/>
        </p:nvSpPr>
        <p:spPr>
          <a:xfrm>
            <a:off x="493776" y="3310128"/>
            <a:ext cx="8156448" cy="169277"/>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Calibri"/>
              <a:buNone/>
            </a:pPr>
            <a:r>
              <a:rPr lang="en-GB" sz="1100" b="1" i="0" u="none" strike="noStrike" cap="none" dirty="0">
                <a:solidFill>
                  <a:srgbClr val="7FC6F3"/>
                </a:solidFill>
                <a:latin typeface="Calibri"/>
                <a:ea typeface="Calibri"/>
                <a:cs typeface="Calibri"/>
                <a:sym typeface="Calibri"/>
              </a:rPr>
              <a:t>When the app changes: </a:t>
            </a:r>
            <a:r>
              <a:rPr lang="en-GB" sz="1100" b="0" i="0" u="none" strike="noStrike" cap="none" dirty="0">
                <a:solidFill>
                  <a:srgbClr val="EAF1F7"/>
                </a:solidFill>
                <a:latin typeface="Calibri"/>
                <a:ea typeface="Calibri"/>
                <a:cs typeface="Calibri"/>
                <a:sym typeface="Calibri"/>
              </a:rPr>
              <a:t>update the test in plain English or regenerate it.</a:t>
            </a:r>
            <a:endParaRPr sz="1400" b="0" i="0" u="none" strike="noStrike" cap="none" dirty="0">
              <a:solidFill>
                <a:srgbClr val="00000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10"/>
        <p:cNvGrpSpPr/>
        <p:nvPr/>
      </p:nvGrpSpPr>
      <p:grpSpPr>
        <a:xfrm>
          <a:off x="0" y="0"/>
          <a:ext cx="0" cy="0"/>
          <a:chOff x="0" y="0"/>
          <a:chExt cx="0" cy="0"/>
        </a:xfrm>
      </p:grpSpPr>
      <p:sp>
        <p:nvSpPr>
          <p:cNvPr id="1111" name="Google Shape;1111;p6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How Clappy builds the framework (TAF)</a:t>
            </a:r>
            <a:endParaRPr sz="1900"/>
          </a:p>
        </p:txBody>
      </p:sp>
      <p:sp>
        <p:nvSpPr>
          <p:cNvPr id="1112" name="Google Shape;1112;p68"/>
          <p:cNvSpPr txBox="1"/>
          <p:nvPr/>
        </p:nvSpPr>
        <p:spPr>
          <a:xfrm>
            <a:off x="575135" y="873252"/>
            <a:ext cx="2183130" cy="169277"/>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0" i="0" u="none" strike="noStrike" cap="none" dirty="0">
                <a:solidFill>
                  <a:srgbClr val="B9C8D8"/>
                </a:solidFill>
                <a:latin typeface="Calibri"/>
                <a:ea typeface="Calibri"/>
                <a:cs typeface="Calibri"/>
                <a:sym typeface="Calibri"/>
              </a:rPr>
              <a:t>TAF = test automation framework. </a:t>
            </a:r>
            <a:endParaRPr sz="1400" b="0" i="0" u="none" strike="noStrike" cap="none" dirty="0">
              <a:solidFill>
                <a:srgbClr val="000000"/>
              </a:solidFill>
              <a:latin typeface="Calibri"/>
              <a:ea typeface="Calibri"/>
              <a:cs typeface="Calibri"/>
              <a:sym typeface="Calibri"/>
            </a:endParaRPr>
          </a:p>
        </p:txBody>
      </p:sp>
      <p:sp>
        <p:nvSpPr>
          <p:cNvPr id="1113" name="Google Shape;1113;p68"/>
          <p:cNvSpPr/>
          <p:nvPr/>
        </p:nvSpPr>
        <p:spPr>
          <a:xfrm>
            <a:off x="5120640" y="1298448"/>
            <a:ext cx="2377440" cy="457200"/>
          </a:xfrm>
          <a:prstGeom prst="roundRect">
            <a:avLst>
              <a:gd name="adj" fmla="val 8000"/>
            </a:avLst>
          </a:prstGeom>
          <a:solidFill>
            <a:srgbClr val="0A131E"/>
          </a:solidFill>
          <a:ln w="12700" cap="flat" cmpd="sng">
            <a:solidFill>
              <a:srgbClr val="2E8FCB"/>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14" name="Google Shape;1114;p68"/>
          <p:cNvSpPr txBox="1"/>
          <p:nvPr/>
        </p:nvSpPr>
        <p:spPr>
          <a:xfrm>
            <a:off x="5212080" y="1325880"/>
            <a:ext cx="2194560" cy="41148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Calibri"/>
              <a:buNone/>
            </a:pPr>
            <a:r>
              <a:rPr lang="en-GB" sz="1000" b="1" i="0" u="none" strike="noStrike" cap="none">
                <a:solidFill>
                  <a:srgbClr val="4FB0EA"/>
                </a:solidFill>
                <a:latin typeface="Century Schoolbook"/>
                <a:ea typeface="Century Schoolbook"/>
                <a:cs typeface="Century Schoolbook"/>
                <a:sym typeface="Century Schoolbook"/>
              </a:rPr>
              <a:t>Your team's skeleton</a:t>
            </a:r>
            <a:endParaRPr sz="1400" b="0"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800"/>
              <a:buFont typeface="Calibri"/>
              <a:buNone/>
            </a:pPr>
            <a:r>
              <a:rPr lang="en-GB" sz="800" b="0" i="0" u="none" strike="noStrike" cap="none">
                <a:solidFill>
                  <a:srgbClr val="B9C8D8"/>
                </a:solidFill>
                <a:latin typeface="Calibri"/>
                <a:ea typeface="Calibri"/>
                <a:cs typeface="Calibri"/>
                <a:sym typeface="Calibri"/>
              </a:rPr>
              <a:t>folders, base page, fixtures, configs, CI</a:t>
            </a:r>
            <a:endParaRPr sz="1400" b="0" i="0" u="none" strike="noStrike" cap="none">
              <a:solidFill>
                <a:srgbClr val="000000"/>
              </a:solidFill>
              <a:latin typeface="Calibri"/>
              <a:ea typeface="Calibri"/>
              <a:cs typeface="Calibri"/>
              <a:sym typeface="Calibri"/>
            </a:endParaRPr>
          </a:p>
        </p:txBody>
      </p:sp>
      <p:sp>
        <p:nvSpPr>
          <p:cNvPr id="1115" name="Google Shape;1115;p68"/>
          <p:cNvSpPr/>
          <p:nvPr/>
        </p:nvSpPr>
        <p:spPr>
          <a:xfrm>
            <a:off x="493776"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16" name="Google Shape;1116;p68"/>
          <p:cNvSpPr txBox="1"/>
          <p:nvPr/>
        </p:nvSpPr>
        <p:spPr>
          <a:xfrm>
            <a:off x="585216"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1</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Read the tests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from plain English (Clappy), recorded, or by hand; web or mobile</a:t>
            </a:r>
            <a:endParaRPr sz="1400" b="0" i="0" u="none" strike="noStrike" cap="none">
              <a:solidFill>
                <a:srgbClr val="000000"/>
              </a:solidFill>
              <a:latin typeface="Calibri"/>
              <a:ea typeface="Calibri"/>
              <a:cs typeface="Calibri"/>
              <a:sym typeface="Calibri"/>
            </a:endParaRPr>
          </a:p>
        </p:txBody>
      </p:sp>
      <p:cxnSp>
        <p:nvCxnSpPr>
          <p:cNvPr id="1117" name="Google Shape;1117;p68"/>
          <p:cNvCxnSpPr/>
          <p:nvPr/>
        </p:nvCxnSpPr>
        <p:spPr>
          <a:xfrm>
            <a:off x="1728216"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18" name="Google Shape;1118;p68"/>
          <p:cNvSpPr/>
          <p:nvPr/>
        </p:nvSpPr>
        <p:spPr>
          <a:xfrm>
            <a:off x="1881835"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19" name="Google Shape;1119;p68"/>
          <p:cNvSpPr txBox="1"/>
          <p:nvPr/>
        </p:nvSpPr>
        <p:spPr>
          <a:xfrm>
            <a:off x="1973275"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2</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Find the pages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the AI groups steps by screen</a:t>
            </a:r>
            <a:endParaRPr sz="1400" b="0" i="0" u="none" strike="noStrike" cap="none">
              <a:solidFill>
                <a:srgbClr val="000000"/>
              </a:solidFill>
              <a:latin typeface="Calibri"/>
              <a:ea typeface="Calibri"/>
              <a:cs typeface="Calibri"/>
              <a:sym typeface="Calibri"/>
            </a:endParaRPr>
          </a:p>
        </p:txBody>
      </p:sp>
      <p:cxnSp>
        <p:nvCxnSpPr>
          <p:cNvPr id="1120" name="Google Shape;1120;p68"/>
          <p:cNvCxnSpPr/>
          <p:nvPr/>
        </p:nvCxnSpPr>
        <p:spPr>
          <a:xfrm>
            <a:off x="3116275"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21" name="Google Shape;1121;p68"/>
          <p:cNvSpPr/>
          <p:nvPr/>
        </p:nvSpPr>
        <p:spPr>
          <a:xfrm>
            <a:off x="3269894"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22" name="Google Shape;1122;p68"/>
          <p:cNvSpPr txBox="1"/>
          <p:nvPr/>
        </p:nvSpPr>
        <p:spPr>
          <a:xfrm>
            <a:off x="3361334"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3</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Page objects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each element once; shared parts become components</a:t>
            </a:r>
            <a:endParaRPr sz="1400" b="0" i="0" u="none" strike="noStrike" cap="none">
              <a:solidFill>
                <a:srgbClr val="000000"/>
              </a:solidFill>
              <a:latin typeface="Calibri"/>
              <a:ea typeface="Calibri"/>
              <a:cs typeface="Calibri"/>
              <a:sym typeface="Calibri"/>
            </a:endParaRPr>
          </a:p>
        </p:txBody>
      </p:sp>
      <p:cxnSp>
        <p:nvCxnSpPr>
          <p:cNvPr id="1123" name="Google Shape;1123;p68"/>
          <p:cNvCxnSpPr/>
          <p:nvPr/>
        </p:nvCxnSpPr>
        <p:spPr>
          <a:xfrm>
            <a:off x="4504334"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24" name="Google Shape;1124;p68"/>
          <p:cNvSpPr/>
          <p:nvPr/>
        </p:nvSpPr>
        <p:spPr>
          <a:xfrm>
            <a:off x="4657953"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25" name="Google Shape;1125;p68"/>
          <p:cNvSpPr txBox="1"/>
          <p:nvPr/>
        </p:nvSpPr>
        <p:spPr>
          <a:xfrm>
            <a:off x="4749393"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4</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Name things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readable names from the AI; plain fallback without a key</a:t>
            </a:r>
            <a:endParaRPr sz="1400" b="0" i="0" u="none" strike="noStrike" cap="none">
              <a:solidFill>
                <a:srgbClr val="000000"/>
              </a:solidFill>
              <a:latin typeface="Calibri"/>
              <a:ea typeface="Calibri"/>
              <a:cs typeface="Calibri"/>
              <a:sym typeface="Calibri"/>
            </a:endParaRPr>
          </a:p>
        </p:txBody>
      </p:sp>
      <p:cxnSp>
        <p:nvCxnSpPr>
          <p:cNvPr id="1126" name="Google Shape;1126;p68"/>
          <p:cNvCxnSpPr/>
          <p:nvPr/>
        </p:nvCxnSpPr>
        <p:spPr>
          <a:xfrm>
            <a:off x="5892393"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27" name="Google Shape;1127;p68"/>
          <p:cNvSpPr/>
          <p:nvPr/>
        </p:nvSpPr>
        <p:spPr>
          <a:xfrm>
            <a:off x="6046012"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28" name="Google Shape;1128;p68"/>
          <p:cNvSpPr txBox="1"/>
          <p:nvPr/>
        </p:nvSpPr>
        <p:spPr>
          <a:xfrm>
            <a:off x="6137452"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5</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Fill the skeleton</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only the framework files the tests use</a:t>
            </a:r>
            <a:endParaRPr sz="1400" b="0" i="0" u="none" strike="noStrike" cap="none">
              <a:solidFill>
                <a:srgbClr val="000000"/>
              </a:solidFill>
              <a:latin typeface="Calibri"/>
              <a:ea typeface="Calibri"/>
              <a:cs typeface="Calibri"/>
              <a:sym typeface="Calibri"/>
            </a:endParaRPr>
          </a:p>
        </p:txBody>
      </p:sp>
      <p:cxnSp>
        <p:nvCxnSpPr>
          <p:cNvPr id="1129" name="Google Shape;1129;p68"/>
          <p:cNvCxnSpPr/>
          <p:nvPr/>
        </p:nvCxnSpPr>
        <p:spPr>
          <a:xfrm>
            <a:off x="7280452" y="2628900"/>
            <a:ext cx="135332"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30" name="Google Shape;1130;p68"/>
          <p:cNvSpPr/>
          <p:nvPr/>
        </p:nvSpPr>
        <p:spPr>
          <a:xfrm>
            <a:off x="7434071" y="2057400"/>
            <a:ext cx="1216152" cy="1143000"/>
          </a:xfrm>
          <a:prstGeom prst="roundRect">
            <a:avLst>
              <a:gd name="adj" fmla="val 8000"/>
            </a:avLst>
          </a:prstGeom>
          <a:solidFill>
            <a:srgbClr val="0A131E"/>
          </a:solidFill>
          <a:ln w="15875"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31" name="Google Shape;1131;p68"/>
          <p:cNvSpPr txBox="1"/>
          <p:nvPr/>
        </p:nvSpPr>
        <p:spPr>
          <a:xfrm>
            <a:off x="7525511"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7FC6F3"/>
                </a:solidFill>
                <a:latin typeface="Century Schoolbook"/>
                <a:ea typeface="Century Schoolbook"/>
                <a:cs typeface="Century Schoolbook"/>
                <a:sym typeface="Century Schoolbook"/>
              </a:rPr>
              <a:t>6</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Type check</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before you see it; anything missing is listed as a TODO</a:t>
            </a:r>
            <a:endParaRPr sz="1400" b="0" i="0" u="none" strike="noStrike" cap="none">
              <a:solidFill>
                <a:srgbClr val="000000"/>
              </a:solidFill>
              <a:latin typeface="Calibri"/>
              <a:ea typeface="Calibri"/>
              <a:cs typeface="Calibri"/>
              <a:sym typeface="Calibri"/>
            </a:endParaRPr>
          </a:p>
        </p:txBody>
      </p:sp>
      <p:cxnSp>
        <p:nvCxnSpPr>
          <p:cNvPr id="1132" name="Google Shape;1132;p68"/>
          <p:cNvCxnSpPr/>
          <p:nvPr/>
        </p:nvCxnSpPr>
        <p:spPr>
          <a:xfrm>
            <a:off x="6654088" y="1764792"/>
            <a:ext cx="0" cy="274320"/>
          </a:xfrm>
          <a:prstGeom prst="straightConnector1">
            <a:avLst/>
          </a:prstGeom>
          <a:noFill/>
          <a:ln w="19050" cap="flat" cmpd="sng">
            <a:solidFill>
              <a:srgbClr val="2E8FCB"/>
            </a:solidFill>
            <a:prstDash val="solid"/>
            <a:round/>
            <a:headEnd type="none" w="sm" len="sm"/>
            <a:tailEnd type="triangle" w="med" len="med"/>
          </a:ln>
          <a:effectLst>
            <a:outerShdw blurRad="40000" dist="20000" dir="5400000" rotWithShape="0">
              <a:srgbClr val="000000">
                <a:alpha val="38039"/>
              </a:srgbClr>
            </a:outerShdw>
          </a:effectLst>
        </p:spPr>
      </p:cxnSp>
      <p:sp>
        <p:nvSpPr>
          <p:cNvPr id="1133" name="Google Shape;1133;p68"/>
          <p:cNvSpPr txBox="1"/>
          <p:nvPr/>
        </p:nvSpPr>
        <p:spPr>
          <a:xfrm>
            <a:off x="493776" y="3310128"/>
            <a:ext cx="8156448"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Calibri"/>
              <a:buNone/>
            </a:pPr>
            <a:r>
              <a:rPr lang="en-GB" sz="1050" b="1" i="0" u="none" strike="noStrike" cap="none">
                <a:solidFill>
                  <a:srgbClr val="7FC6F3"/>
                </a:solidFill>
                <a:latin typeface="Calibri"/>
                <a:ea typeface="Calibri"/>
                <a:cs typeface="Calibri"/>
                <a:sym typeface="Calibri"/>
              </a:rPr>
              <a:t>Out: </a:t>
            </a:r>
            <a:r>
              <a:rPr lang="en-GB" sz="1050" b="0" i="0" u="none" strike="noStrike" cap="none">
                <a:solidFill>
                  <a:srgbClr val="EAF1F7"/>
                </a:solidFill>
                <a:latin typeface="Calibri"/>
                <a:ea typeface="Calibri"/>
                <a:cs typeface="Calibri"/>
                <a:sym typeface="Calibri"/>
              </a:rPr>
              <a:t>page objects, specs, env configs and a CI workflow, as a pull request on your GitHub repo or a zip.</a:t>
            </a:r>
            <a:endParaRPr sz="1400" b="0" i="0" u="none" strike="noStrike" cap="none">
              <a:solidFill>
                <a:srgbClr val="000000"/>
              </a:solidFill>
              <a:latin typeface="Calibri"/>
              <a:ea typeface="Calibri"/>
              <a:cs typeface="Calibri"/>
              <a:sym typeface="Calibri"/>
            </a:endParaRPr>
          </a:p>
        </p:txBody>
      </p:sp>
      <p:sp>
        <p:nvSpPr>
          <p:cNvPr id="1134" name="Google Shape;1134;p68"/>
          <p:cNvSpPr/>
          <p:nvPr/>
        </p:nvSpPr>
        <p:spPr>
          <a:xfrm>
            <a:off x="493776" y="3703320"/>
            <a:ext cx="1936242" cy="566928"/>
          </a:xfrm>
          <a:prstGeom prst="roundRect">
            <a:avLst>
              <a:gd name="adj" fmla="val 8000"/>
            </a:avLst>
          </a:prstGeom>
          <a:solidFill>
            <a:srgbClr val="0A131E"/>
          </a:solidFill>
          <a:ln w="12700"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35" name="Google Shape;1135;p68"/>
          <p:cNvSpPr txBox="1"/>
          <p:nvPr/>
        </p:nvSpPr>
        <p:spPr>
          <a:xfrm>
            <a:off x="603504"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4FB0EA"/>
                </a:solidFill>
                <a:latin typeface="Century Schoolbook"/>
                <a:ea typeface="Century Schoolbook"/>
                <a:cs typeface="Century Schoolbook"/>
                <a:sym typeface="Century Schoolbook"/>
              </a:rPr>
              <a:t>In our test platform</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one click: Generate TAF (the demo)</a:t>
            </a:r>
            <a:endParaRPr sz="1400" b="0" i="0" u="none" strike="noStrike" cap="none">
              <a:solidFill>
                <a:srgbClr val="000000"/>
              </a:solidFill>
              <a:latin typeface="Calibri"/>
              <a:ea typeface="Calibri"/>
              <a:cs typeface="Calibri"/>
              <a:sym typeface="Calibri"/>
            </a:endParaRPr>
          </a:p>
        </p:txBody>
      </p:sp>
      <p:sp>
        <p:nvSpPr>
          <p:cNvPr id="1136" name="Google Shape;1136;p68"/>
          <p:cNvSpPr/>
          <p:nvPr/>
        </p:nvSpPr>
        <p:spPr>
          <a:xfrm>
            <a:off x="2567178"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37" name="Google Shape;1137;p68"/>
          <p:cNvSpPr txBox="1"/>
          <p:nvPr/>
        </p:nvSpPr>
        <p:spPr>
          <a:xfrm>
            <a:off x="2676906"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In Claude Code</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Claude calls Clappy as a tool (MCP)</a:t>
            </a:r>
            <a:endParaRPr sz="1400" b="0" i="0" u="none" strike="noStrike" cap="none">
              <a:solidFill>
                <a:srgbClr val="000000"/>
              </a:solidFill>
              <a:latin typeface="Calibri"/>
              <a:ea typeface="Calibri"/>
              <a:cs typeface="Calibri"/>
              <a:sym typeface="Calibri"/>
            </a:endParaRPr>
          </a:p>
        </p:txBody>
      </p:sp>
      <p:sp>
        <p:nvSpPr>
          <p:cNvPr id="1138" name="Google Shape;1138;p68"/>
          <p:cNvSpPr/>
          <p:nvPr/>
        </p:nvSpPr>
        <p:spPr>
          <a:xfrm>
            <a:off x="4640580"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39" name="Google Shape;1139;p68"/>
          <p:cNvSpPr txBox="1"/>
          <p:nvPr/>
        </p:nvSpPr>
        <p:spPr>
          <a:xfrm>
            <a:off x="4750308"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In your CI pipeline</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a command: clappy generate</a:t>
            </a:r>
            <a:endParaRPr sz="1400" b="0" i="0" u="none" strike="noStrike" cap="none">
              <a:solidFill>
                <a:srgbClr val="000000"/>
              </a:solidFill>
              <a:latin typeface="Calibri"/>
              <a:ea typeface="Calibri"/>
              <a:cs typeface="Calibri"/>
              <a:sym typeface="Calibri"/>
            </a:endParaRPr>
          </a:p>
        </p:txBody>
      </p:sp>
      <p:sp>
        <p:nvSpPr>
          <p:cNvPr id="1140" name="Google Shape;1140;p68"/>
          <p:cNvSpPr/>
          <p:nvPr/>
        </p:nvSpPr>
        <p:spPr>
          <a:xfrm>
            <a:off x="6713982"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41" name="Google Shape;1141;p68"/>
          <p:cNvSpPr txBox="1"/>
          <p:nvPr/>
        </p:nvSpPr>
        <p:spPr>
          <a:xfrm>
            <a:off x="6823710"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In your own scripts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a JavaScript library: clappy-core</a:t>
            </a:r>
            <a:endParaRPr sz="1400" b="0" i="0" u="none" strike="noStrike" cap="none">
              <a:solidFill>
                <a:srgbClr val="000000"/>
              </a:solidFill>
              <a:latin typeface="Calibri"/>
              <a:ea typeface="Calibri"/>
              <a:cs typeface="Calibri"/>
              <a:sym typeface="Calibri"/>
            </a:endParaRPr>
          </a:p>
        </p:txBody>
      </p:sp>
      <p:sp>
        <p:nvSpPr>
          <p:cNvPr id="1142" name="Google Shape;1142;p68"/>
          <p:cNvSpPr txBox="1"/>
          <p:nvPr/>
        </p:nvSpPr>
        <p:spPr>
          <a:xfrm>
            <a:off x="493776" y="4434840"/>
            <a:ext cx="8156448"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Calibri"/>
              <a:buNone/>
            </a:pPr>
            <a:r>
              <a:rPr lang="en-GB" sz="850" b="0" i="1" u="none" strike="noStrike" cap="none">
                <a:solidFill>
                  <a:srgbClr val="93A9C0"/>
                </a:solidFill>
                <a:latin typeface="Calibri"/>
                <a:ea typeface="Calibri"/>
                <a:cs typeface="Calibri"/>
                <a:sym typeface="Calibri"/>
              </a:rPr>
              <a:t>The same engine runs in all four places. Clappy is internal to Applause today: it is not open source.</a:t>
            </a:r>
            <a:endParaRPr sz="1400" b="0" i="0" u="none" strike="noStrike" cap="none">
              <a:solidFill>
                <a:srgbClr val="000000"/>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34"/>
                                        </p:tgtEl>
                                        <p:attrNameLst>
                                          <p:attrName>style.visibility</p:attrName>
                                        </p:attrNameLst>
                                      </p:cBhvr>
                                      <p:to>
                                        <p:strVal val="visible"/>
                                      </p:to>
                                    </p:set>
                                    <p:animEffect transition="in" filter="dissolve">
                                      <p:cBhvr>
                                        <p:cTn id="7" dur="500"/>
                                        <p:tgtEl>
                                          <p:spTgt spid="113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135"/>
                                        </p:tgtEl>
                                        <p:attrNameLst>
                                          <p:attrName>style.visibility</p:attrName>
                                        </p:attrNameLst>
                                      </p:cBhvr>
                                      <p:to>
                                        <p:strVal val="visible"/>
                                      </p:to>
                                    </p:set>
                                    <p:animEffect transition="in" filter="dissolve">
                                      <p:cBhvr>
                                        <p:cTn id="10" dur="500"/>
                                        <p:tgtEl>
                                          <p:spTgt spid="113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136"/>
                                        </p:tgtEl>
                                        <p:attrNameLst>
                                          <p:attrName>style.visibility</p:attrName>
                                        </p:attrNameLst>
                                      </p:cBhvr>
                                      <p:to>
                                        <p:strVal val="visible"/>
                                      </p:to>
                                    </p:set>
                                    <p:animEffect transition="in" filter="dissolve">
                                      <p:cBhvr>
                                        <p:cTn id="13" dur="500"/>
                                        <p:tgtEl>
                                          <p:spTgt spid="113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137"/>
                                        </p:tgtEl>
                                        <p:attrNameLst>
                                          <p:attrName>style.visibility</p:attrName>
                                        </p:attrNameLst>
                                      </p:cBhvr>
                                      <p:to>
                                        <p:strVal val="visible"/>
                                      </p:to>
                                    </p:set>
                                    <p:animEffect transition="in" filter="dissolve">
                                      <p:cBhvr>
                                        <p:cTn id="16" dur="500"/>
                                        <p:tgtEl>
                                          <p:spTgt spid="1137"/>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138"/>
                                        </p:tgtEl>
                                        <p:attrNameLst>
                                          <p:attrName>style.visibility</p:attrName>
                                        </p:attrNameLst>
                                      </p:cBhvr>
                                      <p:to>
                                        <p:strVal val="visible"/>
                                      </p:to>
                                    </p:set>
                                    <p:animEffect transition="in" filter="dissolve">
                                      <p:cBhvr>
                                        <p:cTn id="19" dur="500"/>
                                        <p:tgtEl>
                                          <p:spTgt spid="1138"/>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139"/>
                                        </p:tgtEl>
                                        <p:attrNameLst>
                                          <p:attrName>style.visibility</p:attrName>
                                        </p:attrNameLst>
                                      </p:cBhvr>
                                      <p:to>
                                        <p:strVal val="visible"/>
                                      </p:to>
                                    </p:set>
                                    <p:animEffect transition="in" filter="dissolve">
                                      <p:cBhvr>
                                        <p:cTn id="22" dur="500"/>
                                        <p:tgtEl>
                                          <p:spTgt spid="1139"/>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1140"/>
                                        </p:tgtEl>
                                        <p:attrNameLst>
                                          <p:attrName>style.visibility</p:attrName>
                                        </p:attrNameLst>
                                      </p:cBhvr>
                                      <p:to>
                                        <p:strVal val="visible"/>
                                      </p:to>
                                    </p:set>
                                    <p:animEffect transition="in" filter="dissolve">
                                      <p:cBhvr>
                                        <p:cTn id="25" dur="500"/>
                                        <p:tgtEl>
                                          <p:spTgt spid="114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1141"/>
                                        </p:tgtEl>
                                        <p:attrNameLst>
                                          <p:attrName>style.visibility</p:attrName>
                                        </p:attrNameLst>
                                      </p:cBhvr>
                                      <p:to>
                                        <p:strVal val="visible"/>
                                      </p:to>
                                    </p:set>
                                    <p:animEffect transition="in" filter="dissolve">
                                      <p:cBhvr>
                                        <p:cTn id="28" dur="500"/>
                                        <p:tgtEl>
                                          <p:spTgt spid="114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1142"/>
                                        </p:tgtEl>
                                        <p:attrNameLst>
                                          <p:attrName>style.visibility</p:attrName>
                                        </p:attrNameLst>
                                      </p:cBhvr>
                                      <p:to>
                                        <p:strVal val="visible"/>
                                      </p:to>
                                    </p:set>
                                    <p:animEffect transition="in" filter="dissolve">
                                      <p:cBhvr>
                                        <p:cTn id="31" dur="500"/>
                                        <p:tgtEl>
                                          <p:spTgt spid="1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4" grpId="0" animBg="1"/>
      <p:bldP spid="1135" grpId="0"/>
      <p:bldP spid="1136" grpId="0" animBg="1"/>
      <p:bldP spid="1137" grpId="0"/>
      <p:bldP spid="1138" grpId="0" animBg="1"/>
      <p:bldP spid="1139" grpId="0"/>
      <p:bldP spid="1140" grpId="0" animBg="1"/>
      <p:bldP spid="1141" grpId="0"/>
      <p:bldP spid="1142"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47"/>
        <p:cNvGrpSpPr/>
        <p:nvPr/>
      </p:nvGrpSpPr>
      <p:grpSpPr>
        <a:xfrm>
          <a:off x="0" y="0"/>
          <a:ext cx="0" cy="0"/>
          <a:chOff x="0" y="0"/>
          <a:chExt cx="0" cy="0"/>
        </a:xfrm>
      </p:grpSpPr>
      <p:sp>
        <p:nvSpPr>
          <p:cNvPr id="1148" name="Google Shape;1148;p6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dirty="0">
                <a:solidFill>
                  <a:srgbClr val="FFFFFF"/>
                </a:solidFill>
                <a:latin typeface="Century Schoolbook"/>
                <a:ea typeface="Century Schoolbook"/>
                <a:cs typeface="Century Schoolbook"/>
                <a:sym typeface="Century Schoolbook"/>
              </a:rPr>
              <a:t>Live demo: one click in our test platform, dispel scepticism</a:t>
            </a:r>
            <a:endParaRPr sz="1900" dirty="0"/>
          </a:p>
        </p:txBody>
      </p:sp>
      <p:pic>
        <p:nvPicPr>
          <p:cNvPr id="1149" name="Google Shape;1149;p69" descr="swag-ui-crop.png"/>
          <p:cNvPicPr preferRelativeResize="0"/>
          <p:nvPr/>
        </p:nvPicPr>
        <p:blipFill rotWithShape="1">
          <a:blip r:embed="rId3">
            <a:alphaModFix/>
          </a:blip>
          <a:srcRect/>
          <a:stretch/>
        </p:blipFill>
        <p:spPr>
          <a:xfrm>
            <a:off x="411480" y="914400"/>
            <a:ext cx="5037667" cy="3886200"/>
          </a:xfrm>
          <a:prstGeom prst="rect">
            <a:avLst/>
          </a:prstGeom>
          <a:noFill/>
          <a:ln w="12700" cap="flat" cmpd="sng">
            <a:solidFill>
              <a:srgbClr val="1E3044"/>
            </a:solidFill>
            <a:prstDash val="solid"/>
            <a:round/>
            <a:headEnd type="none" w="sm" len="sm"/>
            <a:tailEnd type="none" w="sm" len="sm"/>
          </a:ln>
        </p:spPr>
      </p:pic>
      <p:sp>
        <p:nvSpPr>
          <p:cNvPr id="1150" name="Google Shape;1150;p69"/>
          <p:cNvSpPr/>
          <p:nvPr/>
        </p:nvSpPr>
        <p:spPr>
          <a:xfrm>
            <a:off x="2535569" y="1779072"/>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1" name="Google Shape;1151;p69"/>
          <p:cNvSpPr txBox="1"/>
          <p:nvPr/>
        </p:nvSpPr>
        <p:spPr>
          <a:xfrm>
            <a:off x="2535569" y="1779072"/>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1</a:t>
            </a:r>
            <a:endParaRPr sz="1400" b="0" i="0" u="none" strike="noStrike" cap="none">
              <a:solidFill>
                <a:srgbClr val="000000"/>
              </a:solidFill>
              <a:latin typeface="Arial"/>
              <a:ea typeface="Arial"/>
              <a:cs typeface="Arial"/>
              <a:sym typeface="Arial"/>
            </a:endParaRPr>
          </a:p>
        </p:txBody>
      </p:sp>
      <p:sp>
        <p:nvSpPr>
          <p:cNvPr id="1152" name="Google Shape;1152;p69"/>
          <p:cNvSpPr/>
          <p:nvPr/>
        </p:nvSpPr>
        <p:spPr>
          <a:xfrm>
            <a:off x="5006424" y="2474750"/>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3" name="Google Shape;1153;p69"/>
          <p:cNvSpPr txBox="1"/>
          <p:nvPr/>
        </p:nvSpPr>
        <p:spPr>
          <a:xfrm>
            <a:off x="5006424" y="2474750"/>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2</a:t>
            </a:r>
            <a:endParaRPr sz="1400" b="0" i="0" u="none" strike="noStrike" cap="none">
              <a:solidFill>
                <a:srgbClr val="000000"/>
              </a:solidFill>
              <a:latin typeface="Arial"/>
              <a:ea typeface="Arial"/>
              <a:cs typeface="Arial"/>
              <a:sym typeface="Arial"/>
            </a:endParaRPr>
          </a:p>
        </p:txBody>
      </p:sp>
      <p:sp>
        <p:nvSpPr>
          <p:cNvPr id="1154" name="Google Shape;1154;p69"/>
          <p:cNvSpPr/>
          <p:nvPr/>
        </p:nvSpPr>
        <p:spPr>
          <a:xfrm>
            <a:off x="2463602" y="3947668"/>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5" name="Google Shape;1155;p69"/>
          <p:cNvSpPr txBox="1"/>
          <p:nvPr/>
        </p:nvSpPr>
        <p:spPr>
          <a:xfrm>
            <a:off x="2463602" y="3947668"/>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3</a:t>
            </a:r>
            <a:endParaRPr sz="1400" b="0" i="0" u="none" strike="noStrike" cap="none">
              <a:solidFill>
                <a:srgbClr val="000000"/>
              </a:solidFill>
              <a:latin typeface="Arial"/>
              <a:ea typeface="Arial"/>
              <a:cs typeface="Arial"/>
              <a:sym typeface="Arial"/>
            </a:endParaRPr>
          </a:p>
        </p:txBody>
      </p:sp>
      <p:sp>
        <p:nvSpPr>
          <p:cNvPr id="1156" name="Google Shape;1156;p69"/>
          <p:cNvSpPr/>
          <p:nvPr/>
        </p:nvSpPr>
        <p:spPr>
          <a:xfrm>
            <a:off x="3890941" y="1779072"/>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7" name="Google Shape;1157;p69"/>
          <p:cNvSpPr txBox="1"/>
          <p:nvPr/>
        </p:nvSpPr>
        <p:spPr>
          <a:xfrm>
            <a:off x="3890941" y="1779072"/>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4</a:t>
            </a:r>
            <a:endParaRPr sz="1400" b="0" i="0" u="none" strike="noStrike" cap="none">
              <a:solidFill>
                <a:srgbClr val="000000"/>
              </a:solidFill>
              <a:latin typeface="Arial"/>
              <a:ea typeface="Arial"/>
              <a:cs typeface="Arial"/>
              <a:sym typeface="Arial"/>
            </a:endParaRPr>
          </a:p>
        </p:txBody>
      </p:sp>
      <p:sp>
        <p:nvSpPr>
          <p:cNvPr id="1158" name="Google Shape;1158;p69"/>
          <p:cNvSpPr txBox="1"/>
          <p:nvPr/>
        </p:nvSpPr>
        <p:spPr>
          <a:xfrm>
            <a:off x="5723467" y="960120"/>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1</a:t>
            </a:r>
            <a:endParaRPr sz="1400" b="0" i="0" u="none" strike="noStrike" cap="none">
              <a:solidFill>
                <a:srgbClr val="000000"/>
              </a:solidFill>
              <a:latin typeface="Arial"/>
              <a:ea typeface="Arial"/>
              <a:cs typeface="Arial"/>
              <a:sym typeface="Arial"/>
            </a:endParaRPr>
          </a:p>
        </p:txBody>
      </p:sp>
      <p:sp>
        <p:nvSpPr>
          <p:cNvPr id="1159" name="Google Shape;1159;p69"/>
          <p:cNvSpPr txBox="1"/>
          <p:nvPr/>
        </p:nvSpPr>
        <p:spPr>
          <a:xfrm>
            <a:off x="6134947" y="996696"/>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Generate TAF</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Anna's, Ben's and Chris's tests on saucedemo.com go in. About a minute.</a:t>
            </a:r>
            <a:endParaRPr sz="1400" b="0" i="0" u="none" strike="noStrike" cap="none">
              <a:solidFill>
                <a:srgbClr val="000000"/>
              </a:solidFill>
              <a:latin typeface="Arial"/>
              <a:ea typeface="Arial"/>
              <a:cs typeface="Arial"/>
              <a:sym typeface="Arial"/>
            </a:endParaRPr>
          </a:p>
        </p:txBody>
      </p:sp>
      <p:sp>
        <p:nvSpPr>
          <p:cNvPr id="1160" name="Google Shape;1160;p69"/>
          <p:cNvSpPr txBox="1"/>
          <p:nvPr/>
        </p:nvSpPr>
        <p:spPr>
          <a:xfrm>
            <a:off x="5723467" y="1892808"/>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2</a:t>
            </a:r>
            <a:endParaRPr sz="1400" b="0" i="0" u="none" strike="noStrike" cap="none">
              <a:solidFill>
                <a:srgbClr val="000000"/>
              </a:solidFill>
              <a:latin typeface="Arial"/>
              <a:ea typeface="Arial"/>
              <a:cs typeface="Arial"/>
              <a:sym typeface="Arial"/>
            </a:endParaRPr>
          </a:p>
        </p:txBody>
      </p:sp>
      <p:sp>
        <p:nvSpPr>
          <p:cNvPr id="1161" name="Google Shape;1161;p69"/>
          <p:cNvSpPr txBox="1"/>
          <p:nvPr/>
        </p:nvSpPr>
        <p:spPr>
          <a:xfrm>
            <a:off x="6134947" y="1929384"/>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Read the report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 summary of what was built: the pages and elements found, whether the code compiles, and anything left to finish by hand.</a:t>
            </a:r>
            <a:endParaRPr sz="1400" b="0" i="0" u="none" strike="noStrike" cap="none">
              <a:solidFill>
                <a:srgbClr val="000000"/>
              </a:solidFill>
              <a:latin typeface="Arial"/>
              <a:ea typeface="Arial"/>
              <a:cs typeface="Arial"/>
              <a:sym typeface="Arial"/>
            </a:endParaRPr>
          </a:p>
        </p:txBody>
      </p:sp>
      <p:sp>
        <p:nvSpPr>
          <p:cNvPr id="1162" name="Google Shape;1162;p69"/>
          <p:cNvSpPr txBox="1"/>
          <p:nvPr/>
        </p:nvSpPr>
        <p:spPr>
          <a:xfrm>
            <a:off x="5723467" y="2825496"/>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3</a:t>
            </a:r>
            <a:endParaRPr sz="1400" b="0" i="0" u="none" strike="noStrike" cap="none">
              <a:solidFill>
                <a:srgbClr val="000000"/>
              </a:solidFill>
              <a:latin typeface="Arial"/>
              <a:ea typeface="Arial"/>
              <a:cs typeface="Arial"/>
              <a:sym typeface="Arial"/>
            </a:endParaRPr>
          </a:p>
        </p:txBody>
      </p:sp>
      <p:sp>
        <p:nvSpPr>
          <p:cNvPr id="1163" name="Google Shape;1163;p69"/>
          <p:cNvSpPr txBox="1"/>
          <p:nvPr/>
        </p:nvSpPr>
        <p:spPr>
          <a:xfrm>
            <a:off x="6134947" y="2862072"/>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Open the page object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The login (username, password, Login button) is written once, used by all three tests.</a:t>
            </a:r>
            <a:endParaRPr sz="1400" b="0" i="0" u="none" strike="noStrike" cap="none">
              <a:solidFill>
                <a:srgbClr val="000000"/>
              </a:solidFill>
              <a:latin typeface="Arial"/>
              <a:ea typeface="Arial"/>
              <a:cs typeface="Arial"/>
              <a:sym typeface="Arial"/>
            </a:endParaRPr>
          </a:p>
        </p:txBody>
      </p:sp>
      <p:sp>
        <p:nvSpPr>
          <p:cNvPr id="1164" name="Google Shape;1164;p69"/>
          <p:cNvSpPr txBox="1"/>
          <p:nvPr/>
        </p:nvSpPr>
        <p:spPr>
          <a:xfrm>
            <a:off x="5723467" y="3758184"/>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4</a:t>
            </a:r>
            <a:endParaRPr sz="1400" b="0" i="0" u="none" strike="noStrike" cap="none">
              <a:solidFill>
                <a:srgbClr val="000000"/>
              </a:solidFill>
              <a:latin typeface="Arial"/>
              <a:ea typeface="Arial"/>
              <a:cs typeface="Arial"/>
              <a:sym typeface="Arial"/>
            </a:endParaRPr>
          </a:p>
        </p:txBody>
      </p:sp>
      <p:sp>
        <p:nvSpPr>
          <p:cNvPr id="1165" name="Google Shape;1165;p69"/>
          <p:cNvSpPr txBox="1"/>
          <p:nvPr/>
        </p:nvSpPr>
        <p:spPr>
          <a:xfrm>
            <a:off x="6134947" y="3794760"/>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Sync to GitHub</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All generated files go to your GitHub repo as one pull request, reviewed like any code.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70"/>
        <p:cNvGrpSpPr/>
        <p:nvPr/>
      </p:nvGrpSpPr>
      <p:grpSpPr>
        <a:xfrm>
          <a:off x="0" y="0"/>
          <a:ext cx="0" cy="0"/>
          <a:chOff x="0" y="0"/>
          <a:chExt cx="0" cy="0"/>
        </a:xfrm>
      </p:grpSpPr>
      <p:sp>
        <p:nvSpPr>
          <p:cNvPr id="1171" name="Google Shape;1171;p70"/>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Three things to remember</a:t>
            </a:r>
            <a:endParaRPr sz="1900"/>
          </a:p>
        </p:txBody>
      </p:sp>
      <p:sp>
        <p:nvSpPr>
          <p:cNvPr id="1172" name="Google Shape;1172;p70"/>
          <p:cNvSpPr/>
          <p:nvPr/>
        </p:nvSpPr>
        <p:spPr>
          <a:xfrm>
            <a:off x="45720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3" name="Google Shape;1173;p70"/>
          <p:cNvSpPr txBox="1"/>
          <p:nvPr/>
        </p:nvSpPr>
        <p:spPr>
          <a:xfrm>
            <a:off x="68580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1</a:t>
            </a:r>
            <a:endParaRPr sz="1400" b="0" i="0" u="none" strike="noStrike" cap="none">
              <a:solidFill>
                <a:srgbClr val="000000"/>
              </a:solidFill>
              <a:latin typeface="Arial"/>
              <a:ea typeface="Arial"/>
              <a:cs typeface="Arial"/>
              <a:sym typeface="Arial"/>
            </a:endParaRPr>
          </a:p>
        </p:txBody>
      </p:sp>
      <p:sp>
        <p:nvSpPr>
          <p:cNvPr id="1174" name="Google Shape;1174;p70"/>
          <p:cNvSpPr txBox="1"/>
          <p:nvPr/>
        </p:nvSpPr>
        <p:spPr>
          <a:xfrm>
            <a:off x="68580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Give AI your context</a:t>
            </a:r>
            <a:endParaRPr sz="1400" b="0" i="0" u="none" strike="noStrike" cap="none">
              <a:solidFill>
                <a:srgbClr val="000000"/>
              </a:solidFill>
              <a:latin typeface="Arial"/>
              <a:ea typeface="Arial"/>
              <a:cs typeface="Arial"/>
              <a:sym typeface="Arial"/>
            </a:endParaRPr>
          </a:p>
        </p:txBody>
      </p:sp>
      <p:sp>
        <p:nvSpPr>
          <p:cNvPr id="1175" name="Google Shape;1175;p70"/>
          <p:cNvSpPr txBox="1"/>
          <p:nvPr/>
        </p:nvSpPr>
        <p:spPr>
          <a:xfrm>
            <a:off x="68580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Rules to follow, your team’s docs, and real tools. Without context, AI can only guess.</a:t>
            </a:r>
            <a:endParaRPr sz="1400" b="0" i="0" u="none" strike="noStrike" cap="none">
              <a:solidFill>
                <a:srgbClr val="000000"/>
              </a:solidFill>
              <a:latin typeface="Arial"/>
              <a:ea typeface="Arial"/>
              <a:cs typeface="Arial"/>
              <a:sym typeface="Arial"/>
            </a:endParaRPr>
          </a:p>
        </p:txBody>
      </p:sp>
      <p:sp>
        <p:nvSpPr>
          <p:cNvPr id="1176" name="Google Shape;1176;p70"/>
          <p:cNvSpPr/>
          <p:nvPr/>
        </p:nvSpPr>
        <p:spPr>
          <a:xfrm>
            <a:off x="68580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rules + docs + tools</a:t>
            </a:r>
            <a:endParaRPr sz="1400" b="0" i="0" u="none" strike="noStrike" cap="none">
              <a:solidFill>
                <a:srgbClr val="000000"/>
              </a:solidFill>
              <a:latin typeface="Arial"/>
              <a:ea typeface="Arial"/>
              <a:cs typeface="Arial"/>
              <a:sym typeface="Arial"/>
            </a:endParaRPr>
          </a:p>
        </p:txBody>
      </p:sp>
      <p:sp>
        <p:nvSpPr>
          <p:cNvPr id="1177" name="Google Shape;1177;p70"/>
          <p:cNvSpPr/>
          <p:nvPr/>
        </p:nvSpPr>
        <p:spPr>
          <a:xfrm>
            <a:off x="326136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8" name="Google Shape;1178;p70"/>
          <p:cNvSpPr txBox="1"/>
          <p:nvPr/>
        </p:nvSpPr>
        <p:spPr>
          <a:xfrm>
            <a:off x="348996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2</a:t>
            </a:r>
            <a:endParaRPr sz="1400" b="0" i="0" u="none" strike="noStrike" cap="none">
              <a:solidFill>
                <a:srgbClr val="000000"/>
              </a:solidFill>
              <a:latin typeface="Arial"/>
              <a:ea typeface="Arial"/>
              <a:cs typeface="Arial"/>
              <a:sym typeface="Arial"/>
            </a:endParaRPr>
          </a:p>
        </p:txBody>
      </p:sp>
      <p:sp>
        <p:nvSpPr>
          <p:cNvPr id="1179" name="Google Shape;1179;p70"/>
          <p:cNvSpPr txBox="1"/>
          <p:nvPr/>
        </p:nvSpPr>
        <p:spPr>
          <a:xfrm>
            <a:off x="348996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Make it a team standard</a:t>
            </a:r>
            <a:endParaRPr sz="1400" b="0" i="0" u="none" strike="noStrike" cap="none">
              <a:solidFill>
                <a:srgbClr val="000000"/>
              </a:solidFill>
              <a:latin typeface="Arial"/>
              <a:ea typeface="Arial"/>
              <a:cs typeface="Arial"/>
              <a:sym typeface="Arial"/>
            </a:endParaRPr>
          </a:p>
        </p:txBody>
      </p:sp>
      <p:sp>
        <p:nvSpPr>
          <p:cNvPr id="1180" name="Google Shape;1180;p70"/>
          <p:cNvSpPr txBox="1"/>
          <p:nvPr/>
        </p:nvSpPr>
        <p:spPr>
          <a:xfrm>
            <a:off x="348996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Write how you work down once, as rules and skills. Every tester gets the same quality.</a:t>
            </a:r>
            <a:endParaRPr sz="1400" b="0" i="0" u="none" strike="noStrike" cap="none">
              <a:solidFill>
                <a:srgbClr val="000000"/>
              </a:solidFill>
              <a:latin typeface="Arial"/>
              <a:ea typeface="Arial"/>
              <a:cs typeface="Arial"/>
              <a:sym typeface="Arial"/>
            </a:endParaRPr>
          </a:p>
        </p:txBody>
      </p:sp>
      <p:sp>
        <p:nvSpPr>
          <p:cNvPr id="1181" name="Google Shape;1181;p70"/>
          <p:cNvSpPr/>
          <p:nvPr/>
        </p:nvSpPr>
        <p:spPr>
          <a:xfrm>
            <a:off x="348996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one skill, every tester</a:t>
            </a:r>
            <a:endParaRPr sz="1400" b="0" i="0" u="none" strike="noStrike" cap="none">
              <a:solidFill>
                <a:srgbClr val="000000"/>
              </a:solidFill>
              <a:latin typeface="Arial"/>
              <a:ea typeface="Arial"/>
              <a:cs typeface="Arial"/>
              <a:sym typeface="Arial"/>
            </a:endParaRPr>
          </a:p>
        </p:txBody>
      </p:sp>
      <p:sp>
        <p:nvSpPr>
          <p:cNvPr id="1182" name="Google Shape;1182;p70"/>
          <p:cNvSpPr/>
          <p:nvPr/>
        </p:nvSpPr>
        <p:spPr>
          <a:xfrm>
            <a:off x="606552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3" name="Google Shape;1183;p70"/>
          <p:cNvSpPr txBox="1"/>
          <p:nvPr/>
        </p:nvSpPr>
        <p:spPr>
          <a:xfrm>
            <a:off x="629412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3</a:t>
            </a:r>
            <a:endParaRPr sz="1400" b="0" i="0" u="none" strike="noStrike" cap="none">
              <a:solidFill>
                <a:srgbClr val="000000"/>
              </a:solidFill>
              <a:latin typeface="Arial"/>
              <a:ea typeface="Arial"/>
              <a:cs typeface="Arial"/>
              <a:sym typeface="Arial"/>
            </a:endParaRPr>
          </a:p>
        </p:txBody>
      </p:sp>
      <p:sp>
        <p:nvSpPr>
          <p:cNvPr id="1184" name="Google Shape;1184;p70"/>
          <p:cNvSpPr txBox="1"/>
          <p:nvPr/>
        </p:nvSpPr>
        <p:spPr>
          <a:xfrm>
            <a:off x="629412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Keep a human in the loop</a:t>
            </a:r>
            <a:endParaRPr sz="1400" b="0" i="0" u="none" strike="noStrike" cap="none">
              <a:solidFill>
                <a:srgbClr val="000000"/>
              </a:solidFill>
              <a:latin typeface="Arial"/>
              <a:ea typeface="Arial"/>
              <a:cs typeface="Arial"/>
              <a:sym typeface="Arial"/>
            </a:endParaRPr>
          </a:p>
        </p:txBody>
      </p:sp>
      <p:sp>
        <p:nvSpPr>
          <p:cNvPr id="1185" name="Google Shape;1185;p70"/>
          <p:cNvSpPr txBox="1"/>
          <p:nvPr/>
        </p:nvSpPr>
        <p:spPr>
          <a:xfrm>
            <a:off x="629412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A person reviews every AI change in a pull request, and approves it only with proof that it works.</a:t>
            </a:r>
            <a:endParaRPr sz="1400" b="0" i="0" u="none" strike="noStrike" cap="none">
              <a:solidFill>
                <a:srgbClr val="000000"/>
              </a:solidFill>
              <a:latin typeface="Arial"/>
              <a:ea typeface="Arial"/>
              <a:cs typeface="Arial"/>
              <a:sym typeface="Arial"/>
            </a:endParaRPr>
          </a:p>
        </p:txBody>
      </p:sp>
      <p:sp>
        <p:nvSpPr>
          <p:cNvPr id="1186" name="Google Shape;1186;p70"/>
          <p:cNvSpPr/>
          <p:nvPr/>
        </p:nvSpPr>
        <p:spPr>
          <a:xfrm>
            <a:off x="629412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proof first, then approve</a:t>
            </a:r>
            <a:endParaRPr sz="1400" b="0" i="0" u="none" strike="noStrike" cap="none">
              <a:solidFill>
                <a:srgbClr val="000000"/>
              </a:solidFill>
              <a:latin typeface="Arial"/>
              <a:ea typeface="Arial"/>
              <a:cs typeface="Arial"/>
              <a:sym typeface="Arial"/>
            </a:endParaRPr>
          </a:p>
        </p:txBody>
      </p:sp>
      <p:sp>
        <p:nvSpPr>
          <p:cNvPr id="1187" name="Google Shape;1187;p70"/>
          <p:cNvSpPr txBox="1"/>
          <p:nvPr/>
        </p:nvSpPr>
        <p:spPr>
          <a:xfrm>
            <a:off x="457200" y="4160520"/>
            <a:ext cx="8229600" cy="411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GB" sz="1800" b="0" i="1" u="none" strike="noStrike" cap="none">
                <a:solidFill>
                  <a:srgbClr val="7FC6F3"/>
                </a:solidFill>
                <a:latin typeface="Century Schoolbook"/>
                <a:ea typeface="Century Schoolbook"/>
                <a:cs typeface="Century Schoolbook"/>
                <a:sym typeface="Century Schoolbook"/>
              </a:rPr>
              <a:t>Speed is easy. Reliability is the real challenge.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92"/>
        <p:cNvGrpSpPr/>
        <p:nvPr/>
      </p:nvGrpSpPr>
      <p:grpSpPr>
        <a:xfrm>
          <a:off x="0" y="0"/>
          <a:ext cx="0" cy="0"/>
          <a:chOff x="0" y="0"/>
          <a:chExt cx="0" cy="0"/>
        </a:xfrm>
      </p:grpSpPr>
      <p:pic>
        <p:nvPicPr>
          <p:cNvPr id="1193" name="Google Shape;1193;p71" descr="/home/claude/work/assets/clappy_grad.png"/>
          <p:cNvPicPr preferRelativeResize="0"/>
          <p:nvPr/>
        </p:nvPicPr>
        <p:blipFill rotWithShape="1">
          <a:blip r:embed="rId3">
            <a:alphaModFix/>
          </a:blip>
          <a:srcRect/>
          <a:stretch/>
        </p:blipFill>
        <p:spPr>
          <a:xfrm>
            <a:off x="4435595" y="374423"/>
            <a:ext cx="1988820" cy="2187702"/>
          </a:xfrm>
          <a:prstGeom prst="rect">
            <a:avLst/>
          </a:prstGeom>
          <a:noFill/>
          <a:ln>
            <a:noFill/>
          </a:ln>
        </p:spPr>
      </p:pic>
      <p:sp>
        <p:nvSpPr>
          <p:cNvPr id="1194" name="Google Shape;1194;p71"/>
          <p:cNvSpPr txBox="1"/>
          <p:nvPr/>
        </p:nvSpPr>
        <p:spPr>
          <a:xfrm>
            <a:off x="548640" y="1097280"/>
            <a:ext cx="5486400" cy="7543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3900"/>
              <a:buFont typeface="Century Schoolbook"/>
              <a:buNone/>
            </a:pPr>
            <a:r>
              <a:rPr lang="en-GB" sz="4800" b="1" i="0" u="none" strike="noStrike" cap="none" dirty="0">
                <a:solidFill>
                  <a:srgbClr val="EAF1F7"/>
                </a:solidFill>
                <a:latin typeface="Century Schoolbook"/>
                <a:ea typeface="Century Schoolbook"/>
                <a:cs typeface="Century Schoolbook"/>
                <a:sym typeface="Century Schoolbook"/>
              </a:rPr>
              <a:t>Questions?</a:t>
            </a:r>
            <a:endParaRPr sz="4800" b="0" i="0" u="none" strike="noStrike" cap="none" dirty="0">
              <a:solidFill>
                <a:schemeClr val="dk1"/>
              </a:solidFill>
              <a:latin typeface="Calibri"/>
              <a:ea typeface="Calibri"/>
              <a:cs typeface="Calibri"/>
              <a:sym typeface="Calibri"/>
            </a:endParaRPr>
          </a:p>
        </p:txBody>
      </p:sp>
      <p:cxnSp>
        <p:nvCxnSpPr>
          <p:cNvPr id="1196" name="Google Shape;1196;p71"/>
          <p:cNvCxnSpPr>
            <a:cxnSpLocks/>
          </p:cNvCxnSpPr>
          <p:nvPr/>
        </p:nvCxnSpPr>
        <p:spPr>
          <a:xfrm>
            <a:off x="217925" y="2973674"/>
            <a:ext cx="6047964" cy="0"/>
          </a:xfrm>
          <a:prstGeom prst="straightConnector1">
            <a:avLst/>
          </a:prstGeom>
          <a:noFill/>
          <a:ln w="19050" cap="flat" cmpd="sng">
            <a:solidFill>
              <a:srgbClr val="1E3044"/>
            </a:solidFill>
            <a:prstDash val="solid"/>
            <a:round/>
            <a:headEnd type="none" w="sm" len="sm"/>
            <a:tailEnd type="none" w="sm" len="sm"/>
          </a:ln>
        </p:spPr>
      </p:cxnSp>
      <p:sp>
        <p:nvSpPr>
          <p:cNvPr id="1197" name="Google Shape;1197;p71"/>
          <p:cNvSpPr txBox="1"/>
          <p:nvPr/>
        </p:nvSpPr>
        <p:spPr>
          <a:xfrm>
            <a:off x="562356" y="3162923"/>
            <a:ext cx="61722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1200"/>
              <a:buFont typeface="Calibri"/>
              <a:buNone/>
            </a:pPr>
            <a:r>
              <a:rPr lang="en-GB" sz="1200" b="1" i="0" u="none" strike="noStrike" cap="none">
                <a:solidFill>
                  <a:srgbClr val="EAF1F7"/>
                </a:solidFill>
                <a:latin typeface="Calibri"/>
                <a:ea typeface="Calibri"/>
                <a:cs typeface="Calibri"/>
                <a:sym typeface="Calibri"/>
              </a:rPr>
              <a:t>Adonis Celestine</a:t>
            </a:r>
            <a:r>
              <a:rPr lang="en-GB" sz="1150" b="0" i="0" u="none" strike="noStrike" cap="none">
                <a:solidFill>
                  <a:srgbClr val="93A9C0"/>
                </a:solidFill>
                <a:latin typeface="Calibri"/>
                <a:ea typeface="Calibri"/>
                <a:cs typeface="Calibri"/>
                <a:sym typeface="Calibri"/>
              </a:rPr>
              <a:t>   Global Head of Automation, Applause</a:t>
            </a:r>
            <a:endParaRPr sz="1200" b="0" i="0" u="none" strike="noStrike" cap="none">
              <a:solidFill>
                <a:schemeClr val="dk1"/>
              </a:solidFill>
              <a:latin typeface="Calibri"/>
              <a:ea typeface="Calibri"/>
              <a:cs typeface="Calibri"/>
              <a:sym typeface="Calibri"/>
            </a:endParaRPr>
          </a:p>
        </p:txBody>
      </p:sp>
      <p:sp>
        <p:nvSpPr>
          <p:cNvPr id="1198" name="Google Shape;1198;p71"/>
          <p:cNvSpPr txBox="1"/>
          <p:nvPr/>
        </p:nvSpPr>
        <p:spPr>
          <a:xfrm>
            <a:off x="562356" y="3497643"/>
            <a:ext cx="61722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3A9C0"/>
              </a:buClr>
              <a:buSzPts val="1100"/>
              <a:buFont typeface="Calibri"/>
              <a:buNone/>
            </a:pPr>
            <a:r>
              <a:rPr lang="en-GB" sz="1200" b="1" i="0" u="none" strike="noStrike" cap="none">
                <a:solidFill>
                  <a:srgbClr val="EAF1F7"/>
                </a:solidFill>
                <a:latin typeface="Calibri"/>
                <a:ea typeface="Calibri"/>
                <a:cs typeface="Calibri"/>
                <a:sym typeface="Calibri"/>
              </a:rPr>
              <a:t>Taras Lytvyn</a:t>
            </a:r>
            <a:r>
              <a:rPr lang="en-GB" sz="1150" b="0" i="0" u="none" strike="noStrike" cap="none">
                <a:solidFill>
                  <a:srgbClr val="93A9C0"/>
                </a:solidFill>
                <a:latin typeface="Calibri"/>
                <a:ea typeface="Calibri"/>
                <a:cs typeface="Calibri"/>
                <a:sym typeface="Calibri"/>
              </a:rPr>
              <a:t>   AI-first Test Automation Architect, Lead SDET, Applause</a:t>
            </a:r>
            <a:endParaRPr sz="1100" b="0" i="0" u="none" strike="noStrike" cap="none">
              <a:solidFill>
                <a:schemeClr val="dk1"/>
              </a:solidFill>
              <a:latin typeface="Calibri"/>
              <a:ea typeface="Calibri"/>
              <a:cs typeface="Calibri"/>
              <a:sym typeface="Calibri"/>
            </a:endParaRPr>
          </a:p>
        </p:txBody>
      </p:sp>
      <p:pic>
        <p:nvPicPr>
          <p:cNvPr id="1199" name="Google Shape;1199;p71" descr="qr-repo.png"/>
          <p:cNvPicPr preferRelativeResize="0"/>
          <p:nvPr/>
        </p:nvPicPr>
        <p:blipFill rotWithShape="1">
          <a:blip r:embed="rId4">
            <a:alphaModFix/>
          </a:blip>
          <a:srcRect/>
          <a:stretch/>
        </p:blipFill>
        <p:spPr>
          <a:xfrm>
            <a:off x="7130028" y="3284982"/>
            <a:ext cx="914400" cy="914400"/>
          </a:xfrm>
          <a:prstGeom prst="rect">
            <a:avLst/>
          </a:prstGeom>
          <a:noFill/>
          <a:ln>
            <a:noFill/>
          </a:ln>
        </p:spPr>
      </p:pic>
      <p:sp>
        <p:nvSpPr>
          <p:cNvPr id="1200" name="Google Shape;1200;p71"/>
          <p:cNvSpPr txBox="1"/>
          <p:nvPr/>
        </p:nvSpPr>
        <p:spPr>
          <a:xfrm>
            <a:off x="5792724" y="4344533"/>
            <a:ext cx="2331600" cy="13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None/>
            </a:pPr>
            <a:r>
              <a:rPr lang="en-GB" sz="900" b="1" i="0" u="none" strike="noStrike" cap="none" dirty="0">
                <a:solidFill>
                  <a:srgbClr val="EAF1F6"/>
                </a:solidFill>
                <a:latin typeface="Calibri"/>
                <a:ea typeface="Calibri"/>
                <a:cs typeface="Calibri"/>
                <a:sym typeface="Calibri"/>
              </a:rPr>
              <a:t>Slides, code, RAG setup</a:t>
            </a:r>
            <a:endParaRPr dirty="0"/>
          </a:p>
        </p:txBody>
      </p:sp>
      <p:sp>
        <p:nvSpPr>
          <p:cNvPr id="1201" name="Google Shape;1201;p71"/>
          <p:cNvSpPr txBox="1"/>
          <p:nvPr/>
        </p:nvSpPr>
        <p:spPr>
          <a:xfrm>
            <a:off x="5792724" y="4522838"/>
            <a:ext cx="2788920" cy="2286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None/>
            </a:pPr>
            <a:r>
              <a:rPr lang="en-GB" sz="850" b="0" i="0" u="none" strike="noStrike" cap="none" dirty="0" err="1">
                <a:solidFill>
                  <a:srgbClr val="8FA0AE"/>
                </a:solidFill>
                <a:latin typeface="Calibri"/>
                <a:ea typeface="Calibri"/>
                <a:cs typeface="Calibri"/>
                <a:sym typeface="Calibri"/>
              </a:rPr>
              <a:t>github.com</a:t>
            </a:r>
            <a:r>
              <a:rPr lang="en-GB" sz="850" b="0" i="0" u="none" strike="noStrike" cap="none" dirty="0">
                <a:solidFill>
                  <a:srgbClr val="8FA0AE"/>
                </a:solidFill>
                <a:latin typeface="Calibri"/>
                <a:ea typeface="Calibri"/>
                <a:cs typeface="Calibri"/>
                <a:sym typeface="Calibri"/>
              </a:rPr>
              <a:t>/</a:t>
            </a:r>
            <a:r>
              <a:rPr lang="en-GB" sz="850" b="0" i="0" u="none" strike="noStrike" cap="none" dirty="0" err="1">
                <a:solidFill>
                  <a:srgbClr val="8FA0AE"/>
                </a:solidFill>
                <a:latin typeface="Calibri"/>
                <a:ea typeface="Calibri"/>
                <a:cs typeface="Calibri"/>
                <a:sym typeface="Calibri"/>
              </a:rPr>
              <a:t>ApplauseAuto</a:t>
            </a:r>
            <a:r>
              <a:rPr lang="en-GB" sz="850" b="0" i="0" u="none" strike="noStrike" cap="none" dirty="0">
                <a:solidFill>
                  <a:srgbClr val="8FA0AE"/>
                </a:solidFill>
                <a:latin typeface="Calibri"/>
                <a:ea typeface="Calibri"/>
                <a:cs typeface="Calibri"/>
                <a:sym typeface="Calibri"/>
              </a:rPr>
              <a:t>/</a:t>
            </a:r>
            <a:r>
              <a:rPr lang="en-GB" sz="850" b="0" i="0" u="none" strike="noStrike" cap="none" dirty="0" err="1">
                <a:solidFill>
                  <a:srgbClr val="8FA0AE"/>
                </a:solidFill>
                <a:latin typeface="Calibri"/>
                <a:ea typeface="Calibri"/>
                <a:cs typeface="Calibri"/>
                <a:sym typeface="Calibri"/>
              </a:rPr>
              <a:t>testcon</a:t>
            </a:r>
            <a:r>
              <a:rPr lang="en-GB" sz="850" b="0" i="0" u="none" strike="noStrike" cap="none" dirty="0">
                <a:solidFill>
                  <a:srgbClr val="8FA0AE"/>
                </a:solidFill>
                <a:latin typeface="Calibri"/>
                <a:ea typeface="Calibri"/>
                <a:cs typeface="Calibri"/>
                <a:sym typeface="Calibri"/>
              </a:rPr>
              <a:t>-ai-cc-demo</a:t>
            </a:r>
            <a:endParaRPr dirty="0"/>
          </a:p>
        </p:txBody>
      </p:sp>
      <p:pic>
        <p:nvPicPr>
          <p:cNvPr id="1202" name="Google Shape;1202;p71"/>
          <p:cNvPicPr preferRelativeResize="0"/>
          <p:nvPr/>
        </p:nvPicPr>
        <p:blipFill>
          <a:blip r:embed="rId5">
            <a:alphaModFix/>
          </a:blip>
          <a:stretch>
            <a:fillRect/>
          </a:stretch>
        </p:blipFill>
        <p:spPr>
          <a:xfrm>
            <a:off x="217925" y="3163000"/>
            <a:ext cx="274324" cy="274324"/>
          </a:xfrm>
          <a:prstGeom prst="rect">
            <a:avLst/>
          </a:prstGeom>
          <a:noFill/>
          <a:ln>
            <a:noFill/>
          </a:ln>
        </p:spPr>
      </p:pic>
      <p:pic>
        <p:nvPicPr>
          <p:cNvPr id="1203" name="Google Shape;1203;p71"/>
          <p:cNvPicPr preferRelativeResize="0"/>
          <p:nvPr/>
        </p:nvPicPr>
        <p:blipFill>
          <a:blip r:embed="rId5">
            <a:alphaModFix/>
          </a:blip>
          <a:stretch>
            <a:fillRect/>
          </a:stretch>
        </p:blipFill>
        <p:spPr>
          <a:xfrm>
            <a:off x="217925" y="3497575"/>
            <a:ext cx="274324" cy="27432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462</TotalTime>
  <Words>6672</Words>
  <Application>Microsoft Macintosh PowerPoint</Application>
  <PresentationFormat>On-screen Show (16:9)</PresentationFormat>
  <Paragraphs>662</Paragraphs>
  <Slides>35</Slides>
  <Notes>35</Notes>
  <HiddenSlides>0</HiddenSlides>
  <MMClips>0</MMClips>
  <ScaleCrop>false</ScaleCrop>
  <HeadingPairs>
    <vt:vector size="6" baseType="variant">
      <vt:variant>
        <vt:lpstr>Fonts Used</vt:lpstr>
      </vt:variant>
      <vt:variant>
        <vt:i4>5</vt:i4>
      </vt:variant>
      <vt:variant>
        <vt:lpstr>Theme</vt:lpstr>
      </vt:variant>
      <vt:variant>
        <vt:i4>5</vt:i4>
      </vt:variant>
      <vt:variant>
        <vt:lpstr>Slide Titles</vt:lpstr>
      </vt:variant>
      <vt:variant>
        <vt:i4>35</vt:i4>
      </vt:variant>
    </vt:vector>
  </HeadingPairs>
  <TitlesOfParts>
    <vt:vector size="45" baseType="lpstr">
      <vt:lpstr>Roboto Mono</vt:lpstr>
      <vt:lpstr>Arial</vt:lpstr>
      <vt:lpstr>Calibri</vt:lpstr>
      <vt:lpstr>Century Schoolbook</vt:lpstr>
      <vt:lpstr>Courier New</vt:lpstr>
      <vt:lpstr>Simple Light</vt:lpstr>
      <vt:lpstr>Office Theme</vt:lpstr>
      <vt:lpstr>Office Theme</vt:lpstr>
      <vt:lpstr>Office Theme</vt:lpstr>
      <vt:lpstr>Office Theme</vt:lpstr>
      <vt:lpstr>PowerPoint Presentation</vt:lpstr>
      <vt:lpstr>PowerPoint Presentation</vt:lpstr>
      <vt:lpstr>PowerPoint Presentation</vt:lpstr>
      <vt:lpstr>Why we chose Claude Code for test automation </vt:lpstr>
      <vt:lpstr>Installation &amp; Setup</vt:lpstr>
      <vt:lpstr>PowerPoint Presentation</vt:lpstr>
      <vt:lpstr>Context</vt:lpstr>
      <vt:lpstr>Memory</vt:lpstr>
      <vt:lpstr>PowerPoint Presentation</vt:lpstr>
      <vt:lpstr>Example building block: MCP</vt:lpstr>
      <vt:lpstr>Example building block: Skills and Sub Agents</vt:lpstr>
      <vt:lpstr>Best practices</vt:lpstr>
      <vt:lpstr>Inside RAG: how it finds the right page</vt:lpstr>
      <vt:lpstr>PowerPoint Presentation</vt:lpstr>
      <vt:lpstr>/karpathy-guidelines: one file, four rules</vt:lpstr>
      <vt:lpstr>Problem 1 — Wrong Assumptions</vt:lpstr>
      <vt:lpstr>Problem 2 — Over Complication</vt:lpstr>
      <vt:lpstr>Problem 3 — Collateral Damage</vt:lpstr>
      <vt:lpstr>Problem 4 — “Done” without proof</vt:lpstr>
      <vt:lpstr>Real Problems - Real Solutions</vt:lpstr>
      <vt:lpstr>PowerPoint Presentation</vt:lpstr>
      <vt:lpstr>Step 1: Start with a good project structure</vt:lpstr>
      <vt:lpstr>Step 2: without your docs, Claude can only guess</vt:lpstr>
      <vt:lpstr>One more layer: the karpathy rules + your team's knowledge</vt:lpstr>
      <vt:lpstr>Step 3: write the four rules down once, as a team skill</vt:lpstr>
      <vt:lpstr>Step 6: several testers, several Claudes, one repo</vt:lpstr>
      <vt:lpstr>The result: the fix waits for the real event, not a number</vt:lpstr>
      <vt:lpstr>What made the difference</vt:lpstr>
      <vt:lpstr>One test fixed. Now the whole team.</vt:lpstr>
      <vt:lpstr>PowerPoint Presentation</vt:lpstr>
      <vt:lpstr>From plain English to a test framework with Clappy</vt:lpstr>
      <vt:lpstr>How Clappy builds the framework (TAF)</vt:lpstr>
      <vt:lpstr>Live demo: one click in our test platform, dispel scepticism</vt:lpstr>
      <vt:lpstr>Three things to remember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Taras Lytvyn</cp:lastModifiedBy>
  <cp:revision>4</cp:revision>
  <dcterms:modified xsi:type="dcterms:W3CDTF">2026-10-21T05:07:31Z</dcterms:modified>
</cp:coreProperties>
</file>